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notesSlides/notesSlide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5.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6.xml" ContentType="application/vnd.openxmlformats-officedocument.presentationml.notesSlide+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notesSlides/notesSlide8.xml" ContentType="application/vnd.openxmlformats-officedocument.presentationml.notesSlide+xml"/>
  <Override PartName="/ppt/tags/tag50.xml" ContentType="application/vnd.openxmlformats-officedocument.presentationml.tags+xml"/>
  <Override PartName="/ppt/notesSlides/notesSlide9.xml" ContentType="application/vnd.openxmlformats-officedocument.presentationml.notesSlide+xml"/>
  <Override PartName="/ppt/tags/tag51.xml" ContentType="application/vnd.openxmlformats-officedocument.presentationml.tags+xml"/>
  <Override PartName="/ppt/notesSlides/notesSlide10.xml" ContentType="application/vnd.openxmlformats-officedocument.presentationml.notesSlide+xml"/>
  <Override PartName="/ppt/tags/tag52.xml" ContentType="application/vnd.openxmlformats-officedocument.presentationml.tags+xml"/>
  <Override PartName="/ppt/notesSlides/notesSlide11.xml" ContentType="application/vnd.openxmlformats-officedocument.presentationml.notesSlide+xml"/>
  <Override PartName="/ppt/tags/tag53.xml" ContentType="application/vnd.openxmlformats-officedocument.presentationml.tags+xml"/>
  <Override PartName="/ppt/notesSlides/notesSlide12.xml" ContentType="application/vnd.openxmlformats-officedocument.presentationml.notesSlide+xml"/>
  <Override PartName="/ppt/tags/tag54.xml" ContentType="application/vnd.openxmlformats-officedocument.presentationml.tags+xml"/>
  <Override PartName="/ppt/notesSlides/notesSlide13.xml" ContentType="application/vnd.openxmlformats-officedocument.presentationml.notesSlide+xml"/>
  <Override PartName="/ppt/tags/tag55.xml" ContentType="application/vnd.openxmlformats-officedocument.presentationml.tags+xml"/>
  <Override PartName="/ppt/notesSlides/notesSlide14.xml" ContentType="application/vnd.openxmlformats-officedocument.presentationml.notesSlide+xml"/>
  <Override PartName="/ppt/tags/tag56.xml" ContentType="application/vnd.openxmlformats-officedocument.presentationml.tags+xml"/>
  <Override PartName="/ppt/notesSlides/notesSlide15.xml" ContentType="application/vnd.openxmlformats-officedocument.presentationml.notesSlide+xml"/>
  <Override PartName="/ppt/tags/tag57.xml" ContentType="application/vnd.openxmlformats-officedocument.presentationml.tags+xml"/>
  <Override PartName="/ppt/notesSlides/notesSlide16.xml" ContentType="application/vnd.openxmlformats-officedocument.presentationml.notesSlide+xml"/>
  <Override PartName="/ppt/tags/tag58.xml" ContentType="application/vnd.openxmlformats-officedocument.presentationml.tags+xml"/>
  <Override PartName="/ppt/notesSlides/notesSlide17.xml" ContentType="application/vnd.openxmlformats-officedocument.presentationml.notesSlide+xml"/>
  <Override PartName="/ppt/tags/tag59.xml" ContentType="application/vnd.openxmlformats-officedocument.presentationml.tags+xml"/>
  <Override PartName="/ppt/notesSlides/notesSlide18.xml" ContentType="application/vnd.openxmlformats-officedocument.presentationml.notesSlide+xml"/>
  <Override PartName="/ppt/tags/tag60.xml" ContentType="application/vnd.openxmlformats-officedocument.presentationml.tags+xml"/>
  <Override PartName="/ppt/notesSlides/notesSlide19.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20.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21.xml" ContentType="application/vnd.openxmlformats-officedocument.presentationml.notesSlide+xml"/>
  <Override PartName="/ppt/tags/tag66.xml" ContentType="application/vnd.openxmlformats-officedocument.presentationml.tags+xml"/>
  <Override PartName="/ppt/notesSlides/notesSlide2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3.xml" ContentType="application/vnd.openxmlformats-officedocument.presentationml.notesSlide+xml"/>
  <Override PartName="/ppt/tags/tag70.xml" ContentType="application/vnd.openxmlformats-officedocument.presentationml.tags+xml"/>
  <Override PartName="/ppt/notesSlides/notesSlide24.xml" ContentType="application/vnd.openxmlformats-officedocument.presentationml.notesSlide+xml"/>
  <Override PartName="/ppt/tags/tag71.xml" ContentType="application/vnd.openxmlformats-officedocument.presentationml.tags+xml"/>
  <Override PartName="/ppt/notesSlides/notesSlide25.xml" ContentType="application/vnd.openxmlformats-officedocument.presentationml.notesSlide+xml"/>
  <Override PartName="/ppt/tags/tag72.xml" ContentType="application/vnd.openxmlformats-officedocument.presentationml.tags+xml"/>
  <Override PartName="/ppt/notesSlides/notesSlide26.xml" ContentType="application/vnd.openxmlformats-officedocument.presentationml.notesSlide+xml"/>
  <Override PartName="/ppt/tags/tag73.xml" ContentType="application/vnd.openxmlformats-officedocument.presentationml.tags+xml"/>
  <Override PartName="/ppt/notesSlides/notesSlide27.xml" ContentType="application/vnd.openxmlformats-officedocument.presentationml.notesSlide+xml"/>
  <Override PartName="/ppt/tags/tag74.xml" ContentType="application/vnd.openxmlformats-officedocument.presentationml.tags+xml"/>
  <Override PartName="/ppt/notesSlides/notesSlide28.xml" ContentType="application/vnd.openxmlformats-officedocument.presentationml.notesSlide+xml"/>
  <Override PartName="/ppt/tags/tag75.xml" ContentType="application/vnd.openxmlformats-officedocument.presentationml.tags+xml"/>
  <Override PartName="/ppt/notesSlides/notesSlide29.xml" ContentType="application/vnd.openxmlformats-officedocument.presentationml.notesSlide+xml"/>
  <Override PartName="/ppt/tags/tag76.xml" ContentType="application/vnd.openxmlformats-officedocument.presentationml.tags+xml"/>
  <Override PartName="/ppt/notesSlides/notesSlide30.xml" ContentType="application/vnd.openxmlformats-officedocument.presentationml.notesSlide+xml"/>
  <Override PartName="/ppt/tags/tag77.xml" ContentType="application/vnd.openxmlformats-officedocument.presentationml.tags+xml"/>
  <Override PartName="/ppt/notesSlides/notesSlide31.xml" ContentType="application/vnd.openxmlformats-officedocument.presentationml.notesSlide+xml"/>
  <Override PartName="/ppt/tags/tag78.xml" ContentType="application/vnd.openxmlformats-officedocument.presentationml.tags+xml"/>
  <Override PartName="/ppt/notesSlides/notesSlide32.xml" ContentType="application/vnd.openxmlformats-officedocument.presentationml.notesSlide+xml"/>
  <Override PartName="/ppt/tags/tag79.xml" ContentType="application/vnd.openxmlformats-officedocument.presentationml.tags+xml"/>
  <Override PartName="/ppt/notesSlides/notesSlide33.xml" ContentType="application/vnd.openxmlformats-officedocument.presentationml.notesSlide+xml"/>
  <Override PartName="/ppt/tags/tag80.xml" ContentType="application/vnd.openxmlformats-officedocument.presentationml.tags+xml"/>
  <Override PartName="/ppt/notesSlides/notesSlide34.xml" ContentType="application/vnd.openxmlformats-officedocument.presentationml.notesSlide+xml"/>
  <Override PartName="/ppt/tags/tag81.xml" ContentType="application/vnd.openxmlformats-officedocument.presentationml.tags+xml"/>
  <Override PartName="/ppt/notesSlides/notesSlide35.xml" ContentType="application/vnd.openxmlformats-officedocument.presentationml.notesSlide+xml"/>
  <Override PartName="/ppt/tags/tag82.xml" ContentType="application/vnd.openxmlformats-officedocument.presentationml.tags+xml"/>
  <Override PartName="/ppt/notesSlides/notesSlide36.xml" ContentType="application/vnd.openxmlformats-officedocument.presentationml.notesSlide+xml"/>
  <Override PartName="/ppt/tags/tag83.xml" ContentType="application/vnd.openxmlformats-officedocument.presentationml.tags+xml"/>
  <Override PartName="/ppt/notesSlides/notesSlide37.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38.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39.xml" ContentType="application/vnd.openxmlformats-officedocument.presentationml.notesSlide+xml"/>
  <Override PartName="/ppt/tags/tag101.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1" r:id="rId1"/>
    <p:sldMasterId id="2147483666" r:id="rId2"/>
    <p:sldMasterId id="2147483671" r:id="rId3"/>
  </p:sldMasterIdLst>
  <p:notesMasterIdLst>
    <p:notesMasterId r:id="rId50"/>
  </p:notesMasterIdLst>
  <p:handoutMasterIdLst>
    <p:handoutMasterId r:id="rId51"/>
  </p:handoutMasterIdLst>
  <p:sldIdLst>
    <p:sldId id="11026" r:id="rId4"/>
    <p:sldId id="11095" r:id="rId5"/>
    <p:sldId id="11052" r:id="rId6"/>
    <p:sldId id="11112" r:id="rId7"/>
    <p:sldId id="11113" r:id="rId8"/>
    <p:sldId id="11114" r:id="rId9"/>
    <p:sldId id="11097" r:id="rId10"/>
    <p:sldId id="11089" r:id="rId11"/>
    <p:sldId id="11123" r:id="rId12"/>
    <p:sldId id="11124" r:id="rId13"/>
    <p:sldId id="11125" r:id="rId14"/>
    <p:sldId id="11126" r:id="rId15"/>
    <p:sldId id="11094" r:id="rId16"/>
    <p:sldId id="11127" r:id="rId17"/>
    <p:sldId id="11128" r:id="rId18"/>
    <p:sldId id="11129" r:id="rId19"/>
    <p:sldId id="11076" r:id="rId20"/>
    <p:sldId id="11081" r:id="rId21"/>
    <p:sldId id="11082" r:id="rId22"/>
    <p:sldId id="11083" r:id="rId23"/>
    <p:sldId id="11107" r:id="rId24"/>
    <p:sldId id="11108" r:id="rId25"/>
    <p:sldId id="11109" r:id="rId26"/>
    <p:sldId id="11111" r:id="rId27"/>
    <p:sldId id="11084" r:id="rId28"/>
    <p:sldId id="11085" r:id="rId29"/>
    <p:sldId id="11078" r:id="rId30"/>
    <p:sldId id="11086" r:id="rId31"/>
    <p:sldId id="11087" r:id="rId32"/>
    <p:sldId id="11088" r:id="rId33"/>
    <p:sldId id="11062" r:id="rId34"/>
    <p:sldId id="11117" r:id="rId35"/>
    <p:sldId id="11064" r:id="rId36"/>
    <p:sldId id="11070" r:id="rId37"/>
    <p:sldId id="11072" r:id="rId38"/>
    <p:sldId id="11096" r:id="rId39"/>
    <p:sldId id="11118" r:id="rId40"/>
    <p:sldId id="11119" r:id="rId41"/>
    <p:sldId id="11130" r:id="rId42"/>
    <p:sldId id="11099" r:id="rId43"/>
    <p:sldId id="11131" r:id="rId44"/>
    <p:sldId id="11100" r:id="rId45"/>
    <p:sldId id="11132" r:id="rId46"/>
    <p:sldId id="11098" r:id="rId47"/>
    <p:sldId id="11115" r:id="rId48"/>
    <p:sldId id="11050" r:id="rId49"/>
  </p:sldIdLst>
  <p:sldSz cx="12192000" cy="6858000"/>
  <p:notesSz cx="6761163" cy="99425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242" userDrawn="1">
          <p15:clr>
            <a:srgbClr val="A4A3A4"/>
          </p15:clr>
        </p15:guide>
        <p15:guide id="3" orient="horz" pos="650" userDrawn="1">
          <p15:clr>
            <a:srgbClr val="A4A3A4"/>
          </p15:clr>
        </p15:guide>
        <p15:guide id="5" orient="horz" pos="2568" userDrawn="1">
          <p15:clr>
            <a:srgbClr val="A4A3A4"/>
          </p15:clr>
        </p15:guide>
        <p15:guide id="6" orient="horz" pos="3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FBFBF"/>
    <a:srgbClr val="DAE3F3"/>
    <a:srgbClr val="D9D9D9"/>
    <a:srgbClr val="F8CBAD"/>
    <a:srgbClr val="2F5597"/>
    <a:srgbClr val="00367A"/>
    <a:srgbClr val="8FAADC"/>
    <a:srgbClr val="C55A11"/>
    <a:srgbClr val="F4B183"/>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64" autoAdjust="0"/>
    <p:restoredTop sz="65264" autoAdjust="0"/>
  </p:normalViewPr>
  <p:slideViewPr>
    <p:cSldViewPr snapToGrid="0" showGuides="1">
      <p:cViewPr varScale="1">
        <p:scale>
          <a:sx n="72" d="100"/>
          <a:sy n="72" d="100"/>
        </p:scale>
        <p:origin x="2118" y="54"/>
      </p:cViewPr>
      <p:guideLst>
        <p:guide pos="438"/>
        <p:guide pos="7242"/>
        <p:guide orient="horz" pos="650"/>
        <p:guide orient="horz" pos="2568"/>
        <p:guide orient="horz" pos="3859"/>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8195" cy="542381"/>
          </a:xfrm>
          <a:prstGeom prst="rect">
            <a:avLst/>
          </a:prstGeom>
        </p:spPr>
        <p:txBody>
          <a:bodyPr vert="horz" lIns="91440" tIns="45720" rIns="91440" bIns="45720" rtlCol="0"/>
          <a:lstStyle>
            <a:lvl1pPr algn="l">
              <a:defRPr sz="1170"/>
            </a:lvl1pPr>
          </a:lstStyle>
          <a:p>
            <a:endParaRPr lang="zh-CN" altLang="en-US"/>
          </a:p>
        </p:txBody>
      </p:sp>
      <p:sp>
        <p:nvSpPr>
          <p:cNvPr id="3" name="日期占位符 2"/>
          <p:cNvSpPr>
            <a:spLocks noGrp="1"/>
          </p:cNvSpPr>
          <p:nvPr>
            <p:ph type="dt" sz="quarter" idx="1"/>
          </p:nvPr>
        </p:nvSpPr>
        <p:spPr>
          <a:xfrm>
            <a:off x="3775329" y="0"/>
            <a:ext cx="2888195" cy="542381"/>
          </a:xfrm>
          <a:prstGeom prst="rect">
            <a:avLst/>
          </a:prstGeom>
        </p:spPr>
        <p:txBody>
          <a:bodyPr vert="horz" lIns="91440" tIns="45720" rIns="91440" bIns="45720" rtlCol="0"/>
          <a:lstStyle>
            <a:lvl1pPr algn="r">
              <a:defRPr sz="1170"/>
            </a:lvl1pPr>
          </a:lstStyle>
          <a:p>
            <a:fld id="{0F9B84EA-7D68-4D60-9CB1-D50884785D1C}" type="datetimeFigureOut">
              <a:rPr lang="zh-CN" altLang="en-US" smtClean="0"/>
              <a:t>2026/5/13</a:t>
            </a:fld>
            <a:endParaRPr lang="zh-CN" altLang="en-US"/>
          </a:p>
        </p:txBody>
      </p:sp>
      <p:sp>
        <p:nvSpPr>
          <p:cNvPr id="4" name="页脚占位符 3"/>
          <p:cNvSpPr>
            <a:spLocks noGrp="1"/>
          </p:cNvSpPr>
          <p:nvPr>
            <p:ph type="ftr" sz="quarter" idx="2"/>
          </p:nvPr>
        </p:nvSpPr>
        <p:spPr>
          <a:xfrm>
            <a:off x="0" y="10267686"/>
            <a:ext cx="2888195" cy="542379"/>
          </a:xfrm>
          <a:prstGeom prst="rect">
            <a:avLst/>
          </a:prstGeom>
        </p:spPr>
        <p:txBody>
          <a:bodyPr vert="horz" lIns="91440" tIns="45720" rIns="91440" bIns="45720" rtlCol="0" anchor="b"/>
          <a:lstStyle>
            <a:lvl1pPr algn="l">
              <a:defRPr sz="1170"/>
            </a:lvl1pPr>
          </a:lstStyle>
          <a:p>
            <a:endParaRPr lang="zh-CN" altLang="en-US"/>
          </a:p>
        </p:txBody>
      </p:sp>
      <p:sp>
        <p:nvSpPr>
          <p:cNvPr id="5" name="灯片编号占位符 4"/>
          <p:cNvSpPr>
            <a:spLocks noGrp="1"/>
          </p:cNvSpPr>
          <p:nvPr>
            <p:ph type="sldNum" sz="quarter" idx="3"/>
          </p:nvPr>
        </p:nvSpPr>
        <p:spPr>
          <a:xfrm>
            <a:off x="3775329" y="10267686"/>
            <a:ext cx="2888195" cy="542379"/>
          </a:xfrm>
          <a:prstGeom prst="rect">
            <a:avLst/>
          </a:prstGeom>
        </p:spPr>
        <p:txBody>
          <a:bodyPr vert="horz" lIns="91440" tIns="45720" rIns="91440" bIns="45720" rtlCol="0" anchor="b"/>
          <a:lstStyle>
            <a:lvl1pPr algn="r">
              <a:defRPr sz="117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5BFD09CD-524F-4CD8-A8B5-6C97A94FC08A}" type="datetimeFigureOut">
              <a:rPr lang="zh-CN" altLang="en-US" smtClean="0"/>
              <a:t>2026/5/13</a:t>
            </a:fld>
            <a:endParaRPr lang="zh-CN" altLang="en-US"/>
          </a:p>
        </p:txBody>
      </p:sp>
      <p:sp>
        <p:nvSpPr>
          <p:cNvPr id="4" name="幻灯片图像占位符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85E2B66F-9356-4FE3-88B4-9DF3283AA35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84413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3562050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还有两篇待投稿</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3</a:t>
            </a:fld>
            <a:endParaRPr lang="zh-CN" altLang="en-US"/>
          </a:p>
        </p:txBody>
      </p:sp>
    </p:spTree>
    <p:extLst>
      <p:ext uri="{BB962C8B-B14F-4D97-AF65-F5344CB8AC3E}">
        <p14:creationId xmlns:p14="http://schemas.microsoft.com/office/powerpoint/2010/main" val="2661088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加一段话，描述已经完成的工作</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5</a:t>
            </a:fld>
            <a:endParaRPr lang="zh-CN" altLang="en-US"/>
          </a:p>
        </p:txBody>
      </p:sp>
    </p:spTree>
    <p:extLst>
      <p:ext uri="{BB962C8B-B14F-4D97-AF65-F5344CB8AC3E}">
        <p14:creationId xmlns:p14="http://schemas.microsoft.com/office/powerpoint/2010/main" val="1034047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去年年底到现在的新工作，完善</a:t>
            </a:r>
            <a:r>
              <a:rPr lang="en-US" altLang="zh-CN" dirty="0"/>
              <a:t>……</a:t>
            </a:r>
            <a:r>
              <a:rPr lang="zh-CN" altLang="en-US" dirty="0"/>
              <a:t>，提出</a:t>
            </a:r>
            <a:r>
              <a:rPr lang="en-US" altLang="zh-CN" dirty="0"/>
              <a:t>……</a:t>
            </a:r>
            <a:r>
              <a:rPr lang="zh-CN" altLang="en-US" dirty="0"/>
              <a:t>，加些顶层的描述，缺乏对工作本身的描述</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6</a:t>
            </a:fld>
            <a:endParaRPr lang="zh-CN" altLang="en-US"/>
          </a:p>
        </p:txBody>
      </p:sp>
    </p:spTree>
    <p:extLst>
      <p:ext uri="{BB962C8B-B14F-4D97-AF65-F5344CB8AC3E}">
        <p14:creationId xmlns:p14="http://schemas.microsoft.com/office/powerpoint/2010/main" val="710501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588519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28555-BCF4-377B-8530-498F006816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B5376F-2AB1-54A3-20B1-4BB444C4F3C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E25B67F-7750-FF7C-19B0-ED7B42E37596}"/>
              </a:ext>
            </a:extLst>
          </p:cNvPr>
          <p:cNvSpPr>
            <a:spLocks noGrp="1"/>
          </p:cNvSpPr>
          <p:nvPr>
            <p:ph type="body" idx="3"/>
          </p:nvPr>
        </p:nvSpPr>
        <p:spPr/>
        <p:txBody>
          <a:bodyPr/>
          <a:lstStyle/>
          <a:p>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研究</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通过分析现行法规要求公开的</a:t>
            </a:r>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节点</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电价等数据，结合可获取的有限节点</a:t>
            </a:r>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地理</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信息</a:t>
            </a:r>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和连接关系</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，构建公开数据</a:t>
            </a:r>
            <a:r>
              <a:rPr lang="en-US" altLang="zh-CN" sz="1800" kern="100" spc="-10" dirty="0">
                <a:solidFill>
                  <a:srgbClr val="000000"/>
                </a:solidFill>
                <a:effectLst/>
                <a:latin typeface="Times New Roman" panose="02020603050405020304" pitchFamily="18" charset="0"/>
                <a:ea typeface="宋体" panose="02010600030101010101" pitchFamily="2" charset="-122"/>
              </a:rPr>
              <a:t>-</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拓扑关联路径。其次，基于</a:t>
            </a:r>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电价逆推拓扑路径和线路设计要求的物理约束</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，建立基于公开数据关联的电网拓扑推断模型，</a:t>
            </a:r>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最终</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通过仿真实验验证模型的推断能力</a:t>
            </a:r>
            <a:r>
              <a:rPr lang="zh-CN" altLang="en-US"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系统分析现有电网数据安全防护体系的技术特征。</a:t>
            </a:r>
            <a:endParaRPr lang="zh-CN" altLang="en-US" dirty="0"/>
          </a:p>
        </p:txBody>
      </p:sp>
      <p:sp>
        <p:nvSpPr>
          <p:cNvPr id="4" name="灯片编号占位符 3">
            <a:extLst>
              <a:ext uri="{FF2B5EF4-FFF2-40B4-BE49-F238E27FC236}">
                <a16:creationId xmlns:a16="http://schemas.microsoft.com/office/drawing/2014/main" id="{7ED5CCED-7F8D-CDD9-12DF-123702F3FD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14198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研究</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通过电力系统</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直流潮流模型和</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经济调度模型推导</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出</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公开数据</a:t>
            </a:r>
            <a:r>
              <a:rPr lang="en-US" altLang="zh-CN" sz="1800" kern="100" dirty="0">
                <a:solidFill>
                  <a:srgbClr val="000000"/>
                </a:solidFill>
                <a:effectLst/>
                <a:latin typeface="Times New Roman" panose="02020603050405020304" pitchFamily="18" charset="0"/>
                <a:ea typeface="宋体" panose="02010600030101010101" pitchFamily="2" charset="-122"/>
              </a:rPr>
              <a:t>-</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拓扑关联路径，</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再</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通过</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电网线路设计规范找出</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典型的地理统计特征，</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将物理关联和线路规范</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设计为约束条件</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84982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3F4D-7033-0F05-21AF-945B6163BE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2E833A-4C7A-9919-79DB-2903DF8D21E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68C6579-E0CF-BB34-207C-8AC39645BFC9}"/>
              </a:ext>
            </a:extLst>
          </p:cNvPr>
          <p:cNvSpPr>
            <a:spLocks noGrp="1"/>
          </p:cNvSpPr>
          <p:nvPr>
            <p:ph type="body" idx="3"/>
          </p:nvPr>
        </p:nvSpPr>
        <p:spPr/>
        <p:txBody>
          <a:bodyPr/>
          <a:lstStyle/>
          <a:p>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针对电网拓扑推断模型</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，研究</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提出如图所示架构的电网拓扑推断模型。</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模型基于图注意力网络进行推断，</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在通过</a:t>
            </a:r>
            <a:r>
              <a:rPr lang="en-US" altLang="zh-CN" sz="1800" kern="100" dirty="0">
                <a:solidFill>
                  <a:srgbClr val="000000"/>
                </a:solidFill>
                <a:effectLst/>
                <a:latin typeface="Times New Roman" panose="02020603050405020304" pitchFamily="18" charset="0"/>
                <a:ea typeface="宋体" panose="02010600030101010101" pitchFamily="2" charset="-122"/>
              </a:rPr>
              <a:t>GAT</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进行预测学习后，模型连接一个全连接神经网络，用于将节点对的嵌入向量映射为一个标量，表示节点对之间存在边的概率，用以判断电网拓扑中的未知连接关系。</a:t>
            </a:r>
            <a:endParaRPr lang="zh-CN" altLang="en-US" dirty="0"/>
          </a:p>
        </p:txBody>
      </p:sp>
      <p:sp>
        <p:nvSpPr>
          <p:cNvPr id="4" name="灯片编号占位符 3">
            <a:extLst>
              <a:ext uri="{FF2B5EF4-FFF2-40B4-BE49-F238E27FC236}">
                <a16:creationId xmlns:a16="http://schemas.microsoft.com/office/drawing/2014/main" id="{32C70E99-A721-B753-46D9-FB14C60C18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04181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011D-1C37-3D4D-2D28-6A1B9F9F45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0E9B11-EAB9-FDA6-F9D6-E64E1DDE443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8AE25C7-30FD-D932-FF0A-14761A3AAF30}"/>
              </a:ext>
            </a:extLst>
          </p:cNvPr>
          <p:cNvSpPr>
            <a:spLocks noGrp="1"/>
          </p:cNvSpPr>
          <p:nvPr>
            <p:ph type="body" idx="3"/>
          </p:nvPr>
        </p:nvSpPr>
        <p:spPr/>
        <p:txBody>
          <a:bodyPr/>
          <a:lstStyle/>
          <a:p>
            <a:r>
              <a:rPr lang="zh-CN" altLang="en-US"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在模型设计中，首先</a:t>
            </a:r>
            <a:r>
              <a:rPr lang="zh-CN" altLang="zh-CN"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采用图注意力网络动态聚合邻居节点信息，生成节点嵌入，通过自适应注意力机制捕捉特征耦合关系</a:t>
            </a:r>
            <a:r>
              <a:rPr lang="zh-CN" altLang="en-US"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GAT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通过注意力机制</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引入</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一阶邻居节点的信息</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允许为不同的邻居</a:t>
            </a:r>
            <a:r>
              <a:rPr lang="zh-CN" altLang="zh-CN" sz="1800" kern="100" spc="-10" dirty="0">
                <a:effectLst/>
                <a:latin typeface="Times New Roman" panose="02020603050405020304" pitchFamily="18" charset="0"/>
                <a:ea typeface="宋体" panose="02010600030101010101" pitchFamily="2" charset="-122"/>
                <a:cs typeface="Times New Roman" panose="02020603050405020304" pitchFamily="18" charset="0"/>
              </a:rPr>
              <a:t>节点学习不同权重的优势，可以更精确地捕捉节点之间的重要关系，更适合处理电网拓扑</a:t>
            </a:r>
            <a:r>
              <a:rPr lang="zh-CN" altLang="zh-CN" sz="1800" kern="100" spc="-1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节点特征</a:t>
            </a:r>
            <a:r>
              <a:rPr lang="zh-CN" altLang="en-US"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。其次，</a:t>
            </a:r>
            <a:r>
              <a:rPr lang="zh-CN" altLang="zh-CN"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设计负采样策略提高训练效率，</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电网拓扑较为稀疏，负样本</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即非目标样本</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数量远多于正样本数量，通过采样一部分负样本替代所有的负样本进行辅助训练，能够有效提高模型的训练效率和训练效果</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从而在有限数据条件下实现电网拓扑的逆向推断。</a:t>
            </a:r>
            <a:r>
              <a:rPr lang="zh-CN" altLang="en-US"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模型采用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基于节点度</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即连接的边数</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和节点距离的负采样策略</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：对于节点度，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节点度较高的节点</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如枢纽变电站</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在电网拓扑中通常具有较多的连接关系，因此将其作为负样本的概率较低。相反，节点度较低的节点</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如边缘负荷节点</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更容易被选为负样本。</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对于节点距离，</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取节点度数最高的节点作为拓扑的中心节点，与之距离较远的节点不存在直接输电线路的概率更大，因此将其作为负样本的概率较高。</a:t>
            </a:r>
            <a:endParaRPr lang="zh-CN" altLang="en-US" dirty="0"/>
          </a:p>
        </p:txBody>
      </p:sp>
      <p:sp>
        <p:nvSpPr>
          <p:cNvPr id="4" name="灯片编号占位符 3">
            <a:extLst>
              <a:ext uri="{FF2B5EF4-FFF2-40B4-BE49-F238E27FC236}">
                <a16:creationId xmlns:a16="http://schemas.microsoft.com/office/drawing/2014/main" id="{729BC025-417D-9DC3-2440-977284B5D4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90226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011D-1C37-3D4D-2D28-6A1B9F9F45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0E9B11-EAB9-FDA6-F9D6-E64E1DDE443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8AE25C7-30FD-D932-FF0A-14761A3AAF30}"/>
              </a:ext>
            </a:extLst>
          </p:cNvPr>
          <p:cNvSpPr>
            <a:spLocks noGrp="1"/>
          </p:cNvSpPr>
          <p:nvPr>
            <p:ph type="body" idx="3"/>
          </p:nvPr>
        </p:nvSpPr>
        <p:spPr/>
        <p:txBody>
          <a:bodyPr/>
          <a:lstStyle/>
          <a:p>
            <a:r>
              <a:rPr lang="zh-CN" altLang="en-US"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在模型设计中</a:t>
            </a:r>
            <a:r>
              <a:rPr lang="zh-CN" altLang="zh-CN"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最后，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在标准均方误差</a:t>
            </a:r>
            <a:r>
              <a:rPr lang="en-US" altLang="zh-CN" sz="1800" kern="100" dirty="0">
                <a:effectLst/>
                <a:latin typeface="Times New Roman" panose="02020603050405020304" pitchFamily="18" charset="0"/>
                <a:ea typeface="宋体" panose="02010600030101010101" pitchFamily="2" charset="-122"/>
              </a:rPr>
              <a:t>MSE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的基础上，引入基于经济调度模型和地理信息的惩罚项作为模型损失函数，以刻画从低敏感数据推断线路拓扑的机理</a:t>
            </a:r>
            <a:r>
              <a:rPr lang="zh-CN" altLang="zh-CN"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，将电力线路阻塞特性与节点物理位置约束编码为可学习的正则化项</a:t>
            </a:r>
            <a:r>
              <a:rPr lang="zh-CN" altLang="en-US" sz="12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4" name="灯片编号占位符 3">
            <a:extLst>
              <a:ext uri="{FF2B5EF4-FFF2-40B4-BE49-F238E27FC236}">
                <a16:creationId xmlns:a16="http://schemas.microsoft.com/office/drawing/2014/main" id="{729BC025-417D-9DC3-2440-977284B5D4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95918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22F75-E240-E5FF-6AC0-75DC163C13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EDEC94-734D-79C2-C74E-7D1055E87F0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A5634A9-953A-EF71-4DA6-C606EAA08D34}"/>
              </a:ext>
            </a:extLst>
          </p:cNvPr>
          <p:cNvSpPr>
            <a:spLocks noGrp="1"/>
          </p:cNvSpPr>
          <p:nvPr>
            <p:ph type="body" idx="3"/>
          </p:nvPr>
        </p:nvSpPr>
        <p:spPr/>
        <p:txBody>
          <a:bodyPr/>
          <a:lstStyle/>
          <a:p>
            <a:r>
              <a:rPr lang="zh-CN" altLang="en-US" dirty="0"/>
              <a:t>研究首先在</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在已知实际电网节点电价、线路容量、线路影子价格，未知节点电压和潮流信息的条件下，结合电网节点地理信息，用生成的训练集数据进行模型训练，</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GNN</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GCN</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等基线模型一起比较，</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推断全系统的拓扑连接情况。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实际电网场景的验证数据表明，针对实际电网场景中的</a:t>
            </a:r>
            <a:r>
              <a:rPr lang="en-US" altLang="zh-CN" sz="1800" kern="100" dirty="0">
                <a:effectLst/>
                <a:latin typeface="Times New Roman" panose="02020603050405020304" pitchFamily="18" charset="0"/>
                <a:ea typeface="宋体" panose="02010600030101010101" pitchFamily="2" charset="-122"/>
              </a:rPr>
              <a:t>46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条待测拓扑线路，</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模型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实现</a:t>
            </a:r>
            <a:r>
              <a:rPr lang="en-US" altLang="zh-CN" sz="1800" kern="100" dirty="0">
                <a:effectLst/>
                <a:latin typeface="Times New Roman" panose="02020603050405020304" pitchFamily="18" charset="0"/>
                <a:ea typeface="宋体" panose="02010600030101010101" pitchFamily="2" charset="-122"/>
              </a:rPr>
              <a:t>44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条正确识别</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准确率</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达</a:t>
            </a:r>
            <a:r>
              <a:rPr lang="en-US" altLang="zh-CN" sz="1800" kern="100" dirty="0">
                <a:effectLst/>
                <a:latin typeface="Times New Roman" panose="02020603050405020304" pitchFamily="18" charset="0"/>
                <a:ea typeface="宋体" panose="02010600030101010101" pitchFamily="2" charset="-122"/>
              </a:rPr>
              <a:t>95.65%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，仅出现</a:t>
            </a:r>
            <a:r>
              <a:rPr lang="en-US" altLang="zh-CN" sz="1800" kern="1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例漏检与</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例误判。</a:t>
            </a:r>
            <a:endParaRPr lang="zh-CN" altLang="en-US" dirty="0"/>
          </a:p>
        </p:txBody>
      </p:sp>
      <p:sp>
        <p:nvSpPr>
          <p:cNvPr id="4" name="灯片编号占位符 3">
            <a:extLst>
              <a:ext uri="{FF2B5EF4-FFF2-40B4-BE49-F238E27FC236}">
                <a16:creationId xmlns:a16="http://schemas.microsoft.com/office/drawing/2014/main" id="{1D616498-B84A-1958-5BE4-A49BE5BD3C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88651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D867-D46E-8973-EB4D-83BDFA9FAB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741AA7-BE80-6AA9-3F54-2CC8911253E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1399028-E88D-7688-1A3D-FA15021D161A}"/>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其次，研究</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分别</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从</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基线对比的</a:t>
            </a:r>
            <a:r>
              <a:rPr lang="en-US" altLang="zh-CN" sz="1800" kern="100" dirty="0">
                <a:solidFill>
                  <a:srgbClr val="000000"/>
                </a:solidFill>
                <a:effectLst/>
                <a:latin typeface="Times New Roman" panose="02020603050405020304" pitchFamily="18" charset="0"/>
                <a:ea typeface="宋体" panose="02010600030101010101" pitchFamily="2" charset="-122"/>
              </a:rPr>
              <a:t>GNN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rPr>
              <a:t>GCN</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和我们的方法推断出的拓扑结构，结合节点地理距离构造攻击导纳矩阵，在</a:t>
            </a:r>
            <a:r>
              <a:rPr lang="en-US" altLang="zh-CN" sz="1800" kern="100" dirty="0">
                <a:solidFill>
                  <a:srgbClr val="000000"/>
                </a:solidFill>
                <a:effectLst/>
                <a:latin typeface="Times New Roman" panose="02020603050405020304" pitchFamily="18" charset="0"/>
                <a:ea typeface="宋体" panose="02010600030101010101" pitchFamily="2" charset="-122"/>
              </a:rPr>
              <a:t>39</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节点系统上实现</a:t>
            </a:r>
            <a:r>
              <a:rPr lang="en-US" altLang="zh-CN" sz="1800" kern="100" dirty="0">
                <a:solidFill>
                  <a:srgbClr val="000000"/>
                </a:solidFill>
                <a:effectLst/>
                <a:latin typeface="Times New Roman" panose="02020603050405020304" pitchFamily="18" charset="0"/>
                <a:ea typeface="宋体" panose="02010600030101010101" pitchFamily="2" charset="-122"/>
              </a:rPr>
              <a:t>FDIA</a:t>
            </a:r>
            <a:r>
              <a:rPr lang="zh-CN" altLang="en-US" sz="1800" kern="100" dirty="0">
                <a:solidFill>
                  <a:srgbClr val="000000"/>
                </a:solidFill>
                <a:effectLst/>
                <a:latin typeface="Times New Roman" panose="02020603050405020304" pitchFamily="18" charset="0"/>
                <a:ea typeface="宋体" panose="02010600030101010101" pitchFamily="2" charset="-122"/>
              </a:rPr>
              <a:t>攻击。</a:t>
            </a:r>
            <a:r>
              <a:rPr lang="en-US" altLang="zh-CN" sz="1800" kern="100" dirty="0">
                <a:solidFill>
                  <a:srgbClr val="000000"/>
                </a:solidFill>
                <a:effectLst/>
                <a:latin typeface="Times New Roman" panose="02020603050405020304" pitchFamily="18" charset="0"/>
                <a:ea typeface="宋体" panose="02010600030101010101" pitchFamily="2" charset="-122"/>
              </a:rPr>
              <a:t>BDD</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阈值代表了数据检测的灵敏度，阈值小易触发告警误报；阈值大则可能放过真实故障，降低系统可靠性</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0000"/>
                </a:solidFill>
                <a:effectLst/>
                <a:latin typeface="Times New Roman" panose="02020603050405020304" pitchFamily="18" charset="0"/>
                <a:ea typeface="宋体" panose="02010600030101010101" pitchFamily="2" charset="-122"/>
              </a:rPr>
              <a:t>从图中可以看出，</a:t>
            </a:r>
            <a:r>
              <a:rPr lang="zh-CN" altLang="en-US" sz="1800" kern="100" dirty="0">
                <a:solidFill>
                  <a:srgbClr val="000000"/>
                </a:solidFill>
                <a:effectLst/>
                <a:latin typeface="Times New Roman" panose="02020603050405020304" pitchFamily="18" charset="0"/>
                <a:ea typeface="宋体" panose="02010600030101010101" pitchFamily="2" charset="-122"/>
              </a:rPr>
              <a:t>研究</a:t>
            </a:r>
            <a:r>
              <a:rPr lang="zh-CN" altLang="zh-CN" sz="1800" kern="100" dirty="0">
                <a:solidFill>
                  <a:srgbClr val="000000"/>
                </a:solidFill>
                <a:effectLst/>
                <a:latin typeface="Times New Roman" panose="02020603050405020304" pitchFamily="18" charset="0"/>
                <a:ea typeface="宋体" panose="02010600030101010101" pitchFamily="2" charset="-122"/>
              </a:rPr>
              <a:t>设计模型推断出的拓扑结构设计注入攻击向量，可以完全绕过</a:t>
            </a:r>
            <a:r>
              <a:rPr lang="en-US" altLang="zh-CN" sz="1800" kern="100" dirty="0">
                <a:solidFill>
                  <a:srgbClr val="000000"/>
                </a:solidFill>
                <a:effectLst/>
                <a:latin typeface="Times New Roman" panose="02020603050405020304" pitchFamily="18" charset="0"/>
                <a:ea typeface="宋体" panose="02010600030101010101" pitchFamily="2" charset="-122"/>
              </a:rPr>
              <a:t>BDD</a:t>
            </a:r>
            <a:r>
              <a:rPr lang="zh-CN" altLang="zh-CN" sz="1800" kern="100" dirty="0">
                <a:solidFill>
                  <a:srgbClr val="000000"/>
                </a:solidFill>
                <a:effectLst/>
                <a:latin typeface="Times New Roman" panose="02020603050405020304" pitchFamily="18" charset="0"/>
                <a:ea typeface="宋体" panose="02010600030101010101" pitchFamily="2" charset="-122"/>
              </a:rPr>
              <a:t>机制，在不同的检测能力下实现隐蔽的</a:t>
            </a:r>
            <a:r>
              <a:rPr lang="en-US" altLang="zh-CN" sz="1800" kern="100" dirty="0">
                <a:solidFill>
                  <a:srgbClr val="000000"/>
                </a:solidFill>
                <a:effectLst/>
                <a:latin typeface="Times New Roman" panose="02020603050405020304" pitchFamily="18" charset="0"/>
                <a:ea typeface="宋体" panose="02010600030101010101" pitchFamily="2" charset="-122"/>
              </a:rPr>
              <a:t>FDIA</a:t>
            </a:r>
            <a:r>
              <a:rPr lang="zh-CN" altLang="zh-CN" sz="1800" kern="100" dirty="0">
                <a:solidFill>
                  <a:srgbClr val="000000"/>
                </a:solidFill>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a:extLst>
              <a:ext uri="{FF2B5EF4-FFF2-40B4-BE49-F238E27FC236}">
                <a16:creationId xmlns:a16="http://schemas.microsoft.com/office/drawing/2014/main" id="{ED6616F8-2F37-9C7A-25E7-FC1926DAC1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145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F8CC-D390-5BB4-8D6D-56F99EBA28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E42A8A-10A6-E254-686F-DDF66D91F68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907B396-75BE-B465-1155-9530EFFC54AD}"/>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研究</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分别使用数据加噪、数据掩码和数据混淆技术对公开可获取的信息进行处理，</a:t>
            </a:r>
            <a:r>
              <a:rPr kumimoji="1" lang="zh-CN" altLang="en-US" sz="1800" kern="0" dirty="0">
                <a:solidFill>
                  <a:prstClr val="black">
                    <a:lumMod val="95000"/>
                    <a:lumOff val="5000"/>
                  </a:prstClr>
                </a:solidFill>
                <a:latin typeface="微软雅黑" panose="020B0503020204020204" pitchFamily="34" charset="-122"/>
                <a:ea typeface="微软雅黑" panose="020B0503020204020204" pitchFamily="34" charset="-122"/>
              </a:rPr>
              <a:t>再次通过</a:t>
            </a:r>
            <a:r>
              <a:rPr kumimoji="1" lang="en-US" altLang="zh-CN" sz="1800" kern="0" dirty="0">
                <a:solidFill>
                  <a:prstClr val="black">
                    <a:lumMod val="95000"/>
                    <a:lumOff val="5000"/>
                  </a:prstClr>
                </a:solidFill>
                <a:latin typeface="微软雅黑" panose="020B0503020204020204" pitchFamily="34" charset="-122"/>
                <a:ea typeface="微软雅黑" panose="020B0503020204020204" pitchFamily="34" charset="-122"/>
              </a:rPr>
              <a:t>GAT</a:t>
            </a:r>
            <a:r>
              <a:rPr kumimoji="1" lang="zh-CN" altLang="en-US" sz="1800" kern="0" dirty="0">
                <a:solidFill>
                  <a:prstClr val="black">
                    <a:lumMod val="95000"/>
                    <a:lumOff val="5000"/>
                  </a:prstClr>
                </a:solidFill>
                <a:latin typeface="微软雅黑" panose="020B0503020204020204" pitchFamily="34" charset="-122"/>
                <a:ea typeface="微软雅黑" panose="020B0503020204020204" pitchFamily="34" charset="-122"/>
              </a:rPr>
              <a:t>模型进行推断，</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研究信息干扰对电网拓扑泄露威胁的</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防</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护效果</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。在数据加噪实验中，</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噪声强度逐步增大，拓扑隐私性整体呈上升趋势，</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这一过程伴随着公开电价可用性的明显下降</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采用数据加噪难以做到数据可用性和拓扑隐私性均大于</a:t>
            </a:r>
            <a:r>
              <a:rPr lang="en-US" altLang="zh-CN" sz="1800" kern="100" dirty="0">
                <a:effectLst/>
                <a:latin typeface="Times New Roman" panose="02020603050405020304" pitchFamily="18" charset="0"/>
                <a:ea typeface="宋体" panose="02010600030101010101" pitchFamily="2" charset="-122"/>
              </a:rPr>
              <a:t>50%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的平衡。</a:t>
            </a:r>
            <a:endParaRPr lang="zh-CN" altLang="en-US" dirty="0"/>
          </a:p>
        </p:txBody>
      </p:sp>
      <p:sp>
        <p:nvSpPr>
          <p:cNvPr id="4" name="灯片编号占位符 3">
            <a:extLst>
              <a:ext uri="{FF2B5EF4-FFF2-40B4-BE49-F238E27FC236}">
                <a16:creationId xmlns:a16="http://schemas.microsoft.com/office/drawing/2014/main" id="{9623EC80-A855-4CDC-358E-A7E5569934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73385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F8CC-D390-5BB4-8D6D-56F99EBA28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E42A8A-10A6-E254-686F-DDF66D91F68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907B396-75BE-B465-1155-9530EFFC54AD}"/>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在数据掩码实验中，</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随着已知拓扑信息比例降低，拓扑隐私性随之逐步提升</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数据掩码基本能保证</a:t>
            </a:r>
            <a:r>
              <a:rPr lang="en-US" altLang="zh-CN" sz="1800" kern="100" dirty="0">
                <a:effectLst/>
                <a:latin typeface="Times New Roman" panose="02020603050405020304" pitchFamily="18" charset="0"/>
                <a:ea typeface="宋体" panose="02010600030101010101" pitchFamily="2" charset="-122"/>
              </a:rPr>
              <a:t>50%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信息可用同时拓扑隐私性大于</a:t>
            </a:r>
            <a:r>
              <a:rPr lang="en-US" altLang="zh-CN" sz="1800" kern="100" dirty="0">
                <a:effectLst/>
                <a:latin typeface="Times New Roman" panose="02020603050405020304" pitchFamily="18" charset="0"/>
                <a:ea typeface="宋体" panose="02010600030101010101" pitchFamily="2" charset="-122"/>
              </a:rPr>
              <a:t>50%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的平衡。数据混淆对拓扑推断攻击具有较强抑制作用</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能够在一定范围内同时保持较高的数据可用性和较强的拓扑隐私保护效果，但过强的混淆程度同样会对数据的业务可用性造成不利影响</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000000"/>
                </a:solidFill>
                <a:effectLst/>
                <a:latin typeface="Times New Roman" panose="02020603050405020304" pitchFamily="18" charset="0"/>
                <a:ea typeface="宋体" panose="02010600030101010101" pitchFamily="2" charset="-122"/>
              </a:rPr>
              <a:t>使用三类信息干扰技术对公开数据进行处理后，随着干扰强度增强，拓扑数据的隐私性都有不同程度的上升。但在使用信息干扰技术的同时，更强的保护能力均</a:t>
            </a:r>
            <a:r>
              <a:rPr lang="zh-CN" altLang="zh-CN" sz="1800" kern="100" dirty="0">
                <a:solidFill>
                  <a:srgbClr val="000000"/>
                </a:solidFill>
                <a:effectLst/>
                <a:latin typeface="Segoe UI" panose="020B0502040204020203" pitchFamily="34" charset="0"/>
                <a:ea typeface="宋体" panose="02010600030101010101" pitchFamily="2" charset="-122"/>
                <a:cs typeface="Segoe UI" panose="020B0502040204020203" pitchFamily="34" charset="0"/>
              </a:rPr>
              <a:t>需要牺牲更多的数据可用性，</a:t>
            </a:r>
            <a:r>
              <a:rPr lang="zh-CN" altLang="zh-CN" sz="1800" kern="100" dirty="0">
                <a:solidFill>
                  <a:srgbClr val="000000"/>
                </a:solidFill>
                <a:effectLst/>
                <a:latin typeface="Times New Roman" panose="02020603050405020304" pitchFamily="18" charset="0"/>
                <a:ea typeface="宋体" panose="02010600030101010101" pitchFamily="2" charset="-122"/>
              </a:rPr>
              <a:t>公开数据的可用性与隐私性指标无法同时达到满足实际需求的较高的值。因此，还需要进一步研究针对拓扑推断以及其余推断型数据泄露威胁的数据干扰技术，兼顾数据的可用性与隐私性。</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a:extLst>
              <a:ext uri="{FF2B5EF4-FFF2-40B4-BE49-F238E27FC236}">
                <a16:creationId xmlns:a16="http://schemas.microsoft.com/office/drawing/2014/main" id="{9623EC80-A855-4CDC-358E-A7E5569934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88376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调换研究内容</a:t>
            </a:r>
            <a:r>
              <a:rPr lang="en-US" altLang="zh-CN" dirty="0"/>
              <a:t>1</a:t>
            </a:r>
            <a:r>
              <a:rPr lang="zh-CN" altLang="en-US" dirty="0"/>
              <a:t>和</a:t>
            </a:r>
            <a:r>
              <a:rPr lang="en-US" altLang="zh-CN" dirty="0"/>
              <a:t>2</a:t>
            </a:r>
            <a:r>
              <a:rPr lang="zh-CN" altLang="en-US" dirty="0"/>
              <a:t>的顺序</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86426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7533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0957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字母的含义解释，</a:t>
            </a:r>
            <a:endParaRPr lang="en-US" altLang="zh-CN" dirty="0"/>
          </a:p>
          <a:p>
            <a:r>
              <a:rPr lang="zh-CN" altLang="en-US" dirty="0"/>
              <a:t>求出了</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52646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正则化的参数怎么选取，多个可行解，哪个是最优解，补充说明</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23</a:t>
            </a:fld>
            <a:endParaRPr lang="zh-CN" altLang="en-US"/>
          </a:p>
        </p:txBody>
      </p:sp>
    </p:spTree>
    <p:extLst>
      <p:ext uri="{BB962C8B-B14F-4D97-AF65-F5344CB8AC3E}">
        <p14:creationId xmlns:p14="http://schemas.microsoft.com/office/powerpoint/2010/main" val="4027850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87186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539045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算例设置展开说明，负荷是时变值，波动，采取的哪个静态点</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29</a:t>
            </a:fld>
            <a:endParaRPr lang="zh-CN" altLang="en-US"/>
          </a:p>
        </p:txBody>
      </p:sp>
    </p:spTree>
    <p:extLst>
      <p:ext uri="{BB962C8B-B14F-4D97-AF65-F5344CB8AC3E}">
        <p14:creationId xmlns:p14="http://schemas.microsoft.com/office/powerpoint/2010/main" val="28381964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2</a:t>
            </a:r>
            <a:r>
              <a:rPr lang="zh-CN" altLang="en-US" dirty="0"/>
              <a:t>个图的误差点不符合规律，为什么都在线以下</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30</a:t>
            </a:fld>
            <a:endParaRPr lang="zh-CN" altLang="en-US"/>
          </a:p>
        </p:txBody>
      </p:sp>
    </p:spTree>
    <p:extLst>
      <p:ext uri="{BB962C8B-B14F-4D97-AF65-F5344CB8AC3E}">
        <p14:creationId xmlns:p14="http://schemas.microsoft.com/office/powerpoint/2010/main" val="7522441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本研究不是简单判断某个敏感变量</a:t>
            </a:r>
            <a:r>
              <a:rPr lang="en-US" altLang="zh-CN" dirty="0"/>
              <a:t>“</a:t>
            </a:r>
            <a:r>
              <a:rPr lang="zh-CN" altLang="en-US" dirty="0"/>
              <a:t>能不能被预测出来</a:t>
            </a:r>
            <a:r>
              <a:rPr lang="en-US" altLang="zh-CN" dirty="0"/>
              <a:t>”</a:t>
            </a:r>
            <a:r>
              <a:rPr lang="zh-CN" altLang="en-US" dirty="0"/>
              <a:t>，而是进一步识别：哪些辅助变量是真正支撑敏感目标推断的关键来源。图里从输入的敏感目标变量和关联辅助变量集出发，经过统计初筛、</a:t>
            </a:r>
            <a:r>
              <a:rPr lang="en-US" altLang="zh-CN" dirty="0"/>
              <a:t>L1</a:t>
            </a:r>
            <a:r>
              <a:rPr lang="zh-CN" altLang="en-US" dirty="0"/>
              <a:t>门控建模和非冗余验证三个步骤，最终得到最小非冗余推断源变量集合。识别出这类变量之后，就可以进一步分析其中是否存在低敏感等级、但对高敏感数据具有较强推断能力的变量。如果存在这种情况，就说明数据之间存在隐式推断风险，这一结论可以直接用于后续的数据风险评估，以及电力数据发布前的安全确认。</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我们事先指定一个敏感目标变量，同时收集其余可能与之相关的辅助变量，也就是输入端：</a:t>
            </a:r>
            <a:r>
              <a:rPr lang="en-US" altLang="zh-CN" dirty="0"/>
              <a:t>“</a:t>
            </a:r>
            <a:r>
              <a:rPr lang="zh-CN" altLang="en-US" dirty="0"/>
              <a:t>多维辅助数据与敏感数据</a:t>
            </a:r>
            <a:r>
              <a:rPr lang="en-US" altLang="zh-CN" dirty="0"/>
              <a:t>”</a:t>
            </a:r>
            <a:r>
              <a:rPr lang="zh-CN" altLang="en-US" dirty="0"/>
              <a:t>。第一步</a:t>
            </a:r>
            <a:r>
              <a:rPr lang="en-US" altLang="zh-CN" dirty="0"/>
              <a:t>“</a:t>
            </a:r>
            <a:r>
              <a:rPr lang="zh-CN" altLang="en-US" dirty="0"/>
              <a:t>多相关系数统计筛选</a:t>
            </a:r>
            <a:r>
              <a:rPr lang="en-US" altLang="zh-CN" dirty="0"/>
              <a:t>”</a:t>
            </a:r>
            <a:r>
              <a:rPr lang="zh-CN" altLang="en-US" dirty="0"/>
              <a:t>，本质上是一个初筛过程，目的是从大量候选变量里先去掉那些明显无关的变量，保留可能有推断价值的候选推断变量集。第二步</a:t>
            </a:r>
            <a:r>
              <a:rPr lang="en-US" altLang="zh-CN" dirty="0"/>
              <a:t>“L1</a:t>
            </a:r>
            <a:r>
              <a:rPr lang="zh-CN" altLang="en-US" dirty="0"/>
              <a:t>门控深度推断模型建模</a:t>
            </a:r>
            <a:r>
              <a:rPr lang="en-US" altLang="zh-CN" dirty="0"/>
              <a:t>”</a:t>
            </a:r>
            <a:r>
              <a:rPr lang="zh-CN" altLang="en-US" dirty="0"/>
              <a:t>，是在候选变量集基础上构建联合推断模型，通过门控参数的学习，让真正重要的变量被保留下来，让贡献很小的变量逐渐被压缩。第三步</a:t>
            </a:r>
            <a:r>
              <a:rPr lang="en-US" altLang="zh-CN" dirty="0"/>
              <a:t>“</a:t>
            </a:r>
            <a:r>
              <a:rPr lang="zh-CN" altLang="en-US" dirty="0"/>
              <a:t>识别最小非冗余推断源集</a:t>
            </a:r>
            <a:r>
              <a:rPr lang="en-US" altLang="zh-CN" dirty="0"/>
              <a:t>”</a:t>
            </a:r>
            <a:r>
              <a:rPr lang="zh-CN" altLang="en-US" dirty="0"/>
              <a:t>，包括两层含义：一层是依据训练收敛后的门控参数提取活跃变量，另一层是通过冗余验证，也就是后面的</a:t>
            </a:r>
            <a:r>
              <a:rPr lang="en-US" altLang="zh-CN" dirty="0"/>
              <a:t>drop</a:t>
            </a:r>
            <a:r>
              <a:rPr lang="zh-CN" altLang="en-US" dirty="0"/>
              <a:t>实验，进一步排除那些去掉后对模型精度影响不明显的变量。经过这三步，最终得到的就是最小非冗余推断源集。</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这一页对应第一步初筛。因为单一相关系数通常只能反映一种依赖关系，所以这里同时采用</a:t>
            </a:r>
            <a:r>
              <a:rPr lang="en-US" altLang="zh-CN" dirty="0"/>
              <a:t>6</a:t>
            </a:r>
            <a:r>
              <a:rPr lang="zh-CN" altLang="en-US" dirty="0"/>
              <a:t>种相关性指标，从不同角度衡量候选变量和敏感变量之间的关联程度。图里中间的</a:t>
            </a:r>
            <a:r>
              <a:rPr lang="en-US" altLang="zh-CN" dirty="0"/>
              <a:t>“6</a:t>
            </a:r>
            <a:r>
              <a:rPr lang="zh-CN" altLang="en-US" dirty="0"/>
              <a:t>维相关系数向量</a:t>
            </a:r>
            <a:r>
              <a:rPr lang="en-US" altLang="zh-CN" dirty="0"/>
              <a:t>”</a:t>
            </a:r>
            <a:r>
              <a:rPr lang="zh-CN" altLang="en-US" dirty="0"/>
              <a:t>表示每个候选变量都不是只算一个相关值，而是形成一个多维统计描述。右边这个判断规则表示：只要任意一种相关系数超过阈值，就先把这个变量保留下来。这样做的目的是尽量不漏掉潜在有用的推断变量。</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这一页是方法的核心部分。图中展示的是一个加入了输入级门控层的深度推断模型。它的关键思想是：在输入层和第一隐藏层之间，为每一个输入变量设置一个可学习的门控参数。这个门控参数可以理解为</a:t>
            </a:r>
            <a:r>
              <a:rPr lang="en-US" altLang="zh-CN" dirty="0"/>
              <a:t>“</a:t>
            </a:r>
            <a:r>
              <a:rPr lang="zh-CN" altLang="en-US" dirty="0"/>
              <a:t>变量重要性权重</a:t>
            </a:r>
            <a:r>
              <a:rPr lang="en-US" altLang="zh-CN" dirty="0"/>
              <a:t>”</a:t>
            </a:r>
            <a:r>
              <a:rPr lang="zh-CN" altLang="en-US" dirty="0"/>
              <a:t>，门控值越大，说明该变量对敏感目标推断贡献越大；门控值越小，说明它的作用有限，更可能是冗余变量。页面上给出的损失函数由两部分组成：一部分是</a:t>
            </a:r>
            <a:r>
              <a:rPr lang="en-US" altLang="zh-CN" dirty="0"/>
              <a:t>MSE</a:t>
            </a:r>
            <a:r>
              <a:rPr lang="zh-CN" altLang="en-US" dirty="0"/>
              <a:t>项，用于保证模型对敏感目标的推断精度；另一部分是</a:t>
            </a:r>
            <a:r>
              <a:rPr lang="en-US" altLang="zh-CN" dirty="0"/>
              <a:t>L1</a:t>
            </a:r>
            <a:r>
              <a:rPr lang="zh-CN" altLang="en-US" dirty="0"/>
              <a:t>正则项，用于推动门控参数稀疏化。也就是说，模型一边追求预测准确，一边主动压缩不必要的输入特征。最终效果就是：真正重要的变量门控值会保持较大，而不重要的变量门控值会逐渐趋近于</a:t>
            </a:r>
            <a:r>
              <a:rPr lang="en-US" altLang="zh-CN" dirty="0"/>
              <a:t>0</a:t>
            </a:r>
            <a:r>
              <a:rPr lang="zh-CN" altLang="en-US" dirty="0"/>
              <a:t>。这里可以把它理解成一种</a:t>
            </a:r>
            <a:r>
              <a:rPr lang="en-US" altLang="zh-CN" dirty="0"/>
              <a:t>“</a:t>
            </a:r>
            <a:r>
              <a:rPr lang="zh-CN" altLang="en-US" dirty="0"/>
              <a:t>嵌入式特征选择</a:t>
            </a:r>
            <a:r>
              <a:rPr lang="en-US" altLang="zh-CN" dirty="0"/>
              <a:t>”</a:t>
            </a:r>
            <a:r>
              <a:rPr lang="zh-CN" altLang="en-US" dirty="0"/>
              <a:t>，也就是特征筛选不是额外做的，而是直接融合在模型训练过程中完成的。</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这一页对应的是从</a:t>
            </a:r>
            <a:r>
              <a:rPr lang="en-US" altLang="zh-CN" dirty="0"/>
              <a:t>“</a:t>
            </a:r>
            <a:r>
              <a:rPr lang="zh-CN" altLang="en-US" dirty="0"/>
              <a:t>重要变量</a:t>
            </a:r>
            <a:r>
              <a:rPr lang="en-US" altLang="zh-CN" dirty="0"/>
              <a:t>”</a:t>
            </a:r>
            <a:r>
              <a:rPr lang="zh-CN" altLang="en-US" dirty="0"/>
              <a:t>进一步走向</a:t>
            </a:r>
            <a:r>
              <a:rPr lang="en-US" altLang="zh-CN" dirty="0"/>
              <a:t>“</a:t>
            </a:r>
            <a:r>
              <a:rPr lang="zh-CN" altLang="en-US" dirty="0"/>
              <a:t>最小非冗余变量集</a:t>
            </a:r>
            <a:r>
              <a:rPr lang="en-US" altLang="zh-CN" dirty="0"/>
              <a:t>”</a:t>
            </a:r>
            <a:r>
              <a:rPr lang="zh-CN" altLang="en-US" dirty="0"/>
              <a:t>。上半部分表示，当</a:t>
            </a:r>
            <a:r>
              <a:rPr lang="en-US" altLang="zh-CN" dirty="0"/>
              <a:t>L1</a:t>
            </a:r>
            <a:r>
              <a:rPr lang="zh-CN" altLang="en-US" dirty="0"/>
              <a:t>门控推断模型训练收敛后，我们先根据门控阈值提取出一个推断变量集，也就是把门控参数大于阈值的变量先选出来。这个集合已经说明这些变量对推断是有贡献的，但还不能完全说明它们是否不可替代。所以下半部分又引入了</a:t>
            </a:r>
            <a:r>
              <a:rPr lang="en-US" altLang="zh-CN" dirty="0"/>
              <a:t>“</a:t>
            </a:r>
            <a:r>
              <a:rPr lang="zh-CN" altLang="en-US" dirty="0"/>
              <a:t>随机</a:t>
            </a:r>
            <a:r>
              <a:rPr lang="en-US" altLang="zh-CN" dirty="0"/>
              <a:t>Drop</a:t>
            </a:r>
            <a:r>
              <a:rPr lang="zh-CN" altLang="en-US" dirty="0"/>
              <a:t>实验</a:t>
            </a:r>
            <a:r>
              <a:rPr lang="en-US" altLang="zh-CN" dirty="0"/>
              <a:t>”</a:t>
            </a:r>
            <a:r>
              <a:rPr lang="zh-CN" altLang="en-US" dirty="0"/>
              <a:t>。它的作用是对已经提取出的变量逐个剔除，观察模型推断精度的变化。如果去掉某个变量之后，模型精度基本不变，那么说明这个变量虽然曾经被选中，但本质上仍可能是冗余的，可以继续删除；如果去掉之后模型精度明显下降，就说明它是关键推断源，应当保留。图中的两条路径</a:t>
            </a:r>
            <a:r>
              <a:rPr lang="en-US" altLang="zh-CN" dirty="0"/>
              <a:t>“</a:t>
            </a:r>
            <a:r>
              <a:rPr lang="zh-CN" altLang="en-US" dirty="0"/>
              <a:t>精度明显下降</a:t>
            </a:r>
            <a:r>
              <a:rPr lang="en-US" altLang="zh-CN" dirty="0"/>
              <a:t>”</a:t>
            </a:r>
            <a:r>
              <a:rPr lang="zh-CN" altLang="en-US" dirty="0"/>
              <a:t>和</a:t>
            </a:r>
            <a:r>
              <a:rPr lang="en-US" altLang="zh-CN" dirty="0"/>
              <a:t>“</a:t>
            </a:r>
            <a:r>
              <a:rPr lang="zh-CN" altLang="en-US" dirty="0"/>
              <a:t>精度基本不变</a:t>
            </a:r>
            <a:r>
              <a:rPr lang="en-US" altLang="zh-CN" dirty="0"/>
              <a:t>”</a:t>
            </a:r>
            <a:r>
              <a:rPr lang="zh-CN" altLang="en-US" dirty="0"/>
              <a:t>，就分别对应</a:t>
            </a:r>
            <a:r>
              <a:rPr lang="en-US" altLang="zh-CN" dirty="0"/>
              <a:t>“</a:t>
            </a:r>
            <a:r>
              <a:rPr lang="zh-CN" altLang="en-US" dirty="0"/>
              <a:t>保留关键变量</a:t>
            </a:r>
            <a:r>
              <a:rPr lang="en-US" altLang="zh-CN" dirty="0"/>
              <a:t>”</a:t>
            </a:r>
            <a:r>
              <a:rPr lang="zh-CN" altLang="en-US" dirty="0"/>
              <a:t>和</a:t>
            </a:r>
            <a:r>
              <a:rPr lang="en-US" altLang="zh-CN" dirty="0"/>
              <a:t>“</a:t>
            </a:r>
            <a:r>
              <a:rPr lang="zh-CN" altLang="en-US" dirty="0"/>
              <a:t>删除冗余变量</a:t>
            </a:r>
            <a:r>
              <a:rPr lang="en-US" altLang="zh-CN" dirty="0"/>
              <a:t>”</a:t>
            </a:r>
            <a:r>
              <a:rPr lang="zh-CN" altLang="en-US" dirty="0"/>
              <a:t>。经过这一步，最终留下的才是真正的最小非冗余推断变量集。也就是说，这里不仅做了变量提取，还进一步做了必要性验证。</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这一页进入实验。这里先说明数据来源于</a:t>
            </a:r>
            <a:r>
              <a:rPr lang="en-US" altLang="zh-CN" dirty="0"/>
              <a:t>PJM</a:t>
            </a:r>
            <a:r>
              <a:rPr lang="zh-CN" altLang="en-US" dirty="0"/>
              <a:t>能源市场，包含一年的实时电力数据，共</a:t>
            </a:r>
            <a:r>
              <a:rPr lang="en-US" altLang="zh-CN" dirty="0"/>
              <a:t>39</a:t>
            </a:r>
            <a:r>
              <a:rPr lang="zh-CN" altLang="en-US" dirty="0"/>
              <a:t>维变量，其中选定一个变量作为敏感目标，其余</a:t>
            </a:r>
            <a:r>
              <a:rPr lang="en-US" altLang="zh-CN" dirty="0"/>
              <a:t>38</a:t>
            </a:r>
            <a:r>
              <a:rPr lang="zh-CN" altLang="en-US" dirty="0"/>
              <a:t>维作为候选辅助变量。图中第一列是敏感数据名，第二列是辅助数据名，后面</a:t>
            </a:r>
            <a:r>
              <a:rPr lang="en-US" altLang="zh-CN" dirty="0"/>
              <a:t>6</a:t>
            </a:r>
            <a:r>
              <a:rPr lang="zh-CN" altLang="en-US" dirty="0"/>
              <a:t>列是</a:t>
            </a:r>
            <a:r>
              <a:rPr lang="en-US" altLang="zh-CN" dirty="0"/>
              <a:t>6</a:t>
            </a:r>
            <a:r>
              <a:rPr lang="zh-CN" altLang="en-US" dirty="0"/>
              <a:t>种相关系数值，最后</a:t>
            </a:r>
            <a:r>
              <a:rPr lang="en-US" altLang="zh-CN" dirty="0"/>
              <a:t>6</a:t>
            </a:r>
            <a:r>
              <a:rPr lang="zh-CN" altLang="en-US" dirty="0"/>
              <a:t>列是这</a:t>
            </a:r>
            <a:r>
              <a:rPr lang="en-US" altLang="zh-CN" dirty="0"/>
              <a:t>6</a:t>
            </a:r>
            <a:r>
              <a:rPr lang="zh-CN" altLang="en-US" dirty="0"/>
              <a:t>种相关系数是否达到了阈值。第一步初筛结果表明，</a:t>
            </a:r>
            <a:r>
              <a:rPr lang="en-US" altLang="zh-CN" dirty="0"/>
              <a:t>38</a:t>
            </a:r>
            <a:r>
              <a:rPr lang="zh-CN" altLang="en-US" dirty="0"/>
              <a:t>列数据中有</a:t>
            </a:r>
            <a:r>
              <a:rPr lang="en-US" altLang="zh-CN" dirty="0"/>
              <a:t>25</a:t>
            </a:r>
            <a:r>
              <a:rPr lang="zh-CN" altLang="en-US" dirty="0"/>
              <a:t>列达到阈值，说明统计筛选能够有效缩小变量范围。同时，这</a:t>
            </a:r>
            <a:r>
              <a:rPr lang="en-US" altLang="zh-CN" dirty="0"/>
              <a:t>25</a:t>
            </a:r>
            <a:r>
              <a:rPr lang="zh-CN" altLang="en-US" dirty="0"/>
              <a:t>列变量大多在多种相关指标下都有响应，说明它们与目标之间确实存在较稳定的统计关联。</a:t>
            </a:r>
          </a:p>
          <a:p>
            <a:endParaRPr lang="en-US" altLang="zh-CN" dirty="0"/>
          </a:p>
          <a:p>
            <a:r>
              <a:rPr lang="en-US" altLang="zh-CN" dirty="0"/>
              <a:t>39</a:t>
            </a:r>
            <a:r>
              <a:rPr lang="zh-CN" altLang="en-US" dirty="0"/>
              <a:t>维都是公开的数据集，本身并没有敏感数据，用生成的敏感数据作为高敏感数据，</a:t>
            </a:r>
          </a:p>
        </p:txBody>
      </p:sp>
      <p:sp>
        <p:nvSpPr>
          <p:cNvPr id="4" name="灯片编号占位符 3"/>
          <p:cNvSpPr>
            <a:spLocks noGrp="1"/>
          </p:cNvSpPr>
          <p:nvPr>
            <p:ph type="sldNum" sz="quarter" idx="5"/>
          </p:nvPr>
        </p:nvSpPr>
        <p:spPr/>
        <p:txBody>
          <a:bodyPr/>
          <a:lstStyle/>
          <a:p>
            <a:fld id="{85E2B66F-9356-4FE3-88B4-9DF3283AA355}" type="slidenum">
              <a:rPr lang="zh-CN" altLang="en-US" smtClean="0"/>
              <a:t>36</a:t>
            </a:fld>
            <a:endParaRPr lang="zh-CN" altLang="en-US"/>
          </a:p>
        </p:txBody>
      </p:sp>
    </p:spTree>
    <p:extLst>
      <p:ext uri="{BB962C8B-B14F-4D97-AF65-F5344CB8AC3E}">
        <p14:creationId xmlns:p14="http://schemas.microsoft.com/office/powerpoint/2010/main" val="21200702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这一页展示</a:t>
            </a:r>
            <a:r>
              <a:rPr lang="en-US" altLang="zh-CN" dirty="0"/>
              <a:t>L1</a:t>
            </a:r>
            <a:r>
              <a:rPr lang="zh-CN" altLang="en-US" dirty="0"/>
              <a:t>门控模型训练结果。将前面得到的</a:t>
            </a:r>
            <a:r>
              <a:rPr lang="en-US" altLang="zh-CN" dirty="0"/>
              <a:t>25</a:t>
            </a:r>
            <a:r>
              <a:rPr lang="zh-CN" altLang="en-US" dirty="0"/>
              <a:t>个候选变量输入模型后，训练在</a:t>
            </a:r>
            <a:r>
              <a:rPr lang="en-US" altLang="zh-CN" dirty="0"/>
              <a:t>75</a:t>
            </a:r>
            <a:r>
              <a:rPr lang="zh-CN" altLang="en-US" dirty="0"/>
              <a:t>个</a:t>
            </a:r>
            <a:r>
              <a:rPr lang="en-US" altLang="zh-CN" dirty="0"/>
              <a:t>Epoch</a:t>
            </a:r>
            <a:r>
              <a:rPr lang="zh-CN" altLang="en-US" dirty="0"/>
              <a:t>左右趋于稳定，最终只保留了</a:t>
            </a:r>
            <a:r>
              <a:rPr lang="en-US" altLang="zh-CN" dirty="0"/>
              <a:t>3</a:t>
            </a:r>
            <a:r>
              <a:rPr lang="zh-CN" altLang="en-US" dirty="0"/>
              <a:t>个活跃特征。结合图中的变化曲线可以看到，在特征数量大幅压缩的同时，模型整体推断性能并没有明显下降。这说明模型确实识别出了少量真正关键的推断变量，而大量其他变量虽然相关，但并不是必需的。</a:t>
            </a:r>
          </a:p>
          <a:p>
            <a:endParaRPr lang="en-US" altLang="zh-CN" dirty="0"/>
          </a:p>
          <a:p>
            <a:r>
              <a:rPr lang="zh-CN" altLang="en-US" dirty="0"/>
              <a:t>初筛是否有必要？会不会有误筛，非线性的相关性，补充实验</a:t>
            </a:r>
            <a:endParaRPr lang="en-US" altLang="zh-CN" dirty="0"/>
          </a:p>
          <a:p>
            <a:r>
              <a:rPr lang="zh-CN" altLang="en-US" dirty="0"/>
              <a:t>可以把两个方法进行对照</a:t>
            </a:r>
            <a:endParaRPr lang="en-US" altLang="zh-CN" dirty="0"/>
          </a:p>
        </p:txBody>
      </p:sp>
      <p:sp>
        <p:nvSpPr>
          <p:cNvPr id="4" name="灯片编号占位符 3"/>
          <p:cNvSpPr>
            <a:spLocks noGrp="1"/>
          </p:cNvSpPr>
          <p:nvPr>
            <p:ph type="sldNum" sz="quarter" idx="5"/>
          </p:nvPr>
        </p:nvSpPr>
        <p:spPr/>
        <p:txBody>
          <a:bodyPr/>
          <a:lstStyle/>
          <a:p>
            <a:fld id="{85E2B66F-9356-4FE3-88B4-9DF3283AA355}" type="slidenum">
              <a:rPr lang="zh-CN" altLang="en-US" smtClean="0"/>
              <a:t>37</a:t>
            </a:fld>
            <a:endParaRPr lang="zh-CN" altLang="en-US"/>
          </a:p>
        </p:txBody>
      </p:sp>
    </p:spTree>
    <p:extLst>
      <p:ext uri="{BB962C8B-B14F-4D97-AF65-F5344CB8AC3E}">
        <p14:creationId xmlns:p14="http://schemas.microsoft.com/office/powerpoint/2010/main" val="28322526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这一页主要讲最终验证。前面的</a:t>
            </a:r>
            <a:r>
              <a:rPr lang="en-US" altLang="zh-CN" dirty="0"/>
              <a:t>full</a:t>
            </a:r>
            <a:r>
              <a:rPr lang="zh-CN" altLang="en-US" dirty="0"/>
              <a:t>实验说明，不同阶段提取出的活跃变量集都能保持较强的联合推断能力；后面的</a:t>
            </a:r>
            <a:r>
              <a:rPr lang="en-US" altLang="zh-CN" dirty="0"/>
              <a:t>drop</a:t>
            </a:r>
            <a:r>
              <a:rPr lang="zh-CN" altLang="en-US" dirty="0"/>
              <a:t>实验则进一步验证最终</a:t>
            </a:r>
            <a:r>
              <a:rPr lang="en-US" altLang="zh-CN" dirty="0"/>
              <a:t>3</a:t>
            </a:r>
            <a:r>
              <a:rPr lang="zh-CN" altLang="en-US" dirty="0"/>
              <a:t>变量集合是否非冗余。结果表明，去掉前两个关键变量后，模型精度显著下降，说明它们是不可替代的核心推断源；去掉第三个变量后，精度只小幅下降，说明它更多起辅助作用。也就是说，这一页最终证明了模型识别出的集合既能支撑高精度推断，又具有较强的非冗余性。</a:t>
            </a:r>
          </a:p>
          <a:p>
            <a:endParaRPr lang="zh-CN" altLang="en-US" dirty="0"/>
          </a:p>
        </p:txBody>
      </p:sp>
      <p:sp>
        <p:nvSpPr>
          <p:cNvPr id="4" name="灯片编号占位符 3"/>
          <p:cNvSpPr>
            <a:spLocks noGrp="1"/>
          </p:cNvSpPr>
          <p:nvPr>
            <p:ph type="sldNum" sz="quarter" idx="5"/>
          </p:nvPr>
        </p:nvSpPr>
        <p:spPr/>
        <p:txBody>
          <a:bodyPr/>
          <a:lstStyle/>
          <a:p>
            <a:fld id="{85E2B66F-9356-4FE3-88B4-9DF3283AA355}" type="slidenum">
              <a:rPr lang="zh-CN" altLang="en-US" smtClean="0"/>
              <a:t>38</a:t>
            </a:fld>
            <a:endParaRPr lang="zh-CN" altLang="en-US"/>
          </a:p>
        </p:txBody>
      </p:sp>
    </p:spTree>
    <p:extLst>
      <p:ext uri="{BB962C8B-B14F-4D97-AF65-F5344CB8AC3E}">
        <p14:creationId xmlns:p14="http://schemas.microsoft.com/office/powerpoint/2010/main" val="3314931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9703156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论文预计投稿时间，专利待提交专利事务所</a:t>
            </a:r>
            <a:endParaRPr lang="en-US" altLang="zh-CN" dirty="0"/>
          </a:p>
          <a:p>
            <a:endParaRPr lang="en-US" altLang="zh-CN" dirty="0"/>
          </a:p>
          <a:p>
            <a:r>
              <a:rPr lang="zh-CN" altLang="en-US" dirty="0"/>
              <a:t>分类分级：根据推断关系、潜在推断组合，敏感度评估上提等级，考虑更全面的推断关系，数据清单里选取，已经公开的数据存在推断威胁，选择不公开</a:t>
            </a:r>
            <a:endParaRPr lang="en-US" altLang="zh-CN" dirty="0"/>
          </a:p>
          <a:p>
            <a:r>
              <a:rPr lang="zh-CN" altLang="en-US" dirty="0"/>
              <a:t>重点关注拓扑地理位置，考虑卫星信息、人力侦查手段，结合开源信息，从原理上说明该风险，国家级的技术手段攻击，有些即使没有公开，但是也可能被获取，从原理上分析</a:t>
            </a:r>
            <a:endParaRPr lang="en-US" altLang="zh-CN" dirty="0"/>
          </a:p>
          <a:p>
            <a:endParaRPr lang="en-US" altLang="zh-CN" dirty="0"/>
          </a:p>
          <a:p>
            <a:r>
              <a:rPr lang="zh-CN" altLang="en-US" dirty="0"/>
              <a:t>专报</a:t>
            </a:r>
            <a:r>
              <a:rPr lang="en-US" altLang="zh-CN" dirty="0"/>
              <a:t>4-5</a:t>
            </a:r>
            <a:r>
              <a:rPr lang="zh-CN" altLang="en-US" dirty="0"/>
              <a:t>页，研究内容的结论性成果，</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5E2B66F-9356-4FE3-88B4-9DF3283AA355}" type="slidenum">
              <a:rPr lang="zh-CN" altLang="en-US" smtClean="0"/>
              <a:t>45</a:t>
            </a:fld>
            <a:endParaRPr lang="zh-CN" altLang="en-US"/>
          </a:p>
        </p:txBody>
      </p:sp>
    </p:spTree>
    <p:extLst>
      <p:ext uri="{BB962C8B-B14F-4D97-AF65-F5344CB8AC3E}">
        <p14:creationId xmlns:p14="http://schemas.microsoft.com/office/powerpoint/2010/main" val="17761991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18624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3.xml"/><Relationship Id="rId4"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442737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2020. All Rights Reserved</a:t>
            </a:r>
          </a:p>
        </p:txBody>
      </p:sp>
      <p:cxnSp>
        <p:nvCxnSpPr>
          <p:cNvPr id="3" name="直接连接符 2"/>
          <p:cNvCxnSpPr/>
          <p:nvPr userDrawn="1"/>
        </p:nvCxnSpPr>
        <p:spPr>
          <a:xfrm>
            <a:off x="0" y="836712"/>
            <a:ext cx="12192000" cy="0"/>
          </a:xfrm>
          <a:prstGeom prst="line">
            <a:avLst/>
          </a:prstGeom>
          <a:ln>
            <a:solidFill>
              <a:srgbClr val="00377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25710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2018. All Rights Reserved</a:t>
            </a:r>
          </a:p>
        </p:txBody>
      </p:sp>
    </p:spTree>
    <p:extLst>
      <p:ext uri="{BB962C8B-B14F-4D97-AF65-F5344CB8AC3E}">
        <p14:creationId xmlns:p14="http://schemas.microsoft.com/office/powerpoint/2010/main" val="252603827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52824968"/>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528200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2020. All Rights Reserved</a:t>
            </a:r>
          </a:p>
        </p:txBody>
      </p:sp>
      <p:cxnSp>
        <p:nvCxnSpPr>
          <p:cNvPr id="3" name="直接连接符 2"/>
          <p:cNvCxnSpPr/>
          <p:nvPr userDrawn="1"/>
        </p:nvCxnSpPr>
        <p:spPr>
          <a:xfrm>
            <a:off x="0" y="836712"/>
            <a:ext cx="12192000" cy="0"/>
          </a:xfrm>
          <a:prstGeom prst="line">
            <a:avLst/>
          </a:prstGeom>
          <a:ln>
            <a:solidFill>
              <a:srgbClr val="00377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94074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2018. All Rights Reserved</a:t>
            </a:r>
          </a:p>
        </p:txBody>
      </p:sp>
    </p:spTree>
    <p:extLst>
      <p:ext uri="{BB962C8B-B14F-4D97-AF65-F5344CB8AC3E}">
        <p14:creationId xmlns:p14="http://schemas.microsoft.com/office/powerpoint/2010/main" val="335578172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44089406"/>
      </p:ext>
    </p:extLst>
  </p:cSld>
  <p:clrMapOvr>
    <a:masterClrMapping/>
  </p:clrMapOvr>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6288773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2020. All Rights Reserved</a:t>
            </a:r>
          </a:p>
        </p:txBody>
      </p:sp>
      <p:cxnSp>
        <p:nvCxnSpPr>
          <p:cNvPr id="3" name="直接连接符 2"/>
          <p:cNvCxnSpPr/>
          <p:nvPr userDrawn="1"/>
        </p:nvCxnSpPr>
        <p:spPr>
          <a:xfrm>
            <a:off x="0" y="836712"/>
            <a:ext cx="12192000" cy="0"/>
          </a:xfrm>
          <a:prstGeom prst="line">
            <a:avLst/>
          </a:prstGeom>
          <a:ln>
            <a:solidFill>
              <a:srgbClr val="00377B"/>
            </a:solidFill>
          </a:ln>
        </p:spPr>
        <p:style>
          <a:lnRef idx="1">
            <a:schemeClr val="accent1"/>
          </a:lnRef>
          <a:fillRef idx="0">
            <a:schemeClr val="accent1"/>
          </a:fillRef>
          <a:effectRef idx="0">
            <a:schemeClr val="accent1"/>
          </a:effectRef>
          <a:fontRef idx="minor">
            <a:schemeClr val="tx1"/>
          </a:fontRef>
        </p:style>
      </p:cxnSp>
      <p:sp>
        <p:nvSpPr>
          <p:cNvPr id="4" name="燕尾形 29"/>
          <p:cNvSpPr/>
          <p:nvPr userDrawn="1"/>
        </p:nvSpPr>
        <p:spPr>
          <a:xfrm>
            <a:off x="435495" y="388820"/>
            <a:ext cx="333375" cy="309995"/>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34"/>
          <p:cNvSpPr/>
          <p:nvPr userDrawn="1"/>
        </p:nvSpPr>
        <p:spPr>
          <a:xfrm>
            <a:off x="154940" y="388820"/>
            <a:ext cx="337705" cy="309995"/>
          </a:xfrm>
          <a:prstGeom prst="chevron">
            <a:avLst/>
          </a:prstGeom>
          <a:solidFill>
            <a:srgbClr val="B501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51665526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lumMod val="50000"/>
                  </a:srgbClr>
                </a:solidFill>
                <a:effectLst/>
                <a:uLnTx/>
                <a:uFillTx/>
                <a:latin typeface="Times New Roman" panose="02020603050405020304" pitchFamily="18" charset="0"/>
                <a:ea typeface="宋体" panose="02010600030101010101" pitchFamily="2" charset="-122"/>
                <a:cs typeface="Times New Roman" panose="02020603050405020304" pitchFamily="18" charset="0"/>
              </a:rPr>
              <a:t>©CSG 2018. All Rights Reserved</a:t>
            </a:r>
          </a:p>
        </p:txBody>
      </p:sp>
    </p:spTree>
    <p:extLst>
      <p:ext uri="{BB962C8B-B14F-4D97-AF65-F5344CB8AC3E}">
        <p14:creationId xmlns:p14="http://schemas.microsoft.com/office/powerpoint/2010/main" val="166429798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43548792"/>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60FBDFE-C587-4B4C-A407-44438C67B59E}"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615204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ags" Target="../tags/tag2.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11.xml"/><Relationship Id="rId7" Type="http://schemas.openxmlformats.org/officeDocument/2006/relationships/tags" Target="../tags/tag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19" name="矩形 18"/>
          <p:cNvSpPr/>
          <p:nvPr userDrawn="1"/>
        </p:nvSpPr>
        <p:spPr>
          <a:xfrm>
            <a:off x="-1155469" y="581892"/>
            <a:ext cx="1080654" cy="315850"/>
          </a:xfrm>
          <a:prstGeom prst="rect">
            <a:avLst/>
          </a:prstGeom>
          <a:solidFill>
            <a:srgbClr val="00367A"/>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矩形 19"/>
          <p:cNvSpPr/>
          <p:nvPr userDrawn="1"/>
        </p:nvSpPr>
        <p:spPr>
          <a:xfrm>
            <a:off x="-1155469" y="956350"/>
            <a:ext cx="1080654" cy="315850"/>
          </a:xfrm>
          <a:prstGeom prst="rect">
            <a:avLst/>
          </a:prstGeom>
          <a:solidFill>
            <a:srgbClr val="4472C4">
              <a:lumMod val="75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矩形 20"/>
          <p:cNvSpPr/>
          <p:nvPr userDrawn="1"/>
        </p:nvSpPr>
        <p:spPr>
          <a:xfrm>
            <a:off x="-1155469" y="1330808"/>
            <a:ext cx="1080654" cy="315850"/>
          </a:xfrm>
          <a:prstGeom prst="rect">
            <a:avLst/>
          </a:prstGeom>
          <a:solidFill>
            <a:srgbClr val="4472C4">
              <a:lumMod val="60000"/>
              <a:lumOff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矩形 21"/>
          <p:cNvSpPr/>
          <p:nvPr userDrawn="1"/>
        </p:nvSpPr>
        <p:spPr>
          <a:xfrm>
            <a:off x="-1155469" y="1705266"/>
            <a:ext cx="1080654" cy="315850"/>
          </a:xfrm>
          <a:prstGeom prst="rect">
            <a:avLst/>
          </a:prstGeom>
          <a:solidFill>
            <a:srgbClr val="4472C4">
              <a:lumMod val="40000"/>
              <a:lumOff val="6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矩形 22"/>
          <p:cNvSpPr/>
          <p:nvPr userDrawn="1"/>
        </p:nvSpPr>
        <p:spPr>
          <a:xfrm>
            <a:off x="-1155469" y="2079724"/>
            <a:ext cx="1080654" cy="315850"/>
          </a:xfrm>
          <a:prstGeom prst="rect">
            <a:avLst/>
          </a:prstGeom>
          <a:solidFill>
            <a:srgbClr val="4472C4">
              <a:lumMod val="20000"/>
              <a:lumOff val="8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矩形 23"/>
          <p:cNvSpPr/>
          <p:nvPr userDrawn="1"/>
        </p:nvSpPr>
        <p:spPr>
          <a:xfrm>
            <a:off x="-1155469" y="2454182"/>
            <a:ext cx="1080654" cy="315850"/>
          </a:xfrm>
          <a:prstGeom prst="rect">
            <a:avLst/>
          </a:prstGeom>
          <a:solidFill>
            <a:srgbClr val="ED7D31">
              <a:lumMod val="20000"/>
              <a:lumOff val="8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5" name="矩形 24"/>
          <p:cNvSpPr/>
          <p:nvPr userDrawn="1"/>
        </p:nvSpPr>
        <p:spPr>
          <a:xfrm>
            <a:off x="-1155469" y="2828640"/>
            <a:ext cx="1080654" cy="315850"/>
          </a:xfrm>
          <a:prstGeom prst="rect">
            <a:avLst/>
          </a:prstGeom>
          <a:solidFill>
            <a:srgbClr val="ED7D31">
              <a:lumMod val="40000"/>
              <a:lumOff val="6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矩形 25"/>
          <p:cNvSpPr/>
          <p:nvPr userDrawn="1"/>
        </p:nvSpPr>
        <p:spPr>
          <a:xfrm>
            <a:off x="-1155469" y="3203098"/>
            <a:ext cx="1080654" cy="315850"/>
          </a:xfrm>
          <a:prstGeom prst="rect">
            <a:avLst/>
          </a:prstGeom>
          <a:solidFill>
            <a:srgbClr val="ED7D31">
              <a:lumMod val="60000"/>
              <a:lumOff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7" name="矩形 26"/>
          <p:cNvSpPr/>
          <p:nvPr userDrawn="1"/>
        </p:nvSpPr>
        <p:spPr>
          <a:xfrm>
            <a:off x="-1155469" y="3577556"/>
            <a:ext cx="1080654" cy="315850"/>
          </a:xfrm>
          <a:prstGeom prst="rect">
            <a:avLst/>
          </a:prstGeom>
          <a:solidFill>
            <a:srgbClr val="ED7D31">
              <a:lumMod val="75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矩形 27"/>
          <p:cNvSpPr/>
          <p:nvPr userDrawn="1"/>
        </p:nvSpPr>
        <p:spPr>
          <a:xfrm>
            <a:off x="-1155469" y="3952014"/>
            <a:ext cx="1080654" cy="315850"/>
          </a:xfrm>
          <a:prstGeom prst="rect">
            <a:avLst/>
          </a:prstGeom>
          <a:solidFill>
            <a:sysClr val="window" lastClr="FFFFFF">
              <a:lumMod val="85000"/>
            </a:sys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矩形 28"/>
          <p:cNvSpPr/>
          <p:nvPr userDrawn="1"/>
        </p:nvSpPr>
        <p:spPr>
          <a:xfrm>
            <a:off x="-1155469" y="4326472"/>
            <a:ext cx="1080654" cy="315850"/>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灯片编号占位符 5"/>
          <p:cNvSpPr txBox="1"/>
          <p:nvPr userDrawn="1">
            <p:custDataLst>
              <p:tags r:id="rId6"/>
            </p:custDataLst>
          </p:nvPr>
        </p:nvSpPr>
        <p:spPr>
          <a:xfrm>
            <a:off x="9347200" y="6495415"/>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8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8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endParaRPr>
          </a:p>
        </p:txBody>
      </p:sp>
      <p:pic>
        <p:nvPicPr>
          <p:cNvPr id="9" name="Picture 2" descr="C:\Users\tangcheng\Desktop\未命名 -1.jpg"/>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b="8769"/>
          <a:stretch>
            <a:fillRect/>
          </a:stretch>
        </p:blipFill>
        <p:spPr bwMode="auto">
          <a:xfrm>
            <a:off x="4223792" y="5664"/>
            <a:ext cx="7968208" cy="726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0968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19" name="矩形 18"/>
          <p:cNvSpPr/>
          <p:nvPr userDrawn="1"/>
        </p:nvSpPr>
        <p:spPr>
          <a:xfrm>
            <a:off x="-1155469" y="581892"/>
            <a:ext cx="1080654" cy="315850"/>
          </a:xfrm>
          <a:prstGeom prst="rect">
            <a:avLst/>
          </a:prstGeom>
          <a:solidFill>
            <a:srgbClr val="00367A"/>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矩形 19"/>
          <p:cNvSpPr/>
          <p:nvPr userDrawn="1"/>
        </p:nvSpPr>
        <p:spPr>
          <a:xfrm>
            <a:off x="-1155469" y="956350"/>
            <a:ext cx="1080654" cy="315850"/>
          </a:xfrm>
          <a:prstGeom prst="rect">
            <a:avLst/>
          </a:prstGeom>
          <a:solidFill>
            <a:srgbClr val="4472C4">
              <a:lumMod val="75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矩形 20"/>
          <p:cNvSpPr/>
          <p:nvPr userDrawn="1"/>
        </p:nvSpPr>
        <p:spPr>
          <a:xfrm>
            <a:off x="-1155469" y="1330808"/>
            <a:ext cx="1080654" cy="315850"/>
          </a:xfrm>
          <a:prstGeom prst="rect">
            <a:avLst/>
          </a:prstGeom>
          <a:solidFill>
            <a:srgbClr val="4472C4">
              <a:lumMod val="60000"/>
              <a:lumOff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矩形 21"/>
          <p:cNvSpPr/>
          <p:nvPr userDrawn="1"/>
        </p:nvSpPr>
        <p:spPr>
          <a:xfrm>
            <a:off x="-1155469" y="1705266"/>
            <a:ext cx="1080654" cy="315850"/>
          </a:xfrm>
          <a:prstGeom prst="rect">
            <a:avLst/>
          </a:prstGeom>
          <a:solidFill>
            <a:srgbClr val="4472C4">
              <a:lumMod val="40000"/>
              <a:lumOff val="6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矩形 22"/>
          <p:cNvSpPr/>
          <p:nvPr userDrawn="1"/>
        </p:nvSpPr>
        <p:spPr>
          <a:xfrm>
            <a:off x="-1155469" y="2079724"/>
            <a:ext cx="1080654" cy="315850"/>
          </a:xfrm>
          <a:prstGeom prst="rect">
            <a:avLst/>
          </a:prstGeom>
          <a:solidFill>
            <a:srgbClr val="4472C4">
              <a:lumMod val="20000"/>
              <a:lumOff val="8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矩形 23"/>
          <p:cNvSpPr/>
          <p:nvPr userDrawn="1"/>
        </p:nvSpPr>
        <p:spPr>
          <a:xfrm>
            <a:off x="-1155469" y="2454182"/>
            <a:ext cx="1080654" cy="315850"/>
          </a:xfrm>
          <a:prstGeom prst="rect">
            <a:avLst/>
          </a:prstGeom>
          <a:solidFill>
            <a:srgbClr val="ED7D31">
              <a:lumMod val="20000"/>
              <a:lumOff val="8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5" name="矩形 24"/>
          <p:cNvSpPr/>
          <p:nvPr userDrawn="1"/>
        </p:nvSpPr>
        <p:spPr>
          <a:xfrm>
            <a:off x="-1155469" y="2828640"/>
            <a:ext cx="1080654" cy="315850"/>
          </a:xfrm>
          <a:prstGeom prst="rect">
            <a:avLst/>
          </a:prstGeom>
          <a:solidFill>
            <a:srgbClr val="ED7D31">
              <a:lumMod val="40000"/>
              <a:lumOff val="6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矩形 25"/>
          <p:cNvSpPr/>
          <p:nvPr userDrawn="1"/>
        </p:nvSpPr>
        <p:spPr>
          <a:xfrm>
            <a:off x="-1155469" y="3203098"/>
            <a:ext cx="1080654" cy="315850"/>
          </a:xfrm>
          <a:prstGeom prst="rect">
            <a:avLst/>
          </a:prstGeom>
          <a:solidFill>
            <a:srgbClr val="ED7D31">
              <a:lumMod val="60000"/>
              <a:lumOff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7" name="矩形 26"/>
          <p:cNvSpPr/>
          <p:nvPr userDrawn="1"/>
        </p:nvSpPr>
        <p:spPr>
          <a:xfrm>
            <a:off x="-1155469" y="3577556"/>
            <a:ext cx="1080654" cy="315850"/>
          </a:xfrm>
          <a:prstGeom prst="rect">
            <a:avLst/>
          </a:prstGeom>
          <a:solidFill>
            <a:srgbClr val="ED7D31">
              <a:lumMod val="75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矩形 27"/>
          <p:cNvSpPr/>
          <p:nvPr userDrawn="1"/>
        </p:nvSpPr>
        <p:spPr>
          <a:xfrm>
            <a:off x="-1155469" y="3952014"/>
            <a:ext cx="1080654" cy="315850"/>
          </a:xfrm>
          <a:prstGeom prst="rect">
            <a:avLst/>
          </a:prstGeom>
          <a:solidFill>
            <a:sysClr val="window" lastClr="FFFFFF">
              <a:lumMod val="85000"/>
            </a:sys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矩形 28"/>
          <p:cNvSpPr/>
          <p:nvPr userDrawn="1"/>
        </p:nvSpPr>
        <p:spPr>
          <a:xfrm>
            <a:off x="-1155469" y="4326472"/>
            <a:ext cx="1080654" cy="315850"/>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灯片编号占位符 5"/>
          <p:cNvSpPr txBox="1"/>
          <p:nvPr userDrawn="1">
            <p:custDataLst>
              <p:tags r:id="rId6"/>
            </p:custDataLst>
          </p:nvPr>
        </p:nvSpPr>
        <p:spPr>
          <a:xfrm>
            <a:off x="9347200" y="6495415"/>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8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8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endParaRPr>
          </a:p>
        </p:txBody>
      </p:sp>
      <p:pic>
        <p:nvPicPr>
          <p:cNvPr id="9" name="Picture 2" descr="C:\Users\tangcheng\Desktop\未命名 -1.jpg"/>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b="8769"/>
          <a:stretch>
            <a:fillRect/>
          </a:stretch>
        </p:blipFill>
        <p:spPr bwMode="auto">
          <a:xfrm>
            <a:off x="4223792" y="5664"/>
            <a:ext cx="7968208" cy="726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40868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0820CF-B880-4189-942D-D702A7CBA730}" type="datetimeFigureOut">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2026/5/13</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2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Calibri"/>
              <a:ea typeface="宋体" panose="02010600030101010101" pitchFamily="2" charset="-122"/>
              <a:cs typeface="+mn-cs"/>
            </a:endParaRPr>
          </a:p>
        </p:txBody>
      </p:sp>
      <p:sp>
        <p:nvSpPr>
          <p:cNvPr id="19" name="矩形 18"/>
          <p:cNvSpPr/>
          <p:nvPr userDrawn="1"/>
        </p:nvSpPr>
        <p:spPr>
          <a:xfrm>
            <a:off x="-1155469" y="581892"/>
            <a:ext cx="1080654" cy="315850"/>
          </a:xfrm>
          <a:prstGeom prst="rect">
            <a:avLst/>
          </a:prstGeom>
          <a:solidFill>
            <a:srgbClr val="00367A"/>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矩形 19"/>
          <p:cNvSpPr/>
          <p:nvPr userDrawn="1"/>
        </p:nvSpPr>
        <p:spPr>
          <a:xfrm>
            <a:off x="-1155469" y="956350"/>
            <a:ext cx="1080654" cy="315850"/>
          </a:xfrm>
          <a:prstGeom prst="rect">
            <a:avLst/>
          </a:prstGeom>
          <a:solidFill>
            <a:srgbClr val="4472C4">
              <a:lumMod val="75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矩形 20"/>
          <p:cNvSpPr/>
          <p:nvPr userDrawn="1"/>
        </p:nvSpPr>
        <p:spPr>
          <a:xfrm>
            <a:off x="-1155469" y="1330808"/>
            <a:ext cx="1080654" cy="315850"/>
          </a:xfrm>
          <a:prstGeom prst="rect">
            <a:avLst/>
          </a:prstGeom>
          <a:solidFill>
            <a:srgbClr val="4472C4">
              <a:lumMod val="60000"/>
              <a:lumOff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矩形 21"/>
          <p:cNvSpPr/>
          <p:nvPr userDrawn="1"/>
        </p:nvSpPr>
        <p:spPr>
          <a:xfrm>
            <a:off x="-1155469" y="1705266"/>
            <a:ext cx="1080654" cy="315850"/>
          </a:xfrm>
          <a:prstGeom prst="rect">
            <a:avLst/>
          </a:prstGeom>
          <a:solidFill>
            <a:srgbClr val="4472C4">
              <a:lumMod val="40000"/>
              <a:lumOff val="6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矩形 22"/>
          <p:cNvSpPr/>
          <p:nvPr userDrawn="1"/>
        </p:nvSpPr>
        <p:spPr>
          <a:xfrm>
            <a:off x="-1155469" y="2079724"/>
            <a:ext cx="1080654" cy="315850"/>
          </a:xfrm>
          <a:prstGeom prst="rect">
            <a:avLst/>
          </a:prstGeom>
          <a:solidFill>
            <a:srgbClr val="4472C4">
              <a:lumMod val="20000"/>
              <a:lumOff val="8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矩形 23"/>
          <p:cNvSpPr/>
          <p:nvPr userDrawn="1"/>
        </p:nvSpPr>
        <p:spPr>
          <a:xfrm>
            <a:off x="-1155469" y="2454182"/>
            <a:ext cx="1080654" cy="315850"/>
          </a:xfrm>
          <a:prstGeom prst="rect">
            <a:avLst/>
          </a:prstGeom>
          <a:solidFill>
            <a:srgbClr val="ED7D31">
              <a:lumMod val="20000"/>
              <a:lumOff val="8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5" name="矩形 24"/>
          <p:cNvSpPr/>
          <p:nvPr userDrawn="1"/>
        </p:nvSpPr>
        <p:spPr>
          <a:xfrm>
            <a:off x="-1155469" y="2828640"/>
            <a:ext cx="1080654" cy="315850"/>
          </a:xfrm>
          <a:prstGeom prst="rect">
            <a:avLst/>
          </a:prstGeom>
          <a:solidFill>
            <a:srgbClr val="ED7D31">
              <a:lumMod val="40000"/>
              <a:lumOff val="6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矩形 25"/>
          <p:cNvSpPr/>
          <p:nvPr userDrawn="1"/>
        </p:nvSpPr>
        <p:spPr>
          <a:xfrm>
            <a:off x="-1155469" y="3203098"/>
            <a:ext cx="1080654" cy="315850"/>
          </a:xfrm>
          <a:prstGeom prst="rect">
            <a:avLst/>
          </a:prstGeom>
          <a:solidFill>
            <a:srgbClr val="ED7D31">
              <a:lumMod val="60000"/>
              <a:lumOff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7" name="矩形 26"/>
          <p:cNvSpPr/>
          <p:nvPr userDrawn="1"/>
        </p:nvSpPr>
        <p:spPr>
          <a:xfrm>
            <a:off x="-1155469" y="3577556"/>
            <a:ext cx="1080654" cy="315850"/>
          </a:xfrm>
          <a:prstGeom prst="rect">
            <a:avLst/>
          </a:prstGeom>
          <a:solidFill>
            <a:srgbClr val="ED7D31">
              <a:lumMod val="75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矩形 27"/>
          <p:cNvSpPr/>
          <p:nvPr userDrawn="1"/>
        </p:nvSpPr>
        <p:spPr>
          <a:xfrm>
            <a:off x="-1155469" y="3952014"/>
            <a:ext cx="1080654" cy="315850"/>
          </a:xfrm>
          <a:prstGeom prst="rect">
            <a:avLst/>
          </a:prstGeom>
          <a:solidFill>
            <a:sysClr val="window" lastClr="FFFFFF">
              <a:lumMod val="85000"/>
            </a:sys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矩形 28"/>
          <p:cNvSpPr/>
          <p:nvPr userDrawn="1"/>
        </p:nvSpPr>
        <p:spPr>
          <a:xfrm>
            <a:off x="-1155469" y="4326472"/>
            <a:ext cx="1080654" cy="315850"/>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灯片编号占位符 5"/>
          <p:cNvSpPr txBox="1"/>
          <p:nvPr userDrawn="1">
            <p:custDataLst>
              <p:tags r:id="rId7"/>
            </p:custDataLst>
          </p:nvPr>
        </p:nvSpPr>
        <p:spPr>
          <a:xfrm>
            <a:off x="9347200" y="6495415"/>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800" b="0" i="0" u="none" strike="noStrike" kern="1200" cap="none" spc="0" normalizeH="0" baseline="0" noProof="0" smtClean="0">
                <a:ln>
                  <a:noFill/>
                </a:ln>
                <a:solidFill>
                  <a:srgbClr val="000000">
                    <a:tint val="75000"/>
                  </a:srgb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800" b="0" i="0" u="none" strike="noStrike" kern="1200" cap="none" spc="0" normalizeH="0" baseline="0" noProof="0" dirty="0">
              <a:ln>
                <a:noFill/>
              </a:ln>
              <a:solidFill>
                <a:srgbClr val="000000">
                  <a:tint val="75000"/>
                </a:srgbClr>
              </a:solidFill>
              <a:effectLst/>
              <a:uLnTx/>
              <a:uFillTx/>
              <a:latin typeface="Calibri"/>
              <a:ea typeface="宋体" panose="02010600030101010101" pitchFamily="2" charset="-122"/>
              <a:cs typeface="+mn-cs"/>
            </a:endParaRPr>
          </a:p>
        </p:txBody>
      </p:sp>
      <p:pic>
        <p:nvPicPr>
          <p:cNvPr id="9" name="Picture 2" descr="C:\Users\tangcheng\Desktop\未命名 -1.jpg"/>
          <p:cNvPicPr>
            <a:picLocks noChangeAspect="1" noChangeArrowheads="1"/>
          </p:cNvPicPr>
          <p:nvPr userDrawn="1"/>
        </p:nvPicPr>
        <p:blipFill rotWithShape="1">
          <a:blip r:embed="rId8">
            <a:extLst>
              <a:ext uri="{28A0092B-C50C-407E-A947-70E740481C1C}">
                <a14:useLocalDpi xmlns:a14="http://schemas.microsoft.com/office/drawing/2010/main" val="0"/>
              </a:ext>
            </a:extLst>
          </a:blip>
          <a:srcRect b="8769"/>
          <a:stretch>
            <a:fillRect/>
          </a:stretch>
        </p:blipFill>
        <p:spPr bwMode="auto">
          <a:xfrm>
            <a:off x="4223792" y="5664"/>
            <a:ext cx="7968208" cy="726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01026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image" Target="../media/image2.jpe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notesSlide" Target="../notesSlides/notesSlide2.xml"/><Relationship Id="rId2" Type="http://schemas.openxmlformats.org/officeDocument/2006/relationships/tags" Target="../tags/tag9.xml"/><Relationship Id="rId16"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4.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3.png"/><Relationship Id="rId4"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5.xml"/><Relationship Id="rId5" Type="http://schemas.openxmlformats.org/officeDocument/2006/relationships/slideLayout" Target="../slideLayouts/slideLayout10.xml"/><Relationship Id="rId4" Type="http://schemas.openxmlformats.org/officeDocument/2006/relationships/tags" Target="../tags/tag32.xml"/></Relationships>
</file>

<file path=ppt/slides/_rels/slide7.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image" Target="../media/image2.jpeg"/><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notesSlide" Target="../notesSlides/notesSlide6.xml"/><Relationship Id="rId2" Type="http://schemas.openxmlformats.org/officeDocument/2006/relationships/tags" Target="../tags/tag34.xml"/><Relationship Id="rId16"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tags" Target="../tags/tag4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7.xml"/><Relationship Id="rId7"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48.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9.xml"/><Relationship Id="rId5" Type="http://schemas.openxmlformats.org/officeDocument/2006/relationships/image" Target="../media/image13.png"/><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0.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5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1.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tags" Target="../tags/tag52.xml"/><Relationship Id="rId6" Type="http://schemas.openxmlformats.org/officeDocument/2006/relationships/oleObject" Target="../embeddings/oleObject2.bin"/><Relationship Id="rId11" Type="http://schemas.openxmlformats.org/officeDocument/2006/relationships/image" Target="../media/image21.emf"/><Relationship Id="rId5" Type="http://schemas.openxmlformats.org/officeDocument/2006/relationships/image" Target="../media/image18.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53.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6.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28.png"/><Relationship Id="rId5" Type="http://schemas.openxmlformats.org/officeDocument/2006/relationships/image" Target="../media/image27.emf"/><Relationship Id="rId4" Type="http://schemas.openxmlformats.org/officeDocument/2006/relationships/package" Target="../embeddings/Microsoft_Visio_Drawing.vsdx"/></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17.xml"/><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840.png"/><Relationship Id="rId4" Type="http://schemas.openxmlformats.org/officeDocument/2006/relationships/image" Target="../media/image780.png"/><Relationship Id="rId9" Type="http://schemas.openxmlformats.org/officeDocument/2006/relationships/image" Target="../media/image83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59.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3" Type="http://schemas.openxmlformats.org/officeDocument/2006/relationships/notesSlide" Target="../notesSlides/notesSlide19.xml"/><Relationship Id="rId7" Type="http://schemas.openxmlformats.org/officeDocument/2006/relationships/image" Target="../media/image91.png"/><Relationship Id="rId12" Type="http://schemas.openxmlformats.org/officeDocument/2006/relationships/image" Target="../media/image96.png"/><Relationship Id="rId2" Type="http://schemas.openxmlformats.org/officeDocument/2006/relationships/slideLayout" Target="../slideLayouts/slideLayout2.xml"/><Relationship Id="rId1" Type="http://schemas.openxmlformats.org/officeDocument/2006/relationships/tags" Target="../tags/tag60.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880.png"/><Relationship Id="rId9" Type="http://schemas.openxmlformats.org/officeDocument/2006/relationships/image" Target="../media/image93.png"/></Relationships>
</file>

<file path=ppt/slides/_rels/slide2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Layout" Target="../slideLayouts/slideLayout2.xml"/><Relationship Id="rId1" Type="http://schemas.openxmlformats.org/officeDocument/2006/relationships/tags" Target="../tags/tag61.xml"/><Relationship Id="rId6" Type="http://schemas.openxmlformats.org/officeDocument/2006/relationships/image" Target="../media/image160.png"/><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slideLayout" Target="../slideLayouts/slideLayout2.xml"/><Relationship Id="rId1" Type="http://schemas.openxmlformats.org/officeDocument/2006/relationships/tags" Target="../tags/tag62.xml"/><Relationship Id="rId5" Type="http://schemas.openxmlformats.org/officeDocument/2006/relationships/image" Target="../media/image37.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notesSlide" Target="../notesSlides/notesSlide20.xml"/><Relationship Id="rId7" Type="http://schemas.openxmlformats.org/officeDocument/2006/relationships/image" Target="../media/image230.png"/><Relationship Id="rId2" Type="http://schemas.openxmlformats.org/officeDocument/2006/relationships/slideLayout" Target="../slideLayouts/slideLayout2.xml"/><Relationship Id="rId1" Type="http://schemas.openxmlformats.org/officeDocument/2006/relationships/tags" Target="../tags/tag63.xml"/><Relationship Id="rId6" Type="http://schemas.openxmlformats.org/officeDocument/2006/relationships/image" Target="../media/image221.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6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65.xml"/><Relationship Id="rId6" Type="http://schemas.openxmlformats.org/officeDocument/2006/relationships/image" Target="../media/image47.png"/><Relationship Id="rId5" Type="http://schemas.openxmlformats.org/officeDocument/2006/relationships/image" Target="../media/image46.emf"/><Relationship Id="rId4" Type="http://schemas.openxmlformats.org/officeDocument/2006/relationships/image" Target="../media/image45.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66.xml"/><Relationship Id="rId5" Type="http://schemas.openxmlformats.org/officeDocument/2006/relationships/image" Target="../media/image50.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6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69.xml"/><Relationship Id="rId6" Type="http://schemas.openxmlformats.org/officeDocument/2006/relationships/image" Target="../media/image57.png"/><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70.xml"/><Relationship Id="rId5" Type="http://schemas.openxmlformats.org/officeDocument/2006/relationships/image" Target="../media/image62.png"/><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notesSlide" Target="../notesSlides/notesSlide26.xml"/><Relationship Id="rId7"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72.xml"/><Relationship Id="rId6" Type="http://schemas.openxmlformats.org/officeDocument/2006/relationships/image" Target="../media/image65.png"/><Relationship Id="rId11" Type="http://schemas.openxmlformats.org/officeDocument/2006/relationships/image" Target="../media/image71.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70.png"/><Relationship Id="rId9" Type="http://schemas.openxmlformats.org/officeDocument/2006/relationships/image" Target="../media/image68.png"/></Relationships>
</file>

<file path=ppt/slides/_rels/slide33.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190.png"/><Relationship Id="rId3" Type="http://schemas.openxmlformats.org/officeDocument/2006/relationships/notesSlide" Target="../notesSlides/notesSlide27.xml"/><Relationship Id="rId7" Type="http://schemas.openxmlformats.org/officeDocument/2006/relationships/image" Target="../media/image130.png"/><Relationship Id="rId12" Type="http://schemas.openxmlformats.org/officeDocument/2006/relationships/image" Target="../media/image180.png"/><Relationship Id="rId2" Type="http://schemas.openxmlformats.org/officeDocument/2006/relationships/slideLayout" Target="../slideLayouts/slideLayout2.xml"/><Relationship Id="rId16" Type="http://schemas.openxmlformats.org/officeDocument/2006/relationships/image" Target="../media/image220.png"/><Relationship Id="rId1" Type="http://schemas.openxmlformats.org/officeDocument/2006/relationships/tags" Target="../tags/tag73.xml"/><Relationship Id="rId6" Type="http://schemas.openxmlformats.org/officeDocument/2006/relationships/image" Target="../media/image72.wmf"/><Relationship Id="rId11" Type="http://schemas.openxmlformats.org/officeDocument/2006/relationships/image" Target="../media/image76.png"/><Relationship Id="rId5" Type="http://schemas.openxmlformats.org/officeDocument/2006/relationships/oleObject" Target="../embeddings/oleObject5.bin"/><Relationship Id="rId15" Type="http://schemas.openxmlformats.org/officeDocument/2006/relationships/image" Target="../media/image210.png"/><Relationship Id="rId10" Type="http://schemas.openxmlformats.org/officeDocument/2006/relationships/image" Target="../media/image75.png"/><Relationship Id="rId4" Type="http://schemas.openxmlformats.org/officeDocument/2006/relationships/image" Target="../media/image110.png"/><Relationship Id="rId9" Type="http://schemas.openxmlformats.org/officeDocument/2006/relationships/image" Target="../media/image74.png"/><Relationship Id="rId14" Type="http://schemas.openxmlformats.org/officeDocument/2006/relationships/image" Target="../media/image20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74.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notesSlide" Target="../notesSlides/notesSlide29.xml"/><Relationship Id="rId7" Type="http://schemas.openxmlformats.org/officeDocument/2006/relationships/image" Target="../media/image82.png"/><Relationship Id="rId2" Type="http://schemas.openxmlformats.org/officeDocument/2006/relationships/slideLayout" Target="../slideLayouts/slideLayout2.xml"/><Relationship Id="rId1" Type="http://schemas.openxmlformats.org/officeDocument/2006/relationships/tags" Target="../tags/tag75.xml"/><Relationship Id="rId6" Type="http://schemas.openxmlformats.org/officeDocument/2006/relationships/image" Target="../media/image81.png"/><Relationship Id="rId11" Type="http://schemas.openxmlformats.org/officeDocument/2006/relationships/image" Target="../media/image320.png"/><Relationship Id="rId5" Type="http://schemas.openxmlformats.org/officeDocument/2006/relationships/image" Target="../media/image80.png"/><Relationship Id="rId10" Type="http://schemas.openxmlformats.org/officeDocument/2006/relationships/image" Target="../media/image84.png"/><Relationship Id="rId4" Type="http://schemas.openxmlformats.org/officeDocument/2006/relationships/image" Target="../media/image260.png"/><Relationship Id="rId9"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8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98.png"/><Relationship Id="rId2" Type="http://schemas.openxmlformats.org/officeDocument/2006/relationships/slideLayout" Target="../slideLayouts/slideLayout2.xml"/><Relationship Id="rId1" Type="http://schemas.openxmlformats.org/officeDocument/2006/relationships/tags" Target="../tags/tag77.xml"/><Relationship Id="rId6" Type="http://schemas.openxmlformats.org/officeDocument/2006/relationships/image" Target="../media/image88.png"/><Relationship Id="rId5" Type="http://schemas.openxmlformats.org/officeDocument/2006/relationships/image" Target="../media/image87.emf"/><Relationship Id="rId4" Type="http://schemas.openxmlformats.org/officeDocument/2006/relationships/image" Target="../media/image8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9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103.png"/><Relationship Id="rId2" Type="http://schemas.openxmlformats.org/officeDocument/2006/relationships/slideLayout" Target="../slideLayouts/slideLayout2.xml"/><Relationship Id="rId1" Type="http://schemas.openxmlformats.org/officeDocument/2006/relationships/tags" Target="../tags/tag79.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80.xml"/><Relationship Id="rId5" Type="http://schemas.openxmlformats.org/officeDocument/2006/relationships/image" Target="../media/image105.png"/><Relationship Id="rId4" Type="http://schemas.openxmlformats.org/officeDocument/2006/relationships/image" Target="../media/image10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109.png"/><Relationship Id="rId2" Type="http://schemas.openxmlformats.org/officeDocument/2006/relationships/slideLayout" Target="../slideLayouts/slideLayout2.xml"/><Relationship Id="rId1" Type="http://schemas.openxmlformats.org/officeDocument/2006/relationships/tags" Target="../tags/tag81.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82.xml"/><Relationship Id="rId5" Type="http://schemas.openxmlformats.org/officeDocument/2006/relationships/image" Target="../media/image112.png"/><Relationship Id="rId4" Type="http://schemas.openxmlformats.org/officeDocument/2006/relationships/image" Target="../media/image11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83.xml"/><Relationship Id="rId4" Type="http://schemas.openxmlformats.org/officeDocument/2006/relationships/image" Target="../media/image113.png"/></Relationships>
</file>

<file path=ppt/slides/_rels/slide44.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18" Type="http://schemas.openxmlformats.org/officeDocument/2006/relationships/image" Target="../media/image2.jpeg"/><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notesSlide" Target="../notesSlides/notesSlide38.xml"/><Relationship Id="rId2" Type="http://schemas.openxmlformats.org/officeDocument/2006/relationships/tags" Target="../tags/tag85.xml"/><Relationship Id="rId16" Type="http://schemas.openxmlformats.org/officeDocument/2006/relationships/slideLayout" Target="../slideLayouts/slideLayout2.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tags" Target="../tags/tag98.xml"/><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xml"/><Relationship Id="rId1" Type="http://schemas.openxmlformats.org/officeDocument/2006/relationships/tags" Target="../tags/tag10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81206" y="2808711"/>
            <a:ext cx="4653441" cy="1474982"/>
          </a:xfrm>
          <a:prstGeom prst="rect">
            <a:avLst/>
          </a:prstGeom>
          <a:gradFill>
            <a:gsLst>
              <a:gs pos="0">
                <a:schemeClr val="tx1"/>
              </a:gs>
              <a:gs pos="100000">
                <a:schemeClr val="tx1">
                  <a:lumMod val="65000"/>
                  <a:lumOff val="3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latin typeface="Arial" panose="020B0604020202020204" pitchFamily="34" charset="0"/>
              <a:ea typeface="思源黑体 CN Normal" panose="020B0400000000000000" pitchFamily="34" charset="-122"/>
              <a:cs typeface="+mn-ea"/>
            </a:endParaRPr>
          </a:p>
        </p:txBody>
      </p:sp>
      <p:sp>
        <p:nvSpPr>
          <p:cNvPr id="7" name="矩形 6"/>
          <p:cNvSpPr/>
          <p:nvPr/>
        </p:nvSpPr>
        <p:spPr>
          <a:xfrm>
            <a:off x="1502050" y="4889445"/>
            <a:ext cx="9479599" cy="2031325"/>
          </a:xfrm>
          <a:prstGeom prst="rect">
            <a:avLst/>
          </a:prstGeom>
        </p:spPr>
        <p:txBody>
          <a:bodyPr wrap="square">
            <a:spAutoFit/>
          </a:bodyPr>
          <a:lstStyle/>
          <a:p>
            <a:pPr algn="ctr">
              <a:lnSpc>
                <a:spcPct val="150000"/>
              </a:lnSpc>
            </a:pPr>
            <a:r>
              <a:rPr lang="zh-CN" altLang="en-US" sz="2800" b="1" dirty="0">
                <a:latin typeface="微软雅黑" panose="020B0503020204020204" pitchFamily="34" charset="-122"/>
                <a:ea typeface="微软雅黑" panose="020B0503020204020204" pitchFamily="34" charset="-122"/>
                <a:cs typeface="Times New Roman" panose="02020603050405020304" charset="0"/>
              </a:rPr>
              <a:t>南网科研院标准化与技术情报中心</a:t>
            </a:r>
            <a:endParaRPr lang="en-US" altLang="zh-CN" sz="2800" b="1" dirty="0">
              <a:latin typeface="微软雅黑" panose="020B0503020204020204" pitchFamily="34" charset="-122"/>
              <a:ea typeface="微软雅黑" panose="020B0503020204020204" pitchFamily="34" charset="-122"/>
              <a:cs typeface="Times New Roman" panose="02020603050405020304" charset="0"/>
            </a:endParaRPr>
          </a:p>
          <a:p>
            <a:pPr algn="ctr">
              <a:lnSpc>
                <a:spcPct val="150000"/>
              </a:lnSpc>
            </a:pPr>
            <a:r>
              <a:rPr lang="zh-CN" altLang="en-US" sz="2800" b="1" dirty="0">
                <a:latin typeface="微软雅黑" panose="020B0503020204020204" pitchFamily="34" charset="-122"/>
                <a:ea typeface="微软雅黑" panose="020B0503020204020204" pitchFamily="34" charset="-122"/>
                <a:cs typeface="Times New Roman" panose="02020603050405020304" charset="0"/>
              </a:rPr>
              <a:t>西安交通大学 网络空间学院</a:t>
            </a:r>
            <a:endParaRPr lang="en-US" altLang="zh-CN" sz="2800" b="1" dirty="0">
              <a:latin typeface="微软雅黑" panose="020B0503020204020204" pitchFamily="34" charset="-122"/>
              <a:ea typeface="微软雅黑" panose="020B0503020204020204" pitchFamily="34" charset="-122"/>
              <a:cs typeface="Times New Roman" panose="02020603050405020304" charset="0"/>
            </a:endParaRPr>
          </a:p>
          <a:p>
            <a:pPr algn="ctr">
              <a:lnSpc>
                <a:spcPct val="150000"/>
              </a:lnSpc>
            </a:pPr>
            <a:r>
              <a:rPr lang="en-US" altLang="zh-CN" sz="2800" b="1" dirty="0">
                <a:latin typeface="微软雅黑" panose="020B0503020204020204" pitchFamily="34" charset="-122"/>
                <a:ea typeface="微软雅黑" panose="020B0503020204020204" pitchFamily="34" charset="-122"/>
                <a:cs typeface="Times New Roman" panose="02020603050405020304" charset="0"/>
              </a:rPr>
              <a:t>2026</a:t>
            </a:r>
            <a:r>
              <a:rPr lang="zh-CN" altLang="en-US" sz="2800" b="1" dirty="0">
                <a:latin typeface="微软雅黑" panose="020B0503020204020204" pitchFamily="34" charset="-122"/>
                <a:ea typeface="微软雅黑" panose="020B0503020204020204" pitchFamily="34" charset="-122"/>
                <a:cs typeface="Times New Roman" panose="02020603050405020304" charset="0"/>
              </a:rPr>
              <a:t>年</a:t>
            </a:r>
            <a:r>
              <a:rPr lang="en-US" altLang="zh-CN" sz="2800" b="1" dirty="0">
                <a:latin typeface="微软雅黑" panose="020B0503020204020204" pitchFamily="34" charset="-122"/>
                <a:ea typeface="微软雅黑" panose="020B0503020204020204" pitchFamily="34" charset="-122"/>
                <a:cs typeface="Times New Roman" panose="02020603050405020304" charset="0"/>
              </a:rPr>
              <a:t>4</a:t>
            </a:r>
            <a:r>
              <a:rPr lang="zh-CN" altLang="en-US" sz="2800" b="1" dirty="0">
                <a:latin typeface="微软雅黑" panose="020B0503020204020204" pitchFamily="34" charset="-122"/>
                <a:ea typeface="微软雅黑" panose="020B0503020204020204" pitchFamily="34" charset="-122"/>
                <a:cs typeface="Times New Roman" panose="02020603050405020304" charset="0"/>
              </a:rPr>
              <a:t>月</a:t>
            </a:r>
            <a:r>
              <a:rPr lang="en-US" altLang="zh-CN" sz="2800" b="1">
                <a:latin typeface="微软雅黑" panose="020B0503020204020204" pitchFamily="34" charset="-122"/>
                <a:ea typeface="微软雅黑" panose="020B0503020204020204" pitchFamily="34" charset="-122"/>
                <a:cs typeface="Times New Roman" panose="02020603050405020304" charset="0"/>
              </a:rPr>
              <a:t>28</a:t>
            </a:r>
            <a:r>
              <a:rPr lang="zh-CN" altLang="en-US" sz="2800" b="1">
                <a:latin typeface="微软雅黑" panose="020B0503020204020204" pitchFamily="34" charset="-122"/>
                <a:ea typeface="微软雅黑" panose="020B0503020204020204" pitchFamily="34" charset="-122"/>
                <a:cs typeface="Times New Roman" panose="02020603050405020304" charset="0"/>
              </a:rPr>
              <a:t>日</a:t>
            </a:r>
            <a:endParaRPr lang="zh-CN" altLang="zh-CN" sz="2800" b="1" dirty="0">
              <a:latin typeface="微软雅黑" panose="020B0503020204020204" pitchFamily="34" charset="-122"/>
              <a:ea typeface="微软雅黑" panose="020B0503020204020204" pitchFamily="34" charset="-122"/>
              <a:cs typeface="Times New Roman" panose="02020603050405020304" charset="0"/>
            </a:endParaRPr>
          </a:p>
        </p:txBody>
      </p:sp>
      <p:grpSp>
        <p:nvGrpSpPr>
          <p:cNvPr id="3" name="组合 2">
            <a:extLst>
              <a:ext uri="{FF2B5EF4-FFF2-40B4-BE49-F238E27FC236}">
                <a16:creationId xmlns:a16="http://schemas.microsoft.com/office/drawing/2014/main" id="{00123CB4-DDF7-0FB7-E48E-BD28A41C4353}"/>
              </a:ext>
            </a:extLst>
          </p:cNvPr>
          <p:cNvGrpSpPr/>
          <p:nvPr/>
        </p:nvGrpSpPr>
        <p:grpSpPr>
          <a:xfrm>
            <a:off x="-1" y="1963884"/>
            <a:ext cx="8074618" cy="2842593"/>
            <a:chOff x="-1" y="3071191"/>
            <a:chExt cx="8950557" cy="2842593"/>
          </a:xfrm>
        </p:grpSpPr>
        <p:sp>
          <p:nvSpPr>
            <p:cNvPr id="4" name="矩形 3">
              <a:extLst>
                <a:ext uri="{FF2B5EF4-FFF2-40B4-BE49-F238E27FC236}">
                  <a16:creationId xmlns:a16="http://schemas.microsoft.com/office/drawing/2014/main" id="{3B3CC37B-7D8B-5BF4-F93D-59669EE92008}"/>
                </a:ext>
              </a:extLst>
            </p:cNvPr>
            <p:cNvSpPr/>
            <p:nvPr/>
          </p:nvSpPr>
          <p:spPr>
            <a:xfrm>
              <a:off x="-1" y="3071191"/>
              <a:ext cx="8950557" cy="2842593"/>
            </a:xfrm>
            <a:prstGeom prst="rect">
              <a:avLst/>
            </a:prstGeom>
            <a:solidFill>
              <a:srgbClr val="B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C9DCB141-F99D-AA37-9C07-D707F7B3F9BE}"/>
                </a:ext>
              </a:extLst>
            </p:cNvPr>
            <p:cNvGrpSpPr/>
            <p:nvPr/>
          </p:nvGrpSpPr>
          <p:grpSpPr>
            <a:xfrm>
              <a:off x="952887" y="3345524"/>
              <a:ext cx="7450722" cy="2317895"/>
              <a:chOff x="3364482" y="2466802"/>
              <a:chExt cx="6939971" cy="2317895"/>
            </a:xfrm>
          </p:grpSpPr>
          <p:sp>
            <p:nvSpPr>
              <p:cNvPr id="9" name="矩形 8">
                <a:extLst>
                  <a:ext uri="{FF2B5EF4-FFF2-40B4-BE49-F238E27FC236}">
                    <a16:creationId xmlns:a16="http://schemas.microsoft.com/office/drawing/2014/main" id="{52DD92F2-E621-BF03-E497-5978E5803311}"/>
                  </a:ext>
                </a:extLst>
              </p:cNvPr>
              <p:cNvSpPr/>
              <p:nvPr/>
            </p:nvSpPr>
            <p:spPr>
              <a:xfrm>
                <a:off x="3364482" y="2466802"/>
                <a:ext cx="1326583" cy="2317895"/>
              </a:xfrm>
              <a:prstGeom prst="rect">
                <a:avLst/>
              </a:prstGeom>
              <a:noFill/>
              <a:ln w="539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A5CD03EC-6E3C-FC3E-0AA2-E8553D71AA97}"/>
                  </a:ext>
                </a:extLst>
              </p:cNvPr>
              <p:cNvSpPr/>
              <p:nvPr/>
            </p:nvSpPr>
            <p:spPr>
              <a:xfrm>
                <a:off x="3496685" y="2745005"/>
                <a:ext cx="6807768" cy="1507079"/>
              </a:xfrm>
              <a:prstGeom prst="rect">
                <a:avLst/>
              </a:prstGeom>
              <a:solidFill>
                <a:srgbClr val="BA0000"/>
              </a:solidFill>
            </p:spPr>
            <p:txBody>
              <a:bodyPr wrap="square">
                <a:spAutoFit/>
              </a:bodyPr>
              <a:lstStyle/>
              <a:p>
                <a:pPr>
                  <a:lnSpc>
                    <a:spcPct val="120000"/>
                  </a:lnSpc>
                  <a:buFont typeface="Arial" panose="020B0604020202020204" pitchFamily="34" charset="0"/>
                  <a:buNone/>
                </a:pPr>
                <a:r>
                  <a:rPr lang="zh-CN" altLang="en-US" sz="4000" b="1" dirty="0">
                    <a:solidFill>
                      <a:schemeClr val="bg1"/>
                    </a:solidFill>
                    <a:latin typeface="微软雅黑" panose="020B0503020204020204" pitchFamily="34" charset="-122"/>
                    <a:ea typeface="微软雅黑" panose="020B0503020204020204" pitchFamily="34" charset="-122"/>
                  </a:rPr>
                  <a:t>电力敏感信息暴露风险评估</a:t>
                </a:r>
                <a:endParaRPr lang="en-US" altLang="zh-CN" sz="4000" b="1" dirty="0">
                  <a:solidFill>
                    <a:schemeClr val="bg1"/>
                  </a:solidFill>
                  <a:latin typeface="微软雅黑" panose="020B0503020204020204" pitchFamily="34" charset="-122"/>
                  <a:ea typeface="微软雅黑" panose="020B0503020204020204" pitchFamily="34" charset="-122"/>
                </a:endParaRPr>
              </a:p>
              <a:p>
                <a:pPr>
                  <a:lnSpc>
                    <a:spcPct val="120000"/>
                  </a:lnSpc>
                  <a:buFont typeface="Arial" panose="020B0604020202020204" pitchFamily="34" charset="0"/>
                  <a:buNone/>
                </a:pPr>
                <a:r>
                  <a:rPr lang="zh-CN" altLang="en-US" sz="4000" b="1" dirty="0">
                    <a:solidFill>
                      <a:schemeClr val="bg1"/>
                    </a:solidFill>
                    <a:latin typeface="微软雅黑" panose="020B0503020204020204" pitchFamily="34" charset="-122"/>
                    <a:ea typeface="微软雅黑" panose="020B0503020204020204" pitchFamily="34" charset="-122"/>
                  </a:rPr>
                  <a:t>及防范关键技术研究项目</a:t>
                </a:r>
              </a:p>
            </p:txBody>
          </p:sp>
          <p:grpSp>
            <p:nvGrpSpPr>
              <p:cNvPr id="19" name="组合 18">
                <a:extLst>
                  <a:ext uri="{FF2B5EF4-FFF2-40B4-BE49-F238E27FC236}">
                    <a16:creationId xmlns:a16="http://schemas.microsoft.com/office/drawing/2014/main" id="{5C668072-8F83-62DA-B695-C6F71D08684A}"/>
                  </a:ext>
                </a:extLst>
              </p:cNvPr>
              <p:cNvGrpSpPr/>
              <p:nvPr/>
            </p:nvGrpSpPr>
            <p:grpSpPr>
              <a:xfrm>
                <a:off x="3496686" y="2473022"/>
                <a:ext cx="360000" cy="511034"/>
                <a:chOff x="1088136" y="1335024"/>
                <a:chExt cx="360000" cy="511034"/>
              </a:xfrm>
            </p:grpSpPr>
            <p:cxnSp>
              <p:nvCxnSpPr>
                <p:cNvPr id="20" name="直接连接符 19">
                  <a:extLst>
                    <a:ext uri="{FF2B5EF4-FFF2-40B4-BE49-F238E27FC236}">
                      <a16:creationId xmlns:a16="http://schemas.microsoft.com/office/drawing/2014/main" id="{F425D3D3-F867-02CA-6F49-77A8CAAC28A4}"/>
                    </a:ext>
                  </a:extLst>
                </p:cNvPr>
                <p:cNvCxnSpPr/>
                <p:nvPr/>
              </p:nvCxnSpPr>
              <p:spPr>
                <a:xfrm flipV="1">
                  <a:off x="1088136" y="1335024"/>
                  <a:ext cx="3600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7E755B1-CC06-0E13-D19D-4603E1741782}"/>
                    </a:ext>
                  </a:extLst>
                </p:cNvPr>
                <p:cNvCxnSpPr/>
                <p:nvPr/>
              </p:nvCxnSpPr>
              <p:spPr>
                <a:xfrm>
                  <a:off x="1092732" y="1486058"/>
                  <a:ext cx="0" cy="36000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grpSp>
      </p:grpSp>
      <p:sp>
        <p:nvSpPr>
          <p:cNvPr id="22" name="矩形 21">
            <a:extLst>
              <a:ext uri="{FF2B5EF4-FFF2-40B4-BE49-F238E27FC236}">
                <a16:creationId xmlns:a16="http://schemas.microsoft.com/office/drawing/2014/main" id="{F7F5BEE6-DEF3-B7A4-6F1E-E54874E5D366}"/>
              </a:ext>
            </a:extLst>
          </p:cNvPr>
          <p:cNvSpPr/>
          <p:nvPr/>
        </p:nvSpPr>
        <p:spPr>
          <a:xfrm>
            <a:off x="3737605" y="4171300"/>
            <a:ext cx="4355680" cy="565604"/>
          </a:xfrm>
          <a:prstGeom prst="rect">
            <a:avLst/>
          </a:prstGeom>
        </p:spPr>
        <p:txBody>
          <a:bodyPr wrap="none">
            <a:spAutoFit/>
          </a:bodyPr>
          <a:lstStyle/>
          <a:p>
            <a:pPr>
              <a:lnSpc>
                <a:spcPct val="120000"/>
              </a:lnSpc>
              <a:buFont typeface="Arial" panose="020B0604020202020204" pitchFamily="34" charset="0"/>
              <a:buNone/>
            </a:pPr>
            <a:r>
              <a:rPr lang="zh-CN" altLang="en-US" sz="2800" b="1" dirty="0">
                <a:solidFill>
                  <a:schemeClr val="bg1"/>
                </a:solidFill>
                <a:latin typeface="微软雅黑" panose="020B0503020204020204" pitchFamily="34" charset="-122"/>
                <a:ea typeface="微软雅黑" panose="020B0503020204020204" pitchFamily="34" charset="-122"/>
              </a:rPr>
              <a:t>课题一</a:t>
            </a:r>
            <a:r>
              <a:rPr lang="en-US" altLang="zh-CN" sz="2800" b="1" dirty="0">
                <a:solidFill>
                  <a:schemeClr val="bg1"/>
                </a:solidFill>
                <a:latin typeface="微软雅黑" panose="020B0503020204020204" pitchFamily="34" charset="-122"/>
                <a:ea typeface="微软雅黑" panose="020B0503020204020204" pitchFamily="34" charset="-122"/>
              </a:rPr>
              <a:t>4</a:t>
            </a:r>
            <a:r>
              <a:rPr lang="zh-CN" altLang="en-US" sz="2800" b="1" dirty="0">
                <a:solidFill>
                  <a:schemeClr val="bg1"/>
                </a:solidFill>
                <a:latin typeface="微软雅黑" panose="020B0503020204020204" pitchFamily="34" charset="-122"/>
                <a:ea typeface="微软雅黑" panose="020B0503020204020204" pitchFamily="34" charset="-122"/>
              </a:rPr>
              <a:t>月月度进度推进会</a:t>
            </a:r>
          </a:p>
        </p:txBody>
      </p:sp>
    </p:spTree>
    <p:extLst>
      <p:ext uri="{BB962C8B-B14F-4D97-AF65-F5344CB8AC3E}">
        <p14:creationId xmlns:p14="http://schemas.microsoft.com/office/powerpoint/2010/main" val="2226188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9" name="Picture 11" descr="11"/>
          <p:cNvPicPr>
            <a:picLocks noChangeAspect="1" noChangeArrowheads="1"/>
          </p:cNvPicPr>
          <p:nvPr/>
        </p:nvPicPr>
        <p:blipFill>
          <a:blip r:embed="rId18" cstate="email">
            <a:clrChange>
              <a:clrFrom>
                <a:srgbClr val="FFFFFF"/>
              </a:clrFrom>
              <a:clrTo>
                <a:srgbClr val="FFFFFF">
                  <a:alpha val="0"/>
                </a:srgbClr>
              </a:clrTo>
            </a:clrChange>
          </a:blip>
          <a:srcRect/>
          <a:stretch>
            <a:fillRect/>
          </a:stretch>
        </p:blipFill>
        <p:spPr bwMode="auto">
          <a:xfrm>
            <a:off x="2423160" y="2095500"/>
            <a:ext cx="7536815" cy="3631565"/>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组合 59"/>
          <p:cNvGrpSpPr/>
          <p:nvPr>
            <p:custDataLst>
              <p:tags r:id="rId1"/>
            </p:custDataLst>
          </p:nvPr>
        </p:nvGrpSpPr>
        <p:grpSpPr>
          <a:xfrm>
            <a:off x="3851275" y="2272705"/>
            <a:ext cx="4481144" cy="663133"/>
            <a:chOff x="2830" y="9269"/>
            <a:chExt cx="8789" cy="1375"/>
          </a:xfrm>
        </p:grpSpPr>
        <p:sp>
          <p:nvSpPr>
            <p:cNvPr id="56" name="Oval 53"/>
            <p:cNvSpPr>
              <a:spLocks noChangeArrowheads="1"/>
            </p:cNvSpPr>
            <p:nvPr>
              <p:custDataLst>
                <p:tags r:id="rId12"/>
              </p:custDataLst>
            </p:nvPr>
          </p:nvSpPr>
          <p:spPr bwMode="auto">
            <a:xfrm>
              <a:off x="2830" y="9473"/>
              <a:ext cx="1168" cy="1171"/>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latin typeface="Arial" panose="020B0604020202020204" pitchFamily="34" charset="0"/>
                <a:cs typeface="Arial" panose="020B0604020202020204" pitchFamily="34" charset="0"/>
              </a:endParaRPr>
            </a:p>
          </p:txBody>
        </p:sp>
        <p:sp>
          <p:nvSpPr>
            <p:cNvPr id="57" name="Line 548"/>
            <p:cNvSpPr>
              <a:spLocks noChangeShapeType="1"/>
            </p:cNvSpPr>
            <p:nvPr>
              <p:custDataLst>
                <p:tags r:id="rId13"/>
              </p:custDataLst>
            </p:nvPr>
          </p:nvSpPr>
          <p:spPr bwMode="auto">
            <a:xfrm flipH="1">
              <a:off x="4149" y="10073"/>
              <a:ext cx="1300"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58" name="Rectangle 67"/>
            <p:cNvSpPr>
              <a:spLocks noChangeArrowheads="1"/>
            </p:cNvSpPr>
            <p:nvPr>
              <p:custDataLst>
                <p:tags r:id="rId14"/>
              </p:custDataLst>
            </p:nvPr>
          </p:nvSpPr>
          <p:spPr bwMode="auto">
            <a:xfrm>
              <a:off x="3084" y="9593"/>
              <a:ext cx="942"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Arial" panose="020B0604020202020204" pitchFamily="34" charset="0"/>
                  <a:ea typeface="方正兰亭大黑_GBK" pitchFamily="2" charset="-122"/>
                  <a:cs typeface="Arial" panose="020B0604020202020204" pitchFamily="34" charset="0"/>
                </a:rPr>
                <a:t>1</a:t>
              </a:r>
            </a:p>
          </p:txBody>
        </p:sp>
        <p:sp>
          <p:nvSpPr>
            <p:cNvPr id="59" name="Rectangle 73"/>
            <p:cNvSpPr>
              <a:spLocks noChangeArrowheads="1"/>
            </p:cNvSpPr>
            <p:nvPr>
              <p:custDataLst>
                <p:tags r:id="rId15"/>
              </p:custDataLst>
            </p:nvPr>
          </p:nvSpPr>
          <p:spPr bwMode="auto">
            <a:xfrm>
              <a:off x="5626" y="9269"/>
              <a:ext cx="5993" cy="1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latin typeface="Arial" panose="020B0604020202020204" pitchFamily="34" charset="0"/>
                  <a:ea typeface="微软雅黑" panose="020B0503020204020204" pitchFamily="34" charset="-122"/>
                  <a:cs typeface="Arial" panose="020B0604020202020204" pitchFamily="34" charset="0"/>
                  <a:sym typeface="+mn-ea"/>
                </a:rPr>
                <a:t>指标完成情况</a:t>
              </a:r>
              <a:endParaRPr lang="zh-CN" altLang="en-US" sz="2400" b="1" dirty="0">
                <a:solidFill>
                  <a:schemeClr val="tx1"/>
                </a:solidFill>
                <a:latin typeface="Arial" panose="020B0604020202020204" pitchFamily="34" charset="0"/>
                <a:ea typeface="微软雅黑" panose="020B0503020204020204" pitchFamily="34" charset="-122"/>
                <a:cs typeface="Arial" panose="020B0604020202020204" pitchFamily="34" charset="0"/>
                <a:sym typeface="+mn-ea"/>
              </a:endParaRPr>
            </a:p>
          </p:txBody>
        </p:sp>
      </p:grpSp>
      <p:grpSp>
        <p:nvGrpSpPr>
          <p:cNvPr id="97" name="组合 96"/>
          <p:cNvGrpSpPr/>
          <p:nvPr>
            <p:custDataLst>
              <p:tags r:id="rId2"/>
            </p:custDataLst>
          </p:nvPr>
        </p:nvGrpSpPr>
        <p:grpSpPr>
          <a:xfrm>
            <a:off x="3851275" y="3104130"/>
            <a:ext cx="4976726" cy="680068"/>
            <a:chOff x="2830" y="9233"/>
            <a:chExt cx="9761" cy="1411"/>
          </a:xfrm>
        </p:grpSpPr>
        <p:sp>
          <p:nvSpPr>
            <p:cNvPr id="98" name="Oval 53"/>
            <p:cNvSpPr>
              <a:spLocks noChangeArrowheads="1"/>
            </p:cNvSpPr>
            <p:nvPr>
              <p:custDataLst>
                <p:tags r:id="rId8"/>
              </p:custDataLst>
            </p:nvPr>
          </p:nvSpPr>
          <p:spPr bwMode="auto">
            <a:xfrm>
              <a:off x="2830" y="9473"/>
              <a:ext cx="1168" cy="1171"/>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latin typeface="Arial" panose="020B0604020202020204" pitchFamily="34" charset="0"/>
                <a:cs typeface="Arial" panose="020B0604020202020204" pitchFamily="34" charset="0"/>
              </a:endParaRPr>
            </a:p>
          </p:txBody>
        </p:sp>
        <p:sp>
          <p:nvSpPr>
            <p:cNvPr id="99" name="Line 548"/>
            <p:cNvSpPr>
              <a:spLocks noChangeShapeType="1"/>
            </p:cNvSpPr>
            <p:nvPr>
              <p:custDataLst>
                <p:tags r:id="rId9"/>
              </p:custDataLst>
            </p:nvPr>
          </p:nvSpPr>
          <p:spPr bwMode="auto">
            <a:xfrm flipH="1">
              <a:off x="4094" y="10074"/>
              <a:ext cx="1355"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100" name="Rectangle 67"/>
            <p:cNvSpPr>
              <a:spLocks noChangeArrowheads="1"/>
            </p:cNvSpPr>
            <p:nvPr>
              <p:custDataLst>
                <p:tags r:id="rId10"/>
              </p:custDataLst>
            </p:nvPr>
          </p:nvSpPr>
          <p:spPr bwMode="auto">
            <a:xfrm>
              <a:off x="3084" y="9593"/>
              <a:ext cx="942"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solidFill>
                    <a:schemeClr val="bg1">
                      <a:lumMod val="75000"/>
                    </a:schemeClr>
                  </a:solidFill>
                  <a:latin typeface="Arial" panose="020B0604020202020204" pitchFamily="34" charset="0"/>
                  <a:ea typeface="方正兰亭大黑_GBK" pitchFamily="2" charset="-122"/>
                  <a:cs typeface="Arial" panose="020B0604020202020204" pitchFamily="34" charset="0"/>
                </a:rPr>
                <a:t>2</a:t>
              </a:r>
            </a:p>
          </p:txBody>
        </p:sp>
        <p:sp>
          <p:nvSpPr>
            <p:cNvPr id="101" name="Rectangle 73"/>
            <p:cNvSpPr>
              <a:spLocks noChangeArrowheads="1"/>
            </p:cNvSpPr>
            <p:nvPr>
              <p:custDataLst>
                <p:tags r:id="rId11"/>
              </p:custDataLst>
            </p:nvPr>
          </p:nvSpPr>
          <p:spPr bwMode="auto">
            <a:xfrm>
              <a:off x="5626" y="9233"/>
              <a:ext cx="6965" cy="1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chemeClr val="bg1">
                      <a:lumMod val="75000"/>
                    </a:schemeClr>
                  </a:solidFill>
                  <a:latin typeface="Arial" panose="020B0604020202020204" pitchFamily="34" charset="0"/>
                  <a:ea typeface="微软雅黑" panose="020B0503020204020204" pitchFamily="34" charset="-122"/>
                  <a:cs typeface="Arial" panose="020B0604020202020204" pitchFamily="34" charset="0"/>
                  <a:sym typeface="+mn-ea"/>
                </a:rPr>
                <a:t>近期工作进展</a:t>
              </a:r>
            </a:p>
          </p:txBody>
        </p:sp>
      </p:grpSp>
      <p:grpSp>
        <p:nvGrpSpPr>
          <p:cNvPr id="102" name="组合 101"/>
          <p:cNvGrpSpPr/>
          <p:nvPr>
            <p:custDataLst>
              <p:tags r:id="rId3"/>
            </p:custDataLst>
          </p:nvPr>
        </p:nvGrpSpPr>
        <p:grpSpPr>
          <a:xfrm>
            <a:off x="4487578" y="3943812"/>
            <a:ext cx="4488793" cy="581263"/>
            <a:chOff x="4078" y="9215"/>
            <a:chExt cx="8804" cy="1206"/>
          </a:xfrm>
        </p:grpSpPr>
        <p:sp>
          <p:nvSpPr>
            <p:cNvPr id="104" name="Line 548"/>
            <p:cNvSpPr>
              <a:spLocks noChangeShapeType="1"/>
            </p:cNvSpPr>
            <p:nvPr>
              <p:custDataLst>
                <p:tags r:id="rId6"/>
              </p:custDataLst>
            </p:nvPr>
          </p:nvSpPr>
          <p:spPr bwMode="auto">
            <a:xfrm flipH="1">
              <a:off x="4078" y="10073"/>
              <a:ext cx="1371"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106" name="Rectangle 73"/>
            <p:cNvSpPr>
              <a:spLocks noChangeArrowheads="1"/>
            </p:cNvSpPr>
            <p:nvPr>
              <p:custDataLst>
                <p:tags r:id="rId7"/>
              </p:custDataLst>
            </p:nvPr>
          </p:nvSpPr>
          <p:spPr bwMode="auto">
            <a:xfrm>
              <a:off x="5626" y="9215"/>
              <a:ext cx="7256"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chemeClr val="bg1">
                      <a:lumMod val="75000"/>
                    </a:schemeClr>
                  </a:solidFill>
                  <a:latin typeface="Arial" panose="020B0604020202020204" pitchFamily="34" charset="0"/>
                  <a:ea typeface="微软雅黑" panose="020B0503020204020204" pitchFamily="34" charset="-122"/>
                  <a:cs typeface="Arial" panose="020B0604020202020204" pitchFamily="34" charset="0"/>
                  <a:sym typeface="+mn-ea"/>
                </a:rPr>
                <a:t>下一步工作计划</a:t>
              </a:r>
            </a:p>
          </p:txBody>
        </p:sp>
      </p:grpSp>
      <p:sp>
        <p:nvSpPr>
          <p:cNvPr id="3" name="文本框 2"/>
          <p:cNvSpPr txBox="1"/>
          <p:nvPr/>
        </p:nvSpPr>
        <p:spPr>
          <a:xfrm>
            <a:off x="30480" y="37465"/>
            <a:ext cx="8301990" cy="743152"/>
          </a:xfrm>
          <a:prstGeom prst="rect">
            <a:avLst/>
          </a:prstGeom>
          <a:noFill/>
        </p:spPr>
        <p:txBody>
          <a:bodyPr wrap="square" rtlCol="0">
            <a:spAutoFit/>
          </a:bodyPr>
          <a:lstStyle/>
          <a:p>
            <a:pPr>
              <a:lnSpc>
                <a:spcPct val="150000"/>
              </a:lnSpc>
            </a:pPr>
            <a:r>
              <a:rPr lang="zh-CN" altLang="en-US" sz="3200" b="1" dirty="0">
                <a:solidFill>
                  <a:schemeClr val="accent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Arial" panose="020B0604020202020204" pitchFamily="34" charset="0"/>
                <a:sym typeface="+mn-ea"/>
              </a:rPr>
              <a:t>汇报提纲</a:t>
            </a:r>
          </a:p>
        </p:txBody>
      </p:sp>
      <p:sp>
        <p:nvSpPr>
          <p:cNvPr id="2" name="Oval 53"/>
          <p:cNvSpPr>
            <a:spLocks noChangeArrowheads="1"/>
          </p:cNvSpPr>
          <p:nvPr>
            <p:custDataLst>
              <p:tags r:id="rId4"/>
            </p:custDataLst>
          </p:nvPr>
        </p:nvSpPr>
        <p:spPr bwMode="auto">
          <a:xfrm>
            <a:off x="3851428" y="4075149"/>
            <a:ext cx="595514" cy="564394"/>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dirty="0">
              <a:latin typeface="Arial" panose="020B0604020202020204" pitchFamily="34" charset="0"/>
              <a:cs typeface="Arial" panose="020B0604020202020204" pitchFamily="34" charset="0"/>
            </a:endParaRPr>
          </a:p>
        </p:txBody>
      </p:sp>
      <p:sp>
        <p:nvSpPr>
          <p:cNvPr id="4" name="Rectangle 67"/>
          <p:cNvSpPr>
            <a:spLocks noChangeArrowheads="1"/>
          </p:cNvSpPr>
          <p:nvPr>
            <p:custDataLst>
              <p:tags r:id="rId5"/>
            </p:custDataLst>
          </p:nvPr>
        </p:nvSpPr>
        <p:spPr bwMode="auto">
          <a:xfrm>
            <a:off x="3909042" y="4157956"/>
            <a:ext cx="480286"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dirty="0">
                <a:solidFill>
                  <a:schemeClr val="bg1">
                    <a:lumMod val="75000"/>
                  </a:schemeClr>
                </a:solidFill>
                <a:latin typeface="Arial" panose="020B0604020202020204" pitchFamily="34" charset="0"/>
                <a:ea typeface="方正兰亭大黑_GBK" pitchFamily="2" charset="-122"/>
                <a:cs typeface="Arial" panose="020B0604020202020204" pitchFamily="34" charset="0"/>
              </a:rPr>
              <a:t>3</a:t>
            </a:r>
          </a:p>
        </p:txBody>
      </p:sp>
    </p:spTree>
    <p:extLst>
      <p:ext uri="{BB962C8B-B14F-4D97-AF65-F5344CB8AC3E}">
        <p14:creationId xmlns:p14="http://schemas.microsoft.com/office/powerpoint/2010/main" val="2757672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FFAAEE4E-4FB6-8EAC-3EC6-2ECA9EAB25E5}"/>
              </a:ext>
            </a:extLst>
          </p:cNvPr>
          <p:cNvSpPr>
            <a:spLocks noChangeArrowheads="1"/>
          </p:cNvSpPr>
          <p:nvPr>
            <p:custDataLst>
              <p:tags r:id="rId1"/>
            </p:custDataLst>
          </p:nvPr>
        </p:nvSpPr>
        <p:spPr bwMode="auto">
          <a:xfrm>
            <a:off x="765810" y="291783"/>
            <a:ext cx="9139238"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项目中期考核指标完成情况</a:t>
            </a:r>
          </a:p>
        </p:txBody>
      </p:sp>
      <p:graphicFrame>
        <p:nvGraphicFramePr>
          <p:cNvPr id="3" name="表格 2">
            <a:extLst>
              <a:ext uri="{FF2B5EF4-FFF2-40B4-BE49-F238E27FC236}">
                <a16:creationId xmlns:a16="http://schemas.microsoft.com/office/drawing/2014/main" id="{9ED58E95-3014-4656-8AF7-1A084BD566BB}"/>
              </a:ext>
            </a:extLst>
          </p:cNvPr>
          <p:cNvGraphicFramePr>
            <a:graphicFrameLocks noGrp="1"/>
          </p:cNvGraphicFramePr>
          <p:nvPr>
            <p:extLst>
              <p:ext uri="{D42A27DB-BD31-4B8C-83A1-F6EECF244321}">
                <p14:modId xmlns:p14="http://schemas.microsoft.com/office/powerpoint/2010/main" val="1989612312"/>
              </p:ext>
            </p:extLst>
          </p:nvPr>
        </p:nvGraphicFramePr>
        <p:xfrm>
          <a:off x="270773" y="1352839"/>
          <a:ext cx="11650453" cy="4920270"/>
        </p:xfrm>
        <a:graphic>
          <a:graphicData uri="http://schemas.openxmlformats.org/drawingml/2006/table">
            <a:tbl>
              <a:tblPr firstRow="1" bandRow="1">
                <a:tableStyleId>{85BE263C-DBD7-4A20-BB59-AAB30ACAA65A}</a:tableStyleId>
              </a:tblPr>
              <a:tblGrid>
                <a:gridCol w="853692">
                  <a:extLst>
                    <a:ext uri="{9D8B030D-6E8A-4147-A177-3AD203B41FA5}">
                      <a16:colId xmlns:a16="http://schemas.microsoft.com/office/drawing/2014/main" val="2022511072"/>
                    </a:ext>
                  </a:extLst>
                </a:gridCol>
                <a:gridCol w="4831492">
                  <a:extLst>
                    <a:ext uri="{9D8B030D-6E8A-4147-A177-3AD203B41FA5}">
                      <a16:colId xmlns:a16="http://schemas.microsoft.com/office/drawing/2014/main" val="184065151"/>
                    </a:ext>
                  </a:extLst>
                </a:gridCol>
                <a:gridCol w="4485502">
                  <a:extLst>
                    <a:ext uri="{9D8B030D-6E8A-4147-A177-3AD203B41FA5}">
                      <a16:colId xmlns:a16="http://schemas.microsoft.com/office/drawing/2014/main" val="2686978673"/>
                    </a:ext>
                  </a:extLst>
                </a:gridCol>
                <a:gridCol w="1479767">
                  <a:extLst>
                    <a:ext uri="{9D8B030D-6E8A-4147-A177-3AD203B41FA5}">
                      <a16:colId xmlns:a16="http://schemas.microsoft.com/office/drawing/2014/main" val="1149355036"/>
                    </a:ext>
                  </a:extLst>
                </a:gridCol>
              </a:tblGrid>
              <a:tr h="677768">
                <a:tc>
                  <a:txBody>
                    <a:bodyPr/>
                    <a:lstStyle/>
                    <a:p>
                      <a:pPr algn="ct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序号</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项目中期考核指标（</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2026</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已完成工作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完成情况</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150076"/>
                  </a:ext>
                </a:extLst>
              </a:tr>
              <a:tr h="1616191">
                <a:tc>
                  <a:txBody>
                    <a:bodyPr/>
                    <a:lstStyle/>
                    <a:p>
                      <a:pPr algn="ctr">
                        <a:lnSpc>
                          <a:spcPct val="10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400" b="1" dirty="0">
                          <a:latin typeface="微软雅黑" panose="020B0503020204020204" pitchFamily="34" charset="-122"/>
                          <a:ea typeface="微软雅黑" panose="020B0503020204020204" pitchFamily="34" charset="-122"/>
                        </a:rPr>
                        <a:t>研究报告：</a:t>
                      </a:r>
                      <a:r>
                        <a:rPr lang="zh-CN" altLang="en-US" sz="2400" dirty="0">
                          <a:latin typeface="微软雅黑" panose="020B0503020204020204" pitchFamily="34" charset="-122"/>
                          <a:ea typeface="微软雅黑" panose="020B0503020204020204" pitchFamily="34" charset="-122"/>
                        </a:rPr>
                        <a:t>基于多源信息跨域融合的反向逆推机理研究报告</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份</a:t>
                      </a: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已完成</a:t>
                      </a:r>
                      <a:r>
                        <a:rPr lang="zh-CN" altLang="en-US" sz="2400" dirty="0">
                          <a:latin typeface="微软雅黑" panose="020B0503020204020204" pitchFamily="34" charset="-122"/>
                          <a:ea typeface="微软雅黑" panose="020B0503020204020204" pitchFamily="34" charset="-122"/>
                        </a:rPr>
                        <a:t>基于多源信息跨域融合的反向逆推机理研究报告</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份</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已完成</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323985"/>
                  </a:ext>
                </a:extLst>
              </a:tr>
              <a:tr h="1616191">
                <a:tc>
                  <a:txBody>
                    <a:bodyPr/>
                    <a:lstStyle/>
                    <a:p>
                      <a:pPr algn="ctr">
                        <a:lnSpc>
                          <a:spcPct val="10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400" b="1" kern="1200" dirty="0">
                          <a:solidFill>
                            <a:schemeClr val="dk1"/>
                          </a:solidFill>
                          <a:latin typeface="微软雅黑" panose="020B0503020204020204" pitchFamily="34" charset="-122"/>
                          <a:ea typeface="微软雅黑" panose="020B0503020204020204" pitchFamily="34" charset="-122"/>
                          <a:cs typeface="+mn-cs"/>
                        </a:rPr>
                        <a:t>论文：</a:t>
                      </a:r>
                      <a:r>
                        <a:rPr lang="zh-CN" altLang="en-US" sz="2400" b="0" kern="1200" dirty="0">
                          <a:solidFill>
                            <a:schemeClr val="dk1"/>
                          </a:solidFill>
                          <a:latin typeface="微软雅黑" panose="020B0503020204020204" pitchFamily="34" charset="-122"/>
                          <a:ea typeface="微软雅黑" panose="020B0503020204020204" pitchFamily="34" charset="-122"/>
                          <a:cs typeface="+mn-cs"/>
                        </a:rPr>
                        <a:t>录用</a:t>
                      </a:r>
                      <a:r>
                        <a:rPr lang="zh-CN" altLang="en-US" sz="2400" kern="1200" dirty="0">
                          <a:solidFill>
                            <a:schemeClr val="dk1"/>
                          </a:solidFill>
                          <a:latin typeface="微软雅黑" panose="020B0503020204020204" pitchFamily="34" charset="-122"/>
                          <a:ea typeface="微软雅黑" panose="020B0503020204020204" pitchFamily="34" charset="-122"/>
                          <a:cs typeface="+mn-cs"/>
                        </a:rPr>
                        <a:t>三大检索或中文核心论文</a:t>
                      </a:r>
                      <a:r>
                        <a:rPr lang="en-US" altLang="zh-CN" sz="2400" kern="1200" dirty="0">
                          <a:solidFill>
                            <a:schemeClr val="dk1"/>
                          </a:solidFill>
                          <a:latin typeface="微软雅黑" panose="020B0503020204020204" pitchFamily="34" charset="-122"/>
                          <a:ea typeface="微软雅黑" panose="020B0503020204020204" pitchFamily="34" charset="-122"/>
                          <a:cs typeface="+mn-cs"/>
                        </a:rPr>
                        <a:t>3</a:t>
                      </a:r>
                      <a:r>
                        <a:rPr lang="zh-CN" altLang="en-US" sz="2400" kern="1200" dirty="0">
                          <a:solidFill>
                            <a:schemeClr val="dk1"/>
                          </a:solidFill>
                          <a:latin typeface="微软雅黑" panose="020B0503020204020204" pitchFamily="34" charset="-122"/>
                          <a:ea typeface="微软雅黑" panose="020B0503020204020204" pitchFamily="34" charset="-122"/>
                          <a:cs typeface="+mn-cs"/>
                        </a:rPr>
                        <a:t>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1200"/>
                        </a:spcAft>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已完成</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篇学术论文，其中</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篇</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已投稿至</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会议，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篇待投稿</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00000"/>
                        </a:lnSpc>
                        <a:spcAft>
                          <a:spcPts val="1200"/>
                        </a:spcAft>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待完成</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篇学术论文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rPr>
                        <a:t>部分完成</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442644"/>
                  </a:ext>
                </a:extLst>
              </a:tr>
              <a:tr h="1010120">
                <a:tc>
                  <a:txBody>
                    <a:bodyPr/>
                    <a:lstStyle/>
                    <a:p>
                      <a:pPr algn="ctr">
                        <a:lnSpc>
                          <a:spcPct val="10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400" b="1" kern="1200" dirty="0">
                          <a:solidFill>
                            <a:schemeClr val="dk1"/>
                          </a:solidFill>
                          <a:latin typeface="微软雅黑" panose="020B0503020204020204" pitchFamily="34" charset="-122"/>
                          <a:ea typeface="微软雅黑" panose="020B0503020204020204" pitchFamily="34" charset="-122"/>
                          <a:cs typeface="+mn-cs"/>
                        </a:rPr>
                        <a:t>发明专利：</a:t>
                      </a:r>
                      <a:r>
                        <a:rPr lang="zh-CN" altLang="en-US" sz="2400" kern="1200" dirty="0">
                          <a:solidFill>
                            <a:schemeClr val="dk1"/>
                          </a:solidFill>
                          <a:latin typeface="微软雅黑" panose="020B0503020204020204" pitchFamily="34" charset="-122"/>
                          <a:ea typeface="微软雅黑" panose="020B0503020204020204" pitchFamily="34" charset="-122"/>
                          <a:cs typeface="+mn-cs"/>
                        </a:rPr>
                        <a:t>受理发明专利</a:t>
                      </a:r>
                      <a:r>
                        <a:rPr lang="en-US" altLang="zh-CN" sz="2400" kern="1200" dirty="0">
                          <a:solidFill>
                            <a:schemeClr val="dk1"/>
                          </a:solidFill>
                          <a:latin typeface="微软雅黑" panose="020B0503020204020204" pitchFamily="34" charset="-122"/>
                          <a:ea typeface="微软雅黑" panose="020B0503020204020204" pitchFamily="34" charset="-122"/>
                          <a:cs typeface="+mn-cs"/>
                        </a:rPr>
                        <a:t>3</a:t>
                      </a:r>
                      <a:r>
                        <a:rPr lang="zh-CN" altLang="en-US" sz="2400" kern="1200" dirty="0">
                          <a:solidFill>
                            <a:schemeClr val="dk1"/>
                          </a:solidFill>
                          <a:latin typeface="微软雅黑" panose="020B0503020204020204" pitchFamily="34" charset="-122"/>
                          <a:ea typeface="微软雅黑" panose="020B0503020204020204" pitchFamily="34" charset="-122"/>
                          <a:cs typeface="+mn-cs"/>
                        </a:rPr>
                        <a:t>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已提交发明专利底稿</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项，待提交专利事务所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C55A11"/>
                          </a:solidFill>
                          <a:latin typeface="Times New Roman" panose="02020603050405020304" pitchFamily="18" charset="0"/>
                          <a:ea typeface="微软雅黑" panose="020B0503020204020204" pitchFamily="34" charset="-122"/>
                          <a:cs typeface="Times New Roman" panose="02020603050405020304" pitchFamily="18" charset="0"/>
                        </a:rPr>
                        <a:t>部分完成</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283889"/>
                  </a:ext>
                </a:extLst>
              </a:tr>
            </a:tbl>
          </a:graphicData>
        </a:graphic>
      </p:graphicFrame>
    </p:spTree>
    <p:extLst>
      <p:ext uri="{BB962C8B-B14F-4D97-AF65-F5344CB8AC3E}">
        <p14:creationId xmlns:p14="http://schemas.microsoft.com/office/powerpoint/2010/main" val="2463028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5C75ABE1-F82B-CB6C-D852-97436B0C0C5A}"/>
              </a:ext>
            </a:extLst>
          </p:cNvPr>
          <p:cNvSpPr txBox="1"/>
          <p:nvPr>
            <p:custDataLst>
              <p:tags r:id="rId1"/>
            </p:custDataLst>
          </p:nvPr>
        </p:nvSpPr>
        <p:spPr>
          <a:xfrm>
            <a:off x="152400" y="951132"/>
            <a:ext cx="11715750" cy="1051680"/>
          </a:xfrm>
          <a:prstGeom prst="rect">
            <a:avLst/>
          </a:prstGeom>
          <a:noFill/>
          <a:ln w="12700">
            <a:solidFill>
              <a:schemeClr val="accent1"/>
            </a:solidFill>
            <a:prstDash val="dash"/>
          </a:ln>
        </p:spPr>
        <p:txBody>
          <a:bodyPr wrap="square" lIns="107950" tIns="107950" rIns="107950" bIns="107950" rtlCol="0" anchor="ctr" anchorCtr="0">
            <a:noAutofit/>
          </a:bodyPr>
          <a:lstStyle/>
          <a:p>
            <a:pPr indent="457200" algn="just" fontAlgn="auto">
              <a:lnSpc>
                <a:spcPct val="120000"/>
              </a:lnSpc>
              <a:spcBef>
                <a:spcPts val="0"/>
              </a:spcBef>
              <a:spcAft>
                <a:spcPts val="300"/>
              </a:spcAft>
              <a:buFont typeface="Wingdings" panose="05000000000000000000" charset="0"/>
              <a:buNone/>
            </a:pPr>
            <a:endParaRPr lang="zh-CN" sz="1600" dirty="0">
              <a:latin typeface="微软雅黑" panose="020B0503020204020204" pitchFamily="34" charset="-122"/>
              <a:ea typeface="微软雅黑" panose="020B0503020204020204" pitchFamily="34" charset="-122"/>
              <a:sym typeface="+mn-ea"/>
            </a:endParaRPr>
          </a:p>
        </p:txBody>
      </p:sp>
      <p:sp>
        <p:nvSpPr>
          <p:cNvPr id="5" name="object 11">
            <a:extLst>
              <a:ext uri="{FF2B5EF4-FFF2-40B4-BE49-F238E27FC236}">
                <a16:creationId xmlns:a16="http://schemas.microsoft.com/office/drawing/2014/main" id="{BD66564B-DC2A-A20B-78B9-7B69E78E4492}"/>
              </a:ext>
            </a:extLst>
          </p:cNvPr>
          <p:cNvSpPr txBox="1"/>
          <p:nvPr>
            <p:custDataLst>
              <p:tags r:id="rId2"/>
            </p:custDataLst>
          </p:nvPr>
        </p:nvSpPr>
        <p:spPr>
          <a:xfrm>
            <a:off x="310042" y="1032317"/>
            <a:ext cx="11510955" cy="850810"/>
          </a:xfrm>
          <a:prstGeom prst="rect">
            <a:avLst/>
          </a:prstGeom>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indent="457200">
              <a:lnSpc>
                <a:spcPct val="130000"/>
              </a:lnSpc>
            </a:pPr>
            <a:r>
              <a:rPr lang="zh-CN" altLang="en-US" sz="2200" b="1" dirty="0"/>
              <a:t>聚焦</a:t>
            </a:r>
            <a:r>
              <a:rPr lang="zh-CN" altLang="en-US" sz="2200" b="1" dirty="0">
                <a:solidFill>
                  <a:srgbClr val="C00000"/>
                </a:solidFill>
              </a:rPr>
              <a:t>多源信息跨域融合的反向逆推机理</a:t>
            </a:r>
            <a:r>
              <a:rPr lang="zh-CN" altLang="en-US" sz="2200" b="1" dirty="0"/>
              <a:t>，明确</a:t>
            </a:r>
            <a:r>
              <a:rPr lang="zh-CN" altLang="en-US" sz="2200" b="1" dirty="0">
                <a:solidFill>
                  <a:srgbClr val="C00000"/>
                </a:solidFill>
              </a:rPr>
              <a:t>敏感信息边界并建立其分级分类体系</a:t>
            </a:r>
            <a:r>
              <a:rPr lang="zh-CN" altLang="en-US" sz="2200" b="1" dirty="0"/>
              <a:t>；同时构建多维度风险评估指标体系，实现</a:t>
            </a:r>
            <a:r>
              <a:rPr lang="zh-CN" altLang="en-US" sz="2200" b="1" dirty="0">
                <a:solidFill>
                  <a:srgbClr val="C00000"/>
                </a:solidFill>
              </a:rPr>
              <a:t>单一及多源关联信息泄露风险的量化评估</a:t>
            </a:r>
            <a:r>
              <a:rPr lang="zh-CN" altLang="en-US" sz="2200" b="1" dirty="0"/>
              <a:t>。</a:t>
            </a:r>
            <a:endParaRPr lang="en-US" altLang="zh-CN" sz="2200" b="1" dirty="0"/>
          </a:p>
        </p:txBody>
      </p:sp>
      <p:pic>
        <p:nvPicPr>
          <p:cNvPr id="6" name="图片 5">
            <a:extLst>
              <a:ext uri="{FF2B5EF4-FFF2-40B4-BE49-F238E27FC236}">
                <a16:creationId xmlns:a16="http://schemas.microsoft.com/office/drawing/2014/main" id="{B5974063-78A8-B03A-B215-8DDA4447E201}"/>
              </a:ext>
            </a:extLst>
          </p:cNvPr>
          <p:cNvPicPr>
            <a:picLocks noChangeAspect="1"/>
          </p:cNvPicPr>
          <p:nvPr/>
        </p:nvPicPr>
        <p:blipFill rotWithShape="1">
          <a:blip r:embed="rId5"/>
          <a:srcRect b="51206"/>
          <a:stretch/>
        </p:blipFill>
        <p:spPr>
          <a:xfrm>
            <a:off x="162339" y="4381121"/>
            <a:ext cx="11668597" cy="2073976"/>
          </a:xfrm>
          <a:prstGeom prst="rect">
            <a:avLst/>
          </a:prstGeom>
        </p:spPr>
      </p:pic>
      <p:pic>
        <p:nvPicPr>
          <p:cNvPr id="7" name="图片 6">
            <a:extLst>
              <a:ext uri="{FF2B5EF4-FFF2-40B4-BE49-F238E27FC236}">
                <a16:creationId xmlns:a16="http://schemas.microsoft.com/office/drawing/2014/main" id="{D5A0CE16-E8AC-56AC-1791-06D1EAC22C4F}"/>
              </a:ext>
            </a:extLst>
          </p:cNvPr>
          <p:cNvPicPr>
            <a:picLocks noChangeAspect="1"/>
          </p:cNvPicPr>
          <p:nvPr/>
        </p:nvPicPr>
        <p:blipFill rotWithShape="1">
          <a:blip r:embed="rId5"/>
          <a:srcRect t="52094"/>
          <a:stretch/>
        </p:blipFill>
        <p:spPr>
          <a:xfrm>
            <a:off x="162339" y="2122688"/>
            <a:ext cx="11668597" cy="1959238"/>
          </a:xfrm>
          <a:prstGeom prst="rect">
            <a:avLst/>
          </a:prstGeom>
        </p:spPr>
      </p:pic>
      <p:sp>
        <p:nvSpPr>
          <p:cNvPr id="8" name="下箭头 8">
            <a:extLst>
              <a:ext uri="{FF2B5EF4-FFF2-40B4-BE49-F238E27FC236}">
                <a16:creationId xmlns:a16="http://schemas.microsoft.com/office/drawing/2014/main" id="{BFFD4E84-A613-7838-459D-004B87650F7B}"/>
              </a:ext>
            </a:extLst>
          </p:cNvPr>
          <p:cNvSpPr/>
          <p:nvPr/>
        </p:nvSpPr>
        <p:spPr>
          <a:xfrm>
            <a:off x="2683189" y="4081926"/>
            <a:ext cx="815723" cy="299195"/>
          </a:xfrm>
          <a:prstGeom prst="down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a:extLst>
              <a:ext uri="{FF2B5EF4-FFF2-40B4-BE49-F238E27FC236}">
                <a16:creationId xmlns:a16="http://schemas.microsoft.com/office/drawing/2014/main" id="{9E6E6277-A4FB-6449-7C15-B7CE914F7CA7}"/>
              </a:ext>
            </a:extLst>
          </p:cNvPr>
          <p:cNvSpPr>
            <a:spLocks noChangeArrowheads="1"/>
          </p:cNvSpPr>
          <p:nvPr>
            <p:custDataLst>
              <p:tags r:id="rId3"/>
            </p:custDataLst>
          </p:nvPr>
        </p:nvSpPr>
        <p:spPr bwMode="auto">
          <a:xfrm>
            <a:off x="775970" y="271463"/>
            <a:ext cx="9139238"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课题一研究内容</a:t>
            </a:r>
          </a:p>
        </p:txBody>
      </p:sp>
    </p:spTree>
    <p:extLst>
      <p:ext uri="{BB962C8B-B14F-4D97-AF65-F5344CB8AC3E}">
        <p14:creationId xmlns:p14="http://schemas.microsoft.com/office/powerpoint/2010/main" val="3877789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F3E7E0C-B250-4129-786E-4DACFB906A7F}"/>
              </a:ext>
            </a:extLst>
          </p:cNvPr>
          <p:cNvSpPr txBox="1"/>
          <p:nvPr/>
        </p:nvSpPr>
        <p:spPr>
          <a:xfrm>
            <a:off x="907731" y="247015"/>
            <a:ext cx="10376535" cy="521970"/>
          </a:xfrm>
          <a:prstGeom prst="rect">
            <a:avLst/>
          </a:prstGeom>
          <a:noFill/>
        </p:spPr>
        <p:txBody>
          <a:bodyPr wrap="square" rtlCol="0">
            <a:spAutoFit/>
          </a:bodyPr>
          <a:lstStyle/>
          <a:p>
            <a:pPr algn="l">
              <a:buClrTx/>
              <a:buSzTx/>
              <a:buFontTx/>
            </a:pPr>
            <a:r>
              <a:rPr lang="zh-CN" altLang="en-US" sz="2800" b="1"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目前已完成工作</a:t>
            </a:r>
          </a:p>
        </p:txBody>
      </p:sp>
      <p:pic>
        <p:nvPicPr>
          <p:cNvPr id="4" name="图片 3">
            <a:extLst>
              <a:ext uri="{FF2B5EF4-FFF2-40B4-BE49-F238E27FC236}">
                <a16:creationId xmlns:a16="http://schemas.microsoft.com/office/drawing/2014/main" id="{4007508B-DE32-0E24-7FD6-1353819FA33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98496" y="2023595"/>
            <a:ext cx="10734132" cy="4822926"/>
          </a:xfrm>
          <a:prstGeom prst="rect">
            <a:avLst/>
          </a:prstGeom>
          <a:noFill/>
        </p:spPr>
      </p:pic>
      <p:sp>
        <p:nvSpPr>
          <p:cNvPr id="3" name="TextBox 2">
            <a:extLst>
              <a:ext uri="{FF2B5EF4-FFF2-40B4-BE49-F238E27FC236}">
                <a16:creationId xmlns:a16="http://schemas.microsoft.com/office/drawing/2014/main" id="{56F07DB2-193B-365A-59CF-392BA69E8D45}"/>
              </a:ext>
            </a:extLst>
          </p:cNvPr>
          <p:cNvSpPr txBox="1"/>
          <p:nvPr>
            <p:custDataLst>
              <p:tags r:id="rId1"/>
            </p:custDataLst>
          </p:nvPr>
        </p:nvSpPr>
        <p:spPr>
          <a:xfrm>
            <a:off x="777714" y="940741"/>
            <a:ext cx="10849713" cy="1051680"/>
          </a:xfrm>
          <a:prstGeom prst="rect">
            <a:avLst/>
          </a:prstGeom>
          <a:noFill/>
          <a:ln w="12700">
            <a:solidFill>
              <a:schemeClr val="accent1"/>
            </a:solidFill>
            <a:prstDash val="dash"/>
          </a:ln>
        </p:spPr>
        <p:txBody>
          <a:bodyPr wrap="square" lIns="107950" tIns="107950" rIns="107950" bIns="107950" rtlCol="0" anchor="ctr" anchorCtr="0">
            <a:noAutofit/>
          </a:bodyPr>
          <a:lstStyle/>
          <a:p>
            <a:pPr indent="457200" algn="just" fontAlgn="auto">
              <a:lnSpc>
                <a:spcPct val="120000"/>
              </a:lnSpc>
              <a:spcBef>
                <a:spcPts val="0"/>
              </a:spcBef>
              <a:spcAft>
                <a:spcPts val="300"/>
              </a:spcAft>
              <a:buFont typeface="Wingdings" panose="05000000000000000000" charset="0"/>
              <a:buNone/>
            </a:pPr>
            <a:endParaRPr lang="zh-CN" sz="1600" dirty="0">
              <a:latin typeface="微软雅黑" panose="020B0503020204020204" pitchFamily="34" charset="-122"/>
              <a:ea typeface="微软雅黑" panose="020B0503020204020204" pitchFamily="34" charset="-122"/>
              <a:sym typeface="+mn-ea"/>
            </a:endParaRPr>
          </a:p>
        </p:txBody>
      </p:sp>
      <p:sp>
        <p:nvSpPr>
          <p:cNvPr id="5" name="object 11">
            <a:extLst>
              <a:ext uri="{FF2B5EF4-FFF2-40B4-BE49-F238E27FC236}">
                <a16:creationId xmlns:a16="http://schemas.microsoft.com/office/drawing/2014/main" id="{1AF53FA5-9AD0-A9B8-41EA-76E23F780B14}"/>
              </a:ext>
            </a:extLst>
          </p:cNvPr>
          <p:cNvSpPr txBox="1"/>
          <p:nvPr>
            <p:custDataLst>
              <p:tags r:id="rId2"/>
            </p:custDataLst>
          </p:nvPr>
        </p:nvSpPr>
        <p:spPr>
          <a:xfrm>
            <a:off x="907731" y="1021926"/>
            <a:ext cx="10604115" cy="850810"/>
          </a:xfrm>
          <a:prstGeom prst="rect">
            <a:avLst/>
          </a:prstGeom>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indent="457200">
              <a:lnSpc>
                <a:spcPct val="130000"/>
              </a:lnSpc>
            </a:pPr>
            <a:r>
              <a:rPr lang="zh-CN" altLang="en-US" sz="2200" b="1" dirty="0"/>
              <a:t>针对“多源信息跨域融合的反向逆推方法研究”，对电力数据泄露威胁进行建模并归纳反向逆推范式，同时分别提出了数据驱动与机理驱动的反向逆推方法。</a:t>
            </a:r>
            <a:endParaRPr lang="en-US" altLang="zh-CN" sz="2200" b="1" dirty="0"/>
          </a:p>
        </p:txBody>
      </p:sp>
    </p:spTree>
    <p:extLst>
      <p:ext uri="{BB962C8B-B14F-4D97-AF65-F5344CB8AC3E}">
        <p14:creationId xmlns:p14="http://schemas.microsoft.com/office/powerpoint/2010/main" val="2529369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B1E46AB2-DDE8-7654-408B-92D7A350E27B}"/>
              </a:ext>
            </a:extLst>
          </p:cNvPr>
          <p:cNvSpPr>
            <a:spLocks noChangeArrowheads="1"/>
          </p:cNvSpPr>
          <p:nvPr>
            <p:custDataLst>
              <p:tags r:id="rId1"/>
            </p:custDataLst>
          </p:nvPr>
        </p:nvSpPr>
        <p:spPr bwMode="auto">
          <a:xfrm>
            <a:off x="806450" y="301943"/>
            <a:ext cx="9139238"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rPr>
              <a:t>近期工作内容概述</a:t>
            </a:r>
          </a:p>
        </p:txBody>
      </p:sp>
      <p:sp>
        <p:nvSpPr>
          <p:cNvPr id="3" name="object 11">
            <a:extLst>
              <a:ext uri="{FF2B5EF4-FFF2-40B4-BE49-F238E27FC236}">
                <a16:creationId xmlns:a16="http://schemas.microsoft.com/office/drawing/2014/main" id="{94EC2F80-4DA7-B9F3-15CA-4701B78185A0}"/>
              </a:ext>
            </a:extLst>
          </p:cNvPr>
          <p:cNvSpPr txBox="1"/>
          <p:nvPr>
            <p:custDataLst>
              <p:tags r:id="rId2"/>
            </p:custDataLst>
          </p:nvPr>
        </p:nvSpPr>
        <p:spPr>
          <a:xfrm>
            <a:off x="848013" y="2422297"/>
            <a:ext cx="10824210" cy="4133760"/>
          </a:xfrm>
          <a:prstGeom prst="rect">
            <a:avLst/>
          </a:prstGeom>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a:lnSpc>
                <a:spcPct val="150000"/>
              </a:lnSpc>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、基于公开数据关联的电网拓扑推断（数据驱动）</a:t>
            </a:r>
            <a:endParaRPr lang="en-US" altLang="zh-CN" sz="2400" b="1" dirty="0">
              <a:latin typeface="Times New Roman" panose="02020603050405020304" pitchFamily="18" charset="0"/>
              <a:cs typeface="Times New Roman" panose="02020603050405020304" pitchFamily="18" charset="0"/>
            </a:endParaRPr>
          </a:p>
          <a:p>
            <a:pPr marL="342900" indent="-342900">
              <a:lnSpc>
                <a:spcPct val="150000"/>
              </a:lnSpc>
              <a:spcAft>
                <a:spcPts val="12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利用节点电价、地理信息等数据推断电网拓扑</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、基于电力市场公开数据的电网线路参数推断（机理驱动）</a:t>
            </a:r>
            <a:endParaRPr lang="en-US" altLang="zh-CN"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证明</a:t>
            </a:r>
            <a:r>
              <a:rPr lang="zh-CN" altLang="en-US" sz="2400" dirty="0"/>
              <a:t>可造成线路参数最大程度泄露的最小电价数据集</a:t>
            </a:r>
            <a:endParaRPr lang="en-US" altLang="zh-CN" sz="2400" dirty="0"/>
          </a:p>
          <a:p>
            <a:pPr marL="342900" indent="-342900">
              <a:lnSpc>
                <a:spcPct val="150000"/>
              </a:lnSpc>
              <a:spcAft>
                <a:spcPts val="1200"/>
              </a:spcAft>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构建了广东省电网线路参数的推断测试算例</a:t>
            </a:r>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、基于</a:t>
            </a:r>
            <a:r>
              <a:rPr lang="en-US" altLang="zh-CN" sz="2400" b="1" dirty="0">
                <a:latin typeface="Times New Roman" panose="02020603050405020304" pitchFamily="18" charset="0"/>
                <a:cs typeface="Times New Roman" panose="02020603050405020304" pitchFamily="18" charset="0"/>
              </a:rPr>
              <a:t>L1</a:t>
            </a:r>
            <a:r>
              <a:rPr lang="zh-CN" altLang="en-US" sz="2400" b="1" dirty="0">
                <a:latin typeface="Times New Roman" panose="02020603050405020304" pitchFamily="18" charset="0"/>
                <a:cs typeface="Times New Roman" panose="02020603050405020304" pitchFamily="18" charset="0"/>
              </a:rPr>
              <a:t>门控神经网络的最小推断源变量集合识别</a:t>
            </a:r>
            <a:endParaRPr lang="en-US" altLang="zh-CN"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发现</a:t>
            </a:r>
            <a:r>
              <a:rPr lang="zh-CN" altLang="en-US" sz="2400" dirty="0"/>
              <a:t>表征</a:t>
            </a:r>
            <a:r>
              <a:rPr lang="zh-CN" altLang="en-US" sz="2400" dirty="0">
                <a:latin typeface="Times New Roman" panose="02020603050405020304" pitchFamily="18" charset="0"/>
                <a:cs typeface="Times New Roman" panose="02020603050405020304" pitchFamily="18" charset="0"/>
              </a:rPr>
              <a:t>数据推断关系的最小关联集合</a:t>
            </a:r>
          </a:p>
        </p:txBody>
      </p:sp>
      <p:sp>
        <p:nvSpPr>
          <p:cNvPr id="4" name="TextBox 2">
            <a:extLst>
              <a:ext uri="{FF2B5EF4-FFF2-40B4-BE49-F238E27FC236}">
                <a16:creationId xmlns:a16="http://schemas.microsoft.com/office/drawing/2014/main" id="{296BB23C-6D53-713B-C7E7-35759B6A8A3F}"/>
              </a:ext>
            </a:extLst>
          </p:cNvPr>
          <p:cNvSpPr txBox="1"/>
          <p:nvPr>
            <p:custDataLst>
              <p:tags r:id="rId3"/>
            </p:custDataLst>
          </p:nvPr>
        </p:nvSpPr>
        <p:spPr>
          <a:xfrm>
            <a:off x="777714" y="940740"/>
            <a:ext cx="10849713" cy="1424071"/>
          </a:xfrm>
          <a:prstGeom prst="rect">
            <a:avLst/>
          </a:prstGeom>
          <a:noFill/>
          <a:ln w="12700">
            <a:solidFill>
              <a:schemeClr val="accent1"/>
            </a:solidFill>
            <a:prstDash val="dash"/>
          </a:ln>
        </p:spPr>
        <p:txBody>
          <a:bodyPr wrap="square" lIns="107950" tIns="107950" rIns="107950" bIns="107950" rtlCol="0" anchor="ctr" anchorCtr="0">
            <a:noAutofit/>
          </a:bodyPr>
          <a:lstStyle/>
          <a:p>
            <a:pPr indent="457200" algn="just" fontAlgn="auto">
              <a:lnSpc>
                <a:spcPct val="120000"/>
              </a:lnSpc>
              <a:spcBef>
                <a:spcPts val="0"/>
              </a:spcBef>
              <a:spcAft>
                <a:spcPts val="300"/>
              </a:spcAft>
              <a:buFont typeface="Wingdings" panose="05000000000000000000" charset="0"/>
              <a:buNone/>
            </a:pPr>
            <a:endParaRPr lang="zh-CN" sz="1600" dirty="0">
              <a:latin typeface="微软雅黑" panose="020B0503020204020204" pitchFamily="34" charset="-122"/>
              <a:ea typeface="微软雅黑" panose="020B0503020204020204" pitchFamily="34" charset="-122"/>
              <a:sym typeface="+mn-ea"/>
            </a:endParaRPr>
          </a:p>
        </p:txBody>
      </p:sp>
      <p:sp>
        <p:nvSpPr>
          <p:cNvPr id="5" name="object 11">
            <a:extLst>
              <a:ext uri="{FF2B5EF4-FFF2-40B4-BE49-F238E27FC236}">
                <a16:creationId xmlns:a16="http://schemas.microsoft.com/office/drawing/2014/main" id="{0B248947-CC67-97CA-54AB-66747775F778}"/>
              </a:ext>
            </a:extLst>
          </p:cNvPr>
          <p:cNvSpPr txBox="1"/>
          <p:nvPr>
            <p:custDataLst>
              <p:tags r:id="rId4"/>
            </p:custDataLst>
          </p:nvPr>
        </p:nvSpPr>
        <p:spPr>
          <a:xfrm>
            <a:off x="907731" y="1001144"/>
            <a:ext cx="10604115" cy="1290931"/>
          </a:xfrm>
          <a:prstGeom prst="rect">
            <a:avLst/>
          </a:prstGeom>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indent="457200">
              <a:lnSpc>
                <a:spcPct val="130000"/>
              </a:lnSpc>
            </a:pPr>
            <a:r>
              <a:rPr lang="zh-CN" altLang="en-US" sz="2200" b="1" dirty="0"/>
              <a:t>去年年底至今，</a:t>
            </a:r>
            <a:r>
              <a:rPr lang="zh-CN" altLang="en-US" sz="2200" b="1" dirty="0">
                <a:solidFill>
                  <a:srgbClr val="C00000"/>
                </a:solidFill>
              </a:rPr>
              <a:t>提出了基于公开数据关联的电网拓扑推断</a:t>
            </a:r>
            <a:r>
              <a:rPr lang="zh-CN" altLang="en-US" sz="2200" b="1" dirty="0"/>
              <a:t>和</a:t>
            </a:r>
            <a:r>
              <a:rPr lang="zh-CN" altLang="en-US" sz="2200" b="1" dirty="0">
                <a:solidFill>
                  <a:srgbClr val="C00000"/>
                </a:solidFill>
              </a:rPr>
              <a:t>基于 </a:t>
            </a:r>
            <a:r>
              <a:rPr lang="en-US" altLang="zh-CN" sz="2200" b="1" dirty="0">
                <a:solidFill>
                  <a:srgbClr val="C00000"/>
                </a:solidFill>
              </a:rPr>
              <a:t>L1 </a:t>
            </a:r>
            <a:r>
              <a:rPr lang="zh-CN" altLang="en-US" sz="2200" b="1" dirty="0">
                <a:solidFill>
                  <a:srgbClr val="C00000"/>
                </a:solidFill>
              </a:rPr>
              <a:t>门控神经网络的最小推断源变量集合识别</a:t>
            </a:r>
            <a:r>
              <a:rPr lang="zh-CN" altLang="en-US" sz="2200" b="1" dirty="0"/>
              <a:t>研究，并在既有电力市场公开数据线路参数推断工作的基础上，进一步</a:t>
            </a:r>
            <a:r>
              <a:rPr lang="zh-CN" altLang="en-US" sz="2200" b="1" dirty="0">
                <a:solidFill>
                  <a:srgbClr val="C00000"/>
                </a:solidFill>
              </a:rPr>
              <a:t>完善了最小电价数据集证明及广东省电网测试算例构建。</a:t>
            </a:r>
            <a:endParaRPr lang="en-US" altLang="zh-CN" sz="2200" b="1" dirty="0">
              <a:solidFill>
                <a:srgbClr val="C00000"/>
              </a:solidFill>
            </a:endParaRPr>
          </a:p>
        </p:txBody>
      </p:sp>
    </p:spTree>
    <p:extLst>
      <p:ext uri="{BB962C8B-B14F-4D97-AF65-F5344CB8AC3E}">
        <p14:creationId xmlns:p14="http://schemas.microsoft.com/office/powerpoint/2010/main" val="2439608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9" name="Picture 11" descr="11"/>
          <p:cNvPicPr>
            <a:picLocks noChangeAspect="1" noChangeArrowheads="1"/>
          </p:cNvPicPr>
          <p:nvPr/>
        </p:nvPicPr>
        <p:blipFill>
          <a:blip r:embed="rId18" cstate="email">
            <a:clrChange>
              <a:clrFrom>
                <a:srgbClr val="FFFFFF"/>
              </a:clrFrom>
              <a:clrTo>
                <a:srgbClr val="FFFFFF">
                  <a:alpha val="0"/>
                </a:srgbClr>
              </a:clrTo>
            </a:clrChange>
          </a:blip>
          <a:srcRect/>
          <a:stretch>
            <a:fillRect/>
          </a:stretch>
        </p:blipFill>
        <p:spPr bwMode="auto">
          <a:xfrm>
            <a:off x="2423160" y="2095500"/>
            <a:ext cx="7536815" cy="3631565"/>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组合 59"/>
          <p:cNvGrpSpPr/>
          <p:nvPr>
            <p:custDataLst>
              <p:tags r:id="rId1"/>
            </p:custDataLst>
          </p:nvPr>
        </p:nvGrpSpPr>
        <p:grpSpPr>
          <a:xfrm>
            <a:off x="3851275" y="2272705"/>
            <a:ext cx="4481144" cy="663133"/>
            <a:chOff x="2830" y="9269"/>
            <a:chExt cx="8789" cy="1375"/>
          </a:xfrm>
        </p:grpSpPr>
        <p:sp>
          <p:nvSpPr>
            <p:cNvPr id="56" name="Oval 53"/>
            <p:cNvSpPr>
              <a:spLocks noChangeArrowheads="1"/>
            </p:cNvSpPr>
            <p:nvPr>
              <p:custDataLst>
                <p:tags r:id="rId12"/>
              </p:custDataLst>
            </p:nvPr>
          </p:nvSpPr>
          <p:spPr bwMode="auto">
            <a:xfrm>
              <a:off x="2830" y="9473"/>
              <a:ext cx="1168" cy="1171"/>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latin typeface="Arial" panose="020B0604020202020204" pitchFamily="34" charset="0"/>
                <a:cs typeface="Arial" panose="020B0604020202020204" pitchFamily="34" charset="0"/>
              </a:endParaRPr>
            </a:p>
          </p:txBody>
        </p:sp>
        <p:sp>
          <p:nvSpPr>
            <p:cNvPr id="57" name="Line 548"/>
            <p:cNvSpPr>
              <a:spLocks noChangeShapeType="1"/>
            </p:cNvSpPr>
            <p:nvPr>
              <p:custDataLst>
                <p:tags r:id="rId13"/>
              </p:custDataLst>
            </p:nvPr>
          </p:nvSpPr>
          <p:spPr bwMode="auto">
            <a:xfrm flipH="1">
              <a:off x="4149" y="10073"/>
              <a:ext cx="1300"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58" name="Rectangle 67"/>
            <p:cNvSpPr>
              <a:spLocks noChangeArrowheads="1"/>
            </p:cNvSpPr>
            <p:nvPr>
              <p:custDataLst>
                <p:tags r:id="rId14"/>
              </p:custDataLst>
            </p:nvPr>
          </p:nvSpPr>
          <p:spPr bwMode="auto">
            <a:xfrm>
              <a:off x="3084" y="9593"/>
              <a:ext cx="942"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solidFill>
                    <a:srgbClr val="BFBFBF"/>
                  </a:solidFill>
                  <a:latin typeface="Arial" panose="020B0604020202020204" pitchFamily="34" charset="0"/>
                  <a:ea typeface="方正兰亭大黑_GBK" pitchFamily="2" charset="-122"/>
                  <a:cs typeface="Arial" panose="020B0604020202020204" pitchFamily="34" charset="0"/>
                </a:rPr>
                <a:t>1</a:t>
              </a:r>
            </a:p>
          </p:txBody>
        </p:sp>
        <p:sp>
          <p:nvSpPr>
            <p:cNvPr id="59" name="Rectangle 73"/>
            <p:cNvSpPr>
              <a:spLocks noChangeArrowheads="1"/>
            </p:cNvSpPr>
            <p:nvPr>
              <p:custDataLst>
                <p:tags r:id="rId15"/>
              </p:custDataLst>
            </p:nvPr>
          </p:nvSpPr>
          <p:spPr bwMode="auto">
            <a:xfrm>
              <a:off x="5626" y="9269"/>
              <a:ext cx="5993" cy="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rgbClr val="BFBFBF"/>
                  </a:solidFill>
                  <a:latin typeface="Arial" panose="020B0604020202020204" pitchFamily="34" charset="0"/>
                  <a:ea typeface="微软雅黑" panose="020B0503020204020204" pitchFamily="34" charset="-122"/>
                  <a:cs typeface="Arial" panose="020B0604020202020204" pitchFamily="34" charset="0"/>
                  <a:sym typeface="+mn-ea"/>
                </a:rPr>
                <a:t>指标完成情况</a:t>
              </a:r>
            </a:p>
          </p:txBody>
        </p:sp>
      </p:grpSp>
      <p:grpSp>
        <p:nvGrpSpPr>
          <p:cNvPr id="97" name="组合 96"/>
          <p:cNvGrpSpPr/>
          <p:nvPr>
            <p:custDataLst>
              <p:tags r:id="rId2"/>
            </p:custDataLst>
          </p:nvPr>
        </p:nvGrpSpPr>
        <p:grpSpPr>
          <a:xfrm>
            <a:off x="3851275" y="3104130"/>
            <a:ext cx="4976726" cy="680068"/>
            <a:chOff x="2830" y="9233"/>
            <a:chExt cx="9761" cy="1411"/>
          </a:xfrm>
        </p:grpSpPr>
        <p:sp>
          <p:nvSpPr>
            <p:cNvPr id="98" name="Oval 53"/>
            <p:cNvSpPr>
              <a:spLocks noChangeArrowheads="1"/>
            </p:cNvSpPr>
            <p:nvPr>
              <p:custDataLst>
                <p:tags r:id="rId8"/>
              </p:custDataLst>
            </p:nvPr>
          </p:nvSpPr>
          <p:spPr bwMode="auto">
            <a:xfrm>
              <a:off x="2830" y="9473"/>
              <a:ext cx="1168" cy="1171"/>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latin typeface="Arial" panose="020B0604020202020204" pitchFamily="34" charset="0"/>
                <a:cs typeface="Arial" panose="020B0604020202020204" pitchFamily="34" charset="0"/>
              </a:endParaRPr>
            </a:p>
          </p:txBody>
        </p:sp>
        <p:sp>
          <p:nvSpPr>
            <p:cNvPr id="99" name="Line 548"/>
            <p:cNvSpPr>
              <a:spLocks noChangeShapeType="1"/>
            </p:cNvSpPr>
            <p:nvPr>
              <p:custDataLst>
                <p:tags r:id="rId9"/>
              </p:custDataLst>
            </p:nvPr>
          </p:nvSpPr>
          <p:spPr bwMode="auto">
            <a:xfrm flipH="1">
              <a:off x="4094" y="10074"/>
              <a:ext cx="1355"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100" name="Rectangle 67"/>
            <p:cNvSpPr>
              <a:spLocks noChangeArrowheads="1"/>
            </p:cNvSpPr>
            <p:nvPr>
              <p:custDataLst>
                <p:tags r:id="rId10"/>
              </p:custDataLst>
            </p:nvPr>
          </p:nvSpPr>
          <p:spPr bwMode="auto">
            <a:xfrm>
              <a:off x="3084" y="9593"/>
              <a:ext cx="942"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Arial" panose="020B0604020202020204" pitchFamily="34" charset="0"/>
                  <a:ea typeface="方正兰亭大黑_GBK" pitchFamily="2" charset="-122"/>
                  <a:cs typeface="Arial" panose="020B0604020202020204" pitchFamily="34" charset="0"/>
                </a:rPr>
                <a:t>2</a:t>
              </a:r>
            </a:p>
          </p:txBody>
        </p:sp>
        <p:sp>
          <p:nvSpPr>
            <p:cNvPr id="101" name="Rectangle 73"/>
            <p:cNvSpPr>
              <a:spLocks noChangeArrowheads="1"/>
            </p:cNvSpPr>
            <p:nvPr>
              <p:custDataLst>
                <p:tags r:id="rId11"/>
              </p:custDataLst>
            </p:nvPr>
          </p:nvSpPr>
          <p:spPr bwMode="auto">
            <a:xfrm>
              <a:off x="5626" y="9233"/>
              <a:ext cx="6965" cy="1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latin typeface="Arial" panose="020B0604020202020204" pitchFamily="34" charset="0"/>
                  <a:ea typeface="微软雅黑" panose="020B0503020204020204" pitchFamily="34" charset="-122"/>
                  <a:cs typeface="Arial" panose="020B0604020202020204" pitchFamily="34" charset="0"/>
                  <a:sym typeface="+mn-ea"/>
                </a:rPr>
                <a:t>近期工作内容</a:t>
              </a:r>
            </a:p>
          </p:txBody>
        </p:sp>
      </p:grpSp>
      <p:grpSp>
        <p:nvGrpSpPr>
          <p:cNvPr id="102" name="组合 101"/>
          <p:cNvGrpSpPr/>
          <p:nvPr>
            <p:custDataLst>
              <p:tags r:id="rId3"/>
            </p:custDataLst>
          </p:nvPr>
        </p:nvGrpSpPr>
        <p:grpSpPr>
          <a:xfrm>
            <a:off x="4487578" y="3943812"/>
            <a:ext cx="4488793" cy="581263"/>
            <a:chOff x="4078" y="9215"/>
            <a:chExt cx="8804" cy="1206"/>
          </a:xfrm>
        </p:grpSpPr>
        <p:sp>
          <p:nvSpPr>
            <p:cNvPr id="104" name="Line 548"/>
            <p:cNvSpPr>
              <a:spLocks noChangeShapeType="1"/>
            </p:cNvSpPr>
            <p:nvPr>
              <p:custDataLst>
                <p:tags r:id="rId6"/>
              </p:custDataLst>
            </p:nvPr>
          </p:nvSpPr>
          <p:spPr bwMode="auto">
            <a:xfrm flipH="1">
              <a:off x="4078" y="10073"/>
              <a:ext cx="1371"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106" name="Rectangle 73"/>
            <p:cNvSpPr>
              <a:spLocks noChangeArrowheads="1"/>
            </p:cNvSpPr>
            <p:nvPr>
              <p:custDataLst>
                <p:tags r:id="rId7"/>
              </p:custDataLst>
            </p:nvPr>
          </p:nvSpPr>
          <p:spPr bwMode="auto">
            <a:xfrm>
              <a:off x="5626" y="9215"/>
              <a:ext cx="7256"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chemeClr val="bg1">
                      <a:lumMod val="75000"/>
                    </a:schemeClr>
                  </a:solidFill>
                  <a:latin typeface="Arial" panose="020B0604020202020204" pitchFamily="34" charset="0"/>
                  <a:ea typeface="微软雅黑" panose="020B0503020204020204" pitchFamily="34" charset="-122"/>
                  <a:cs typeface="Arial" panose="020B0604020202020204" pitchFamily="34" charset="0"/>
                  <a:sym typeface="+mn-ea"/>
                </a:rPr>
                <a:t>下一步工作计划</a:t>
              </a:r>
            </a:p>
          </p:txBody>
        </p:sp>
      </p:grpSp>
      <p:sp>
        <p:nvSpPr>
          <p:cNvPr id="3" name="文本框 2"/>
          <p:cNvSpPr txBox="1"/>
          <p:nvPr/>
        </p:nvSpPr>
        <p:spPr>
          <a:xfrm>
            <a:off x="30480" y="37465"/>
            <a:ext cx="8301990" cy="743152"/>
          </a:xfrm>
          <a:prstGeom prst="rect">
            <a:avLst/>
          </a:prstGeom>
          <a:noFill/>
        </p:spPr>
        <p:txBody>
          <a:bodyPr wrap="square" rtlCol="0">
            <a:spAutoFit/>
          </a:bodyPr>
          <a:lstStyle/>
          <a:p>
            <a:pPr>
              <a:lnSpc>
                <a:spcPct val="150000"/>
              </a:lnSpc>
            </a:pPr>
            <a:r>
              <a:rPr lang="zh-CN" altLang="en-US" sz="3200" b="1" dirty="0">
                <a:solidFill>
                  <a:schemeClr val="accent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Arial" panose="020B0604020202020204" pitchFamily="34" charset="0"/>
                <a:sym typeface="+mn-ea"/>
              </a:rPr>
              <a:t>汇报提纲</a:t>
            </a:r>
          </a:p>
        </p:txBody>
      </p:sp>
      <p:sp>
        <p:nvSpPr>
          <p:cNvPr id="2" name="Oval 53"/>
          <p:cNvSpPr>
            <a:spLocks noChangeArrowheads="1"/>
          </p:cNvSpPr>
          <p:nvPr>
            <p:custDataLst>
              <p:tags r:id="rId4"/>
            </p:custDataLst>
          </p:nvPr>
        </p:nvSpPr>
        <p:spPr bwMode="auto">
          <a:xfrm>
            <a:off x="3851428" y="4075149"/>
            <a:ext cx="595514" cy="564394"/>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dirty="0">
              <a:latin typeface="Arial" panose="020B0604020202020204" pitchFamily="34" charset="0"/>
              <a:cs typeface="Arial" panose="020B0604020202020204" pitchFamily="34" charset="0"/>
            </a:endParaRPr>
          </a:p>
        </p:txBody>
      </p:sp>
      <p:sp>
        <p:nvSpPr>
          <p:cNvPr id="4" name="Rectangle 67"/>
          <p:cNvSpPr>
            <a:spLocks noChangeArrowheads="1"/>
          </p:cNvSpPr>
          <p:nvPr>
            <p:custDataLst>
              <p:tags r:id="rId5"/>
            </p:custDataLst>
          </p:nvPr>
        </p:nvSpPr>
        <p:spPr bwMode="auto">
          <a:xfrm>
            <a:off x="3909042" y="4157956"/>
            <a:ext cx="480286"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dirty="0">
                <a:solidFill>
                  <a:schemeClr val="bg1">
                    <a:lumMod val="75000"/>
                  </a:schemeClr>
                </a:solidFill>
                <a:latin typeface="Arial" panose="020B0604020202020204" pitchFamily="34" charset="0"/>
                <a:ea typeface="方正兰亭大黑_GBK" pitchFamily="2" charset="-122"/>
                <a:cs typeface="Arial" panose="020B0604020202020204" pitchFamily="34" charset="0"/>
              </a:rPr>
              <a:t>3</a:t>
            </a:r>
          </a:p>
        </p:txBody>
      </p:sp>
    </p:spTree>
    <p:extLst>
      <p:ext uri="{BB962C8B-B14F-4D97-AF65-F5344CB8AC3E}">
        <p14:creationId xmlns:p14="http://schemas.microsoft.com/office/powerpoint/2010/main" val="2170577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93161-0734-7BFE-965C-95A8658E5E36}"/>
            </a:ext>
          </a:extLst>
        </p:cNvPr>
        <p:cNvGrpSpPr/>
        <p:nvPr/>
      </p:nvGrpSpPr>
      <p:grpSpPr>
        <a:xfrm>
          <a:off x="0" y="0"/>
          <a:ext cx="0" cy="0"/>
          <a:chOff x="0" y="0"/>
          <a:chExt cx="0" cy="0"/>
        </a:xfrm>
      </p:grpSpPr>
      <p:sp>
        <p:nvSpPr>
          <p:cNvPr id="10" name="TextBox 8">
            <a:extLst>
              <a:ext uri="{FF2B5EF4-FFF2-40B4-BE49-F238E27FC236}">
                <a16:creationId xmlns:a16="http://schemas.microsoft.com/office/drawing/2014/main" id="{739BC7A2-9742-4D55-4223-CDF8C2A4958B}"/>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文本框 39">
            <a:extLst>
              <a:ext uri="{FF2B5EF4-FFF2-40B4-BE49-F238E27FC236}">
                <a16:creationId xmlns:a16="http://schemas.microsoft.com/office/drawing/2014/main" id="{BEA9AB60-20E1-CFC3-9730-770BA41168A0}"/>
              </a:ext>
            </a:extLst>
          </p:cNvPr>
          <p:cNvSpPr txBox="1"/>
          <p:nvPr/>
        </p:nvSpPr>
        <p:spPr>
          <a:xfrm>
            <a:off x="798783" y="1521192"/>
            <a:ext cx="10594434" cy="830997"/>
          </a:xfrm>
          <a:prstGeom prst="rect">
            <a:avLst/>
          </a:prstGeom>
          <a:noFill/>
        </p:spPr>
        <p:txBody>
          <a:bodyPr wrap="square">
            <a:spAutoFit/>
          </a:bodyPr>
          <a:lstStyle/>
          <a:p>
            <a:r>
              <a:rPr kumimoji="1" lang="zh-CN" altLang="en-US" sz="2400" dirty="0">
                <a:solidFill>
                  <a:prstClr val="black"/>
                </a:solidFill>
                <a:latin typeface="微软雅黑" panose="020B0503020204020204" pitchFamily="34" charset="-122"/>
                <a:ea typeface="微软雅黑" panose="020B0503020204020204" pitchFamily="34" charset="-122"/>
                <a:cs typeface="+mn-ea"/>
              </a:rPr>
              <a:t>利用节点电价、地理信息等</a:t>
            </a:r>
            <a:r>
              <a:rPr kumimoji="1" lang="zh-CN" altLang="zh-CN" sz="2400" dirty="0">
                <a:solidFill>
                  <a:prstClr val="black"/>
                </a:solidFill>
                <a:latin typeface="微软雅黑" panose="020B0503020204020204" pitchFamily="34" charset="-122"/>
                <a:ea typeface="微软雅黑" panose="020B0503020204020204" pitchFamily="34" charset="-122"/>
                <a:cs typeface="+mn-ea"/>
              </a:rPr>
              <a:t>公开数据，</a:t>
            </a:r>
            <a:r>
              <a:rPr kumimoji="1" lang="zh-CN" altLang="en-US" sz="2400" dirty="0">
                <a:solidFill>
                  <a:prstClr val="black"/>
                </a:solidFill>
                <a:latin typeface="微软雅黑" panose="020B0503020204020204" pitchFamily="34" charset="-122"/>
                <a:ea typeface="微软雅黑" panose="020B0503020204020204" pitchFamily="34" charset="-122"/>
                <a:cs typeface="+mn-ea"/>
              </a:rPr>
              <a:t>以</a:t>
            </a:r>
            <a:r>
              <a:rPr kumimoji="1" lang="zh-CN" altLang="zh-CN" sz="2400" dirty="0">
                <a:solidFill>
                  <a:prstClr val="black"/>
                </a:solidFill>
                <a:latin typeface="微软雅黑" panose="020B0503020204020204" pitchFamily="34" charset="-122"/>
                <a:ea typeface="微软雅黑" panose="020B0503020204020204" pitchFamily="34" charset="-122"/>
                <a:cs typeface="+mn-ea"/>
              </a:rPr>
              <a:t>电网拓扑</a:t>
            </a:r>
            <a:r>
              <a:rPr kumimoji="1" lang="zh-CN" altLang="en-US" sz="2400" dirty="0">
                <a:solidFill>
                  <a:prstClr val="black"/>
                </a:solidFill>
                <a:latin typeface="微软雅黑" panose="020B0503020204020204" pitchFamily="34" charset="-122"/>
                <a:ea typeface="微软雅黑" panose="020B0503020204020204" pitchFamily="34" charset="-122"/>
                <a:cs typeface="+mn-ea"/>
              </a:rPr>
              <a:t>作为对象，</a:t>
            </a:r>
            <a:r>
              <a:rPr kumimoji="1" lang="zh-CN" altLang="en-US" sz="2400" b="1" dirty="0">
                <a:solidFill>
                  <a:prstClr val="black"/>
                </a:solidFill>
                <a:latin typeface="微软雅黑" panose="020B0503020204020204" pitchFamily="34" charset="-122"/>
                <a:ea typeface="微软雅黑" panose="020B0503020204020204" pitchFamily="34" charset="-122"/>
                <a:cs typeface="+mn-ea"/>
              </a:rPr>
              <a:t>基于图注意力网络（</a:t>
            </a:r>
            <a:r>
              <a:rPr kumimoji="1" lang="en-US" altLang="zh-CN" sz="2400" b="1" dirty="0">
                <a:solidFill>
                  <a:prstClr val="black"/>
                </a:solidFill>
                <a:latin typeface="微软雅黑" panose="020B0503020204020204" pitchFamily="34" charset="-122"/>
                <a:ea typeface="微软雅黑" panose="020B0503020204020204" pitchFamily="34" charset="-122"/>
                <a:cs typeface="+mn-ea"/>
              </a:rPr>
              <a:t>GAT</a:t>
            </a:r>
            <a:r>
              <a:rPr kumimoji="1" lang="zh-CN" altLang="en-US" sz="2400" b="1" dirty="0">
                <a:solidFill>
                  <a:prstClr val="black"/>
                </a:solidFill>
                <a:latin typeface="微软雅黑" panose="020B0503020204020204" pitchFamily="34" charset="-122"/>
                <a:ea typeface="微软雅黑" panose="020B0503020204020204" pitchFamily="34" charset="-122"/>
                <a:cs typeface="+mn-ea"/>
              </a:rPr>
              <a:t>）构建电网拓扑推断模型</a:t>
            </a:r>
            <a:r>
              <a:rPr kumimoji="1" lang="zh-CN" altLang="en-US" sz="2400" dirty="0">
                <a:solidFill>
                  <a:prstClr val="black"/>
                </a:solidFill>
                <a:latin typeface="微软雅黑" panose="020B0503020204020204" pitchFamily="34" charset="-122"/>
                <a:ea typeface="微软雅黑" panose="020B0503020204020204" pitchFamily="34" charset="-122"/>
                <a:cs typeface="+mn-ea"/>
              </a:rPr>
              <a:t>，分析</a:t>
            </a:r>
            <a:r>
              <a:rPr kumimoji="1" lang="zh-CN" altLang="en-US" sz="2400" dirty="0">
                <a:solidFill>
                  <a:prstClr val="black"/>
                </a:solidFill>
                <a:latin typeface="微软雅黑" panose="020B0503020204020204" pitchFamily="34" charset="-122"/>
                <a:ea typeface="微软雅黑" panose="020B0503020204020204" pitchFamily="34" charset="-122"/>
                <a:cs typeface="+mn-ea"/>
                <a:sym typeface="+mn-lt"/>
              </a:rPr>
              <a:t>电网拓扑敏感数据</a:t>
            </a:r>
            <a:r>
              <a:rPr kumimoji="1" lang="zh-CN" altLang="zh-CN" sz="2400" dirty="0">
                <a:solidFill>
                  <a:prstClr val="black"/>
                </a:solidFill>
                <a:latin typeface="微软雅黑" panose="020B0503020204020204" pitchFamily="34" charset="-122"/>
                <a:ea typeface="微软雅黑" panose="020B0503020204020204" pitchFamily="34" charset="-122"/>
                <a:cs typeface="+mn-ea"/>
              </a:rPr>
              <a:t>泄露威胁</a:t>
            </a:r>
            <a:r>
              <a:rPr kumimoji="1" lang="zh-CN" altLang="en-US" sz="2400" dirty="0">
                <a:solidFill>
                  <a:prstClr val="black"/>
                </a:solidFill>
                <a:latin typeface="微软雅黑" panose="020B0503020204020204" pitchFamily="34" charset="-122"/>
                <a:ea typeface="微软雅黑" panose="020B0503020204020204" pitchFamily="34" charset="-122"/>
                <a:cs typeface="+mn-ea"/>
              </a:rPr>
              <a:t>。</a:t>
            </a:r>
            <a:endParaRPr kumimoji="1" lang="en-US" altLang="zh-CN" sz="2400"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76" name="文本框 75">
            <a:extLst>
              <a:ext uri="{FF2B5EF4-FFF2-40B4-BE49-F238E27FC236}">
                <a16:creationId xmlns:a16="http://schemas.microsoft.com/office/drawing/2014/main" id="{718CC13C-C98B-A596-D6C8-D553CF243007}"/>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研究框架</a:t>
            </a:r>
          </a:p>
        </p:txBody>
      </p:sp>
      <p:pic>
        <p:nvPicPr>
          <p:cNvPr id="2" name="图片 1">
            <a:extLst>
              <a:ext uri="{FF2B5EF4-FFF2-40B4-BE49-F238E27FC236}">
                <a16:creationId xmlns:a16="http://schemas.microsoft.com/office/drawing/2014/main" id="{761E9E77-06E8-3705-DA44-1CDC7F772860}"/>
              </a:ext>
            </a:extLst>
          </p:cNvPr>
          <p:cNvPicPr>
            <a:picLocks noChangeAspect="1"/>
          </p:cNvPicPr>
          <p:nvPr/>
        </p:nvPicPr>
        <p:blipFill>
          <a:blip r:embed="rId4"/>
          <a:stretch>
            <a:fillRect/>
          </a:stretch>
        </p:blipFill>
        <p:spPr>
          <a:xfrm>
            <a:off x="1017818" y="2946952"/>
            <a:ext cx="964096" cy="964096"/>
          </a:xfrm>
          <a:prstGeom prst="rect">
            <a:avLst/>
          </a:prstGeom>
        </p:spPr>
      </p:pic>
      <p:sp>
        <p:nvSpPr>
          <p:cNvPr id="3" name="文本框 2">
            <a:extLst>
              <a:ext uri="{FF2B5EF4-FFF2-40B4-BE49-F238E27FC236}">
                <a16:creationId xmlns:a16="http://schemas.microsoft.com/office/drawing/2014/main" id="{ABACB164-62C4-1937-7354-5D72B74F8964}"/>
              </a:ext>
            </a:extLst>
          </p:cNvPr>
          <p:cNvSpPr txBox="1"/>
          <p:nvPr/>
        </p:nvSpPr>
        <p:spPr>
          <a:xfrm>
            <a:off x="2034209" y="3089328"/>
            <a:ext cx="1226540"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节点电价</a:t>
            </a:r>
          </a:p>
        </p:txBody>
      </p:sp>
      <p:pic>
        <p:nvPicPr>
          <p:cNvPr id="4" name="图片 3">
            <a:extLst>
              <a:ext uri="{FF2B5EF4-FFF2-40B4-BE49-F238E27FC236}">
                <a16:creationId xmlns:a16="http://schemas.microsoft.com/office/drawing/2014/main" id="{7CDA3FDF-5BF2-4008-54EC-9BF03C461A42}"/>
              </a:ext>
            </a:extLst>
          </p:cNvPr>
          <p:cNvPicPr>
            <a:picLocks noChangeAspect="1"/>
          </p:cNvPicPr>
          <p:nvPr/>
        </p:nvPicPr>
        <p:blipFill>
          <a:blip r:embed="rId5"/>
          <a:stretch>
            <a:fillRect/>
          </a:stretch>
        </p:blipFill>
        <p:spPr>
          <a:xfrm>
            <a:off x="1017818" y="3998843"/>
            <a:ext cx="788433" cy="788433"/>
          </a:xfrm>
          <a:prstGeom prst="rect">
            <a:avLst/>
          </a:prstGeom>
        </p:spPr>
      </p:pic>
      <p:pic>
        <p:nvPicPr>
          <p:cNvPr id="5" name="图片 4">
            <a:extLst>
              <a:ext uri="{FF2B5EF4-FFF2-40B4-BE49-F238E27FC236}">
                <a16:creationId xmlns:a16="http://schemas.microsoft.com/office/drawing/2014/main" id="{C2A4D6E3-0FC6-D464-E01C-12CCC2D6A5EC}"/>
              </a:ext>
            </a:extLst>
          </p:cNvPr>
          <p:cNvPicPr>
            <a:picLocks noChangeAspect="1"/>
          </p:cNvPicPr>
          <p:nvPr/>
        </p:nvPicPr>
        <p:blipFill>
          <a:blip r:embed="rId6"/>
          <a:stretch>
            <a:fillRect/>
          </a:stretch>
        </p:blipFill>
        <p:spPr>
          <a:xfrm>
            <a:off x="1151996" y="5133042"/>
            <a:ext cx="695739" cy="695739"/>
          </a:xfrm>
          <a:prstGeom prst="rect">
            <a:avLst/>
          </a:prstGeom>
        </p:spPr>
      </p:pic>
      <p:sp>
        <p:nvSpPr>
          <p:cNvPr id="6" name="文本框 5">
            <a:extLst>
              <a:ext uri="{FF2B5EF4-FFF2-40B4-BE49-F238E27FC236}">
                <a16:creationId xmlns:a16="http://schemas.microsoft.com/office/drawing/2014/main" id="{E153D8F7-DD26-47AA-AC56-24D76F1B2740}"/>
              </a:ext>
            </a:extLst>
          </p:cNvPr>
          <p:cNvSpPr txBox="1"/>
          <p:nvPr/>
        </p:nvSpPr>
        <p:spPr>
          <a:xfrm>
            <a:off x="2034209" y="4128424"/>
            <a:ext cx="1226540"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地理信息</a:t>
            </a:r>
          </a:p>
        </p:txBody>
      </p:sp>
      <p:sp>
        <p:nvSpPr>
          <p:cNvPr id="7" name="文本框 6">
            <a:extLst>
              <a:ext uri="{FF2B5EF4-FFF2-40B4-BE49-F238E27FC236}">
                <a16:creationId xmlns:a16="http://schemas.microsoft.com/office/drawing/2014/main" id="{7FA76AE2-AFDF-B02A-90C8-60CFA17BBFB0}"/>
              </a:ext>
            </a:extLst>
          </p:cNvPr>
          <p:cNvSpPr txBox="1"/>
          <p:nvPr/>
        </p:nvSpPr>
        <p:spPr>
          <a:xfrm>
            <a:off x="2034209" y="5167520"/>
            <a:ext cx="1226540" cy="707886"/>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线路连接关系</a:t>
            </a:r>
          </a:p>
        </p:txBody>
      </p:sp>
      <p:sp>
        <p:nvSpPr>
          <p:cNvPr id="8" name="矩形: 圆角 7">
            <a:extLst>
              <a:ext uri="{FF2B5EF4-FFF2-40B4-BE49-F238E27FC236}">
                <a16:creationId xmlns:a16="http://schemas.microsoft.com/office/drawing/2014/main" id="{61A88149-2D41-D8D5-6BF7-DA2AB724B4E4}"/>
              </a:ext>
            </a:extLst>
          </p:cNvPr>
          <p:cNvSpPr/>
          <p:nvPr/>
        </p:nvSpPr>
        <p:spPr>
          <a:xfrm>
            <a:off x="742121" y="2759838"/>
            <a:ext cx="2683565" cy="349194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5E92C3CB-03EE-C755-0E8D-D7D504825A1E}"/>
              </a:ext>
            </a:extLst>
          </p:cNvPr>
          <p:cNvSpPr/>
          <p:nvPr/>
        </p:nvSpPr>
        <p:spPr>
          <a:xfrm>
            <a:off x="3624656" y="5565939"/>
            <a:ext cx="673191" cy="36765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A7D885A-317C-2AE6-931E-3105EE58C0B1}"/>
              </a:ext>
            </a:extLst>
          </p:cNvPr>
          <p:cNvSpPr txBox="1"/>
          <p:nvPr/>
        </p:nvSpPr>
        <p:spPr>
          <a:xfrm>
            <a:off x="3347981" y="5032792"/>
            <a:ext cx="1226540"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输入</a:t>
            </a:r>
          </a:p>
        </p:txBody>
      </p:sp>
      <p:sp>
        <p:nvSpPr>
          <p:cNvPr id="12" name="矩形: 圆角 11">
            <a:extLst>
              <a:ext uri="{FF2B5EF4-FFF2-40B4-BE49-F238E27FC236}">
                <a16:creationId xmlns:a16="http://schemas.microsoft.com/office/drawing/2014/main" id="{E9D69642-3B37-546F-5DCE-01036ABED25C}"/>
              </a:ext>
            </a:extLst>
          </p:cNvPr>
          <p:cNvSpPr/>
          <p:nvPr/>
        </p:nvSpPr>
        <p:spPr>
          <a:xfrm>
            <a:off x="4548018" y="4194313"/>
            <a:ext cx="2878139" cy="20574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873E1349-0271-25A0-0778-2F87D36C04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83642" y="4393059"/>
            <a:ext cx="2406890" cy="962756"/>
          </a:xfrm>
          <a:prstGeom prst="rect">
            <a:avLst/>
          </a:prstGeom>
          <a:noFill/>
          <a:extLst>
            <a:ext uri="{909E8E84-426E-40DD-AFC4-6F175D3DCCD1}">
              <a14:hiddenFill xmlns:a14="http://schemas.microsoft.com/office/drawing/2010/main">
                <a:solidFill>
                  <a:srgbClr val="FFFFFF"/>
                </a:solidFill>
              </a14:hiddenFill>
            </a:ext>
          </a:extLst>
        </p:spPr>
      </p:pic>
      <p:sp>
        <p:nvSpPr>
          <p:cNvPr id="13" name="箭头: 右 12">
            <a:extLst>
              <a:ext uri="{FF2B5EF4-FFF2-40B4-BE49-F238E27FC236}">
                <a16:creationId xmlns:a16="http://schemas.microsoft.com/office/drawing/2014/main" id="{88DFD609-B713-1A9F-9FA4-35823A3ADCF6}"/>
              </a:ext>
            </a:extLst>
          </p:cNvPr>
          <p:cNvSpPr/>
          <p:nvPr/>
        </p:nvSpPr>
        <p:spPr>
          <a:xfrm>
            <a:off x="7676328" y="5565939"/>
            <a:ext cx="673191" cy="36765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1027" name="图片 95">
            <a:extLst>
              <a:ext uri="{FF2B5EF4-FFF2-40B4-BE49-F238E27FC236}">
                <a16:creationId xmlns:a16="http://schemas.microsoft.com/office/drawing/2014/main" id="{39FBA512-02AC-AC6C-D984-21EEED1CFAE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84562" y="3017709"/>
            <a:ext cx="3497943" cy="23190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27AE369D-1C0C-E423-453C-E0C7352C2AEE}"/>
              </a:ext>
            </a:extLst>
          </p:cNvPr>
          <p:cNvSpPr txBox="1"/>
          <p:nvPr/>
        </p:nvSpPr>
        <p:spPr>
          <a:xfrm>
            <a:off x="8934087" y="5565939"/>
            <a:ext cx="2598891"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电网拓扑推断结果</a:t>
            </a:r>
          </a:p>
        </p:txBody>
      </p:sp>
      <p:sp>
        <p:nvSpPr>
          <p:cNvPr id="17" name="文本框 16">
            <a:extLst>
              <a:ext uri="{FF2B5EF4-FFF2-40B4-BE49-F238E27FC236}">
                <a16:creationId xmlns:a16="http://schemas.microsoft.com/office/drawing/2014/main" id="{07341524-FF92-3000-A864-EAA0248B2DB6}"/>
              </a:ext>
            </a:extLst>
          </p:cNvPr>
          <p:cNvSpPr txBox="1"/>
          <p:nvPr/>
        </p:nvSpPr>
        <p:spPr>
          <a:xfrm>
            <a:off x="4741069" y="5521463"/>
            <a:ext cx="2598891"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电网拓扑推断模型</a:t>
            </a:r>
          </a:p>
        </p:txBody>
      </p:sp>
      <p:cxnSp>
        <p:nvCxnSpPr>
          <p:cNvPr id="19" name="直接箭头连接符 18">
            <a:extLst>
              <a:ext uri="{FF2B5EF4-FFF2-40B4-BE49-F238E27FC236}">
                <a16:creationId xmlns:a16="http://schemas.microsoft.com/office/drawing/2014/main" id="{586B2B95-6AE5-E4E9-4183-194626A929BE}"/>
              </a:ext>
            </a:extLst>
          </p:cNvPr>
          <p:cNvCxnSpPr>
            <a:cxnSpLocks/>
          </p:cNvCxnSpPr>
          <p:nvPr/>
        </p:nvCxnSpPr>
        <p:spPr>
          <a:xfrm>
            <a:off x="5151887" y="3811655"/>
            <a:ext cx="0" cy="3142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36AFA86-99B3-842F-FBC7-3A788E294A3D}"/>
              </a:ext>
            </a:extLst>
          </p:cNvPr>
          <p:cNvCxnSpPr>
            <a:cxnSpLocks/>
          </p:cNvCxnSpPr>
          <p:nvPr/>
        </p:nvCxnSpPr>
        <p:spPr>
          <a:xfrm>
            <a:off x="6815035" y="3806687"/>
            <a:ext cx="0" cy="3142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5B149D3-3FA3-872C-11B8-98207E9A12DA}"/>
              </a:ext>
            </a:extLst>
          </p:cNvPr>
          <p:cNvSpPr txBox="1"/>
          <p:nvPr/>
        </p:nvSpPr>
        <p:spPr>
          <a:xfrm>
            <a:off x="4205866" y="3407288"/>
            <a:ext cx="1879286"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电价经济约束</a:t>
            </a:r>
          </a:p>
        </p:txBody>
      </p:sp>
      <p:sp>
        <p:nvSpPr>
          <p:cNvPr id="23" name="文本框 22">
            <a:extLst>
              <a:ext uri="{FF2B5EF4-FFF2-40B4-BE49-F238E27FC236}">
                <a16:creationId xmlns:a16="http://schemas.microsoft.com/office/drawing/2014/main" id="{35160851-DCE6-A20C-7DD2-E2C93C553637}"/>
              </a:ext>
            </a:extLst>
          </p:cNvPr>
          <p:cNvSpPr txBox="1"/>
          <p:nvPr/>
        </p:nvSpPr>
        <p:spPr>
          <a:xfrm>
            <a:off x="5913972" y="3406577"/>
            <a:ext cx="1879286" cy="400110"/>
          </a:xfrm>
          <a:prstGeom prst="rect">
            <a:avLst/>
          </a:prstGeom>
          <a:no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线路地理约束</a:t>
            </a:r>
          </a:p>
        </p:txBody>
      </p:sp>
      <p:pic>
        <p:nvPicPr>
          <p:cNvPr id="24" name="图片 23">
            <a:extLst>
              <a:ext uri="{FF2B5EF4-FFF2-40B4-BE49-F238E27FC236}">
                <a16:creationId xmlns:a16="http://schemas.microsoft.com/office/drawing/2014/main" id="{14D51123-F37A-E0E3-EAA1-E0ABB6F43EB5}"/>
              </a:ext>
            </a:extLst>
          </p:cNvPr>
          <p:cNvPicPr>
            <a:picLocks noChangeAspect="1"/>
          </p:cNvPicPr>
          <p:nvPr/>
        </p:nvPicPr>
        <p:blipFill>
          <a:blip r:embed="rId9"/>
          <a:stretch>
            <a:fillRect/>
          </a:stretch>
        </p:blipFill>
        <p:spPr>
          <a:xfrm>
            <a:off x="6373607" y="2576050"/>
            <a:ext cx="889236" cy="889236"/>
          </a:xfrm>
          <a:prstGeom prst="rect">
            <a:avLst/>
          </a:prstGeom>
        </p:spPr>
      </p:pic>
      <p:pic>
        <p:nvPicPr>
          <p:cNvPr id="25" name="图片 24">
            <a:extLst>
              <a:ext uri="{FF2B5EF4-FFF2-40B4-BE49-F238E27FC236}">
                <a16:creationId xmlns:a16="http://schemas.microsoft.com/office/drawing/2014/main" id="{01DB8BAF-712D-65D4-3164-6A16F6D2E9AF}"/>
              </a:ext>
            </a:extLst>
          </p:cNvPr>
          <p:cNvPicPr>
            <a:picLocks noChangeAspect="1"/>
          </p:cNvPicPr>
          <p:nvPr/>
        </p:nvPicPr>
        <p:blipFill>
          <a:blip r:embed="rId10"/>
          <a:stretch>
            <a:fillRect/>
          </a:stretch>
        </p:blipFill>
        <p:spPr>
          <a:xfrm>
            <a:off x="4616811" y="2591406"/>
            <a:ext cx="984640" cy="984640"/>
          </a:xfrm>
          <a:prstGeom prst="rect">
            <a:avLst/>
          </a:prstGeom>
        </p:spPr>
      </p:pic>
    </p:spTree>
    <p:extLst>
      <p:ext uri="{BB962C8B-B14F-4D97-AF65-F5344CB8AC3E}">
        <p14:creationId xmlns:p14="http://schemas.microsoft.com/office/powerpoint/2010/main" val="1837418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a:extLst>
              <a:ext uri="{FF2B5EF4-FFF2-40B4-BE49-F238E27FC236}">
                <a16:creationId xmlns:a16="http://schemas.microsoft.com/office/drawing/2014/main" id="{D5104001-97D7-474A-97BE-13238DE20143}"/>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电网</a:t>
            </a:r>
            <a:r>
              <a:rPr lang="zh-CN" altLang="zh-CN" sz="2600" b="1" dirty="0">
                <a:latin typeface="微软雅黑" panose="020B0503020204020204" pitchFamily="34" charset="-122"/>
                <a:ea typeface="微软雅黑" panose="020B0503020204020204" pitchFamily="34" charset="-122"/>
              </a:rPr>
              <a:t>拓扑</a:t>
            </a:r>
            <a:r>
              <a:rPr lang="zh-CN" altLang="en-US" sz="2600" b="1" dirty="0">
                <a:latin typeface="微软雅黑" panose="020B0503020204020204" pitchFamily="34" charset="-122"/>
                <a:ea typeface="微软雅黑" panose="020B0503020204020204" pitchFamily="34" charset="-122"/>
              </a:rPr>
              <a:t>特征</a:t>
            </a:r>
          </a:p>
        </p:txBody>
      </p:sp>
      <p:sp>
        <p:nvSpPr>
          <p:cNvPr id="101" name="TextBox 8">
            <a:extLst>
              <a:ext uri="{FF2B5EF4-FFF2-40B4-BE49-F238E27FC236}">
                <a16:creationId xmlns:a16="http://schemas.microsoft.com/office/drawing/2014/main" id="{81A9B6DD-B1D4-4BCB-A409-D935A4387957}"/>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050" name="图片 44">
            <a:extLst>
              <a:ext uri="{FF2B5EF4-FFF2-40B4-BE49-F238E27FC236}">
                <a16:creationId xmlns:a16="http://schemas.microsoft.com/office/drawing/2014/main" id="{610970D7-B73B-E0FE-31F5-63406B120AE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158" y="3893963"/>
            <a:ext cx="5986050" cy="1934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02FBE833-D547-ACC3-8742-3A1168712F29}"/>
              </a:ext>
            </a:extLst>
          </p:cNvPr>
          <p:cNvSpPr/>
          <p:nvPr/>
        </p:nvSpPr>
        <p:spPr>
          <a:xfrm>
            <a:off x="1765509" y="5828781"/>
            <a:ext cx="3294896" cy="369332"/>
          </a:xfrm>
          <a:prstGeom prst="rect">
            <a:avLst/>
          </a:prstGeom>
        </p:spPr>
        <p:txBody>
          <a:bodyPr wrap="square">
            <a:spAutoFit/>
          </a:bodyPr>
          <a:lstStyle/>
          <a:p>
            <a:pPr algn="ctr"/>
            <a:r>
              <a:rPr kumimoji="1" lang="zh-CN" altLang="en-US" b="1" dirty="0">
                <a:latin typeface="微软雅黑" panose="020B0503020204020204" pitchFamily="34" charset="-122"/>
                <a:ea typeface="微软雅黑" panose="020B0503020204020204" pitchFamily="34" charset="-122"/>
              </a:rPr>
              <a:t>电网的</a:t>
            </a:r>
            <a:r>
              <a:rPr kumimoji="1" lang="zh-CN" altLang="zh-CN" b="1" dirty="0">
                <a:latin typeface="微软雅黑" panose="020B0503020204020204" pitchFamily="34" charset="-122"/>
                <a:ea typeface="微软雅黑" panose="020B0503020204020204" pitchFamily="34" charset="-122"/>
              </a:rPr>
              <a:t>公开数据</a:t>
            </a:r>
            <a:r>
              <a:rPr kumimoji="1" lang="en-US" altLang="zh-CN" b="1" dirty="0">
                <a:latin typeface="微软雅黑" panose="020B0503020204020204" pitchFamily="34" charset="-122"/>
                <a:ea typeface="微软雅黑" panose="020B0503020204020204" pitchFamily="34" charset="-122"/>
              </a:rPr>
              <a:t>-</a:t>
            </a:r>
            <a:r>
              <a:rPr kumimoji="1" lang="zh-CN" altLang="zh-CN" b="1" dirty="0">
                <a:latin typeface="微软雅黑" panose="020B0503020204020204" pitchFamily="34" charset="-122"/>
                <a:ea typeface="微软雅黑" panose="020B0503020204020204" pitchFamily="34" charset="-122"/>
              </a:rPr>
              <a:t>拓扑关联路径</a:t>
            </a:r>
            <a:endParaRPr kumimoji="1" lang="zh-CN" altLang="en-US" b="1" dirty="0">
              <a:latin typeface="微软雅黑" panose="020B0503020204020204" pitchFamily="34" charset="-122"/>
              <a:ea typeface="微软雅黑" panose="020B0503020204020204" pitchFamily="34" charset="-122"/>
            </a:endParaRPr>
          </a:p>
        </p:txBody>
      </p:sp>
      <p:pic>
        <p:nvPicPr>
          <p:cNvPr id="2052" name="Picture 4">
            <a:extLst>
              <a:ext uri="{FF2B5EF4-FFF2-40B4-BE49-F238E27FC236}">
                <a16:creationId xmlns:a16="http://schemas.microsoft.com/office/drawing/2014/main" id="{6271AC77-FBC1-040F-49AE-0CDACED91A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4975" y="1029219"/>
            <a:ext cx="3471425" cy="463285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A4C6440C-43CD-BB93-BC5E-7DD2D8CF8142}"/>
              </a:ext>
            </a:extLst>
          </p:cNvPr>
          <p:cNvSpPr/>
          <p:nvPr/>
        </p:nvSpPr>
        <p:spPr>
          <a:xfrm>
            <a:off x="7663239" y="5828781"/>
            <a:ext cx="3294896" cy="369332"/>
          </a:xfrm>
          <a:prstGeom prst="rect">
            <a:avLst/>
          </a:prstGeom>
        </p:spPr>
        <p:txBody>
          <a:bodyPr wrap="square">
            <a:spAutoFit/>
          </a:bodyPr>
          <a:lstStyle/>
          <a:p>
            <a:pPr algn="ctr"/>
            <a:r>
              <a:rPr kumimoji="1" lang="zh-CN" altLang="en-US" b="1" dirty="0">
                <a:latin typeface="微软雅黑" panose="020B0503020204020204" pitchFamily="34" charset="-122"/>
                <a:ea typeface="微软雅黑" panose="020B0503020204020204" pitchFamily="34" charset="-122"/>
              </a:rPr>
              <a:t>电网线路设计规范标准</a:t>
            </a:r>
          </a:p>
        </p:txBody>
      </p:sp>
      <p:sp>
        <p:nvSpPr>
          <p:cNvPr id="7" name="文本框 6">
            <a:extLst>
              <a:ext uri="{FF2B5EF4-FFF2-40B4-BE49-F238E27FC236}">
                <a16:creationId xmlns:a16="http://schemas.microsoft.com/office/drawing/2014/main" id="{714D4E79-7317-59B5-53C7-C05DC0DE4543}"/>
              </a:ext>
            </a:extLst>
          </p:cNvPr>
          <p:cNvSpPr txBox="1"/>
          <p:nvPr/>
        </p:nvSpPr>
        <p:spPr>
          <a:xfrm>
            <a:off x="384197" y="1521662"/>
            <a:ext cx="7043646" cy="2372301"/>
          </a:xfrm>
          <a:prstGeom prst="rect">
            <a:avLst/>
          </a:prstGeom>
          <a:noFill/>
        </p:spPr>
        <p:txBody>
          <a:bodyPr wrap="square">
            <a:noAutofit/>
          </a:bodyPr>
          <a:lstStyle/>
          <a:p>
            <a:pPr>
              <a:lnSpc>
                <a:spcPct val="150000"/>
              </a:lnSpc>
            </a:pPr>
            <a:r>
              <a:rPr lang="zh-CN" altLang="en-US" sz="2400" dirty="0">
                <a:latin typeface="Arial" panose="020B0604020202020204" pitchFamily="34" charset="0"/>
                <a:ea typeface="微软雅黑" panose="020B0503020204020204" pitchFamily="34" charset="-122"/>
                <a:cs typeface="Arial" panose="020B0604020202020204" pitchFamily="34" charset="0"/>
              </a:rPr>
              <a:t>电网拓扑设计满足电网物理关联以及线路设计规范</a:t>
            </a:r>
          </a:p>
          <a:p>
            <a:pPr marL="285750" indent="-285750" fontAlgn="auto">
              <a:lnSpc>
                <a:spcPct val="150000"/>
              </a:lnSpc>
              <a:buFont typeface="Wingdings" panose="05000000000000000000" charset="0"/>
              <a:buChar char="l"/>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物理关联：</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节点电价通过直流潮流模型可由电网拓扑结合其他参数计算得出</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150000"/>
              </a:lnSpc>
              <a:buFont typeface="Wingdings" panose="05000000000000000000" charset="0"/>
              <a:buChar char="l"/>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设计规范：</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线路连接关系满足节点度和长度要求</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884806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5A5E9-0E87-20B5-6992-32EA16CF4B04}"/>
            </a:ext>
          </a:extLst>
        </p:cNvPr>
        <p:cNvGrpSpPr/>
        <p:nvPr/>
      </p:nvGrpSpPr>
      <p:grpSpPr>
        <a:xfrm>
          <a:off x="0" y="0"/>
          <a:ext cx="0" cy="0"/>
          <a:chOff x="0" y="0"/>
          <a:chExt cx="0" cy="0"/>
        </a:xfrm>
      </p:grpSpPr>
      <p:sp>
        <p:nvSpPr>
          <p:cNvPr id="100" name="文本框 99">
            <a:extLst>
              <a:ext uri="{FF2B5EF4-FFF2-40B4-BE49-F238E27FC236}">
                <a16:creationId xmlns:a16="http://schemas.microsoft.com/office/drawing/2014/main" id="{5D3A7CF5-747B-71F2-F4B8-94DD623C335F}"/>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推断模型设计</a:t>
            </a:r>
          </a:p>
        </p:txBody>
      </p:sp>
      <p:sp>
        <p:nvSpPr>
          <p:cNvPr id="101" name="TextBox 8">
            <a:extLst>
              <a:ext uri="{FF2B5EF4-FFF2-40B4-BE49-F238E27FC236}">
                <a16:creationId xmlns:a16="http://schemas.microsoft.com/office/drawing/2014/main" id="{508745CB-B5E7-477C-5F8C-E2F7AC8AF5DA}"/>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a:extLst>
              <a:ext uri="{FF2B5EF4-FFF2-40B4-BE49-F238E27FC236}">
                <a16:creationId xmlns:a16="http://schemas.microsoft.com/office/drawing/2014/main" id="{08F803B8-5480-C076-AC27-943DA44A2F99}"/>
              </a:ext>
            </a:extLst>
          </p:cNvPr>
          <p:cNvSpPr/>
          <p:nvPr/>
        </p:nvSpPr>
        <p:spPr>
          <a:xfrm>
            <a:off x="4232339" y="6200116"/>
            <a:ext cx="3294896" cy="369332"/>
          </a:xfrm>
          <a:prstGeom prst="rect">
            <a:avLst/>
          </a:prstGeom>
        </p:spPr>
        <p:txBody>
          <a:bodyPr wrap="square">
            <a:spAutoFit/>
          </a:bodyPr>
          <a:lstStyle/>
          <a:p>
            <a:pPr algn="ctr"/>
            <a:r>
              <a:rPr kumimoji="1" lang="zh-CN" altLang="en-US" b="1" dirty="0">
                <a:latin typeface="微软雅黑" panose="020B0503020204020204" pitchFamily="34" charset="-122"/>
                <a:ea typeface="微软雅黑" panose="020B0503020204020204" pitchFamily="34" charset="-122"/>
              </a:rPr>
              <a:t>电网拓扑推断模型架构</a:t>
            </a:r>
          </a:p>
        </p:txBody>
      </p:sp>
      <p:sp>
        <p:nvSpPr>
          <p:cNvPr id="7" name="文本框 6">
            <a:extLst>
              <a:ext uri="{FF2B5EF4-FFF2-40B4-BE49-F238E27FC236}">
                <a16:creationId xmlns:a16="http://schemas.microsoft.com/office/drawing/2014/main" id="{81BC731C-C1BB-6019-7172-26D9452FFF8E}"/>
              </a:ext>
            </a:extLst>
          </p:cNvPr>
          <p:cNvSpPr txBox="1"/>
          <p:nvPr/>
        </p:nvSpPr>
        <p:spPr>
          <a:xfrm>
            <a:off x="410701" y="1462026"/>
            <a:ext cx="11370597" cy="1212167"/>
          </a:xfrm>
          <a:prstGeom prst="rect">
            <a:avLst/>
          </a:prstGeom>
          <a:noFill/>
        </p:spPr>
        <p:txBody>
          <a:bodyPr wrap="square">
            <a:noAutofit/>
          </a:bodyPr>
          <a:lstStyle/>
          <a:p>
            <a:pPr>
              <a:lnSpc>
                <a:spcPct val="150000"/>
              </a:lnSpc>
            </a:pPr>
            <a:r>
              <a:rPr lang="zh-CN" altLang="en-US" sz="2400" dirty="0">
                <a:latin typeface="Arial" panose="020B0604020202020204" pitchFamily="34" charset="0"/>
                <a:ea typeface="微软雅黑" panose="020B0503020204020204" pitchFamily="34" charset="-122"/>
                <a:cs typeface="Arial" panose="020B0604020202020204" pitchFamily="34" charset="0"/>
              </a:rPr>
              <a:t>基于图注意力网络，引入负采样策略和电网拓扑的物理关联、设计规范约束，构建电网拓扑推断模型。</a:t>
            </a:r>
          </a:p>
        </p:txBody>
      </p:sp>
      <p:pic>
        <p:nvPicPr>
          <p:cNvPr id="3074" name="图片 148">
            <a:extLst>
              <a:ext uri="{FF2B5EF4-FFF2-40B4-BE49-F238E27FC236}">
                <a16:creationId xmlns:a16="http://schemas.microsoft.com/office/drawing/2014/main" id="{6D14A58A-FB72-5A1A-78EE-7AAFC24E294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4418" y="2704011"/>
            <a:ext cx="10063162" cy="346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6580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32D7-391E-7B9B-5D7E-40CFEDF40847}"/>
            </a:ext>
          </a:extLst>
        </p:cNvPr>
        <p:cNvGrpSpPr/>
        <p:nvPr/>
      </p:nvGrpSpPr>
      <p:grpSpPr>
        <a:xfrm>
          <a:off x="0" y="0"/>
          <a:ext cx="0" cy="0"/>
          <a:chOff x="0" y="0"/>
          <a:chExt cx="0" cy="0"/>
        </a:xfrm>
      </p:grpSpPr>
      <p:sp>
        <p:nvSpPr>
          <p:cNvPr id="100" name="文本框 99">
            <a:extLst>
              <a:ext uri="{FF2B5EF4-FFF2-40B4-BE49-F238E27FC236}">
                <a16:creationId xmlns:a16="http://schemas.microsoft.com/office/drawing/2014/main" id="{032D2794-1A39-D72B-14CA-63A2B15686E1}"/>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推断模型设计</a:t>
            </a:r>
          </a:p>
        </p:txBody>
      </p:sp>
      <p:sp>
        <p:nvSpPr>
          <p:cNvPr id="101" name="TextBox 8">
            <a:extLst>
              <a:ext uri="{FF2B5EF4-FFF2-40B4-BE49-F238E27FC236}">
                <a16:creationId xmlns:a16="http://schemas.microsoft.com/office/drawing/2014/main" id="{544A4D2A-62EF-1D64-3EEB-DB1196F6E5EF}"/>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矩形 3">
            <a:extLst>
              <a:ext uri="{FF2B5EF4-FFF2-40B4-BE49-F238E27FC236}">
                <a16:creationId xmlns:a16="http://schemas.microsoft.com/office/drawing/2014/main" id="{721F5C90-A97F-FDDF-0544-611707E66270}"/>
              </a:ext>
            </a:extLst>
          </p:cNvPr>
          <p:cNvSpPr/>
          <p:nvPr/>
        </p:nvSpPr>
        <p:spPr>
          <a:xfrm>
            <a:off x="8711839" y="3372786"/>
            <a:ext cx="3294896" cy="369332"/>
          </a:xfrm>
          <a:prstGeom prst="rect">
            <a:avLst/>
          </a:prstGeom>
        </p:spPr>
        <p:txBody>
          <a:bodyPr wrap="square">
            <a:spAutoFit/>
          </a:bodyPr>
          <a:lstStyle/>
          <a:p>
            <a:pPr algn="ctr"/>
            <a:r>
              <a:rPr kumimoji="1" lang="zh-CN" altLang="en-US" b="1" dirty="0">
                <a:latin typeface="微软雅黑" panose="020B0503020204020204" pitchFamily="34" charset="-122"/>
                <a:ea typeface="微软雅黑" panose="020B0503020204020204" pitchFamily="34" charset="-122"/>
              </a:rPr>
              <a:t>图注意力机制</a:t>
            </a:r>
          </a:p>
        </p:txBody>
      </p:sp>
      <p:pic>
        <p:nvPicPr>
          <p:cNvPr id="4098" name="图片 17">
            <a:extLst>
              <a:ext uri="{FF2B5EF4-FFF2-40B4-BE49-F238E27FC236}">
                <a16:creationId xmlns:a16="http://schemas.microsoft.com/office/drawing/2014/main" id="{5A34DDB8-A7C5-DFDB-D4AD-33B0894EAD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63629" y="1169149"/>
            <a:ext cx="2652166" cy="220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5DD8100-8272-6297-E7A5-2D034015679D}"/>
              </a:ext>
            </a:extLst>
          </p:cNvPr>
          <p:cNvSpPr txBox="1"/>
          <p:nvPr/>
        </p:nvSpPr>
        <p:spPr>
          <a:xfrm>
            <a:off x="616110" y="1447511"/>
            <a:ext cx="7558909" cy="4867576"/>
          </a:xfrm>
          <a:prstGeom prst="rect">
            <a:avLst/>
          </a:prstGeom>
          <a:noFill/>
        </p:spPr>
        <p:txBody>
          <a:bodyPr wrap="square">
            <a:noAutofit/>
          </a:bodyPr>
          <a:lstStyle/>
          <a:p>
            <a:pPr marL="285750" indent="-285750" fontAlgn="auto">
              <a:lnSpc>
                <a:spcPct val="150000"/>
              </a:lnSpc>
              <a:buFont typeface="Wingdings" panose="05000000000000000000" charset="0"/>
              <a:buChar char="l"/>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图注意力机制：</a:t>
            </a:r>
            <a:r>
              <a:rPr lang="zh-CN" altLang="en-US" sz="2400" dirty="0">
                <a:latin typeface="微软雅黑" panose="020B0503020204020204" pitchFamily="34" charset="-122"/>
                <a:ea typeface="微软雅黑" panose="020B0503020204020204" pitchFamily="34" charset="-122"/>
              </a:rPr>
              <a:t>引入指定节点</a:t>
            </a:r>
            <a:r>
              <a:rPr lang="zh-CN" altLang="zh-CN" sz="2400" b="1" dirty="0">
                <a:latin typeface="微软雅黑" panose="020B0503020204020204" pitchFamily="34" charset="-122"/>
                <a:ea typeface="微软雅黑" panose="020B0503020204020204" pitchFamily="34" charset="-122"/>
              </a:rPr>
              <a:t>一阶邻居节点</a:t>
            </a:r>
            <a:r>
              <a:rPr lang="zh-CN" altLang="zh-CN" sz="2400" dirty="0">
                <a:latin typeface="微软雅黑" panose="020B0503020204020204" pitchFamily="34" charset="-122"/>
                <a:ea typeface="微软雅黑" panose="020B0503020204020204" pitchFamily="34" charset="-122"/>
              </a:rPr>
              <a:t>的信息</a:t>
            </a:r>
            <a:r>
              <a:rPr lang="zh-CN" altLang="en-US" sz="2400" dirty="0">
                <a:latin typeface="微软雅黑" panose="020B0503020204020204" pitchFamily="34" charset="-122"/>
                <a:ea typeface="微软雅黑" panose="020B0503020204020204" pitchFamily="34" charset="-122"/>
              </a:rPr>
              <a:t>作为特征映射，实现</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电网相邻节点间特征的捕捉，能够有效表达不同结构电网拓扑</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fontAlgn="auto">
              <a:lnSpc>
                <a:spcPct val="150000"/>
              </a:lnSpc>
              <a:buFont typeface="Wingdings" panose="05000000000000000000" charset="0"/>
              <a:buChar char="l"/>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负采样策略：</a:t>
            </a:r>
            <a:r>
              <a:rPr lang="zh-CN" altLang="zh-CN" sz="2400" dirty="0">
                <a:latin typeface="微软雅黑" panose="020B0503020204020204" pitchFamily="34" charset="-122"/>
                <a:ea typeface="微软雅黑" panose="020B0503020204020204" pitchFamily="34" charset="-122"/>
              </a:rPr>
              <a:t>电网拓扑</a:t>
            </a:r>
            <a:r>
              <a:rPr lang="zh-CN" altLang="en-US" sz="2400" dirty="0">
                <a:latin typeface="微软雅黑" panose="020B0503020204020204" pitchFamily="34" charset="-122"/>
                <a:ea typeface="微软雅黑" panose="020B0503020204020204" pitchFamily="34" charset="-122"/>
              </a:rPr>
              <a:t>稀疏，</a:t>
            </a:r>
            <a:r>
              <a:rPr lang="zh-CN" altLang="zh-CN" sz="2400" dirty="0">
                <a:latin typeface="微软雅黑" panose="020B0503020204020204" pitchFamily="34" charset="-122"/>
                <a:ea typeface="微软雅黑" panose="020B0503020204020204" pitchFamily="34" charset="-122"/>
              </a:rPr>
              <a:t>采样一部分负样本替代所有的负样本进行辅助训练，</a:t>
            </a:r>
            <a:r>
              <a:rPr lang="zh-CN" altLang="en-US" sz="2400" dirty="0">
                <a:latin typeface="微软雅黑" panose="020B0503020204020204" pitchFamily="34" charset="-122"/>
                <a:ea typeface="微软雅黑" panose="020B0503020204020204" pitchFamily="34" charset="-122"/>
              </a:rPr>
              <a:t>能够</a:t>
            </a:r>
            <a:r>
              <a:rPr lang="zh-CN" altLang="zh-CN" sz="2400" dirty="0">
                <a:latin typeface="微软雅黑" panose="020B0503020204020204" pitchFamily="34" charset="-122"/>
                <a:ea typeface="微软雅黑" panose="020B0503020204020204" pitchFamily="34" charset="-122"/>
              </a:rPr>
              <a:t>提高训练效果</a:t>
            </a:r>
            <a:r>
              <a:rPr lang="zh-CN" altLang="en-US" sz="2400" dirty="0">
                <a:latin typeface="微软雅黑" panose="020B0503020204020204" pitchFamily="34" charset="-122"/>
                <a:ea typeface="微软雅黑" panose="020B0503020204020204" pitchFamily="34" charset="-122"/>
              </a:rPr>
              <a:t>。模型采用</a:t>
            </a:r>
            <a:r>
              <a:rPr lang="zh-CN" altLang="zh-CN" sz="2400" dirty="0">
                <a:latin typeface="微软雅黑" panose="020B0503020204020204" pitchFamily="34" charset="-122"/>
                <a:ea typeface="微软雅黑" panose="020B0503020204020204" pitchFamily="34" charset="-122"/>
              </a:rPr>
              <a:t>一种基于</a:t>
            </a:r>
            <a:r>
              <a:rPr lang="zh-CN" altLang="zh-CN" sz="2400" b="1" dirty="0">
                <a:latin typeface="微软雅黑" panose="020B0503020204020204" pitchFamily="34" charset="-122"/>
                <a:ea typeface="微软雅黑" panose="020B0503020204020204" pitchFamily="34" charset="-122"/>
              </a:rPr>
              <a:t>节点度</a:t>
            </a:r>
            <a:r>
              <a:rPr lang="en-US" altLang="zh-CN"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即连接的边数</a:t>
            </a:r>
            <a:r>
              <a:rPr lang="en-US" altLang="zh-CN" sz="2400" b="1"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和</a:t>
            </a:r>
            <a:r>
              <a:rPr lang="zh-CN" altLang="zh-CN" sz="2400" b="1" dirty="0">
                <a:latin typeface="微软雅黑" panose="020B0503020204020204" pitchFamily="34" charset="-122"/>
                <a:ea typeface="微软雅黑" panose="020B0503020204020204" pitchFamily="34" charset="-122"/>
              </a:rPr>
              <a:t>节点距离</a:t>
            </a:r>
            <a:r>
              <a:rPr lang="zh-CN" altLang="zh-CN" sz="2400" dirty="0">
                <a:latin typeface="微软雅黑" panose="020B0503020204020204" pitchFamily="34" charset="-122"/>
                <a:ea typeface="微软雅黑" panose="020B0503020204020204" pitchFamily="34" charset="-122"/>
              </a:rPr>
              <a:t>的负采样策略，其策略核心思想是</a:t>
            </a:r>
            <a:r>
              <a:rPr lang="zh-CN" altLang="zh-CN" sz="2400" b="1" dirty="0">
                <a:latin typeface="微软雅黑" panose="020B0503020204020204" pitchFamily="34" charset="-122"/>
                <a:ea typeface="微软雅黑" panose="020B0503020204020204" pitchFamily="34" charset="-122"/>
              </a:rPr>
              <a:t>距离拓扑几何中心越远</a:t>
            </a:r>
            <a:r>
              <a:rPr lang="zh-CN" altLang="zh-CN" sz="2400" dirty="0">
                <a:latin typeface="微软雅黑" panose="020B0503020204020204" pitchFamily="34" charset="-122"/>
                <a:ea typeface="微软雅黑" panose="020B0503020204020204" pitchFamily="34" charset="-122"/>
              </a:rPr>
              <a:t>的节点以及</a:t>
            </a:r>
            <a:r>
              <a:rPr lang="zh-CN" altLang="zh-CN" sz="2400" b="1" dirty="0">
                <a:latin typeface="微软雅黑" panose="020B0503020204020204" pitchFamily="34" charset="-122"/>
                <a:ea typeface="微软雅黑" panose="020B0503020204020204" pitchFamily="34" charset="-122"/>
              </a:rPr>
              <a:t>节点度越高</a:t>
            </a:r>
            <a:r>
              <a:rPr lang="zh-CN" altLang="zh-CN" sz="2400" dirty="0">
                <a:latin typeface="微软雅黑" panose="020B0503020204020204" pitchFamily="34" charset="-122"/>
                <a:ea typeface="微软雅黑" panose="020B0503020204020204" pitchFamily="34" charset="-122"/>
              </a:rPr>
              <a:t>的节点更容易被选为负样本。</a:t>
            </a:r>
            <a:endParaRPr lang="en-US" altLang="zh-CN" sz="2400" dirty="0">
              <a:latin typeface="微软雅黑" panose="020B0503020204020204" pitchFamily="34" charset="-122"/>
              <a:ea typeface="微软雅黑" panose="020B0503020204020204" pitchFamily="34" charset="-122"/>
            </a:endParaRPr>
          </a:p>
        </p:txBody>
      </p:sp>
      <p:pic>
        <p:nvPicPr>
          <p:cNvPr id="21" name="图片 20">
            <a:extLst>
              <a:ext uri="{FF2B5EF4-FFF2-40B4-BE49-F238E27FC236}">
                <a16:creationId xmlns:a16="http://schemas.microsoft.com/office/drawing/2014/main" id="{4B8C5FA8-7758-C48E-B966-70F85AAF2B52}"/>
              </a:ext>
            </a:extLst>
          </p:cNvPr>
          <p:cNvPicPr>
            <a:picLocks noChangeAspect="1"/>
          </p:cNvPicPr>
          <p:nvPr/>
        </p:nvPicPr>
        <p:blipFill>
          <a:blip r:embed="rId5" cstate="print">
            <a:extLst>
              <a:ext uri="{28A0092B-C50C-407E-A947-70E740481C1C}">
                <a14:useLocalDpi xmlns:a14="http://schemas.microsoft.com/office/drawing/2010/main" val="0"/>
              </a:ext>
            </a:extLst>
          </a:blip>
          <a:srcRect t="43293" r="63282" b="27240"/>
          <a:stretch>
            <a:fillRect/>
          </a:stretch>
        </p:blipFill>
        <p:spPr>
          <a:xfrm>
            <a:off x="8330362" y="4232511"/>
            <a:ext cx="1667961" cy="892392"/>
          </a:xfrm>
          <a:prstGeom prst="rect">
            <a:avLst/>
          </a:prstGeom>
        </p:spPr>
      </p:pic>
      <p:sp>
        <p:nvSpPr>
          <p:cNvPr id="22" name="矩形 21">
            <a:extLst>
              <a:ext uri="{FF2B5EF4-FFF2-40B4-BE49-F238E27FC236}">
                <a16:creationId xmlns:a16="http://schemas.microsoft.com/office/drawing/2014/main" id="{0FEDCE7A-204D-53C1-4EAF-995BBECBBD09}"/>
              </a:ext>
            </a:extLst>
          </p:cNvPr>
          <p:cNvSpPr/>
          <p:nvPr/>
        </p:nvSpPr>
        <p:spPr>
          <a:xfrm>
            <a:off x="8738695" y="5945755"/>
            <a:ext cx="3294896" cy="369332"/>
          </a:xfrm>
          <a:prstGeom prst="rect">
            <a:avLst/>
          </a:prstGeom>
        </p:spPr>
        <p:txBody>
          <a:bodyPr wrap="square">
            <a:spAutoFit/>
          </a:bodyPr>
          <a:lstStyle/>
          <a:p>
            <a:pPr algn="ctr"/>
            <a:r>
              <a:rPr kumimoji="1" lang="zh-CN" altLang="en-US" b="1" dirty="0">
                <a:latin typeface="微软雅黑" panose="020B0503020204020204" pitchFamily="34" charset="-122"/>
                <a:ea typeface="微软雅黑" panose="020B0503020204020204" pitchFamily="34" charset="-122"/>
              </a:rPr>
              <a:t>负采样策略</a:t>
            </a:r>
          </a:p>
        </p:txBody>
      </p:sp>
      <p:pic>
        <p:nvPicPr>
          <p:cNvPr id="23" name="图片 22">
            <a:extLst>
              <a:ext uri="{FF2B5EF4-FFF2-40B4-BE49-F238E27FC236}">
                <a16:creationId xmlns:a16="http://schemas.microsoft.com/office/drawing/2014/main" id="{3C65D237-B16F-FD3B-705A-9A66250F22EA}"/>
              </a:ext>
            </a:extLst>
          </p:cNvPr>
          <p:cNvPicPr>
            <a:picLocks noChangeAspect="1"/>
          </p:cNvPicPr>
          <p:nvPr/>
        </p:nvPicPr>
        <p:blipFill>
          <a:blip r:embed="rId6" cstate="print">
            <a:extLst>
              <a:ext uri="{28A0092B-C50C-407E-A947-70E740481C1C}">
                <a14:useLocalDpi xmlns:a14="http://schemas.microsoft.com/office/drawing/2010/main" val="0"/>
              </a:ext>
            </a:extLst>
          </a:blip>
          <a:srcRect l="37928" t="43003" r="13432" b="11836"/>
          <a:stretch>
            <a:fillRect/>
          </a:stretch>
        </p:blipFill>
        <p:spPr>
          <a:xfrm>
            <a:off x="10039574" y="4232510"/>
            <a:ext cx="2209487" cy="1367671"/>
          </a:xfrm>
          <a:prstGeom prst="rect">
            <a:avLst/>
          </a:prstGeom>
        </p:spPr>
      </p:pic>
      <p:sp>
        <p:nvSpPr>
          <p:cNvPr id="24" name="矩形 23">
            <a:extLst>
              <a:ext uri="{FF2B5EF4-FFF2-40B4-BE49-F238E27FC236}">
                <a16:creationId xmlns:a16="http://schemas.microsoft.com/office/drawing/2014/main" id="{DE2D32BD-FC09-1475-3D05-603FCE4260D2}"/>
              </a:ext>
            </a:extLst>
          </p:cNvPr>
          <p:cNvSpPr/>
          <p:nvPr/>
        </p:nvSpPr>
        <p:spPr>
          <a:xfrm>
            <a:off x="8566720" y="4012455"/>
            <a:ext cx="803231" cy="246221"/>
          </a:xfrm>
          <a:prstGeom prst="rect">
            <a:avLst/>
          </a:prstGeom>
        </p:spPr>
        <p:txBody>
          <a:bodyPr wrap="square">
            <a:spAutoFit/>
          </a:bodyPr>
          <a:lstStyle/>
          <a:p>
            <a:pPr algn="ctr"/>
            <a:r>
              <a:rPr kumimoji="1" lang="zh-CN" altLang="en-US" sz="1000" dirty="0">
                <a:latin typeface="微软雅黑" panose="020B0503020204020204" pitchFamily="34" charset="-122"/>
                <a:ea typeface="微软雅黑" panose="020B0503020204020204" pitchFamily="34" charset="-122"/>
              </a:rPr>
              <a:t>正样本</a:t>
            </a:r>
          </a:p>
        </p:txBody>
      </p:sp>
      <p:sp>
        <p:nvSpPr>
          <p:cNvPr id="25" name="矩形 24">
            <a:extLst>
              <a:ext uri="{FF2B5EF4-FFF2-40B4-BE49-F238E27FC236}">
                <a16:creationId xmlns:a16="http://schemas.microsoft.com/office/drawing/2014/main" id="{BD9B3CBB-41DC-BB6F-9F7B-9CC75B7AC6D3}"/>
              </a:ext>
            </a:extLst>
          </p:cNvPr>
          <p:cNvSpPr/>
          <p:nvPr/>
        </p:nvSpPr>
        <p:spPr>
          <a:xfrm>
            <a:off x="10560620" y="4017869"/>
            <a:ext cx="803231" cy="246221"/>
          </a:xfrm>
          <a:prstGeom prst="rect">
            <a:avLst/>
          </a:prstGeom>
        </p:spPr>
        <p:txBody>
          <a:bodyPr wrap="square">
            <a:spAutoFit/>
          </a:bodyPr>
          <a:lstStyle/>
          <a:p>
            <a:pPr algn="ctr"/>
            <a:r>
              <a:rPr kumimoji="1" lang="zh-CN" altLang="en-US" sz="1000" dirty="0">
                <a:latin typeface="微软雅黑" panose="020B0503020204020204" pitchFamily="34" charset="-122"/>
                <a:ea typeface="微软雅黑" panose="020B0503020204020204" pitchFamily="34" charset="-122"/>
              </a:rPr>
              <a:t>负样本</a:t>
            </a:r>
          </a:p>
        </p:txBody>
      </p:sp>
    </p:spTree>
    <p:extLst>
      <p:ext uri="{BB962C8B-B14F-4D97-AF65-F5344CB8AC3E}">
        <p14:creationId xmlns:p14="http://schemas.microsoft.com/office/powerpoint/2010/main" val="2919355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32D7-391E-7B9B-5D7E-40CFEDF40847}"/>
            </a:ext>
          </a:extLst>
        </p:cNvPr>
        <p:cNvGrpSpPr/>
        <p:nvPr/>
      </p:nvGrpSpPr>
      <p:grpSpPr>
        <a:xfrm>
          <a:off x="0" y="0"/>
          <a:ext cx="0" cy="0"/>
          <a:chOff x="0" y="0"/>
          <a:chExt cx="0" cy="0"/>
        </a:xfrm>
      </p:grpSpPr>
      <p:sp>
        <p:nvSpPr>
          <p:cNvPr id="100" name="文本框 99">
            <a:extLst>
              <a:ext uri="{FF2B5EF4-FFF2-40B4-BE49-F238E27FC236}">
                <a16:creationId xmlns:a16="http://schemas.microsoft.com/office/drawing/2014/main" id="{032D2794-1A39-D72B-14CA-63A2B15686E1}"/>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推断模型设计</a:t>
            </a:r>
          </a:p>
        </p:txBody>
      </p:sp>
      <p:sp>
        <p:nvSpPr>
          <p:cNvPr id="101" name="TextBox 8">
            <a:extLst>
              <a:ext uri="{FF2B5EF4-FFF2-40B4-BE49-F238E27FC236}">
                <a16:creationId xmlns:a16="http://schemas.microsoft.com/office/drawing/2014/main" id="{544A4D2A-62EF-1D64-3EEB-DB1196F6E5EF}"/>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a:extLst>
              <a:ext uri="{FF2B5EF4-FFF2-40B4-BE49-F238E27FC236}">
                <a16:creationId xmlns:a16="http://schemas.microsoft.com/office/drawing/2014/main" id="{35DD8100-8272-6297-E7A5-2D034015679D}"/>
              </a:ext>
            </a:extLst>
          </p:cNvPr>
          <p:cNvSpPr txBox="1"/>
          <p:nvPr/>
        </p:nvSpPr>
        <p:spPr>
          <a:xfrm>
            <a:off x="616110" y="1447511"/>
            <a:ext cx="7224023" cy="2203637"/>
          </a:xfrm>
          <a:prstGeom prst="rect">
            <a:avLst/>
          </a:prstGeom>
          <a:noFill/>
        </p:spPr>
        <p:txBody>
          <a:bodyPr wrap="square">
            <a:noAutofit/>
          </a:bodyPr>
          <a:lstStyle/>
          <a:p>
            <a:pPr marL="285750" indent="-285750" fontAlgn="auto">
              <a:lnSpc>
                <a:spcPct val="150000"/>
              </a:lnSpc>
              <a:buFont typeface="Wingdings" panose="05000000000000000000" charset="0"/>
              <a:buChar char="l"/>
            </a:pPr>
            <a:r>
              <a:rPr lang="zh-CN" altLang="en-US" sz="2400" b="1" dirty="0">
                <a:latin typeface="微软雅黑" panose="020B0503020204020204" pitchFamily="34" charset="-122"/>
                <a:ea typeface="微软雅黑" panose="020B0503020204020204" pitchFamily="34" charset="-122"/>
              </a:rPr>
              <a:t>损失函数设计：</a:t>
            </a:r>
            <a:r>
              <a:rPr lang="zh-CN" altLang="en-US" sz="2400" dirty="0">
                <a:latin typeface="微软雅黑" panose="020B0503020204020204" pitchFamily="34" charset="-122"/>
                <a:ea typeface="微软雅黑" panose="020B0503020204020204" pitchFamily="34" charset="-122"/>
              </a:rPr>
              <a:t>引入</a:t>
            </a:r>
            <a:r>
              <a:rPr lang="zh-CN" altLang="zh-CN" sz="2400" dirty="0">
                <a:latin typeface="微软雅黑" panose="020B0503020204020204" pitchFamily="34" charset="-122"/>
                <a:ea typeface="微软雅黑" panose="020B0503020204020204" pitchFamily="34" charset="-122"/>
              </a:rPr>
              <a:t>基于经济调度模型和地理信息的惩罚项作为模型损失函数，刻画从低敏感数据推断线路拓扑的机理</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l"/>
            </a:pPr>
            <a:r>
              <a:rPr lang="zh-CN" altLang="zh-CN" sz="2400" dirty="0">
                <a:latin typeface="微软雅黑" panose="020B0503020204020204" pitchFamily="34" charset="-122"/>
                <a:ea typeface="微软雅黑" panose="020B0503020204020204" pitchFamily="34" charset="-122"/>
              </a:rPr>
              <a:t>电价经济惩罚项是电网拓扑推断的核心依据</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通过</a:t>
            </a:r>
            <a:r>
              <a:rPr lang="zh-CN" altLang="en-US" sz="2400" b="1" dirty="0">
                <a:latin typeface="微软雅黑" panose="020B0503020204020204" pitchFamily="34" charset="-122"/>
                <a:ea typeface="微软雅黑" panose="020B0503020204020204" pitchFamily="34" charset="-122"/>
              </a:rPr>
              <a:t>线</a:t>
            </a:r>
            <a:r>
              <a:rPr lang="zh-CN" altLang="zh-CN" sz="2400" b="1" dirty="0">
                <a:latin typeface="微软雅黑" panose="020B0503020204020204" pitchFamily="34" charset="-122"/>
                <a:ea typeface="微软雅黑" panose="020B0503020204020204" pitchFamily="34" charset="-122"/>
              </a:rPr>
              <a:t>路阻塞</a:t>
            </a:r>
            <a:r>
              <a:rPr lang="zh-CN" altLang="en-US" sz="2400" b="1" dirty="0">
                <a:latin typeface="微软雅黑" panose="020B0503020204020204" pitchFamily="34" charset="-122"/>
                <a:ea typeface="微软雅黑" panose="020B0503020204020204" pitchFamily="34" charset="-122"/>
              </a:rPr>
              <a:t>关系</a:t>
            </a:r>
            <a:r>
              <a:rPr lang="zh-CN" altLang="en-US" sz="2400" dirty="0">
                <a:latin typeface="微软雅黑" panose="020B0503020204020204" pitchFamily="34" charset="-122"/>
                <a:ea typeface="微软雅黑" panose="020B0503020204020204" pitchFamily="34" charset="-122"/>
              </a:rPr>
              <a:t>，限制线路参数，设计惩罚项</a:t>
            </a:r>
            <a:r>
              <a:rPr lang="en-US" altLang="zh-CN" sz="2400" dirty="0">
                <a:latin typeface="微软雅黑" panose="020B0503020204020204" pitchFamily="34" charset="-122"/>
                <a:ea typeface="微软雅黑" panose="020B0503020204020204" pitchFamily="34" charset="-122"/>
              </a:rPr>
              <a:t>r1</a:t>
            </a:r>
            <a:r>
              <a:rPr lang="zh-CN"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l"/>
            </a:pPr>
            <a:r>
              <a:rPr lang="zh-CN" altLang="zh-CN" sz="2400" dirty="0">
                <a:latin typeface="微软雅黑" panose="020B0503020204020204" pitchFamily="34" charset="-122"/>
                <a:ea typeface="微软雅黑" panose="020B0503020204020204" pitchFamily="34" charset="-122"/>
              </a:rPr>
              <a:t>节点度和线路长度</a:t>
            </a:r>
            <a:r>
              <a:rPr lang="zh-CN" altLang="en-US" sz="2400" dirty="0">
                <a:latin typeface="微软雅黑" panose="020B0503020204020204" pitchFamily="34" charset="-122"/>
                <a:ea typeface="微软雅黑" panose="020B0503020204020204" pitchFamily="34" charset="-122"/>
              </a:rPr>
              <a:t>两</a:t>
            </a:r>
            <a:r>
              <a:rPr lang="zh-CN" altLang="zh-CN" sz="2400" dirty="0">
                <a:latin typeface="微软雅黑" panose="020B0503020204020204" pitchFamily="34" charset="-122"/>
                <a:ea typeface="微软雅黑" panose="020B0503020204020204" pitchFamily="34" charset="-122"/>
              </a:rPr>
              <a:t>种地理惩罚项则通过</a:t>
            </a:r>
            <a:r>
              <a:rPr lang="zh-CN" altLang="zh-CN" sz="2400" b="1" dirty="0">
                <a:latin typeface="微软雅黑" panose="020B0503020204020204" pitchFamily="34" charset="-122"/>
                <a:ea typeface="微软雅黑" panose="020B0503020204020204" pitchFamily="34" charset="-122"/>
              </a:rPr>
              <a:t>节点和线路地理位置信息</a:t>
            </a:r>
            <a:r>
              <a:rPr lang="zh-CN" altLang="zh-CN" sz="2400" dirty="0">
                <a:latin typeface="微软雅黑" panose="020B0503020204020204" pitchFamily="34" charset="-122"/>
                <a:ea typeface="微软雅黑" panose="020B0503020204020204" pitchFamily="34" charset="-122"/>
              </a:rPr>
              <a:t>，限制拓扑推断的范围，确保推断结果符合实际的物理布局</a:t>
            </a:r>
            <a:r>
              <a:rPr lang="zh-CN" altLang="en-US" sz="2400" dirty="0">
                <a:latin typeface="微软雅黑" panose="020B0503020204020204" pitchFamily="34" charset="-122"/>
                <a:ea typeface="微软雅黑" panose="020B0503020204020204" pitchFamily="34" charset="-122"/>
              </a:rPr>
              <a:t>，设计惩罚项</a:t>
            </a:r>
            <a:r>
              <a:rPr lang="en-US" altLang="zh-CN" sz="2400" dirty="0">
                <a:latin typeface="微软雅黑" panose="020B0503020204020204" pitchFamily="34" charset="-122"/>
                <a:ea typeface="微软雅黑" panose="020B0503020204020204" pitchFamily="34" charset="-122"/>
              </a:rPr>
              <a:t>r2</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r3.</a:t>
            </a:r>
          </a:p>
        </p:txBody>
      </p:sp>
      <p:graphicFrame>
        <p:nvGraphicFramePr>
          <p:cNvPr id="11" name="对象 10">
            <a:extLst>
              <a:ext uri="{FF2B5EF4-FFF2-40B4-BE49-F238E27FC236}">
                <a16:creationId xmlns:a16="http://schemas.microsoft.com/office/drawing/2014/main" id="{CFA81D6E-8A6A-EC7D-FEF4-FD8E254180B7}"/>
              </a:ext>
            </a:extLst>
          </p:cNvPr>
          <p:cNvGraphicFramePr>
            <a:graphicFrameLocks noChangeAspect="1"/>
          </p:cNvGraphicFramePr>
          <p:nvPr/>
        </p:nvGraphicFramePr>
        <p:xfrm>
          <a:off x="9086252" y="1646443"/>
          <a:ext cx="2718573" cy="492443"/>
        </p:xfrm>
        <a:graphic>
          <a:graphicData uri="http://schemas.openxmlformats.org/presentationml/2006/ole">
            <mc:AlternateContent xmlns:mc="http://schemas.openxmlformats.org/markup-compatibility/2006">
              <mc:Choice xmlns:v="urn:schemas-microsoft-com:vml" Requires="v">
                <p:oleObj name="Equation" r:id="rId4" imgW="1076263" imgH="200139" progId="Equation.DSMT4">
                  <p:embed/>
                </p:oleObj>
              </mc:Choice>
              <mc:Fallback>
                <p:oleObj name="Equation" r:id="rId4" imgW="1076263" imgH="200139" progId="Equation.DSMT4">
                  <p:embed/>
                  <p:pic>
                    <p:nvPicPr>
                      <p:cNvPr id="11" name="对象 10">
                        <a:extLst>
                          <a:ext uri="{FF2B5EF4-FFF2-40B4-BE49-F238E27FC236}">
                            <a16:creationId xmlns:a16="http://schemas.microsoft.com/office/drawing/2014/main" id="{CFA81D6E-8A6A-EC7D-FEF4-FD8E254180B7}"/>
                          </a:ext>
                        </a:extLst>
                      </p:cNvPr>
                      <p:cNvPicPr/>
                      <p:nvPr/>
                    </p:nvPicPr>
                    <p:blipFill>
                      <a:blip r:embed="rId5"/>
                      <a:stretch>
                        <a:fillRect/>
                      </a:stretch>
                    </p:blipFill>
                    <p:spPr>
                      <a:xfrm>
                        <a:off x="9086252" y="1646443"/>
                        <a:ext cx="2718573" cy="49244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3404FEE0-4928-2E3F-CE64-8D0CC7397036}"/>
              </a:ext>
            </a:extLst>
          </p:cNvPr>
          <p:cNvGraphicFramePr>
            <a:graphicFrameLocks noChangeAspect="1"/>
          </p:cNvGraphicFramePr>
          <p:nvPr/>
        </p:nvGraphicFramePr>
        <p:xfrm>
          <a:off x="9086251" y="3625450"/>
          <a:ext cx="2826385" cy="580563"/>
        </p:xfrm>
        <a:graphic>
          <a:graphicData uri="http://schemas.openxmlformats.org/presentationml/2006/ole">
            <mc:AlternateContent xmlns:mc="http://schemas.openxmlformats.org/markup-compatibility/2006">
              <mc:Choice xmlns:v="urn:schemas-microsoft-com:vml" Requires="v">
                <p:oleObj name="Equation" r:id="rId6" imgW="1206360" imgH="253800" progId="Equation.DSMT4">
                  <p:embed/>
                </p:oleObj>
              </mc:Choice>
              <mc:Fallback>
                <p:oleObj name="Equation" r:id="rId6" imgW="1206360" imgH="253800" progId="Equation.DSMT4">
                  <p:embed/>
                  <p:pic>
                    <p:nvPicPr>
                      <p:cNvPr id="12" name="对象 11">
                        <a:extLst>
                          <a:ext uri="{FF2B5EF4-FFF2-40B4-BE49-F238E27FC236}">
                            <a16:creationId xmlns:a16="http://schemas.microsoft.com/office/drawing/2014/main" id="{3404FEE0-4928-2E3F-CE64-8D0CC7397036}"/>
                          </a:ext>
                        </a:extLst>
                      </p:cNvPr>
                      <p:cNvPicPr/>
                      <p:nvPr/>
                    </p:nvPicPr>
                    <p:blipFill>
                      <a:blip r:embed="rId7"/>
                      <a:stretch>
                        <a:fillRect/>
                      </a:stretch>
                    </p:blipFill>
                    <p:spPr>
                      <a:xfrm>
                        <a:off x="9086251" y="3625450"/>
                        <a:ext cx="2826385" cy="58056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A30DE7C2-F3AF-5FD0-F86E-D4098693E639}"/>
              </a:ext>
            </a:extLst>
          </p:cNvPr>
          <p:cNvGraphicFramePr>
            <a:graphicFrameLocks noChangeAspect="1"/>
          </p:cNvGraphicFramePr>
          <p:nvPr/>
        </p:nvGraphicFramePr>
        <p:xfrm>
          <a:off x="8597131" y="5038702"/>
          <a:ext cx="3572139" cy="422035"/>
        </p:xfrm>
        <a:graphic>
          <a:graphicData uri="http://schemas.openxmlformats.org/presentationml/2006/ole">
            <mc:AlternateContent xmlns:mc="http://schemas.openxmlformats.org/markup-compatibility/2006">
              <mc:Choice xmlns:v="urn:schemas-microsoft-com:vml" Requires="v">
                <p:oleObj name="Equation" r:id="rId8" imgW="1571560" imgH="190420" progId="Equation.DSMT4">
                  <p:embed/>
                </p:oleObj>
              </mc:Choice>
              <mc:Fallback>
                <p:oleObj name="Equation" r:id="rId8" imgW="1571560" imgH="190420" progId="Equation.DSMT4">
                  <p:embed/>
                  <p:pic>
                    <p:nvPicPr>
                      <p:cNvPr id="13" name="对象 12">
                        <a:extLst>
                          <a:ext uri="{FF2B5EF4-FFF2-40B4-BE49-F238E27FC236}">
                            <a16:creationId xmlns:a16="http://schemas.microsoft.com/office/drawing/2014/main" id="{A30DE7C2-F3AF-5FD0-F86E-D4098693E639}"/>
                          </a:ext>
                        </a:extLst>
                      </p:cNvPr>
                      <p:cNvPicPr/>
                      <p:nvPr/>
                    </p:nvPicPr>
                    <p:blipFill>
                      <a:blip r:embed="rId9"/>
                      <a:stretch>
                        <a:fillRect/>
                      </a:stretch>
                    </p:blipFill>
                    <p:spPr>
                      <a:xfrm>
                        <a:off x="8597131" y="5038702"/>
                        <a:ext cx="3572139" cy="422035"/>
                      </a:xfrm>
                      <a:prstGeom prst="rect">
                        <a:avLst/>
                      </a:prstGeom>
                    </p:spPr>
                  </p:pic>
                </p:oleObj>
              </mc:Fallback>
            </mc:AlternateContent>
          </a:graphicData>
        </a:graphic>
      </p:graphicFrame>
      <p:sp>
        <p:nvSpPr>
          <p:cNvPr id="14" name="箭头: 右 13">
            <a:extLst>
              <a:ext uri="{FF2B5EF4-FFF2-40B4-BE49-F238E27FC236}">
                <a16:creationId xmlns:a16="http://schemas.microsoft.com/office/drawing/2014/main" id="{3831056C-E1D8-0B26-228D-49EACACD2F76}"/>
              </a:ext>
            </a:extLst>
          </p:cNvPr>
          <p:cNvSpPr/>
          <p:nvPr/>
        </p:nvSpPr>
        <p:spPr>
          <a:xfrm rot="5400000">
            <a:off x="10282845" y="4395656"/>
            <a:ext cx="580564" cy="379851"/>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5" name="十字形 14">
            <a:extLst>
              <a:ext uri="{FF2B5EF4-FFF2-40B4-BE49-F238E27FC236}">
                <a16:creationId xmlns:a16="http://schemas.microsoft.com/office/drawing/2014/main" id="{776230DF-ECC5-1327-8C86-9C7A54D6FCD1}"/>
              </a:ext>
            </a:extLst>
          </p:cNvPr>
          <p:cNvSpPr/>
          <p:nvPr/>
        </p:nvSpPr>
        <p:spPr>
          <a:xfrm>
            <a:off x="10387950" y="2180121"/>
            <a:ext cx="368435" cy="362120"/>
          </a:xfrm>
          <a:prstGeom prst="plus">
            <a:avLst>
              <a:gd name="adj" fmla="val 39836"/>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FCC950D2-F1F1-04FD-A39B-81C8603D9463}"/>
              </a:ext>
            </a:extLst>
          </p:cNvPr>
          <p:cNvSpPr/>
          <p:nvPr/>
        </p:nvSpPr>
        <p:spPr>
          <a:xfrm>
            <a:off x="8919971" y="5689949"/>
            <a:ext cx="3294896" cy="369332"/>
          </a:xfrm>
          <a:prstGeom prst="rect">
            <a:avLst/>
          </a:prstGeom>
        </p:spPr>
        <p:txBody>
          <a:bodyPr wrap="square">
            <a:spAutoFit/>
          </a:bodyPr>
          <a:lstStyle/>
          <a:p>
            <a:pPr algn="ctr"/>
            <a:r>
              <a:rPr kumimoji="1" lang="zh-CN" altLang="en-US" b="1" dirty="0">
                <a:latin typeface="微软雅黑" panose="020B0503020204020204" pitchFamily="34" charset="-122"/>
                <a:ea typeface="微软雅黑" panose="020B0503020204020204" pitchFamily="34" charset="-122"/>
              </a:rPr>
              <a:t>损失函数设计</a:t>
            </a:r>
          </a:p>
        </p:txBody>
      </p:sp>
      <p:graphicFrame>
        <p:nvGraphicFramePr>
          <p:cNvPr id="5" name="对象 4">
            <a:extLst>
              <a:ext uri="{FF2B5EF4-FFF2-40B4-BE49-F238E27FC236}">
                <a16:creationId xmlns:a16="http://schemas.microsoft.com/office/drawing/2014/main" id="{BA8F3370-0DD2-4431-BACC-26E0193CCF50}"/>
              </a:ext>
            </a:extLst>
          </p:cNvPr>
          <p:cNvGraphicFramePr>
            <a:graphicFrameLocks noChangeAspect="1"/>
          </p:cNvGraphicFramePr>
          <p:nvPr/>
        </p:nvGraphicFramePr>
        <p:xfrm>
          <a:off x="9086251" y="2588111"/>
          <a:ext cx="2776330" cy="555266"/>
        </p:xfrm>
        <a:graphic>
          <a:graphicData uri="http://schemas.openxmlformats.org/presentationml/2006/ole">
            <mc:AlternateContent xmlns:mc="http://schemas.openxmlformats.org/markup-compatibility/2006">
              <mc:Choice xmlns:v="urn:schemas-microsoft-com:vml" Requires="v">
                <p:oleObj name="Equation" r:id="rId10" imgW="1142855" imgH="228576" progId="Equation.DSMT4">
                  <p:embed/>
                </p:oleObj>
              </mc:Choice>
              <mc:Fallback>
                <p:oleObj name="Equation" r:id="rId10" imgW="1142855" imgH="228576" progId="Equation.DSMT4">
                  <p:embed/>
                  <p:pic>
                    <p:nvPicPr>
                      <p:cNvPr id="5" name="对象 4">
                        <a:extLst>
                          <a:ext uri="{FF2B5EF4-FFF2-40B4-BE49-F238E27FC236}">
                            <a16:creationId xmlns:a16="http://schemas.microsoft.com/office/drawing/2014/main" id="{BA8F3370-0DD2-4431-BACC-26E0193CCF50}"/>
                          </a:ext>
                        </a:extLst>
                      </p:cNvPr>
                      <p:cNvPicPr/>
                      <p:nvPr/>
                    </p:nvPicPr>
                    <p:blipFill>
                      <a:blip r:embed="rId11"/>
                      <a:stretch>
                        <a:fillRect/>
                      </a:stretch>
                    </p:blipFill>
                    <p:spPr>
                      <a:xfrm>
                        <a:off x="9086251" y="2588111"/>
                        <a:ext cx="2776330" cy="555266"/>
                      </a:xfrm>
                      <a:prstGeom prst="rect">
                        <a:avLst/>
                      </a:prstGeom>
                    </p:spPr>
                  </p:pic>
                </p:oleObj>
              </mc:Fallback>
            </mc:AlternateContent>
          </a:graphicData>
        </a:graphic>
      </p:graphicFrame>
      <p:sp>
        <p:nvSpPr>
          <p:cNvPr id="26" name="十字形 25">
            <a:extLst>
              <a:ext uri="{FF2B5EF4-FFF2-40B4-BE49-F238E27FC236}">
                <a16:creationId xmlns:a16="http://schemas.microsoft.com/office/drawing/2014/main" id="{562348E5-0C6D-4C3B-A76D-0BEEAFEBC545}"/>
              </a:ext>
            </a:extLst>
          </p:cNvPr>
          <p:cNvSpPr/>
          <p:nvPr/>
        </p:nvSpPr>
        <p:spPr>
          <a:xfrm>
            <a:off x="10383202" y="3228392"/>
            <a:ext cx="368435" cy="362120"/>
          </a:xfrm>
          <a:prstGeom prst="plus">
            <a:avLst>
              <a:gd name="adj" fmla="val 39836"/>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880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3175-F6B0-7673-B16A-24B031FFF316}"/>
            </a:ext>
          </a:extLst>
        </p:cNvPr>
        <p:cNvGrpSpPr/>
        <p:nvPr/>
      </p:nvGrpSpPr>
      <p:grpSpPr>
        <a:xfrm>
          <a:off x="0" y="0"/>
          <a:ext cx="0" cy="0"/>
          <a:chOff x="0" y="0"/>
          <a:chExt cx="0" cy="0"/>
        </a:xfrm>
      </p:grpSpPr>
      <p:pic>
        <p:nvPicPr>
          <p:cNvPr id="5123" name="图片 97">
            <a:extLst>
              <a:ext uri="{FF2B5EF4-FFF2-40B4-BE49-F238E27FC236}">
                <a16:creationId xmlns:a16="http://schemas.microsoft.com/office/drawing/2014/main" id="{7442760B-FD6B-3612-6F6C-A1691DDBA2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5092" r="264"/>
          <a:stretch>
            <a:fillRect/>
          </a:stretch>
        </p:blipFill>
        <p:spPr bwMode="auto">
          <a:xfrm>
            <a:off x="6740525" y="3303914"/>
            <a:ext cx="3574589" cy="26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文本框 77">
            <a:extLst>
              <a:ext uri="{FF2B5EF4-FFF2-40B4-BE49-F238E27FC236}">
                <a16:creationId xmlns:a16="http://schemas.microsoft.com/office/drawing/2014/main" id="{DF4A2691-C027-7B5C-FB4B-67105728BBE3}"/>
              </a:ext>
            </a:extLst>
          </p:cNvPr>
          <p:cNvSpPr txBox="1"/>
          <p:nvPr/>
        </p:nvSpPr>
        <p:spPr>
          <a:xfrm>
            <a:off x="437206" y="953017"/>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zh-CN" sz="2600" b="1" dirty="0">
                <a:latin typeface="微软雅黑" panose="020B0503020204020204" pitchFamily="34" charset="-122"/>
                <a:ea typeface="微软雅黑" panose="020B0503020204020204" pitchFamily="34" charset="-122"/>
              </a:rPr>
              <a:t>新英格兰电力</a:t>
            </a:r>
            <a:r>
              <a:rPr lang="en-US" altLang="zh-CN" sz="2600" b="1" dirty="0">
                <a:latin typeface="微软雅黑" panose="020B0503020204020204" pitchFamily="34" charset="-122"/>
                <a:ea typeface="微软雅黑" panose="020B0503020204020204" pitchFamily="34" charset="-122"/>
              </a:rPr>
              <a:t>39</a:t>
            </a:r>
            <a:r>
              <a:rPr lang="zh-CN" altLang="zh-CN" sz="2600" b="1" dirty="0">
                <a:latin typeface="微软雅黑" panose="020B0503020204020204" pitchFamily="34" charset="-122"/>
                <a:ea typeface="微软雅黑" panose="020B0503020204020204" pitchFamily="34" charset="-122"/>
              </a:rPr>
              <a:t>节点</a:t>
            </a:r>
            <a:r>
              <a:rPr lang="zh-CN" altLang="en-US" sz="2600" b="1" dirty="0">
                <a:latin typeface="微软雅黑" panose="020B0503020204020204" pitchFamily="34" charset="-122"/>
                <a:ea typeface="微软雅黑" panose="020B0503020204020204" pitchFamily="34" charset="-122"/>
              </a:rPr>
              <a:t>算例</a:t>
            </a:r>
          </a:p>
        </p:txBody>
      </p:sp>
      <p:sp>
        <p:nvSpPr>
          <p:cNvPr id="48" name="矩形 47">
            <a:extLst>
              <a:ext uri="{FF2B5EF4-FFF2-40B4-BE49-F238E27FC236}">
                <a16:creationId xmlns:a16="http://schemas.microsoft.com/office/drawing/2014/main" id="{73EE5CDD-1307-CF47-6ABC-FF8EDDABAE6B}"/>
              </a:ext>
            </a:extLst>
          </p:cNvPr>
          <p:cNvSpPr/>
          <p:nvPr/>
        </p:nvSpPr>
        <p:spPr>
          <a:xfrm>
            <a:off x="1280378" y="2556487"/>
            <a:ext cx="9675341" cy="707886"/>
          </a:xfrm>
          <a:prstGeom prst="rect">
            <a:avLst/>
          </a:prstGeom>
          <a:solidFill>
            <a:srgbClr val="E7E6E6">
              <a:lumMod val="20000"/>
              <a:lumOff val="80000"/>
            </a:srgbClr>
          </a:solidFill>
        </p:spPr>
        <p:txBody>
          <a:bodyPr wrap="square">
            <a:spAutoFit/>
          </a:bodyPr>
          <a:lstStyle/>
          <a:p>
            <a:pPr marL="285750" lvl="0" indent="-285750">
              <a:buFont typeface="Arial" panose="020B0604020202020204" pitchFamily="34" charset="0"/>
              <a:buChar char="•"/>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1</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实验中</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已知节点电价、线路容量、线路影子价格，未知节点电压和潮流信息的条件下，结合电网节点地理信息，推断全系统的拓扑连接情况。</a:t>
            </a:r>
            <a:endPar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50" name="矩形 49">
            <a:extLst>
              <a:ext uri="{FF2B5EF4-FFF2-40B4-BE49-F238E27FC236}">
                <a16:creationId xmlns:a16="http://schemas.microsoft.com/office/drawing/2014/main" id="{54E0F785-C532-DD90-3B85-34DAE8917589}"/>
              </a:ext>
            </a:extLst>
          </p:cNvPr>
          <p:cNvSpPr/>
          <p:nvPr/>
        </p:nvSpPr>
        <p:spPr>
          <a:xfrm>
            <a:off x="813030" y="6037205"/>
            <a:ext cx="10565939" cy="400110"/>
          </a:xfrm>
          <a:prstGeom prst="rect">
            <a:avLst/>
          </a:prstGeom>
        </p:spPr>
        <p:txBody>
          <a:bodyPr wrap="square">
            <a:spAutoFit/>
          </a:bodyPr>
          <a:lstStyle/>
          <a:p>
            <a:pPr lvl="0">
              <a:defRPr/>
            </a:pPr>
            <a:r>
              <a:rPr kumimoji="0" lang="zh-CN" altLang="en-US" sz="2000" b="1"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实验结果：</a:t>
            </a:r>
            <a:r>
              <a:rPr kumimoji="0" lang="zh-CN" altLang="en-US" sz="200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设计的</a:t>
            </a:r>
            <a:r>
              <a:rPr kumimoji="1" lang="en-US" altLang="zh-CN" sz="200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GAT</a:t>
            </a:r>
            <a:r>
              <a:rPr kumimoji="1" lang="zh-CN" altLang="en-US" sz="200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模型结果拓扑推断</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准确率</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达到</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95.65%</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，在所有模型中表现最好。</a:t>
            </a:r>
          </a:p>
        </p:txBody>
      </p:sp>
      <p:sp>
        <p:nvSpPr>
          <p:cNvPr id="52" name="矩形 51">
            <a:extLst>
              <a:ext uri="{FF2B5EF4-FFF2-40B4-BE49-F238E27FC236}">
                <a16:creationId xmlns:a16="http://schemas.microsoft.com/office/drawing/2014/main" id="{353F6BC8-03F2-34CC-BDBB-293D95C8086C}"/>
              </a:ext>
            </a:extLst>
          </p:cNvPr>
          <p:cNvSpPr/>
          <p:nvPr/>
        </p:nvSpPr>
        <p:spPr>
          <a:xfrm>
            <a:off x="1007860" y="3610761"/>
            <a:ext cx="346480"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单次推断结果</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TextBox 8">
            <a:extLst>
              <a:ext uri="{FF2B5EF4-FFF2-40B4-BE49-F238E27FC236}">
                <a16:creationId xmlns:a16="http://schemas.microsoft.com/office/drawing/2014/main" id="{A551BB15-0C40-9386-0DE1-72D5DC1CA3D3}"/>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圆角 2">
            <a:extLst>
              <a:ext uri="{FF2B5EF4-FFF2-40B4-BE49-F238E27FC236}">
                <a16:creationId xmlns:a16="http://schemas.microsoft.com/office/drawing/2014/main" id="{299AC771-77F0-7357-8D52-74027062468A}"/>
              </a:ext>
            </a:extLst>
          </p:cNvPr>
          <p:cNvSpPr/>
          <p:nvPr/>
        </p:nvSpPr>
        <p:spPr>
          <a:xfrm>
            <a:off x="1174750" y="15621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电价数据</a:t>
            </a:r>
          </a:p>
        </p:txBody>
      </p:sp>
      <p:sp>
        <p:nvSpPr>
          <p:cNvPr id="4" name="矩形: 圆角 3">
            <a:extLst>
              <a:ext uri="{FF2B5EF4-FFF2-40B4-BE49-F238E27FC236}">
                <a16:creationId xmlns:a16="http://schemas.microsoft.com/office/drawing/2014/main" id="{9D306A27-B328-DDF4-53D6-F7F9B992D6A9}"/>
              </a:ext>
            </a:extLst>
          </p:cNvPr>
          <p:cNvSpPr/>
          <p:nvPr/>
        </p:nvSpPr>
        <p:spPr>
          <a:xfrm>
            <a:off x="1181100" y="20955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地理信息</a:t>
            </a:r>
          </a:p>
        </p:txBody>
      </p:sp>
      <p:sp>
        <p:nvSpPr>
          <p:cNvPr id="6" name="右大括号 5">
            <a:extLst>
              <a:ext uri="{FF2B5EF4-FFF2-40B4-BE49-F238E27FC236}">
                <a16:creationId xmlns:a16="http://schemas.microsoft.com/office/drawing/2014/main" id="{8534BA85-D0B3-21DF-F355-081C3076C4D3}"/>
              </a:ext>
            </a:extLst>
          </p:cNvPr>
          <p:cNvSpPr/>
          <p:nvPr/>
        </p:nvSpPr>
        <p:spPr>
          <a:xfrm>
            <a:off x="2495550" y="1695366"/>
            <a:ext cx="304800" cy="6921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7C3B449E-E268-16AA-F360-11502C192783}"/>
              </a:ext>
            </a:extLst>
          </p:cNvPr>
          <p:cNvSpPr/>
          <p:nvPr/>
        </p:nvSpPr>
        <p:spPr>
          <a:xfrm>
            <a:off x="2707622" y="1990627"/>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E0F4F62-E8A7-8C3C-8313-CA5DB2126ED0}"/>
              </a:ext>
            </a:extLst>
          </p:cNvPr>
          <p:cNvSpPr txBox="1"/>
          <p:nvPr/>
        </p:nvSpPr>
        <p:spPr>
          <a:xfrm>
            <a:off x="2806700" y="1666455"/>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9" name="矩形: 圆角 8">
            <a:extLst>
              <a:ext uri="{FF2B5EF4-FFF2-40B4-BE49-F238E27FC236}">
                <a16:creationId xmlns:a16="http://schemas.microsoft.com/office/drawing/2014/main" id="{E89A735F-5793-B636-D04C-274E445419AB}"/>
              </a:ext>
            </a:extLst>
          </p:cNvPr>
          <p:cNvSpPr/>
          <p:nvPr/>
        </p:nvSpPr>
        <p:spPr>
          <a:xfrm>
            <a:off x="3803650" y="1851121"/>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推断拓扑</a:t>
            </a:r>
          </a:p>
        </p:txBody>
      </p:sp>
      <p:sp>
        <p:nvSpPr>
          <p:cNvPr id="10" name="箭头: 右 9">
            <a:extLst>
              <a:ext uri="{FF2B5EF4-FFF2-40B4-BE49-F238E27FC236}">
                <a16:creationId xmlns:a16="http://schemas.microsoft.com/office/drawing/2014/main" id="{359ECEE3-D629-E18D-5CE3-E701AC3F62E8}"/>
              </a:ext>
            </a:extLst>
          </p:cNvPr>
          <p:cNvSpPr/>
          <p:nvPr/>
        </p:nvSpPr>
        <p:spPr>
          <a:xfrm>
            <a:off x="5238750" y="19811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B9D6D82-3B14-382D-B80F-BB042DC12422}"/>
              </a:ext>
            </a:extLst>
          </p:cNvPr>
          <p:cNvSpPr txBox="1"/>
          <p:nvPr/>
        </p:nvSpPr>
        <p:spPr>
          <a:xfrm>
            <a:off x="5359402" y="16302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61A67DE8-523C-8E4F-7342-638852614F8E}"/>
              </a:ext>
            </a:extLst>
          </p:cNvPr>
          <p:cNvSpPr/>
          <p:nvPr/>
        </p:nvSpPr>
        <p:spPr>
          <a:xfrm>
            <a:off x="63690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威胁分析结果</a:t>
            </a:r>
          </a:p>
        </p:txBody>
      </p:sp>
      <p:sp>
        <p:nvSpPr>
          <p:cNvPr id="13" name="文本框 12">
            <a:extLst>
              <a:ext uri="{FF2B5EF4-FFF2-40B4-BE49-F238E27FC236}">
                <a16:creationId xmlns:a16="http://schemas.microsoft.com/office/drawing/2014/main" id="{CE2BE402-94A7-46E3-EC41-53922B10008F}"/>
              </a:ext>
            </a:extLst>
          </p:cNvPr>
          <p:cNvSpPr txBox="1"/>
          <p:nvPr/>
        </p:nvSpPr>
        <p:spPr>
          <a:xfrm>
            <a:off x="8288054" y="16048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4" name="箭头: 右 13">
            <a:extLst>
              <a:ext uri="{FF2B5EF4-FFF2-40B4-BE49-F238E27FC236}">
                <a16:creationId xmlns:a16="http://schemas.microsoft.com/office/drawing/2014/main" id="{6347BC6B-D37E-CDB1-BD97-808F60C1941D}"/>
              </a:ext>
            </a:extLst>
          </p:cNvPr>
          <p:cNvSpPr/>
          <p:nvPr/>
        </p:nvSpPr>
        <p:spPr>
          <a:xfrm>
            <a:off x="8195326" y="19557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BD933A52-3531-0F1D-1A0D-1F9434E6843E}"/>
              </a:ext>
            </a:extLst>
          </p:cNvPr>
          <p:cNvSpPr/>
          <p:nvPr/>
        </p:nvSpPr>
        <p:spPr>
          <a:xfrm>
            <a:off x="93027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安全分析结果</a:t>
            </a:r>
          </a:p>
        </p:txBody>
      </p:sp>
      <p:pic>
        <p:nvPicPr>
          <p:cNvPr id="5122" name="图片 95">
            <a:extLst>
              <a:ext uri="{FF2B5EF4-FFF2-40B4-BE49-F238E27FC236}">
                <a16:creationId xmlns:a16="http://schemas.microsoft.com/office/drawing/2014/main" id="{504E8E76-3EC0-A040-363C-ACE305806BB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06551" y="3299485"/>
            <a:ext cx="3851275" cy="25533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1" name="矩形 20">
            <a:extLst>
              <a:ext uri="{FF2B5EF4-FFF2-40B4-BE49-F238E27FC236}">
                <a16:creationId xmlns:a16="http://schemas.microsoft.com/office/drawing/2014/main" id="{A5E909F0-0153-E4EA-133B-36D5920B1BC2}"/>
              </a:ext>
            </a:extLst>
          </p:cNvPr>
          <p:cNvSpPr/>
          <p:nvPr/>
        </p:nvSpPr>
        <p:spPr>
          <a:xfrm>
            <a:off x="6118048" y="3610761"/>
            <a:ext cx="346480"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基线模型对比</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81768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7C90-2DC2-02EA-EEBC-0EED83BF1638}"/>
            </a:ext>
          </a:extLst>
        </p:cNvPr>
        <p:cNvGrpSpPr/>
        <p:nvPr/>
      </p:nvGrpSpPr>
      <p:grpSpPr>
        <a:xfrm>
          <a:off x="0" y="0"/>
          <a:ext cx="0" cy="0"/>
          <a:chOff x="0" y="0"/>
          <a:chExt cx="0" cy="0"/>
        </a:xfrm>
      </p:grpSpPr>
      <p:sp>
        <p:nvSpPr>
          <p:cNvPr id="78" name="文本框 77">
            <a:extLst>
              <a:ext uri="{FF2B5EF4-FFF2-40B4-BE49-F238E27FC236}">
                <a16:creationId xmlns:a16="http://schemas.microsoft.com/office/drawing/2014/main" id="{C7791C7F-A8B0-A8A3-05C0-136B1B6E6635}"/>
              </a:ext>
            </a:extLst>
          </p:cNvPr>
          <p:cNvSpPr txBox="1"/>
          <p:nvPr/>
        </p:nvSpPr>
        <p:spPr>
          <a:xfrm>
            <a:off x="437206" y="953017"/>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zh-CN" sz="2600" b="1" dirty="0">
                <a:latin typeface="微软雅黑" panose="020B0503020204020204" pitchFamily="34" charset="-122"/>
                <a:ea typeface="微软雅黑" panose="020B0503020204020204" pitchFamily="34" charset="-122"/>
              </a:rPr>
              <a:t>新英格兰电力</a:t>
            </a:r>
            <a:r>
              <a:rPr lang="en-US" altLang="zh-CN" sz="2600" b="1" dirty="0">
                <a:latin typeface="微软雅黑" panose="020B0503020204020204" pitchFamily="34" charset="-122"/>
                <a:ea typeface="微软雅黑" panose="020B0503020204020204" pitchFamily="34" charset="-122"/>
              </a:rPr>
              <a:t>39</a:t>
            </a:r>
            <a:r>
              <a:rPr lang="zh-CN" altLang="zh-CN" sz="2600" b="1" dirty="0">
                <a:latin typeface="微软雅黑" panose="020B0503020204020204" pitchFamily="34" charset="-122"/>
                <a:ea typeface="微软雅黑" panose="020B0503020204020204" pitchFamily="34" charset="-122"/>
              </a:rPr>
              <a:t>节点</a:t>
            </a:r>
            <a:r>
              <a:rPr lang="zh-CN" altLang="en-US" sz="2600" b="1" dirty="0">
                <a:latin typeface="微软雅黑" panose="020B0503020204020204" pitchFamily="34" charset="-122"/>
                <a:ea typeface="微软雅黑" panose="020B0503020204020204" pitchFamily="34" charset="-122"/>
              </a:rPr>
              <a:t>算例</a:t>
            </a:r>
          </a:p>
        </p:txBody>
      </p:sp>
      <p:sp>
        <p:nvSpPr>
          <p:cNvPr id="48" name="矩形 47">
            <a:extLst>
              <a:ext uri="{FF2B5EF4-FFF2-40B4-BE49-F238E27FC236}">
                <a16:creationId xmlns:a16="http://schemas.microsoft.com/office/drawing/2014/main" id="{E3018CD1-1710-32CF-CA63-79306D946E77}"/>
              </a:ext>
            </a:extLst>
          </p:cNvPr>
          <p:cNvSpPr/>
          <p:nvPr/>
        </p:nvSpPr>
        <p:spPr>
          <a:xfrm>
            <a:off x="1258328" y="2561390"/>
            <a:ext cx="9675341" cy="707886"/>
          </a:xfrm>
          <a:prstGeom prst="rect">
            <a:avLst/>
          </a:prstGeom>
          <a:solidFill>
            <a:srgbClr val="E7E6E6">
              <a:lumMod val="20000"/>
              <a:lumOff val="80000"/>
            </a:srgbClr>
          </a:solidFill>
        </p:spPr>
        <p:txBody>
          <a:bodyPr wrap="square">
            <a:spAutoFit/>
          </a:bodyPr>
          <a:lstStyle/>
          <a:p>
            <a:pPr marL="285750" lvl="0" indent="-285750">
              <a:buFont typeface="Arial" panose="020B0604020202020204" pitchFamily="34" charset="0"/>
              <a:buChar char="•"/>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kern="0" dirty="0">
                <a:solidFill>
                  <a:srgbClr val="5B9BD5">
                    <a:lumMod val="50000"/>
                  </a:srgbClr>
                </a:solidFill>
                <a:latin typeface="微软雅黑" panose="020B0503020204020204" pitchFamily="34" charset="-122"/>
                <a:ea typeface="微软雅黑" panose="020B0503020204020204" pitchFamily="34" charset="-122"/>
              </a:rPr>
              <a:t>2</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实验</a:t>
            </a:r>
            <a:r>
              <a:rPr kumimoji="1" lang="zh-CN" altLang="en-US" sz="2000" kern="0" dirty="0">
                <a:solidFill>
                  <a:prstClr val="black">
                    <a:lumMod val="95000"/>
                    <a:lumOff val="5000"/>
                  </a:prstClr>
                </a:solidFill>
                <a:latin typeface="微软雅黑" panose="020B0503020204020204" pitchFamily="34" charset="-122"/>
                <a:ea typeface="微软雅黑" panose="020B0503020204020204" pitchFamily="34" charset="-122"/>
              </a:rPr>
              <a:t>中</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利用从</a:t>
            </a:r>
            <a:r>
              <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rPr>
              <a:t>GNN</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a:t>
            </a:r>
            <a:r>
              <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rPr>
              <a:t>GCN</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和</a:t>
            </a:r>
            <a:r>
              <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rPr>
              <a:t>GAT</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推断出的拓扑结构，结合节点地理距离构造攻击导纳矩阵，在</a:t>
            </a:r>
            <a:r>
              <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rPr>
              <a:t>39</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节点系统上实现</a:t>
            </a:r>
            <a:r>
              <a:rPr kumimoji="1" lang="zh-CN" altLang="en-US" sz="2000" kern="0" dirty="0">
                <a:solidFill>
                  <a:prstClr val="black">
                    <a:lumMod val="95000"/>
                    <a:lumOff val="5000"/>
                  </a:prstClr>
                </a:solidFill>
                <a:latin typeface="微软雅黑" panose="020B0503020204020204" pitchFamily="34" charset="-122"/>
                <a:ea typeface="微软雅黑" panose="020B0503020204020204" pitchFamily="34" charset="-122"/>
              </a:rPr>
              <a:t>虚假数据注入攻击测试，分析威胁结果</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a:t>
            </a:r>
            <a:endPar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50" name="矩形 49">
            <a:extLst>
              <a:ext uri="{FF2B5EF4-FFF2-40B4-BE49-F238E27FC236}">
                <a16:creationId xmlns:a16="http://schemas.microsoft.com/office/drawing/2014/main" id="{37F57836-CE60-604C-943E-987D1AAECFBE}"/>
              </a:ext>
            </a:extLst>
          </p:cNvPr>
          <p:cNvSpPr/>
          <p:nvPr/>
        </p:nvSpPr>
        <p:spPr>
          <a:xfrm>
            <a:off x="3048000" y="5949277"/>
            <a:ext cx="9005475" cy="707886"/>
          </a:xfrm>
          <a:prstGeom prst="rect">
            <a:avLst/>
          </a:prstGeom>
        </p:spPr>
        <p:txBody>
          <a:bodyPr wrap="square">
            <a:spAutoFit/>
          </a:bodyPr>
          <a:lstStyle/>
          <a:p>
            <a:pPr lvl="0">
              <a:defRPr/>
            </a:pPr>
            <a:r>
              <a:rPr kumimoji="0" lang="zh-CN" altLang="en-US" sz="2000" b="1"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实验结果：</a:t>
            </a:r>
            <a:r>
              <a:rPr kumimoji="0" lang="zh-CN" altLang="en-US" sz="200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设计的</a:t>
            </a:r>
            <a:r>
              <a:rPr kumimoji="1" lang="en-US" altLang="zh-CN" sz="200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GAT</a:t>
            </a:r>
            <a:r>
              <a:rPr kumimoji="1" lang="zh-CN" altLang="en-US" sz="200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模型推断出的拓扑具有推断威胁能力，</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设计</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的</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注入攻击向量可以完全绕过</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BDD</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机制，在不同的检测能力下实现隐蔽</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攻击。</a:t>
            </a:r>
          </a:p>
        </p:txBody>
      </p:sp>
      <p:sp>
        <p:nvSpPr>
          <p:cNvPr id="2" name="TextBox 8">
            <a:extLst>
              <a:ext uri="{FF2B5EF4-FFF2-40B4-BE49-F238E27FC236}">
                <a16:creationId xmlns:a16="http://schemas.microsoft.com/office/drawing/2014/main" id="{B44FA4A5-A270-5F99-54C6-7CDAEE03E895}"/>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圆角 2">
            <a:extLst>
              <a:ext uri="{FF2B5EF4-FFF2-40B4-BE49-F238E27FC236}">
                <a16:creationId xmlns:a16="http://schemas.microsoft.com/office/drawing/2014/main" id="{11A387AB-FBEA-EF7D-2835-D4470511155D}"/>
              </a:ext>
            </a:extLst>
          </p:cNvPr>
          <p:cNvSpPr/>
          <p:nvPr/>
        </p:nvSpPr>
        <p:spPr>
          <a:xfrm>
            <a:off x="1174750" y="15621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电价数据</a:t>
            </a:r>
          </a:p>
        </p:txBody>
      </p:sp>
      <p:sp>
        <p:nvSpPr>
          <p:cNvPr id="4" name="矩形: 圆角 3">
            <a:extLst>
              <a:ext uri="{FF2B5EF4-FFF2-40B4-BE49-F238E27FC236}">
                <a16:creationId xmlns:a16="http://schemas.microsoft.com/office/drawing/2014/main" id="{5A275404-B7E1-425B-C4A7-5F4EDF86542F}"/>
              </a:ext>
            </a:extLst>
          </p:cNvPr>
          <p:cNvSpPr/>
          <p:nvPr/>
        </p:nvSpPr>
        <p:spPr>
          <a:xfrm>
            <a:off x="1181100" y="20955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地理信息</a:t>
            </a:r>
          </a:p>
        </p:txBody>
      </p:sp>
      <p:sp>
        <p:nvSpPr>
          <p:cNvPr id="6" name="右大括号 5">
            <a:extLst>
              <a:ext uri="{FF2B5EF4-FFF2-40B4-BE49-F238E27FC236}">
                <a16:creationId xmlns:a16="http://schemas.microsoft.com/office/drawing/2014/main" id="{32E08354-519D-51A2-4FCE-A916FBCD7DD7}"/>
              </a:ext>
            </a:extLst>
          </p:cNvPr>
          <p:cNvSpPr/>
          <p:nvPr/>
        </p:nvSpPr>
        <p:spPr>
          <a:xfrm>
            <a:off x="2495550" y="1695366"/>
            <a:ext cx="304800" cy="6921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E2964080-977C-661D-DF6B-C85ED731F5F4}"/>
              </a:ext>
            </a:extLst>
          </p:cNvPr>
          <p:cNvSpPr/>
          <p:nvPr/>
        </p:nvSpPr>
        <p:spPr>
          <a:xfrm>
            <a:off x="2707622" y="1990627"/>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22821A6-B7E2-823D-E6EE-D11C3C6EEEAA}"/>
              </a:ext>
            </a:extLst>
          </p:cNvPr>
          <p:cNvSpPr txBox="1"/>
          <p:nvPr/>
        </p:nvSpPr>
        <p:spPr>
          <a:xfrm>
            <a:off x="2806700" y="1666455"/>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9" name="矩形: 圆角 8">
            <a:extLst>
              <a:ext uri="{FF2B5EF4-FFF2-40B4-BE49-F238E27FC236}">
                <a16:creationId xmlns:a16="http://schemas.microsoft.com/office/drawing/2014/main" id="{2D0A68B2-B6C4-983E-0A39-5434822B8980}"/>
              </a:ext>
            </a:extLst>
          </p:cNvPr>
          <p:cNvSpPr/>
          <p:nvPr/>
        </p:nvSpPr>
        <p:spPr>
          <a:xfrm>
            <a:off x="3803650" y="1851121"/>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推断拓扑</a:t>
            </a:r>
          </a:p>
        </p:txBody>
      </p:sp>
      <p:sp>
        <p:nvSpPr>
          <p:cNvPr id="10" name="箭头: 右 9">
            <a:extLst>
              <a:ext uri="{FF2B5EF4-FFF2-40B4-BE49-F238E27FC236}">
                <a16:creationId xmlns:a16="http://schemas.microsoft.com/office/drawing/2014/main" id="{4305BDF4-ABA4-67C3-B56E-FDA3A0528F96}"/>
              </a:ext>
            </a:extLst>
          </p:cNvPr>
          <p:cNvSpPr/>
          <p:nvPr/>
        </p:nvSpPr>
        <p:spPr>
          <a:xfrm>
            <a:off x="5238750" y="19811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1C10EB0-3F58-014F-382B-884C1B5DE96E}"/>
              </a:ext>
            </a:extLst>
          </p:cNvPr>
          <p:cNvSpPr txBox="1"/>
          <p:nvPr/>
        </p:nvSpPr>
        <p:spPr>
          <a:xfrm>
            <a:off x="5359402" y="16302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69F199F8-0BC6-7329-7E21-1EAAF78EEEEA}"/>
              </a:ext>
            </a:extLst>
          </p:cNvPr>
          <p:cNvSpPr/>
          <p:nvPr/>
        </p:nvSpPr>
        <p:spPr>
          <a:xfrm>
            <a:off x="63690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威胁分析结果</a:t>
            </a:r>
          </a:p>
        </p:txBody>
      </p:sp>
      <p:sp>
        <p:nvSpPr>
          <p:cNvPr id="13" name="文本框 12">
            <a:extLst>
              <a:ext uri="{FF2B5EF4-FFF2-40B4-BE49-F238E27FC236}">
                <a16:creationId xmlns:a16="http://schemas.microsoft.com/office/drawing/2014/main" id="{30EAFE74-AE98-9FF3-1714-D7EBBADCBFAC}"/>
              </a:ext>
            </a:extLst>
          </p:cNvPr>
          <p:cNvSpPr txBox="1"/>
          <p:nvPr/>
        </p:nvSpPr>
        <p:spPr>
          <a:xfrm>
            <a:off x="8288054" y="16048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4" name="箭头: 右 13">
            <a:extLst>
              <a:ext uri="{FF2B5EF4-FFF2-40B4-BE49-F238E27FC236}">
                <a16:creationId xmlns:a16="http://schemas.microsoft.com/office/drawing/2014/main" id="{97E2F2A9-38F9-6CE8-C534-C2F8DAA644BF}"/>
              </a:ext>
            </a:extLst>
          </p:cNvPr>
          <p:cNvSpPr/>
          <p:nvPr/>
        </p:nvSpPr>
        <p:spPr>
          <a:xfrm>
            <a:off x="8195326" y="19557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233B932F-B852-3BB7-E402-C8C4833F7D66}"/>
              </a:ext>
            </a:extLst>
          </p:cNvPr>
          <p:cNvSpPr/>
          <p:nvPr/>
        </p:nvSpPr>
        <p:spPr>
          <a:xfrm>
            <a:off x="93027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安全分析结果</a:t>
            </a:r>
          </a:p>
        </p:txBody>
      </p:sp>
      <p:sp>
        <p:nvSpPr>
          <p:cNvPr id="20" name="矩形 19">
            <a:extLst>
              <a:ext uri="{FF2B5EF4-FFF2-40B4-BE49-F238E27FC236}">
                <a16:creationId xmlns:a16="http://schemas.microsoft.com/office/drawing/2014/main" id="{31201C1F-97EA-4839-A03B-9BD724D76AE8}"/>
              </a:ext>
            </a:extLst>
          </p:cNvPr>
          <p:cNvSpPr/>
          <p:nvPr/>
        </p:nvSpPr>
        <p:spPr>
          <a:xfrm>
            <a:off x="428508" y="3735719"/>
            <a:ext cx="2219442" cy="2246769"/>
          </a:xfrm>
          <a:prstGeom prst="rect">
            <a:avLst/>
          </a:prstGeom>
          <a:ln>
            <a:solidFill>
              <a:schemeClr val="accent1"/>
            </a:solidFill>
          </a:ln>
        </p:spPr>
        <p:txBody>
          <a:bodyPr wrap="square">
            <a:spAutoFit/>
          </a:bodyPr>
          <a:lstStyle/>
          <a:p>
            <a:pPr lvl="0">
              <a:defRPr/>
            </a:pPr>
            <a:r>
              <a:rPr kumimoji="0" lang="zh-CN" altLang="en-US" sz="200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实验中，攻击成功率通过攻击数据绕过</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电</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网对错误数据的检测</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BDD</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）的比例而判断。一般系统</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BDD</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阈值推荐设置为</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2.33</a:t>
            </a:r>
            <a:endParaRPr lang="zh-CN" altLang="en-US" sz="2000" dirty="0">
              <a:solidFill>
                <a:srgbClr val="4472C4">
                  <a:lumMod val="10000"/>
                </a:srgbClr>
              </a:solidFill>
              <a:latin typeface="微软雅黑" panose="020B0503020204020204" pitchFamily="34" charset="-122"/>
              <a:ea typeface="微软雅黑" panose="020B0503020204020204" pitchFamily="34" charset="-122"/>
            </a:endParaRPr>
          </a:p>
        </p:txBody>
      </p:sp>
      <p:graphicFrame>
        <p:nvGraphicFramePr>
          <p:cNvPr id="21" name="表格 21">
            <a:extLst>
              <a:ext uri="{FF2B5EF4-FFF2-40B4-BE49-F238E27FC236}">
                <a16:creationId xmlns:a16="http://schemas.microsoft.com/office/drawing/2014/main" id="{3BE1CC23-D5B2-4DE2-BD10-3FC430672C06}"/>
              </a:ext>
            </a:extLst>
          </p:cNvPr>
          <p:cNvGraphicFramePr>
            <a:graphicFrameLocks noGrp="1"/>
          </p:cNvGraphicFramePr>
          <p:nvPr/>
        </p:nvGraphicFramePr>
        <p:xfrm>
          <a:off x="3171825" y="3648998"/>
          <a:ext cx="8127999" cy="2246768"/>
        </p:xfrm>
        <a:graphic>
          <a:graphicData uri="http://schemas.openxmlformats.org/drawingml/2006/table">
            <a:tbl>
              <a:tblPr firstRow="1" bandRow="1">
                <a:tableStyleId>{5C22544A-7EE6-4342-B048-85BDC9FD1C3A}</a:tableStyleId>
              </a:tblPr>
              <a:tblGrid>
                <a:gridCol w="2243667">
                  <a:extLst>
                    <a:ext uri="{9D8B030D-6E8A-4147-A177-3AD203B41FA5}">
                      <a16:colId xmlns:a16="http://schemas.microsoft.com/office/drawing/2014/main" val="4173050824"/>
                    </a:ext>
                  </a:extLst>
                </a:gridCol>
                <a:gridCol w="1471083">
                  <a:extLst>
                    <a:ext uri="{9D8B030D-6E8A-4147-A177-3AD203B41FA5}">
                      <a16:colId xmlns:a16="http://schemas.microsoft.com/office/drawing/2014/main" val="3143448943"/>
                    </a:ext>
                  </a:extLst>
                </a:gridCol>
                <a:gridCol w="1471083">
                  <a:extLst>
                    <a:ext uri="{9D8B030D-6E8A-4147-A177-3AD203B41FA5}">
                      <a16:colId xmlns:a16="http://schemas.microsoft.com/office/drawing/2014/main" val="674910651"/>
                    </a:ext>
                  </a:extLst>
                </a:gridCol>
                <a:gridCol w="1472142">
                  <a:extLst>
                    <a:ext uri="{9D8B030D-6E8A-4147-A177-3AD203B41FA5}">
                      <a16:colId xmlns:a16="http://schemas.microsoft.com/office/drawing/2014/main" val="1840291604"/>
                    </a:ext>
                  </a:extLst>
                </a:gridCol>
                <a:gridCol w="1470024">
                  <a:extLst>
                    <a:ext uri="{9D8B030D-6E8A-4147-A177-3AD203B41FA5}">
                      <a16:colId xmlns:a16="http://schemas.microsoft.com/office/drawing/2014/main" val="77552513"/>
                    </a:ext>
                  </a:extLst>
                </a:gridCol>
              </a:tblGrid>
              <a:tr h="561692">
                <a:tc>
                  <a:txBody>
                    <a:bodyPr/>
                    <a:lstStyle/>
                    <a:p>
                      <a:pPr algn="l"/>
                      <a:r>
                        <a:rPr lang="zh-CN" altLang="en-US" sz="1800" b="1" kern="1200" dirty="0">
                          <a:solidFill>
                            <a:schemeClr val="lt1"/>
                          </a:solidFill>
                          <a:latin typeface="微软雅黑" panose="020B0503020204020204" pitchFamily="34" charset="-122"/>
                          <a:ea typeface="微软雅黑" panose="020B0503020204020204" pitchFamily="34" charset="-122"/>
                          <a:cs typeface="+mn-cs"/>
                        </a:rPr>
                        <a:t>模型         </a:t>
                      </a:r>
                      <a:r>
                        <a:rPr lang="en-US" altLang="zh-CN" sz="1800" b="1" kern="1200" dirty="0">
                          <a:solidFill>
                            <a:schemeClr val="lt1"/>
                          </a:solidFill>
                          <a:latin typeface="微软雅黑" panose="020B0503020204020204" pitchFamily="34" charset="-122"/>
                          <a:ea typeface="微软雅黑" panose="020B0503020204020204" pitchFamily="34" charset="-122"/>
                          <a:cs typeface="+mn-cs"/>
                        </a:rPr>
                        <a:t>BDD</a:t>
                      </a:r>
                      <a:r>
                        <a:rPr lang="zh-CN" altLang="en-US" dirty="0">
                          <a:latin typeface="微软雅黑" panose="020B0503020204020204" pitchFamily="34" charset="-122"/>
                          <a:ea typeface="微软雅黑" panose="020B0503020204020204" pitchFamily="34" charset="-122"/>
                        </a:rPr>
                        <a:t>阈值  </a:t>
                      </a:r>
                    </a:p>
                  </a:txBody>
                  <a:tcP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5</a:t>
                      </a:r>
                      <a:endParaRPr lang="zh-CN" altLang="en-US" dirty="0"/>
                    </a:p>
                  </a:txBody>
                  <a:tcPr anchor="ctr"/>
                </a:tc>
                <a:tc>
                  <a:txBody>
                    <a:bodyPr/>
                    <a:lstStyle/>
                    <a:p>
                      <a:pPr algn="ctr"/>
                      <a:r>
                        <a:rPr lang="en-US" altLang="zh-CN" dirty="0"/>
                        <a:t>10</a:t>
                      </a:r>
                      <a:endParaRPr lang="zh-CN" altLang="en-US" dirty="0"/>
                    </a:p>
                  </a:txBody>
                  <a:tcPr anchor="ctr"/>
                </a:tc>
                <a:extLst>
                  <a:ext uri="{0D108BD9-81ED-4DB2-BD59-A6C34878D82A}">
                    <a16:rowId xmlns:a16="http://schemas.microsoft.com/office/drawing/2014/main" val="560700949"/>
                  </a:ext>
                </a:extLst>
              </a:tr>
              <a:tr h="561692">
                <a:tc>
                  <a:txBody>
                    <a:bodyPr/>
                    <a:lstStyle/>
                    <a:p>
                      <a:pPr algn="ctr"/>
                      <a:r>
                        <a:rPr lang="en-US" altLang="zh-CN" sz="2000" dirty="0">
                          <a:latin typeface="微软雅黑" panose="020B0503020204020204" pitchFamily="34" charset="-122"/>
                          <a:ea typeface="微软雅黑" panose="020B0503020204020204" pitchFamily="34" charset="-122"/>
                        </a:rPr>
                        <a:t>GNN</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7%</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65%</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069859583"/>
                  </a:ext>
                </a:extLst>
              </a:tr>
              <a:tr h="561692">
                <a:tc>
                  <a:txBody>
                    <a:bodyPr/>
                    <a:lstStyle/>
                    <a:p>
                      <a:pPr algn="ctr"/>
                      <a:r>
                        <a:rPr lang="en-US" altLang="zh-CN" sz="2000" dirty="0">
                          <a:latin typeface="微软雅黑" panose="020B0503020204020204" pitchFamily="34" charset="-122"/>
                          <a:ea typeface="微软雅黑" panose="020B0503020204020204" pitchFamily="34" charset="-122"/>
                        </a:rPr>
                        <a:t>GCN</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78%</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100%</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76174179"/>
                  </a:ext>
                </a:extLst>
              </a:tr>
              <a:tr h="561692">
                <a:tc>
                  <a:txBody>
                    <a:bodyPr/>
                    <a:lstStyle/>
                    <a:p>
                      <a:pPr algn="ctr"/>
                      <a:r>
                        <a:rPr lang="en-US" altLang="zh-CN" sz="2000" dirty="0">
                          <a:latin typeface="微软雅黑" panose="020B0503020204020204" pitchFamily="34" charset="-122"/>
                          <a:ea typeface="微软雅黑" panose="020B0503020204020204" pitchFamily="34" charset="-122"/>
                        </a:rPr>
                        <a:t>GAT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Ours</a:t>
                      </a:r>
                      <a:r>
                        <a:rPr lang="zh-CN" altLang="en-US" sz="2000" dirty="0">
                          <a:latin typeface="微软雅黑" panose="020B0503020204020204" pitchFamily="34" charset="-122"/>
                          <a:ea typeface="微软雅黑" panose="020B0503020204020204" pitchFamily="34" charset="-122"/>
                        </a:rPr>
                        <a:t>）</a:t>
                      </a:r>
                    </a:p>
                  </a:txBody>
                  <a:tcPr anchor="ctr"/>
                </a:tc>
                <a:tc>
                  <a:txBody>
                    <a:bodyPr/>
                    <a:lstStyle/>
                    <a:p>
                      <a:pPr algn="ctr"/>
                      <a:r>
                        <a:rPr lang="en-US" altLang="zh-CN" sz="2000" b="1" dirty="0">
                          <a:solidFill>
                            <a:srgbClr val="C00000"/>
                          </a:solidFill>
                          <a:latin typeface="微软雅黑" panose="020B0503020204020204" pitchFamily="34" charset="-122"/>
                          <a:ea typeface="微软雅黑" panose="020B0503020204020204" pitchFamily="34" charset="-122"/>
                        </a:rPr>
                        <a:t>100%</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b="1" dirty="0">
                          <a:solidFill>
                            <a:srgbClr val="C00000"/>
                          </a:solidFill>
                          <a:latin typeface="微软雅黑" panose="020B0503020204020204" pitchFamily="34" charset="-122"/>
                          <a:ea typeface="微软雅黑" panose="020B0503020204020204" pitchFamily="34" charset="-122"/>
                        </a:rPr>
                        <a:t>100%</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b="1" dirty="0">
                          <a:solidFill>
                            <a:srgbClr val="C00000"/>
                          </a:solidFill>
                          <a:latin typeface="微软雅黑" panose="020B0503020204020204" pitchFamily="34" charset="-122"/>
                          <a:ea typeface="微软雅黑" panose="020B0503020204020204" pitchFamily="34" charset="-122"/>
                        </a:rPr>
                        <a:t>100%</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solidFill>
                            <a:srgbClr val="C00000"/>
                          </a:solidFill>
                          <a:latin typeface="微软雅黑" panose="020B0503020204020204" pitchFamily="34" charset="-122"/>
                          <a:ea typeface="微软雅黑" panose="020B0503020204020204" pitchFamily="34" charset="-122"/>
                        </a:rPr>
                        <a:t>100%</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21716705"/>
                  </a:ext>
                </a:extLst>
              </a:tr>
            </a:tbl>
          </a:graphicData>
        </a:graphic>
      </p:graphicFrame>
      <p:cxnSp>
        <p:nvCxnSpPr>
          <p:cNvPr id="23" name="直接连接符 22">
            <a:extLst>
              <a:ext uri="{FF2B5EF4-FFF2-40B4-BE49-F238E27FC236}">
                <a16:creationId xmlns:a16="http://schemas.microsoft.com/office/drawing/2014/main" id="{4F924D98-47A8-47DA-B5D5-ECE098C7BE15}"/>
              </a:ext>
            </a:extLst>
          </p:cNvPr>
          <p:cNvCxnSpPr>
            <a:cxnSpLocks/>
          </p:cNvCxnSpPr>
          <p:nvPr/>
        </p:nvCxnSpPr>
        <p:spPr>
          <a:xfrm>
            <a:off x="3212447" y="3648998"/>
            <a:ext cx="2216980" cy="51059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A22EB83B-EC57-4BC6-A1D4-D71EAFD1DFA2}"/>
              </a:ext>
            </a:extLst>
          </p:cNvPr>
          <p:cNvSpPr txBox="1"/>
          <p:nvPr/>
        </p:nvSpPr>
        <p:spPr>
          <a:xfrm>
            <a:off x="5869516" y="3264307"/>
            <a:ext cx="3302002" cy="369332"/>
          </a:xfrm>
          <a:prstGeom prst="rect">
            <a:avLst/>
          </a:prstGeom>
          <a:noFill/>
        </p:spPr>
        <p:txBody>
          <a:bodyPr wrap="square">
            <a:spAutoFit/>
          </a:bodyPr>
          <a:lstStyle/>
          <a:p>
            <a:r>
              <a:rPr kumimoji="1" lang="zh-CN" altLang="en-US" sz="180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虚假数据注入攻击测试成功率</a:t>
            </a:r>
            <a:endParaRPr lang="zh-CN" altLang="en-US" dirty="0"/>
          </a:p>
        </p:txBody>
      </p:sp>
    </p:spTree>
    <p:extLst>
      <p:ext uri="{BB962C8B-B14F-4D97-AF65-F5344CB8AC3E}">
        <p14:creationId xmlns:p14="http://schemas.microsoft.com/office/powerpoint/2010/main" val="993710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E7678-358C-38AA-3A73-38DDD2D67263}"/>
            </a:ext>
          </a:extLst>
        </p:cNvPr>
        <p:cNvGrpSpPr/>
        <p:nvPr/>
      </p:nvGrpSpPr>
      <p:grpSpPr>
        <a:xfrm>
          <a:off x="0" y="0"/>
          <a:ext cx="0" cy="0"/>
          <a:chOff x="0" y="0"/>
          <a:chExt cx="0" cy="0"/>
        </a:xfrm>
      </p:grpSpPr>
      <p:sp>
        <p:nvSpPr>
          <p:cNvPr id="78" name="文本框 77">
            <a:extLst>
              <a:ext uri="{FF2B5EF4-FFF2-40B4-BE49-F238E27FC236}">
                <a16:creationId xmlns:a16="http://schemas.microsoft.com/office/drawing/2014/main" id="{CFF42FE2-4624-3CC7-21B5-209CED2738C8}"/>
              </a:ext>
            </a:extLst>
          </p:cNvPr>
          <p:cNvSpPr txBox="1"/>
          <p:nvPr/>
        </p:nvSpPr>
        <p:spPr>
          <a:xfrm>
            <a:off x="437206" y="953017"/>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zh-CN" sz="2600" b="1" dirty="0">
                <a:latin typeface="微软雅黑" panose="020B0503020204020204" pitchFamily="34" charset="-122"/>
                <a:ea typeface="微软雅黑" panose="020B0503020204020204" pitchFamily="34" charset="-122"/>
              </a:rPr>
              <a:t>新英格兰电力</a:t>
            </a:r>
            <a:r>
              <a:rPr lang="en-US" altLang="zh-CN" sz="2600" b="1" dirty="0">
                <a:latin typeface="微软雅黑" panose="020B0503020204020204" pitchFamily="34" charset="-122"/>
                <a:ea typeface="微软雅黑" panose="020B0503020204020204" pitchFamily="34" charset="-122"/>
              </a:rPr>
              <a:t>39</a:t>
            </a:r>
            <a:r>
              <a:rPr lang="zh-CN" altLang="zh-CN" sz="2600" b="1" dirty="0">
                <a:latin typeface="微软雅黑" panose="020B0503020204020204" pitchFamily="34" charset="-122"/>
                <a:ea typeface="微软雅黑" panose="020B0503020204020204" pitchFamily="34" charset="-122"/>
              </a:rPr>
              <a:t>节点</a:t>
            </a:r>
            <a:r>
              <a:rPr lang="zh-CN" altLang="en-US" sz="2600" b="1" dirty="0">
                <a:latin typeface="微软雅黑" panose="020B0503020204020204" pitchFamily="34" charset="-122"/>
                <a:ea typeface="微软雅黑" panose="020B0503020204020204" pitchFamily="34" charset="-122"/>
              </a:rPr>
              <a:t>算例</a:t>
            </a:r>
          </a:p>
        </p:txBody>
      </p:sp>
      <p:sp>
        <p:nvSpPr>
          <p:cNvPr id="48" name="矩形 47">
            <a:extLst>
              <a:ext uri="{FF2B5EF4-FFF2-40B4-BE49-F238E27FC236}">
                <a16:creationId xmlns:a16="http://schemas.microsoft.com/office/drawing/2014/main" id="{4F17A3BC-19FD-97B5-0B03-E2E8A794F5FC}"/>
              </a:ext>
            </a:extLst>
          </p:cNvPr>
          <p:cNvSpPr/>
          <p:nvPr/>
        </p:nvSpPr>
        <p:spPr>
          <a:xfrm>
            <a:off x="1258328" y="2561390"/>
            <a:ext cx="9675341" cy="707886"/>
          </a:xfrm>
          <a:prstGeom prst="rect">
            <a:avLst/>
          </a:prstGeom>
          <a:solidFill>
            <a:srgbClr val="E7E6E6">
              <a:lumMod val="20000"/>
              <a:lumOff val="80000"/>
            </a:srgbClr>
          </a:solidFill>
        </p:spPr>
        <p:txBody>
          <a:bodyPr wrap="square">
            <a:spAutoFit/>
          </a:bodyPr>
          <a:lstStyle/>
          <a:p>
            <a:pPr marL="285750" lvl="0" indent="-285750">
              <a:buFont typeface="Arial" panose="020B0604020202020204" pitchFamily="34" charset="0"/>
              <a:buChar char="•"/>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3</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实验</a:t>
            </a:r>
            <a:r>
              <a:rPr kumimoji="1" lang="zh-CN" altLang="en-US" sz="2000" kern="0" dirty="0">
                <a:solidFill>
                  <a:prstClr val="black">
                    <a:lumMod val="95000"/>
                    <a:lumOff val="5000"/>
                  </a:prstClr>
                </a:solidFill>
                <a:latin typeface="微软雅黑" panose="020B0503020204020204" pitchFamily="34" charset="-122"/>
                <a:ea typeface="微软雅黑" panose="020B0503020204020204" pitchFamily="34" charset="-122"/>
              </a:rPr>
              <a:t>中通过数据加噪、数据掩码、数据混淆三种安全防护方式进行电价数据处理，再次通过</a:t>
            </a:r>
            <a:r>
              <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rPr>
              <a:t>GAT</a:t>
            </a:r>
            <a:r>
              <a:rPr kumimoji="1" lang="zh-CN" altLang="en-US" sz="2000" kern="0" dirty="0">
                <a:solidFill>
                  <a:prstClr val="black">
                    <a:lumMod val="95000"/>
                    <a:lumOff val="5000"/>
                  </a:prstClr>
                </a:solidFill>
                <a:latin typeface="微软雅黑" panose="020B0503020204020204" pitchFamily="34" charset="-122"/>
                <a:ea typeface="微软雅黑" panose="020B0503020204020204" pitchFamily="34" charset="-122"/>
              </a:rPr>
              <a:t>模型进行推断，分析安全防护结果</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a:t>
            </a:r>
            <a:endPar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52" name="矩形 51">
            <a:extLst>
              <a:ext uri="{FF2B5EF4-FFF2-40B4-BE49-F238E27FC236}">
                <a16:creationId xmlns:a16="http://schemas.microsoft.com/office/drawing/2014/main" id="{BADDA70F-1447-847A-FEFD-1865789F8033}"/>
              </a:ext>
            </a:extLst>
          </p:cNvPr>
          <p:cNvSpPr/>
          <p:nvPr/>
        </p:nvSpPr>
        <p:spPr>
          <a:xfrm>
            <a:off x="7981952" y="3304362"/>
            <a:ext cx="3054348"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dirty="0">
                <a:solidFill>
                  <a:srgbClr val="4472C4">
                    <a:lumMod val="10000"/>
                  </a:srgbClr>
                </a:solidFill>
                <a:latin typeface="微软雅黑" panose="020B0503020204020204" pitchFamily="34" charset="-122"/>
                <a:ea typeface="微软雅黑" panose="020B0503020204020204" pitchFamily="34" charset="-122"/>
              </a:rPr>
              <a:t>数据加噪效能对比</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TextBox 8">
            <a:extLst>
              <a:ext uri="{FF2B5EF4-FFF2-40B4-BE49-F238E27FC236}">
                <a16:creationId xmlns:a16="http://schemas.microsoft.com/office/drawing/2014/main" id="{118763F9-2282-2531-B49F-08DC37AD5F06}"/>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圆角 2">
            <a:extLst>
              <a:ext uri="{FF2B5EF4-FFF2-40B4-BE49-F238E27FC236}">
                <a16:creationId xmlns:a16="http://schemas.microsoft.com/office/drawing/2014/main" id="{900A7EC4-963D-81C1-278A-91A2723C4BF9}"/>
              </a:ext>
            </a:extLst>
          </p:cNvPr>
          <p:cNvSpPr/>
          <p:nvPr/>
        </p:nvSpPr>
        <p:spPr>
          <a:xfrm>
            <a:off x="1174750" y="15621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电价数据</a:t>
            </a:r>
          </a:p>
        </p:txBody>
      </p:sp>
      <p:sp>
        <p:nvSpPr>
          <p:cNvPr id="4" name="矩形: 圆角 3">
            <a:extLst>
              <a:ext uri="{FF2B5EF4-FFF2-40B4-BE49-F238E27FC236}">
                <a16:creationId xmlns:a16="http://schemas.microsoft.com/office/drawing/2014/main" id="{448D94C3-5A08-64A7-2289-2A5156A7F111}"/>
              </a:ext>
            </a:extLst>
          </p:cNvPr>
          <p:cNvSpPr/>
          <p:nvPr/>
        </p:nvSpPr>
        <p:spPr>
          <a:xfrm>
            <a:off x="1181100" y="20955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地理信息</a:t>
            </a:r>
          </a:p>
        </p:txBody>
      </p:sp>
      <p:sp>
        <p:nvSpPr>
          <p:cNvPr id="6" name="右大括号 5">
            <a:extLst>
              <a:ext uri="{FF2B5EF4-FFF2-40B4-BE49-F238E27FC236}">
                <a16:creationId xmlns:a16="http://schemas.microsoft.com/office/drawing/2014/main" id="{9B8586B1-3608-F5F3-4585-F274EA1A4CF3}"/>
              </a:ext>
            </a:extLst>
          </p:cNvPr>
          <p:cNvSpPr/>
          <p:nvPr/>
        </p:nvSpPr>
        <p:spPr>
          <a:xfrm>
            <a:off x="2495550" y="1695366"/>
            <a:ext cx="304800" cy="6921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FAF3086D-BEDC-FD62-D02C-A66CDA54CB86}"/>
              </a:ext>
            </a:extLst>
          </p:cNvPr>
          <p:cNvSpPr/>
          <p:nvPr/>
        </p:nvSpPr>
        <p:spPr>
          <a:xfrm>
            <a:off x="2707622" y="1990627"/>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438A370-B8D9-0640-8DAB-5517455CA407}"/>
              </a:ext>
            </a:extLst>
          </p:cNvPr>
          <p:cNvSpPr txBox="1"/>
          <p:nvPr/>
        </p:nvSpPr>
        <p:spPr>
          <a:xfrm>
            <a:off x="2806700" y="1666455"/>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9" name="矩形: 圆角 8">
            <a:extLst>
              <a:ext uri="{FF2B5EF4-FFF2-40B4-BE49-F238E27FC236}">
                <a16:creationId xmlns:a16="http://schemas.microsoft.com/office/drawing/2014/main" id="{74E8467F-99F2-1095-D7DE-DB061BC9F3FD}"/>
              </a:ext>
            </a:extLst>
          </p:cNvPr>
          <p:cNvSpPr/>
          <p:nvPr/>
        </p:nvSpPr>
        <p:spPr>
          <a:xfrm>
            <a:off x="3803650" y="1851121"/>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推断拓扑</a:t>
            </a:r>
          </a:p>
        </p:txBody>
      </p:sp>
      <p:sp>
        <p:nvSpPr>
          <p:cNvPr id="10" name="箭头: 右 9">
            <a:extLst>
              <a:ext uri="{FF2B5EF4-FFF2-40B4-BE49-F238E27FC236}">
                <a16:creationId xmlns:a16="http://schemas.microsoft.com/office/drawing/2014/main" id="{9DB50AC1-53C0-ECAD-BAF8-3159B78566FB}"/>
              </a:ext>
            </a:extLst>
          </p:cNvPr>
          <p:cNvSpPr/>
          <p:nvPr/>
        </p:nvSpPr>
        <p:spPr>
          <a:xfrm>
            <a:off x="5238750" y="19811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DFDE8F2-8608-C96C-D2D1-DD9F41B8A90A}"/>
              </a:ext>
            </a:extLst>
          </p:cNvPr>
          <p:cNvSpPr txBox="1"/>
          <p:nvPr/>
        </p:nvSpPr>
        <p:spPr>
          <a:xfrm>
            <a:off x="5359402" y="16302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E844D1CD-3E17-1E78-719B-AA59405AB326}"/>
              </a:ext>
            </a:extLst>
          </p:cNvPr>
          <p:cNvSpPr/>
          <p:nvPr/>
        </p:nvSpPr>
        <p:spPr>
          <a:xfrm>
            <a:off x="63690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威胁分析结果</a:t>
            </a:r>
          </a:p>
        </p:txBody>
      </p:sp>
      <p:sp>
        <p:nvSpPr>
          <p:cNvPr id="13" name="文本框 12">
            <a:extLst>
              <a:ext uri="{FF2B5EF4-FFF2-40B4-BE49-F238E27FC236}">
                <a16:creationId xmlns:a16="http://schemas.microsoft.com/office/drawing/2014/main" id="{9BA94991-5567-8221-6A60-D5A1F3EC9DA0}"/>
              </a:ext>
            </a:extLst>
          </p:cNvPr>
          <p:cNvSpPr txBox="1"/>
          <p:nvPr/>
        </p:nvSpPr>
        <p:spPr>
          <a:xfrm>
            <a:off x="8288054" y="16048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4" name="箭头: 右 13">
            <a:extLst>
              <a:ext uri="{FF2B5EF4-FFF2-40B4-BE49-F238E27FC236}">
                <a16:creationId xmlns:a16="http://schemas.microsoft.com/office/drawing/2014/main" id="{7D735589-E876-EAE0-2FA0-0EF9E2756373}"/>
              </a:ext>
            </a:extLst>
          </p:cNvPr>
          <p:cNvSpPr/>
          <p:nvPr/>
        </p:nvSpPr>
        <p:spPr>
          <a:xfrm>
            <a:off x="8195326" y="19557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43BC71C4-1C4D-8B32-CBFD-3679DFE5E941}"/>
              </a:ext>
            </a:extLst>
          </p:cNvPr>
          <p:cNvSpPr/>
          <p:nvPr/>
        </p:nvSpPr>
        <p:spPr>
          <a:xfrm>
            <a:off x="93027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安全分析结果</a:t>
            </a:r>
          </a:p>
        </p:txBody>
      </p:sp>
      <p:sp>
        <p:nvSpPr>
          <p:cNvPr id="28" name="矩形 27">
            <a:extLst>
              <a:ext uri="{FF2B5EF4-FFF2-40B4-BE49-F238E27FC236}">
                <a16:creationId xmlns:a16="http://schemas.microsoft.com/office/drawing/2014/main" id="{3E342DA7-FF6E-402C-9605-DE159C6FCDBE}"/>
              </a:ext>
            </a:extLst>
          </p:cNvPr>
          <p:cNvSpPr/>
          <p:nvPr/>
        </p:nvSpPr>
        <p:spPr>
          <a:xfrm>
            <a:off x="850247" y="3448050"/>
            <a:ext cx="5746750" cy="2646365"/>
          </a:xfrm>
          <a:prstGeom prst="rect">
            <a:avLst/>
          </a:prstGeom>
        </p:spPr>
        <p:txBody>
          <a:bodyPr wrap="square">
            <a:spAutoFit/>
          </a:bodyPr>
          <a:lstStyle/>
          <a:p>
            <a:pPr marL="342900" lvl="0" indent="-342900">
              <a:lnSpc>
                <a:spcPct val="120000"/>
              </a:lnSpc>
              <a:buFont typeface="Arial" panose="020B0604020202020204" pitchFamily="34" charset="0"/>
              <a:buChar char="•"/>
              <a:defRPr/>
            </a:pPr>
            <a:r>
              <a:rPr kumimoji="0" lang="zh-CN" altLang="en-US" sz="200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实验</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采用干扰后数据与原始数据之间的百分比误差</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的</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补值</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定义</a:t>
            </a:r>
            <a:r>
              <a:rPr lang="zh-CN" altLang="zh-CN" sz="2000" b="1" dirty="0">
                <a:solidFill>
                  <a:srgbClr val="4472C4">
                    <a:lumMod val="10000"/>
                  </a:srgbClr>
                </a:solidFill>
                <a:latin typeface="微软雅黑" panose="020B0503020204020204" pitchFamily="34" charset="-122"/>
                <a:ea typeface="微软雅黑" panose="020B0503020204020204" pitchFamily="34" charset="-122"/>
              </a:rPr>
              <a:t>数据可用性</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，用</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推断模型对目标拓扑重建结果的标准均方误差</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MSE</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定义</a:t>
            </a:r>
            <a:r>
              <a:rPr lang="zh-CN" altLang="zh-CN" sz="2000" b="1" dirty="0">
                <a:solidFill>
                  <a:srgbClr val="4472C4">
                    <a:lumMod val="10000"/>
                  </a:srgbClr>
                </a:solidFill>
                <a:latin typeface="微软雅黑" panose="020B0503020204020204" pitchFamily="34" charset="-122"/>
                <a:ea typeface="微软雅黑" panose="020B0503020204020204" pitchFamily="34" charset="-122"/>
              </a:rPr>
              <a:t>拓扑隐私性</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a:t>
            </a:r>
            <a:endParaRPr lang="en-US" altLang="zh-CN" sz="2000" dirty="0">
              <a:solidFill>
                <a:srgbClr val="4472C4">
                  <a:lumMod val="10000"/>
                </a:srgbClr>
              </a:solidFill>
              <a:latin typeface="微软雅黑" panose="020B0503020204020204" pitchFamily="34" charset="-122"/>
              <a:ea typeface="微软雅黑" panose="020B0503020204020204" pitchFamily="34" charset="-122"/>
            </a:endParaRPr>
          </a:p>
          <a:p>
            <a:pPr marL="342900" lvl="0" indent="-342900">
              <a:lnSpc>
                <a:spcPct val="120000"/>
              </a:lnSpc>
              <a:buFont typeface="Arial" panose="020B0604020202020204" pitchFamily="34" charset="0"/>
              <a:buChar char="•"/>
              <a:defRPr/>
            </a:pPr>
            <a:r>
              <a:rPr lang="zh-CN" altLang="zh-CN" sz="2000" dirty="0">
                <a:solidFill>
                  <a:srgbClr val="4472C4">
                    <a:lumMod val="10000"/>
                  </a:srgbClr>
                </a:solidFill>
                <a:latin typeface="微软雅黑" panose="020B0503020204020204" pitchFamily="34" charset="-122"/>
                <a:ea typeface="微软雅黑" panose="020B0503020204020204" pitchFamily="34" charset="-122"/>
              </a:rPr>
              <a:t>在数据加噪实验中，</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实验</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对公开电价添加均值为</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，标准差分别为</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0.001</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0.005</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0.01</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0.05</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0.1</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0.5</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r>
              <a:rPr lang="en-US" altLang="zh-CN" sz="2000" dirty="0">
                <a:solidFill>
                  <a:srgbClr val="4472C4">
                    <a:lumMod val="10000"/>
                  </a:srgbClr>
                </a:solidFill>
                <a:latin typeface="微软雅黑" panose="020B0503020204020204" pitchFamily="34" charset="-122"/>
                <a:ea typeface="微软雅黑" panose="020B0503020204020204" pitchFamily="34" charset="-122"/>
              </a:rPr>
              <a:t>1</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的</a:t>
            </a:r>
            <a:r>
              <a:rPr lang="zh-CN" altLang="zh-CN" sz="2000" b="1" dirty="0">
                <a:solidFill>
                  <a:srgbClr val="4472C4">
                    <a:lumMod val="10000"/>
                  </a:srgbClr>
                </a:solidFill>
                <a:latin typeface="微软雅黑" panose="020B0503020204020204" pitchFamily="34" charset="-122"/>
                <a:ea typeface="微软雅黑" panose="020B0503020204020204" pitchFamily="34" charset="-122"/>
              </a:rPr>
              <a:t>拉普拉斯噪声</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a:t>
            </a:r>
            <a:endParaRPr lang="zh-CN" altLang="en-US" sz="2000" dirty="0">
              <a:solidFill>
                <a:srgbClr val="4472C4">
                  <a:lumMod val="10000"/>
                </a:srgbClr>
              </a:solidFill>
              <a:latin typeface="微软雅黑" panose="020B0503020204020204" pitchFamily="34" charset="-122"/>
              <a:ea typeface="微软雅黑" panose="020B0503020204020204" pitchFamily="34" charset="-122"/>
            </a:endParaRPr>
          </a:p>
        </p:txBody>
      </p:sp>
      <p:pic>
        <p:nvPicPr>
          <p:cNvPr id="44" name="图片 43">
            <a:extLst>
              <a:ext uri="{FF2B5EF4-FFF2-40B4-BE49-F238E27FC236}">
                <a16:creationId xmlns:a16="http://schemas.microsoft.com/office/drawing/2014/main" id="{8A719BCE-26BE-4206-961F-8B5605963C4B}"/>
              </a:ext>
            </a:extLst>
          </p:cNvPr>
          <p:cNvPicPr>
            <a:picLocks noChangeAspect="1"/>
          </p:cNvPicPr>
          <p:nvPr/>
        </p:nvPicPr>
        <p:blipFill rotWithShape="1">
          <a:blip r:embed="rId4"/>
          <a:srcRect l="2329" t="12481" r="2040" b="9843"/>
          <a:stretch/>
        </p:blipFill>
        <p:spPr>
          <a:xfrm>
            <a:off x="6671325" y="3630295"/>
            <a:ext cx="5067301" cy="3086949"/>
          </a:xfrm>
          <a:prstGeom prst="rect">
            <a:avLst/>
          </a:prstGeom>
        </p:spPr>
      </p:pic>
    </p:spTree>
    <p:extLst>
      <p:ext uri="{BB962C8B-B14F-4D97-AF65-F5344CB8AC3E}">
        <p14:creationId xmlns:p14="http://schemas.microsoft.com/office/powerpoint/2010/main" val="2614035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E7678-358C-38AA-3A73-38DDD2D67263}"/>
            </a:ext>
          </a:extLst>
        </p:cNvPr>
        <p:cNvGrpSpPr/>
        <p:nvPr/>
      </p:nvGrpSpPr>
      <p:grpSpPr>
        <a:xfrm>
          <a:off x="0" y="0"/>
          <a:ext cx="0" cy="0"/>
          <a:chOff x="0" y="0"/>
          <a:chExt cx="0" cy="0"/>
        </a:xfrm>
      </p:grpSpPr>
      <p:sp>
        <p:nvSpPr>
          <p:cNvPr id="78" name="文本框 77">
            <a:extLst>
              <a:ext uri="{FF2B5EF4-FFF2-40B4-BE49-F238E27FC236}">
                <a16:creationId xmlns:a16="http://schemas.microsoft.com/office/drawing/2014/main" id="{CFF42FE2-4624-3CC7-21B5-209CED2738C8}"/>
              </a:ext>
            </a:extLst>
          </p:cNvPr>
          <p:cNvSpPr txBox="1"/>
          <p:nvPr/>
        </p:nvSpPr>
        <p:spPr>
          <a:xfrm>
            <a:off x="437206" y="953017"/>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zh-CN" sz="2600" b="1" dirty="0">
                <a:latin typeface="微软雅黑" panose="020B0503020204020204" pitchFamily="34" charset="-122"/>
                <a:ea typeface="微软雅黑" panose="020B0503020204020204" pitchFamily="34" charset="-122"/>
              </a:rPr>
              <a:t>新英格兰电力</a:t>
            </a:r>
            <a:r>
              <a:rPr lang="en-US" altLang="zh-CN" sz="2600" b="1" dirty="0">
                <a:latin typeface="微软雅黑" panose="020B0503020204020204" pitchFamily="34" charset="-122"/>
                <a:ea typeface="微软雅黑" panose="020B0503020204020204" pitchFamily="34" charset="-122"/>
              </a:rPr>
              <a:t>39</a:t>
            </a:r>
            <a:r>
              <a:rPr lang="zh-CN" altLang="zh-CN" sz="2600" b="1" dirty="0">
                <a:latin typeface="微软雅黑" panose="020B0503020204020204" pitchFamily="34" charset="-122"/>
                <a:ea typeface="微软雅黑" panose="020B0503020204020204" pitchFamily="34" charset="-122"/>
              </a:rPr>
              <a:t>节点</a:t>
            </a:r>
            <a:r>
              <a:rPr lang="zh-CN" altLang="en-US" sz="2600" b="1" dirty="0">
                <a:latin typeface="微软雅黑" panose="020B0503020204020204" pitchFamily="34" charset="-122"/>
                <a:ea typeface="微软雅黑" panose="020B0503020204020204" pitchFamily="34" charset="-122"/>
              </a:rPr>
              <a:t>算例</a:t>
            </a:r>
          </a:p>
        </p:txBody>
      </p:sp>
      <p:sp>
        <p:nvSpPr>
          <p:cNvPr id="48" name="矩形 47">
            <a:extLst>
              <a:ext uri="{FF2B5EF4-FFF2-40B4-BE49-F238E27FC236}">
                <a16:creationId xmlns:a16="http://schemas.microsoft.com/office/drawing/2014/main" id="{4F17A3BC-19FD-97B5-0B03-E2E8A794F5FC}"/>
              </a:ext>
            </a:extLst>
          </p:cNvPr>
          <p:cNvSpPr/>
          <p:nvPr/>
        </p:nvSpPr>
        <p:spPr>
          <a:xfrm>
            <a:off x="1258328" y="2561390"/>
            <a:ext cx="9675341" cy="707886"/>
          </a:xfrm>
          <a:prstGeom prst="rect">
            <a:avLst/>
          </a:prstGeom>
          <a:solidFill>
            <a:srgbClr val="E7E6E6">
              <a:lumMod val="20000"/>
              <a:lumOff val="80000"/>
            </a:srgbClr>
          </a:solidFill>
        </p:spPr>
        <p:txBody>
          <a:bodyPr wrap="square">
            <a:spAutoFit/>
          </a:bodyPr>
          <a:lstStyle/>
          <a:p>
            <a:pPr marL="285750" lvl="0" indent="-285750">
              <a:buFont typeface="Arial" panose="020B0604020202020204" pitchFamily="34" charset="0"/>
              <a:buChar char="•"/>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3</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实验</a:t>
            </a:r>
            <a:r>
              <a:rPr kumimoji="1" lang="zh-CN" altLang="en-US" sz="2000" kern="0" dirty="0">
                <a:solidFill>
                  <a:prstClr val="black">
                    <a:lumMod val="95000"/>
                    <a:lumOff val="5000"/>
                  </a:prstClr>
                </a:solidFill>
                <a:latin typeface="微软雅黑" panose="020B0503020204020204" pitchFamily="34" charset="-122"/>
                <a:ea typeface="微软雅黑" panose="020B0503020204020204" pitchFamily="34" charset="-122"/>
              </a:rPr>
              <a:t>中通过数据加噪、数据掩码、数据混淆三种安全防护方式进行电价数据处理，再次通过</a:t>
            </a:r>
            <a:r>
              <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rPr>
              <a:t>GAT</a:t>
            </a:r>
            <a:r>
              <a:rPr kumimoji="1" lang="zh-CN" altLang="en-US" sz="2000" kern="0" dirty="0">
                <a:solidFill>
                  <a:prstClr val="black">
                    <a:lumMod val="95000"/>
                    <a:lumOff val="5000"/>
                  </a:prstClr>
                </a:solidFill>
                <a:latin typeface="微软雅黑" panose="020B0503020204020204" pitchFamily="34" charset="-122"/>
                <a:ea typeface="微软雅黑" panose="020B0503020204020204" pitchFamily="34" charset="-122"/>
              </a:rPr>
              <a:t>模型进行推断，分析安全防护结果</a:t>
            </a:r>
            <a:r>
              <a:rPr kumimoji="1" lang="zh-CN" altLang="zh-CN" sz="2000" kern="0" dirty="0">
                <a:solidFill>
                  <a:prstClr val="black">
                    <a:lumMod val="95000"/>
                    <a:lumOff val="5000"/>
                  </a:prstClr>
                </a:solidFill>
                <a:latin typeface="微软雅黑" panose="020B0503020204020204" pitchFamily="34" charset="-122"/>
                <a:ea typeface="微软雅黑" panose="020B0503020204020204" pitchFamily="34" charset="-122"/>
              </a:rPr>
              <a:t>。</a:t>
            </a:r>
            <a:endParaRPr kumimoji="1" lang="en-US" altLang="zh-CN" sz="2000"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2" name="TextBox 8">
            <a:extLst>
              <a:ext uri="{FF2B5EF4-FFF2-40B4-BE49-F238E27FC236}">
                <a16:creationId xmlns:a16="http://schemas.microsoft.com/office/drawing/2014/main" id="{118763F9-2282-2531-B49F-08DC37AD5F06}"/>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zh-CN" sz="2600" b="1" dirty="0">
                <a:solidFill>
                  <a:srgbClr val="1F497D"/>
                </a:solidFill>
                <a:latin typeface="微软雅黑" panose="020B0503020204020204" pitchFamily="34" charset="-122"/>
                <a:ea typeface="微软雅黑" panose="020B0503020204020204" pitchFamily="34" charset="-122"/>
              </a:rPr>
              <a:t>基于公开数据关联的电网拓扑推断</a:t>
            </a:r>
            <a:endPar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矩形: 圆角 2">
            <a:extLst>
              <a:ext uri="{FF2B5EF4-FFF2-40B4-BE49-F238E27FC236}">
                <a16:creationId xmlns:a16="http://schemas.microsoft.com/office/drawing/2014/main" id="{900A7EC4-963D-81C1-278A-91A2723C4BF9}"/>
              </a:ext>
            </a:extLst>
          </p:cNvPr>
          <p:cNvSpPr/>
          <p:nvPr/>
        </p:nvSpPr>
        <p:spPr>
          <a:xfrm>
            <a:off x="1174750" y="15621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电价数据</a:t>
            </a:r>
          </a:p>
        </p:txBody>
      </p:sp>
      <p:sp>
        <p:nvSpPr>
          <p:cNvPr id="4" name="矩形: 圆角 3">
            <a:extLst>
              <a:ext uri="{FF2B5EF4-FFF2-40B4-BE49-F238E27FC236}">
                <a16:creationId xmlns:a16="http://schemas.microsoft.com/office/drawing/2014/main" id="{448D94C3-5A08-64A7-2289-2A5156A7F111}"/>
              </a:ext>
            </a:extLst>
          </p:cNvPr>
          <p:cNvSpPr/>
          <p:nvPr/>
        </p:nvSpPr>
        <p:spPr>
          <a:xfrm>
            <a:off x="1181100" y="2095500"/>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地理信息</a:t>
            </a:r>
          </a:p>
        </p:txBody>
      </p:sp>
      <p:sp>
        <p:nvSpPr>
          <p:cNvPr id="6" name="右大括号 5">
            <a:extLst>
              <a:ext uri="{FF2B5EF4-FFF2-40B4-BE49-F238E27FC236}">
                <a16:creationId xmlns:a16="http://schemas.microsoft.com/office/drawing/2014/main" id="{9B8586B1-3608-F5F3-4585-F274EA1A4CF3}"/>
              </a:ext>
            </a:extLst>
          </p:cNvPr>
          <p:cNvSpPr/>
          <p:nvPr/>
        </p:nvSpPr>
        <p:spPr>
          <a:xfrm>
            <a:off x="2495550" y="1695366"/>
            <a:ext cx="304800" cy="69219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FAF3086D-BEDC-FD62-D02C-A66CDA54CB86}"/>
              </a:ext>
            </a:extLst>
          </p:cNvPr>
          <p:cNvSpPr/>
          <p:nvPr/>
        </p:nvSpPr>
        <p:spPr>
          <a:xfrm>
            <a:off x="2707622" y="1990627"/>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438A370-B8D9-0640-8DAB-5517455CA407}"/>
              </a:ext>
            </a:extLst>
          </p:cNvPr>
          <p:cNvSpPr txBox="1"/>
          <p:nvPr/>
        </p:nvSpPr>
        <p:spPr>
          <a:xfrm>
            <a:off x="2806700" y="1666455"/>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9" name="矩形: 圆角 8">
            <a:extLst>
              <a:ext uri="{FF2B5EF4-FFF2-40B4-BE49-F238E27FC236}">
                <a16:creationId xmlns:a16="http://schemas.microsoft.com/office/drawing/2014/main" id="{74E8467F-99F2-1095-D7DE-DB061BC9F3FD}"/>
              </a:ext>
            </a:extLst>
          </p:cNvPr>
          <p:cNvSpPr/>
          <p:nvPr/>
        </p:nvSpPr>
        <p:spPr>
          <a:xfrm>
            <a:off x="3803650" y="1851121"/>
            <a:ext cx="13144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推断拓扑</a:t>
            </a:r>
          </a:p>
        </p:txBody>
      </p:sp>
      <p:sp>
        <p:nvSpPr>
          <p:cNvPr id="10" name="箭头: 右 9">
            <a:extLst>
              <a:ext uri="{FF2B5EF4-FFF2-40B4-BE49-F238E27FC236}">
                <a16:creationId xmlns:a16="http://schemas.microsoft.com/office/drawing/2014/main" id="{9DB50AC1-53C0-ECAD-BAF8-3159B78566FB}"/>
              </a:ext>
            </a:extLst>
          </p:cNvPr>
          <p:cNvSpPr/>
          <p:nvPr/>
        </p:nvSpPr>
        <p:spPr>
          <a:xfrm>
            <a:off x="5238750" y="19811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DFDE8F2-8608-C96C-D2D1-DD9F41B8A90A}"/>
              </a:ext>
            </a:extLst>
          </p:cNvPr>
          <p:cNvSpPr txBox="1"/>
          <p:nvPr/>
        </p:nvSpPr>
        <p:spPr>
          <a:xfrm>
            <a:off x="5359402" y="16302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E844D1CD-3E17-1E78-719B-AA59405AB326}"/>
              </a:ext>
            </a:extLst>
          </p:cNvPr>
          <p:cNvSpPr/>
          <p:nvPr/>
        </p:nvSpPr>
        <p:spPr>
          <a:xfrm>
            <a:off x="63690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威胁分析结果</a:t>
            </a:r>
          </a:p>
        </p:txBody>
      </p:sp>
      <p:sp>
        <p:nvSpPr>
          <p:cNvPr id="13" name="文本框 12">
            <a:extLst>
              <a:ext uri="{FF2B5EF4-FFF2-40B4-BE49-F238E27FC236}">
                <a16:creationId xmlns:a16="http://schemas.microsoft.com/office/drawing/2014/main" id="{9BA94991-5567-8221-6A60-D5A1F3EC9DA0}"/>
              </a:ext>
            </a:extLst>
          </p:cNvPr>
          <p:cNvSpPr txBox="1"/>
          <p:nvPr/>
        </p:nvSpPr>
        <p:spPr>
          <a:xfrm>
            <a:off x="8288054" y="1604839"/>
            <a:ext cx="91692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4" name="箭头: 右 13">
            <a:extLst>
              <a:ext uri="{FF2B5EF4-FFF2-40B4-BE49-F238E27FC236}">
                <a16:creationId xmlns:a16="http://schemas.microsoft.com/office/drawing/2014/main" id="{7D735589-E876-EAE0-2FA0-0EF9E2756373}"/>
              </a:ext>
            </a:extLst>
          </p:cNvPr>
          <p:cNvSpPr/>
          <p:nvPr/>
        </p:nvSpPr>
        <p:spPr>
          <a:xfrm>
            <a:off x="8195326" y="1955798"/>
            <a:ext cx="1009650" cy="101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43BC71C4-1C4D-8B32-CBFD-3679DFE5E941}"/>
              </a:ext>
            </a:extLst>
          </p:cNvPr>
          <p:cNvSpPr/>
          <p:nvPr/>
        </p:nvSpPr>
        <p:spPr>
          <a:xfrm>
            <a:off x="9302750" y="1824946"/>
            <a:ext cx="1733550" cy="349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安全分析结果</a:t>
            </a:r>
          </a:p>
        </p:txBody>
      </p:sp>
      <p:sp>
        <p:nvSpPr>
          <p:cNvPr id="20" name="矩形 19">
            <a:extLst>
              <a:ext uri="{FF2B5EF4-FFF2-40B4-BE49-F238E27FC236}">
                <a16:creationId xmlns:a16="http://schemas.microsoft.com/office/drawing/2014/main" id="{2617FC98-A833-47BB-9B8B-C98724301F95}"/>
              </a:ext>
            </a:extLst>
          </p:cNvPr>
          <p:cNvSpPr/>
          <p:nvPr/>
        </p:nvSpPr>
        <p:spPr>
          <a:xfrm>
            <a:off x="4841876" y="3456415"/>
            <a:ext cx="3054348"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dirty="0">
                <a:solidFill>
                  <a:srgbClr val="4472C4">
                    <a:lumMod val="10000"/>
                  </a:srgbClr>
                </a:solidFill>
                <a:latin typeface="微软雅黑" panose="020B0503020204020204" pitchFamily="34" charset="-122"/>
                <a:ea typeface="微软雅黑" panose="020B0503020204020204" pitchFamily="34" charset="-122"/>
              </a:rPr>
              <a:t>数据掩码效能对比</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31" name="矩形 30">
            <a:extLst>
              <a:ext uri="{FF2B5EF4-FFF2-40B4-BE49-F238E27FC236}">
                <a16:creationId xmlns:a16="http://schemas.microsoft.com/office/drawing/2014/main" id="{9D2D362C-723C-4DBF-887F-697992DDC71B}"/>
              </a:ext>
            </a:extLst>
          </p:cNvPr>
          <p:cNvSpPr/>
          <p:nvPr/>
        </p:nvSpPr>
        <p:spPr>
          <a:xfrm>
            <a:off x="8642351" y="3456415"/>
            <a:ext cx="3054348"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dirty="0">
                <a:solidFill>
                  <a:srgbClr val="4472C4">
                    <a:lumMod val="10000"/>
                  </a:srgbClr>
                </a:solidFill>
                <a:latin typeface="微软雅黑" panose="020B0503020204020204" pitchFamily="34" charset="-122"/>
                <a:ea typeface="微软雅黑" panose="020B0503020204020204" pitchFamily="34" charset="-122"/>
              </a:rPr>
              <a:t>数据混淆效能对比</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32" name="矩形 31">
            <a:extLst>
              <a:ext uri="{FF2B5EF4-FFF2-40B4-BE49-F238E27FC236}">
                <a16:creationId xmlns:a16="http://schemas.microsoft.com/office/drawing/2014/main" id="{59D4D845-89D2-4628-81A2-E5C75745D2AB}"/>
              </a:ext>
            </a:extLst>
          </p:cNvPr>
          <p:cNvSpPr/>
          <p:nvPr/>
        </p:nvSpPr>
        <p:spPr>
          <a:xfrm>
            <a:off x="203200" y="3368881"/>
            <a:ext cx="3965658" cy="3015697"/>
          </a:xfrm>
          <a:prstGeom prst="rect">
            <a:avLst/>
          </a:prstGeom>
        </p:spPr>
        <p:txBody>
          <a:bodyPr wrap="square">
            <a:spAutoFit/>
          </a:bodyPr>
          <a:lstStyle/>
          <a:p>
            <a:pPr marL="342900" lvl="0" indent="-342900">
              <a:lnSpc>
                <a:spcPct val="120000"/>
              </a:lnSpc>
              <a:buFont typeface="Arial" panose="020B0604020202020204" pitchFamily="34" charset="0"/>
              <a:buChar char="•"/>
              <a:defRPr/>
            </a:pPr>
            <a:r>
              <a:rPr lang="zh-CN" altLang="zh-CN" sz="2000" dirty="0">
                <a:solidFill>
                  <a:srgbClr val="4472C4">
                    <a:lumMod val="10000"/>
                  </a:srgbClr>
                </a:solidFill>
                <a:latin typeface="微软雅黑" panose="020B0503020204020204" pitchFamily="34" charset="-122"/>
                <a:ea typeface="微软雅黑" panose="020B0503020204020204" pitchFamily="34" charset="-122"/>
              </a:rPr>
              <a:t>在数据掩码实验中，通过</a:t>
            </a:r>
            <a:r>
              <a:rPr lang="zh-CN" altLang="zh-CN" sz="2000" b="1" dirty="0">
                <a:solidFill>
                  <a:srgbClr val="4472C4">
                    <a:lumMod val="10000"/>
                  </a:srgbClr>
                </a:solidFill>
                <a:latin typeface="微软雅黑" panose="020B0503020204020204" pitchFamily="34" charset="-122"/>
                <a:ea typeface="微软雅黑" panose="020B0503020204020204" pitchFamily="34" charset="-122"/>
              </a:rPr>
              <a:t>降低输入训练模型的已知拓扑信息比例</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实现数据掩码</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a:t>
            </a:r>
            <a:endParaRPr lang="en-US" altLang="zh-CN" sz="2000" dirty="0">
              <a:solidFill>
                <a:srgbClr val="4472C4">
                  <a:lumMod val="10000"/>
                </a:srgbClr>
              </a:solidFill>
              <a:latin typeface="微软雅黑" panose="020B0503020204020204" pitchFamily="34" charset="-122"/>
              <a:ea typeface="微软雅黑" panose="020B0503020204020204" pitchFamily="34" charset="-122"/>
            </a:endParaRPr>
          </a:p>
          <a:p>
            <a:pPr marL="342900" lvl="0" indent="-342900">
              <a:lnSpc>
                <a:spcPct val="120000"/>
              </a:lnSpc>
              <a:buFont typeface="Arial" panose="020B0604020202020204" pitchFamily="34" charset="0"/>
              <a:buChar char="•"/>
              <a:defRPr/>
            </a:pPr>
            <a:r>
              <a:rPr lang="zh-CN" altLang="zh-CN" sz="2000" dirty="0">
                <a:solidFill>
                  <a:srgbClr val="4472C4">
                    <a:lumMod val="10000"/>
                  </a:srgbClr>
                </a:solidFill>
                <a:latin typeface="微软雅黑" panose="020B0503020204020204" pitchFamily="34" charset="-122"/>
                <a:ea typeface="微软雅黑" panose="020B0503020204020204" pitchFamily="34" charset="-122"/>
              </a:rPr>
              <a:t>在数据混淆实验中，通过</a:t>
            </a:r>
            <a:r>
              <a:rPr lang="zh-CN" altLang="zh-CN" sz="2000" b="1" dirty="0">
                <a:solidFill>
                  <a:srgbClr val="4472C4">
                    <a:lumMod val="10000"/>
                  </a:srgbClr>
                </a:solidFill>
                <a:latin typeface="微软雅黑" panose="020B0503020204020204" pitchFamily="34" charset="-122"/>
                <a:ea typeface="微软雅黑" panose="020B0503020204020204" pitchFamily="34" charset="-122"/>
              </a:rPr>
              <a:t>混淆不同数量的节点</a:t>
            </a:r>
            <a:r>
              <a:rPr lang="zh-CN" altLang="zh-CN" sz="2000" dirty="0">
                <a:solidFill>
                  <a:srgbClr val="4472C4">
                    <a:lumMod val="10000"/>
                  </a:srgbClr>
                </a:solidFill>
                <a:latin typeface="微软雅黑" panose="020B0503020204020204" pitchFamily="34" charset="-122"/>
                <a:ea typeface="微软雅黑" panose="020B0503020204020204" pitchFamily="34" charset="-122"/>
              </a:rPr>
              <a:t>，隐藏对应节点地理位置及其相关节点电价等信息，随机生成等同于混淆节点数量的随机节点信息训练</a:t>
            </a:r>
            <a:r>
              <a:rPr lang="zh-CN" altLang="en-US" sz="2000" dirty="0">
                <a:solidFill>
                  <a:srgbClr val="4472C4">
                    <a:lumMod val="10000"/>
                  </a:srgbClr>
                </a:solidFill>
                <a:latin typeface="微软雅黑" panose="020B0503020204020204" pitchFamily="34" charset="-122"/>
                <a:ea typeface="微软雅黑" panose="020B0503020204020204" pitchFamily="34" charset="-122"/>
              </a:rPr>
              <a:t>。</a:t>
            </a:r>
          </a:p>
        </p:txBody>
      </p:sp>
      <p:pic>
        <p:nvPicPr>
          <p:cNvPr id="30" name="图片 29">
            <a:extLst>
              <a:ext uri="{FF2B5EF4-FFF2-40B4-BE49-F238E27FC236}">
                <a16:creationId xmlns:a16="http://schemas.microsoft.com/office/drawing/2014/main" id="{2C180F26-A436-4542-810E-49A9396C20E8}"/>
              </a:ext>
            </a:extLst>
          </p:cNvPr>
          <p:cNvPicPr>
            <a:picLocks noChangeAspect="1"/>
          </p:cNvPicPr>
          <p:nvPr/>
        </p:nvPicPr>
        <p:blipFill rotWithShape="1">
          <a:blip r:embed="rId4"/>
          <a:srcRect l="1226" t="13454" r="3559" b="9843"/>
          <a:stretch/>
        </p:blipFill>
        <p:spPr>
          <a:xfrm>
            <a:off x="4027486" y="3888114"/>
            <a:ext cx="4137023" cy="2499532"/>
          </a:xfrm>
          <a:prstGeom prst="rect">
            <a:avLst/>
          </a:prstGeom>
        </p:spPr>
      </p:pic>
      <p:pic>
        <p:nvPicPr>
          <p:cNvPr id="35" name="图片 34">
            <a:extLst>
              <a:ext uri="{FF2B5EF4-FFF2-40B4-BE49-F238E27FC236}">
                <a16:creationId xmlns:a16="http://schemas.microsoft.com/office/drawing/2014/main" id="{6B2F84BD-4631-4C77-BE99-6D64896A48D2}"/>
              </a:ext>
            </a:extLst>
          </p:cNvPr>
          <p:cNvPicPr>
            <a:picLocks noChangeAspect="1"/>
          </p:cNvPicPr>
          <p:nvPr/>
        </p:nvPicPr>
        <p:blipFill rotWithShape="1">
          <a:blip r:embed="rId5"/>
          <a:srcRect l="2185" t="13454" r="4282" b="9843"/>
          <a:stretch/>
        </p:blipFill>
        <p:spPr>
          <a:xfrm>
            <a:off x="8102600" y="3925876"/>
            <a:ext cx="3997565" cy="2458702"/>
          </a:xfrm>
          <a:prstGeom prst="rect">
            <a:avLst/>
          </a:prstGeom>
        </p:spPr>
      </p:pic>
    </p:spTree>
    <p:extLst>
      <p:ext uri="{BB962C8B-B14F-4D97-AF65-F5344CB8AC3E}">
        <p14:creationId xmlns:p14="http://schemas.microsoft.com/office/powerpoint/2010/main" val="1809741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8">
            <a:extLst>
              <a:ext uri="{FF2B5EF4-FFF2-40B4-BE49-F238E27FC236}">
                <a16:creationId xmlns:a16="http://schemas.microsoft.com/office/drawing/2014/main" id="{0BE49F2E-D704-4625-90F9-C370ABD72D24}"/>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
        <p:nvSpPr>
          <p:cNvPr id="78" name="文本框 77">
            <a:extLst>
              <a:ext uri="{FF2B5EF4-FFF2-40B4-BE49-F238E27FC236}">
                <a16:creationId xmlns:a16="http://schemas.microsoft.com/office/drawing/2014/main" id="{93600E2F-41B6-41A9-BFC4-9AB292066B80}"/>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研究方法框架</a:t>
            </a:r>
          </a:p>
        </p:txBody>
      </p:sp>
      <p:sp>
        <p:nvSpPr>
          <p:cNvPr id="89" name="文本框 88">
            <a:extLst>
              <a:ext uri="{FF2B5EF4-FFF2-40B4-BE49-F238E27FC236}">
                <a16:creationId xmlns:a16="http://schemas.microsoft.com/office/drawing/2014/main" id="{1311E414-6F74-48DB-9580-84E65C94CD62}"/>
              </a:ext>
            </a:extLst>
          </p:cNvPr>
          <p:cNvSpPr txBox="1"/>
          <p:nvPr/>
        </p:nvSpPr>
        <p:spPr>
          <a:xfrm>
            <a:off x="945196" y="1670208"/>
            <a:ext cx="9744575" cy="830997"/>
          </a:xfrm>
          <a:prstGeom prst="rect">
            <a:avLst/>
          </a:prstGeom>
          <a:solidFill>
            <a:sysClr val="window" lastClr="FFFFFF">
              <a:lumMod val="95000"/>
            </a:sysClr>
          </a:solidFill>
        </p:spPr>
        <p:txBody>
          <a:bodyPr wrap="square" rtlCol="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正演问题：</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电力市场中利用</a:t>
            </a: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电网核心参数</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计算节点边际电价</a:t>
            </a:r>
            <a:endPar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反演问题</a:t>
            </a: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根据节点边际电价推断</a:t>
            </a:r>
            <a:r>
              <a:rPr kumimoji="0" lang="zh-CN" altLang="en-US" sz="2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电网核心参数</a:t>
            </a:r>
          </a:p>
        </p:txBody>
      </p:sp>
      <p:graphicFrame>
        <p:nvGraphicFramePr>
          <p:cNvPr id="90" name="对象 89">
            <a:extLst>
              <a:ext uri="{FF2B5EF4-FFF2-40B4-BE49-F238E27FC236}">
                <a16:creationId xmlns:a16="http://schemas.microsoft.com/office/drawing/2014/main" id="{AD28396E-5B62-4EB9-90A5-935B560D842C}"/>
              </a:ext>
            </a:extLst>
          </p:cNvPr>
          <p:cNvGraphicFramePr>
            <a:graphicFrameLocks noChangeAspect="1"/>
          </p:cNvGraphicFramePr>
          <p:nvPr/>
        </p:nvGraphicFramePr>
        <p:xfrm>
          <a:off x="945196" y="2671523"/>
          <a:ext cx="5749518" cy="3763097"/>
        </p:xfrm>
        <a:graphic>
          <a:graphicData uri="http://schemas.openxmlformats.org/presentationml/2006/ole">
            <mc:AlternateContent xmlns:mc="http://schemas.openxmlformats.org/markup-compatibility/2006">
              <mc:Choice xmlns:v="urn:schemas-microsoft-com:vml" Requires="v">
                <p:oleObj name="Visio" r:id="rId4" imgW="2958389" imgH="1936233" progId="Visio.Drawing.15">
                  <p:embed/>
                </p:oleObj>
              </mc:Choice>
              <mc:Fallback>
                <p:oleObj name="Visio" r:id="rId4" imgW="2958389" imgH="1936233" progId="Visio.Drawing.15">
                  <p:embed/>
                  <p:pic>
                    <p:nvPicPr>
                      <p:cNvPr id="90" name="对象 89">
                        <a:extLst>
                          <a:ext uri="{FF2B5EF4-FFF2-40B4-BE49-F238E27FC236}">
                            <a16:creationId xmlns:a16="http://schemas.microsoft.com/office/drawing/2014/main" id="{AD28396E-5B62-4EB9-90A5-935B560D842C}"/>
                          </a:ext>
                        </a:extLst>
                      </p:cNvPr>
                      <p:cNvPicPr/>
                      <p:nvPr/>
                    </p:nvPicPr>
                    <p:blipFill>
                      <a:blip r:embed="rId5"/>
                      <a:stretch>
                        <a:fillRect/>
                      </a:stretch>
                    </p:blipFill>
                    <p:spPr>
                      <a:xfrm>
                        <a:off x="945196" y="2671523"/>
                        <a:ext cx="5749518" cy="3763097"/>
                      </a:xfrm>
                      <a:prstGeom prst="rect">
                        <a:avLst/>
                      </a:prstGeom>
                    </p:spPr>
                  </p:pic>
                </p:oleObj>
              </mc:Fallback>
            </mc:AlternateContent>
          </a:graphicData>
        </a:graphic>
      </p:graphicFrame>
      <p:pic>
        <p:nvPicPr>
          <p:cNvPr id="2" name="图片 1">
            <a:extLst>
              <a:ext uri="{FF2B5EF4-FFF2-40B4-BE49-F238E27FC236}">
                <a16:creationId xmlns:a16="http://schemas.microsoft.com/office/drawing/2014/main" id="{6B9CD40E-3237-4DEE-83F0-CE7B3EC7EB1D}"/>
              </a:ext>
            </a:extLst>
          </p:cNvPr>
          <p:cNvPicPr>
            <a:picLocks noChangeAspect="1"/>
          </p:cNvPicPr>
          <p:nvPr/>
        </p:nvPicPr>
        <p:blipFill>
          <a:blip r:embed="rId6"/>
          <a:stretch>
            <a:fillRect/>
          </a:stretch>
        </p:blipFill>
        <p:spPr>
          <a:xfrm>
            <a:off x="6923314" y="2625913"/>
            <a:ext cx="3318661" cy="3852251"/>
          </a:xfrm>
          <a:prstGeom prst="rect">
            <a:avLst/>
          </a:prstGeom>
        </p:spPr>
      </p:pic>
    </p:spTree>
    <p:extLst>
      <p:ext uri="{BB962C8B-B14F-4D97-AF65-F5344CB8AC3E}">
        <p14:creationId xmlns:p14="http://schemas.microsoft.com/office/powerpoint/2010/main" val="1864791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93600E2F-41B6-41A9-BFC4-9AB292066B80}"/>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直流潮流模型</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332F174-9880-4794-A241-256373BD2F61}"/>
                  </a:ext>
                </a:extLst>
              </p:cNvPr>
              <p:cNvSpPr/>
              <p:nvPr/>
            </p:nvSpPr>
            <p:spPr>
              <a:xfrm>
                <a:off x="1544750" y="1627521"/>
                <a:ext cx="7304142" cy="499624"/>
              </a:xfrm>
              <a:prstGeom prst="rect">
                <a:avLst/>
              </a:prstGeom>
            </p:spPr>
            <p:txBody>
              <a:bodyPr wrap="square">
                <a:spAutoFit/>
              </a:bodyPr>
              <a:lstStyle/>
              <a:p>
                <a:pPr defTabSz="1219163">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假设电力系统有</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𝑁</m:t>
                    </m:r>
                  </m:oMath>
                </a14:m>
                <a:r>
                  <a:rPr lang="zh-CN" altLang="en-US" sz="2000" kern="0" dirty="0">
                    <a:solidFill>
                      <a:prstClr val="black"/>
                    </a:solidFill>
                    <a:latin typeface="微软雅黑" panose="020B0503020204020204" pitchFamily="34" charset="-122"/>
                    <a:ea typeface="微软雅黑" panose="020B0503020204020204" pitchFamily="34" charset="-122"/>
                  </a:rPr>
                  <a:t>个总线和</a:t>
                </a:r>
                <a14:m>
                  <m:oMath xmlns:m="http://schemas.openxmlformats.org/officeDocument/2006/math">
                    <m:r>
                      <a:rPr lang="en-US" altLang="zh-CN" sz="2000" b="0" i="1" kern="0" smtClean="0">
                        <a:solidFill>
                          <a:prstClr val="black"/>
                        </a:solidFill>
                        <a:latin typeface="Cambria Math" panose="02040503050406030204" pitchFamily="18" charset="0"/>
                        <a:ea typeface="微软雅黑" panose="020B0503020204020204" pitchFamily="34" charset="-122"/>
                      </a:rPr>
                      <m:t>𝐿</m:t>
                    </m:r>
                  </m:oMath>
                </a14:m>
                <a:r>
                  <a:rPr lang="zh-CN" altLang="en-US" sz="2000" kern="0" dirty="0">
                    <a:solidFill>
                      <a:prstClr val="black"/>
                    </a:solidFill>
                    <a:latin typeface="微软雅黑" panose="020B0503020204020204" pitchFamily="34" charset="-122"/>
                    <a:ea typeface="微软雅黑" panose="020B0503020204020204" pitchFamily="34" charset="-122"/>
                  </a:rPr>
                  <a:t>条线路，直流潮流公式为</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2332F174-9880-4794-A241-256373BD2F61}"/>
                  </a:ext>
                </a:extLst>
              </p:cNvPr>
              <p:cNvSpPr>
                <a:spLocks noRot="1" noChangeAspect="1" noMove="1" noResize="1" noEditPoints="1" noAdjustHandles="1" noChangeArrowheads="1" noChangeShapeType="1" noTextEdit="1"/>
              </p:cNvSpPr>
              <p:nvPr/>
            </p:nvSpPr>
            <p:spPr>
              <a:xfrm>
                <a:off x="1544750" y="1627521"/>
                <a:ext cx="7304142" cy="499624"/>
              </a:xfrm>
              <a:prstGeom prst="rect">
                <a:avLst/>
              </a:prstGeom>
              <a:blipFill>
                <a:blip r:embed="rId4"/>
                <a:stretch>
                  <a:fillRect l="-834" b="-2073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110F594-1326-43BC-8408-F612EFB52B0E}"/>
              </a:ext>
            </a:extLst>
          </p:cNvPr>
          <p:cNvPicPr>
            <a:picLocks noChangeAspect="1"/>
          </p:cNvPicPr>
          <p:nvPr/>
        </p:nvPicPr>
        <p:blipFill>
          <a:blip r:embed="rId5"/>
          <a:stretch>
            <a:fillRect/>
          </a:stretch>
        </p:blipFill>
        <p:spPr>
          <a:xfrm>
            <a:off x="4730528" y="2246309"/>
            <a:ext cx="1069589" cy="288000"/>
          </a:xfrm>
          <a:prstGeom prst="rect">
            <a:avLst/>
          </a:prstGeom>
        </p:spPr>
      </p:pic>
      <p:pic>
        <p:nvPicPr>
          <p:cNvPr id="9" name="图片 8">
            <a:extLst>
              <a:ext uri="{FF2B5EF4-FFF2-40B4-BE49-F238E27FC236}">
                <a16:creationId xmlns:a16="http://schemas.microsoft.com/office/drawing/2014/main" id="{C9543A15-45CA-40DA-B81F-EB17785B09BB}"/>
              </a:ext>
            </a:extLst>
          </p:cNvPr>
          <p:cNvPicPr>
            <a:picLocks noChangeAspect="1"/>
          </p:cNvPicPr>
          <p:nvPr/>
        </p:nvPicPr>
        <p:blipFill>
          <a:blip r:embed="rId6"/>
          <a:stretch>
            <a:fillRect/>
          </a:stretch>
        </p:blipFill>
        <p:spPr>
          <a:xfrm>
            <a:off x="4708756" y="2573354"/>
            <a:ext cx="1595261" cy="360000"/>
          </a:xfrm>
          <a:prstGeom prst="rect">
            <a:avLst/>
          </a:prstGeom>
        </p:spPr>
      </p:pic>
      <p:pic>
        <p:nvPicPr>
          <p:cNvPr id="10" name="图片 9">
            <a:extLst>
              <a:ext uri="{FF2B5EF4-FFF2-40B4-BE49-F238E27FC236}">
                <a16:creationId xmlns:a16="http://schemas.microsoft.com/office/drawing/2014/main" id="{F6F9D1AD-38D3-448F-AD98-69F495D3D78B}"/>
              </a:ext>
            </a:extLst>
          </p:cNvPr>
          <p:cNvPicPr>
            <a:picLocks noChangeAspect="1"/>
          </p:cNvPicPr>
          <p:nvPr/>
        </p:nvPicPr>
        <p:blipFill>
          <a:blip r:embed="rId7"/>
          <a:stretch>
            <a:fillRect/>
          </a:stretch>
        </p:blipFill>
        <p:spPr>
          <a:xfrm>
            <a:off x="4730528" y="4238939"/>
            <a:ext cx="1123252" cy="288000"/>
          </a:xfrm>
          <a:prstGeom prst="rect">
            <a:avLst/>
          </a:prstGeom>
        </p:spPr>
      </p:pic>
      <p:pic>
        <p:nvPicPr>
          <p:cNvPr id="11" name="图片 10">
            <a:extLst>
              <a:ext uri="{FF2B5EF4-FFF2-40B4-BE49-F238E27FC236}">
                <a16:creationId xmlns:a16="http://schemas.microsoft.com/office/drawing/2014/main" id="{5290B5B0-2C1D-491A-A2A1-C2E0F5B79B07}"/>
              </a:ext>
            </a:extLst>
          </p:cNvPr>
          <p:cNvPicPr>
            <a:picLocks noChangeAspect="1"/>
          </p:cNvPicPr>
          <p:nvPr/>
        </p:nvPicPr>
        <p:blipFill rotWithShape="1">
          <a:blip r:embed="rId8"/>
          <a:srcRect t="3624"/>
          <a:stretch/>
        </p:blipFill>
        <p:spPr>
          <a:xfrm>
            <a:off x="4730528" y="4690332"/>
            <a:ext cx="2454042" cy="451042"/>
          </a:xfrm>
          <a:prstGeom prst="rect">
            <a:avLst/>
          </a:prstGeom>
        </p:spPr>
      </p:pic>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8773C6AC-3723-4F10-B731-EB5363E83ADC}"/>
                  </a:ext>
                </a:extLst>
              </p:cNvPr>
              <p:cNvSpPr/>
              <p:nvPr/>
            </p:nvSpPr>
            <p:spPr>
              <a:xfrm>
                <a:off x="1568196" y="3021056"/>
                <a:ext cx="9807375" cy="975011"/>
              </a:xfrm>
              <a:prstGeom prst="rect">
                <a:avLst/>
              </a:prstGeom>
            </p:spPr>
            <p:txBody>
              <a:bodyPr wrap="square">
                <a:spAutoFit/>
              </a:bodyPr>
              <a:lstStyle/>
              <a:p>
                <a:pPr defTabSz="1219163">
                  <a:lnSpc>
                    <a:spcPct val="150000"/>
                  </a:lnSpc>
                  <a:defRPr/>
                </a:pP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𝑷</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𝑵</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为节点注入有功功率</a:t>
                </a:r>
                <a:r>
                  <a:rPr lang="zh-CN" altLang="en-US" sz="2000" kern="0" dirty="0">
                    <a:solidFill>
                      <a:prstClr val="black"/>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𝑩</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𝑁</m:t>
                        </m:r>
                        <m:r>
                          <a:rPr lang="en-US" altLang="zh-CN" sz="2000" kern="0">
                            <a:solidFill>
                              <a:prstClr val="black"/>
                            </a:solidFill>
                            <a:latin typeface="Cambria Math" panose="02040503050406030204" pitchFamily="18" charset="0"/>
                            <a:ea typeface="微软雅黑" panose="020B0503020204020204" pitchFamily="34" charset="-122"/>
                          </a:rPr>
                          <m:t>×</m:t>
                        </m:r>
                        <m:r>
                          <a:rPr lang="en-US" altLang="zh-CN" sz="2000" kern="0">
                            <a:solidFill>
                              <a:prstClr val="black"/>
                            </a:solidFill>
                            <a:latin typeface="Cambria Math" panose="02040503050406030204" pitchFamily="18" charset="0"/>
                            <a:ea typeface="微软雅黑" panose="020B0503020204020204" pitchFamily="34" charset="-122"/>
                          </a:rPr>
                          <m:t>𝑁</m:t>
                        </m:r>
                      </m:sup>
                    </m:sSup>
                  </m:oMath>
                </a14:m>
                <a:r>
                  <a:rPr lang="zh-CN" altLang="en-US" sz="2000" kern="0" dirty="0">
                    <a:solidFill>
                      <a:prstClr val="black"/>
                    </a:solidFill>
                    <a:latin typeface="微软雅黑" panose="020B0503020204020204" pitchFamily="34" charset="-122"/>
                    <a:ea typeface="微软雅黑" panose="020B0503020204020204" pitchFamily="34" charset="-122"/>
                  </a:rPr>
                  <a:t>为导纳矩阵，</a:t>
                </a:r>
                <a:r>
                  <a:rPr lang="en-US" altLang="zh-CN" sz="2000" kern="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𝜽</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𝑵</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为节点电压相角</a:t>
                </a:r>
                <a:r>
                  <a:rPr lang="zh-CN" altLang="en-US" sz="2000" kern="0" dirty="0">
                    <a:solidFill>
                      <a:prstClr val="black"/>
                    </a:solidFill>
                    <a:latin typeface="微软雅黑" panose="020B0503020204020204" pitchFamily="34" charset="-122"/>
                    <a:ea typeface="微软雅黑" panose="020B0503020204020204" pitchFamily="34" charset="-122"/>
                  </a:rPr>
                  <a:t>，</a:t>
                </a:r>
                <a:r>
                  <a:rPr lang="en-US" altLang="zh-CN" sz="2000" kern="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𝑨</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𝑳</m:t>
                        </m:r>
                        <m:r>
                          <a:rPr lang="en-US" altLang="zh-CN" sz="2000" kern="0">
                            <a:solidFill>
                              <a:prstClr val="black"/>
                            </a:solidFill>
                            <a:latin typeface="Cambria Math" panose="02040503050406030204" pitchFamily="18" charset="0"/>
                            <a:ea typeface="微软雅黑" panose="020B0503020204020204" pitchFamily="34" charset="-122"/>
                          </a:rPr>
                          <m:t>×</m:t>
                        </m:r>
                        <m:r>
                          <a:rPr lang="en-US" altLang="zh-CN" sz="2000" kern="0">
                            <a:solidFill>
                              <a:prstClr val="black"/>
                            </a:solidFill>
                            <a:latin typeface="Cambria Math" panose="02040503050406030204" pitchFamily="18" charset="0"/>
                            <a:ea typeface="微软雅黑" panose="020B0503020204020204" pitchFamily="34" charset="-122"/>
                          </a:rPr>
                          <m:t>𝑵</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为线路</a:t>
                </a:r>
                <a:r>
                  <a:rPr lang="en-US" altLang="zh-CN" sz="2000" kern="0" dirty="0">
                    <a:solidFill>
                      <a:prstClr val="black"/>
                    </a:solidFill>
                    <a:latin typeface="微软雅黑" panose="020B0503020204020204" pitchFamily="34" charset="-122"/>
                    <a:ea typeface="微软雅黑" panose="020B0503020204020204" pitchFamily="34" charset="-122"/>
                  </a:rPr>
                  <a:t>-</a:t>
                </a:r>
                <a:r>
                  <a:rPr lang="zh-CN" altLang="zh-CN" sz="2000" kern="0" dirty="0">
                    <a:solidFill>
                      <a:prstClr val="black"/>
                    </a:solidFill>
                    <a:latin typeface="微软雅黑" panose="020B0503020204020204" pitchFamily="34" charset="-122"/>
                    <a:ea typeface="微软雅黑" panose="020B0503020204020204" pitchFamily="34" charset="-122"/>
                  </a:rPr>
                  <a:t>节点关联矩阵</a:t>
                </a:r>
                <a:r>
                  <a:rPr lang="zh-CN" altLang="en-US" sz="2000" kern="0" dirty="0">
                    <a:solidFill>
                      <a:prstClr val="black"/>
                    </a:solidFill>
                    <a:latin typeface="微软雅黑" panose="020B0503020204020204" pitchFamily="34" charset="-122"/>
                    <a:ea typeface="微软雅黑" panose="020B0503020204020204" pitchFamily="34" charset="-122"/>
                  </a:rPr>
                  <a:t>，</a:t>
                </a:r>
                <a:r>
                  <a:rPr lang="en-US" altLang="zh-CN" sz="2000" kern="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𝑫</m:t>
                    </m:r>
                    <m:r>
                      <a:rPr lang="en-US" altLang="zh-CN" sz="2000" kern="0">
                        <a:solidFill>
                          <a:prstClr val="black"/>
                        </a:solidFill>
                        <a:latin typeface="Cambria Math" panose="02040503050406030204" pitchFamily="18" charset="0"/>
                        <a:ea typeface="微软雅黑" panose="020B0503020204020204" pitchFamily="34" charset="-122"/>
                      </a:rPr>
                      <m:t>∈</m:t>
                    </m:r>
                    <m:sSup>
                      <m:sSupPr>
                        <m:ctrlPr>
                          <a:rPr lang="zh-CN" altLang="zh-CN" sz="2000" i="1" kern="0">
                            <a:solidFill>
                              <a:prstClr val="black"/>
                            </a:solidFill>
                            <a:latin typeface="Cambria Math" panose="02040503050406030204" pitchFamily="18" charset="0"/>
                            <a:ea typeface="微软雅黑" panose="020B0503020204020204" pitchFamily="34" charset="-122"/>
                          </a:rPr>
                        </m:ctrlPr>
                      </m:sSupPr>
                      <m:e>
                        <m:r>
                          <a:rPr lang="en-US" altLang="zh-CN" sz="2000" kern="0">
                            <a:solidFill>
                              <a:prstClr val="black"/>
                            </a:solidFill>
                            <a:latin typeface="Cambria Math" panose="02040503050406030204" pitchFamily="18" charset="0"/>
                            <a:ea typeface="微软雅黑" panose="020B0503020204020204" pitchFamily="34" charset="-122"/>
                          </a:rPr>
                          <m:t>ℝ</m:t>
                        </m:r>
                      </m:e>
                      <m:sup>
                        <m:r>
                          <a:rPr lang="en-US" altLang="zh-CN" sz="2000" kern="0">
                            <a:solidFill>
                              <a:prstClr val="black"/>
                            </a:solidFill>
                            <a:latin typeface="Cambria Math" panose="02040503050406030204" pitchFamily="18" charset="0"/>
                            <a:ea typeface="微软雅黑" panose="020B0503020204020204" pitchFamily="34" charset="-122"/>
                          </a:rPr>
                          <m:t>𝑳</m:t>
                        </m:r>
                        <m:r>
                          <a:rPr lang="en-US" altLang="zh-CN" sz="2000" kern="0">
                            <a:solidFill>
                              <a:prstClr val="black"/>
                            </a:solidFill>
                            <a:latin typeface="Cambria Math" panose="02040503050406030204" pitchFamily="18" charset="0"/>
                            <a:ea typeface="微软雅黑" panose="020B0503020204020204" pitchFamily="34" charset="-122"/>
                          </a:rPr>
                          <m:t>×</m:t>
                        </m:r>
                        <m:r>
                          <a:rPr lang="en-US" altLang="zh-CN" sz="2000" kern="0">
                            <a:solidFill>
                              <a:prstClr val="black"/>
                            </a:solidFill>
                            <a:latin typeface="Cambria Math" panose="02040503050406030204" pitchFamily="18" charset="0"/>
                            <a:ea typeface="微软雅黑" panose="020B0503020204020204" pitchFamily="34" charset="-122"/>
                          </a:rPr>
                          <m:t>𝑳</m:t>
                        </m:r>
                      </m:sup>
                    </m:sSup>
                  </m:oMath>
                </a14:m>
                <a:r>
                  <a:rPr lang="zh-CN" altLang="zh-CN" sz="2000" kern="0" dirty="0">
                    <a:solidFill>
                      <a:prstClr val="black"/>
                    </a:solidFill>
                    <a:latin typeface="微软雅黑" panose="020B0503020204020204" pitchFamily="34" charset="-122"/>
                    <a:ea typeface="微软雅黑" panose="020B0503020204020204" pitchFamily="34" charset="-122"/>
                  </a:rPr>
                  <a:t>为</a:t>
                </a:r>
                <a:r>
                  <a:rPr lang="zh-CN" altLang="en-US" sz="2000" kern="0" dirty="0">
                    <a:solidFill>
                      <a:prstClr val="black"/>
                    </a:solidFill>
                    <a:latin typeface="微软雅黑" panose="020B0503020204020204" pitchFamily="34" charset="-122"/>
                    <a:ea typeface="微软雅黑" panose="020B0503020204020204" pitchFamily="34" charset="-122"/>
                  </a:rPr>
                  <a:t>导纳</a:t>
                </a:r>
                <a:r>
                  <a:rPr lang="zh-CN" altLang="zh-CN" sz="2000" kern="0" dirty="0">
                    <a:solidFill>
                      <a:prstClr val="black"/>
                    </a:solidFill>
                    <a:latin typeface="微软雅黑" panose="020B0503020204020204" pitchFamily="34" charset="-122"/>
                    <a:ea typeface="微软雅黑" panose="020B0503020204020204" pitchFamily="34" charset="-122"/>
                  </a:rPr>
                  <a:t>对角矩阵</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12" name="矩形 11">
                <a:extLst>
                  <a:ext uri="{FF2B5EF4-FFF2-40B4-BE49-F238E27FC236}">
                    <a16:creationId xmlns:a16="http://schemas.microsoft.com/office/drawing/2014/main" id="{8773C6AC-3723-4F10-B731-EB5363E83ADC}"/>
                  </a:ext>
                </a:extLst>
              </p:cNvPr>
              <p:cNvSpPr>
                <a:spLocks noRot="1" noChangeAspect="1" noMove="1" noResize="1" noEditPoints="1" noAdjustHandles="1" noChangeArrowheads="1" noChangeShapeType="1" noTextEdit="1"/>
              </p:cNvSpPr>
              <p:nvPr/>
            </p:nvSpPr>
            <p:spPr>
              <a:xfrm>
                <a:off x="1568196" y="3021056"/>
                <a:ext cx="9807375" cy="975011"/>
              </a:xfrm>
              <a:prstGeom prst="rect">
                <a:avLst/>
              </a:prstGeom>
              <a:blipFill>
                <a:blip r:embed="rId9"/>
                <a:stretch>
                  <a:fillRect b="-10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A4402F1A-BD06-4CB0-A67E-251E24FB5A0E}"/>
                  </a:ext>
                </a:extLst>
              </p:cNvPr>
              <p:cNvSpPr/>
              <p:nvPr/>
            </p:nvSpPr>
            <p:spPr>
              <a:xfrm>
                <a:off x="1568195" y="5311600"/>
                <a:ext cx="9807376" cy="969048"/>
              </a:xfrm>
              <a:prstGeom prst="rect">
                <a:avLst/>
              </a:prstGeom>
            </p:spPr>
            <p:txBody>
              <a:bodyPr wrap="square">
                <a:spAutoFit/>
              </a:bodyPr>
              <a:lstStyle/>
              <a:p>
                <a:pPr defTabSz="1219163">
                  <a:lnSpc>
                    <a:spcPct val="150000"/>
                  </a:lnSpc>
                </a:pPr>
                <a14:m>
                  <m:oMath xmlns:m="http://schemas.openxmlformats.org/officeDocument/2006/math">
                    <m:r>
                      <a:rPr lang="en-US" altLang="zh-CN" sz="2000" kern="0" smtClean="0">
                        <a:solidFill>
                          <a:prstClr val="black"/>
                        </a:solidFill>
                        <a:latin typeface="Cambria Math" panose="02040503050406030204" pitchFamily="18" charset="0"/>
                      </a:rPr>
                      <m:t>𝒇</m:t>
                    </m:r>
                    <m:r>
                      <a:rPr lang="en-US" altLang="zh-CN" sz="2000" kern="0">
                        <a:solidFill>
                          <a:prstClr val="black"/>
                        </a:solidFill>
                        <a:latin typeface="Cambria Math" panose="02040503050406030204" pitchFamily="18" charset="0"/>
                      </a:rPr>
                      <m:t>∈</m:t>
                    </m:r>
                    <m:sSup>
                      <m:sSupPr>
                        <m:ctrlPr>
                          <a:rPr lang="zh-CN" altLang="zh-CN" sz="2000" i="1" kern="0">
                            <a:solidFill>
                              <a:prstClr val="black"/>
                            </a:solidFill>
                            <a:latin typeface="Cambria Math" panose="02040503050406030204" pitchFamily="18" charset="0"/>
                          </a:rPr>
                        </m:ctrlPr>
                      </m:sSupPr>
                      <m:e>
                        <m:r>
                          <a:rPr lang="en-US" altLang="zh-CN" sz="2000" kern="0">
                            <a:solidFill>
                              <a:prstClr val="black"/>
                            </a:solidFill>
                            <a:latin typeface="Cambria Math" panose="02040503050406030204" pitchFamily="18" charset="0"/>
                          </a:rPr>
                          <m:t>ℝ</m:t>
                        </m:r>
                      </m:e>
                      <m:sup>
                        <m:r>
                          <a:rPr lang="en-US" altLang="zh-CN" sz="2000" kern="0">
                            <a:solidFill>
                              <a:prstClr val="black"/>
                            </a:solidFill>
                            <a:latin typeface="Cambria Math" panose="02040503050406030204" pitchFamily="18" charset="0"/>
                          </a:rPr>
                          <m:t>𝑳</m:t>
                        </m:r>
                      </m:sup>
                    </m:sSup>
                  </m:oMath>
                </a14:m>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为线路潮流，</a:t>
                </a:r>
                <a14:m>
                  <m:oMath xmlns:m="http://schemas.openxmlformats.org/officeDocument/2006/math">
                    <m:r>
                      <a:rPr lang="en-US" altLang="zh-CN" sz="2000" kern="0">
                        <a:solidFill>
                          <a:prstClr val="black"/>
                        </a:solidFill>
                        <a:latin typeface="Cambria Math" panose="02040503050406030204" pitchFamily="18" charset="0"/>
                      </a:rPr>
                      <m:t>𝜞</m:t>
                    </m:r>
                    <m:r>
                      <a:rPr lang="en-US" altLang="zh-CN" sz="2000" kern="0">
                        <a:solidFill>
                          <a:prstClr val="black"/>
                        </a:solidFill>
                        <a:latin typeface="Cambria Math" panose="02040503050406030204" pitchFamily="18" charset="0"/>
                      </a:rPr>
                      <m:t>∈</m:t>
                    </m:r>
                    <m:sSup>
                      <m:sSupPr>
                        <m:ctrlPr>
                          <a:rPr lang="zh-CN" altLang="zh-CN" sz="2000" i="1" kern="0">
                            <a:solidFill>
                              <a:prstClr val="black"/>
                            </a:solidFill>
                            <a:latin typeface="Cambria Math" panose="02040503050406030204" pitchFamily="18" charset="0"/>
                          </a:rPr>
                        </m:ctrlPr>
                      </m:sSupPr>
                      <m:e>
                        <m:r>
                          <a:rPr lang="en-US" altLang="zh-CN" sz="2000" kern="0">
                            <a:solidFill>
                              <a:prstClr val="black"/>
                            </a:solidFill>
                            <a:latin typeface="Cambria Math" panose="02040503050406030204" pitchFamily="18" charset="0"/>
                          </a:rPr>
                          <m:t>ℝ</m:t>
                        </m:r>
                      </m:e>
                      <m:sup>
                        <m:r>
                          <a:rPr lang="en-US" altLang="zh-CN" sz="2000" kern="0">
                            <a:solidFill>
                              <a:prstClr val="black"/>
                            </a:solidFill>
                            <a:latin typeface="Cambria Math" panose="02040503050406030204" pitchFamily="18" charset="0"/>
                          </a:rPr>
                          <m:t>𝑳</m:t>
                        </m:r>
                        <m:r>
                          <a:rPr lang="en-US" altLang="zh-CN" sz="2000" kern="0">
                            <a:solidFill>
                              <a:prstClr val="black"/>
                            </a:solidFill>
                            <a:latin typeface="Cambria Math" panose="02040503050406030204" pitchFamily="18" charset="0"/>
                          </a:rPr>
                          <m:t>×</m:t>
                        </m:r>
                        <m:r>
                          <a:rPr lang="en-US" altLang="zh-CN" sz="2000" kern="0">
                            <a:solidFill>
                              <a:prstClr val="black"/>
                            </a:solidFill>
                            <a:latin typeface="Cambria Math" panose="02040503050406030204" pitchFamily="18" charset="0"/>
                          </a:rPr>
                          <m:t>𝑵</m:t>
                        </m:r>
                      </m:sup>
                    </m:sSup>
                  </m:oMath>
                </a14:m>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为功率传输分布因子矩阵（</a:t>
                </a:r>
                <a:r>
                  <a:rPr lang="en-US"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PTDF</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），用于描述节点注入功率变化对线路潮流的影响</a:t>
                </a:r>
                <a:r>
                  <a:rPr lang="zh-CN" altLang="en-US"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zh-CN" altLang="zh-CN" sz="2000" i="1" kern="0">
                            <a:solidFill>
                              <a:prstClr val="black"/>
                            </a:solidFill>
                            <a:latin typeface="Cambria Math" panose="02040503050406030204" pitchFamily="18" charset="0"/>
                          </a:rPr>
                        </m:ctrlPr>
                      </m:sSubPr>
                      <m:e>
                        <m:r>
                          <a:rPr lang="en-US" altLang="zh-CN" sz="2000" kern="0">
                            <a:solidFill>
                              <a:prstClr val="black"/>
                            </a:solidFill>
                            <a:latin typeface="Cambria Math" panose="02040503050406030204" pitchFamily="18" charset="0"/>
                          </a:rPr>
                          <m:t>𝑩</m:t>
                        </m:r>
                      </m:e>
                      <m:sub>
                        <m:r>
                          <a:rPr lang="en-US" altLang="zh-CN" sz="2000" kern="0">
                            <a:solidFill>
                              <a:prstClr val="black"/>
                            </a:solidFill>
                            <a:latin typeface="Cambria Math" panose="02040503050406030204" pitchFamily="18" charset="0"/>
                          </a:rPr>
                          <m:t>𝟎</m:t>
                        </m:r>
                      </m:sub>
                    </m:sSub>
                    <m:r>
                      <a:rPr lang="en-US" altLang="zh-CN" sz="2000" kern="0">
                        <a:solidFill>
                          <a:prstClr val="black"/>
                        </a:solidFill>
                        <a:latin typeface="Cambria Math" panose="02040503050406030204" pitchFamily="18" charset="0"/>
                      </a:rPr>
                      <m:t>, </m:t>
                    </m:r>
                    <m:sSub>
                      <m:sSubPr>
                        <m:ctrlPr>
                          <a:rPr lang="zh-CN" altLang="zh-CN" sz="2000" i="1" kern="0">
                            <a:solidFill>
                              <a:prstClr val="black"/>
                            </a:solidFill>
                            <a:latin typeface="Cambria Math" panose="02040503050406030204" pitchFamily="18" charset="0"/>
                          </a:rPr>
                        </m:ctrlPr>
                      </m:sSubPr>
                      <m:e>
                        <m:r>
                          <a:rPr lang="en-US" altLang="zh-CN" sz="2000" kern="0">
                            <a:solidFill>
                              <a:prstClr val="black"/>
                            </a:solidFill>
                            <a:latin typeface="Cambria Math" panose="02040503050406030204" pitchFamily="18" charset="0"/>
                          </a:rPr>
                          <m:t>𝑨</m:t>
                        </m:r>
                      </m:e>
                      <m:sub>
                        <m:r>
                          <a:rPr lang="en-US" altLang="zh-CN" sz="2000" kern="0">
                            <a:solidFill>
                              <a:prstClr val="black"/>
                            </a:solidFill>
                            <a:latin typeface="Cambria Math" panose="02040503050406030204" pitchFamily="18" charset="0"/>
                          </a:rPr>
                          <m:t>𝟎</m:t>
                        </m:r>
                      </m:sub>
                    </m:sSub>
                  </m:oMath>
                </a14:m>
                <a:r>
                  <a:rPr lang="zh-CN" altLang="en-US"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为</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去除参考节点后的</a:t>
                </a:r>
                <a14:m>
                  <m:oMath xmlns:m="http://schemas.openxmlformats.org/officeDocument/2006/math">
                    <m:r>
                      <a:rPr lang="en-US" altLang="zh-CN" sz="2000" kern="0">
                        <a:solidFill>
                          <a:prstClr val="black"/>
                        </a:solidFill>
                        <a:latin typeface="Cambria Math" panose="02040503050406030204" pitchFamily="18" charset="0"/>
                      </a:rPr>
                      <m:t>𝑩</m:t>
                    </m:r>
                    <m:r>
                      <a:rPr lang="en-US" altLang="zh-CN" sz="2000" kern="0">
                        <a:solidFill>
                          <a:prstClr val="black"/>
                        </a:solidFill>
                        <a:latin typeface="Cambria Math" panose="02040503050406030204" pitchFamily="18" charset="0"/>
                      </a:rPr>
                      <m:t>, </m:t>
                    </m:r>
                    <m:r>
                      <a:rPr lang="en-US" altLang="zh-CN" sz="2000" kern="0">
                        <a:solidFill>
                          <a:prstClr val="black"/>
                        </a:solidFill>
                        <a:latin typeface="Cambria Math" panose="02040503050406030204" pitchFamily="18" charset="0"/>
                      </a:rPr>
                      <m:t>𝑨</m:t>
                    </m:r>
                  </m:oMath>
                </a14:m>
                <a:endParaRPr lang="en-US"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13" name="矩形 12">
                <a:extLst>
                  <a:ext uri="{FF2B5EF4-FFF2-40B4-BE49-F238E27FC236}">
                    <a16:creationId xmlns:a16="http://schemas.microsoft.com/office/drawing/2014/main" id="{A4402F1A-BD06-4CB0-A67E-251E24FB5A0E}"/>
                  </a:ext>
                </a:extLst>
              </p:cNvPr>
              <p:cNvSpPr>
                <a:spLocks noRot="1" noChangeAspect="1" noMove="1" noResize="1" noEditPoints="1" noAdjustHandles="1" noChangeArrowheads="1" noChangeShapeType="1" noTextEdit="1"/>
              </p:cNvSpPr>
              <p:nvPr/>
            </p:nvSpPr>
            <p:spPr>
              <a:xfrm>
                <a:off x="1568195" y="5311600"/>
                <a:ext cx="9807376" cy="969048"/>
              </a:xfrm>
              <a:prstGeom prst="rect">
                <a:avLst/>
              </a:prstGeom>
              <a:blipFill>
                <a:blip r:embed="rId10"/>
                <a:stretch>
                  <a:fillRect l="-622" r="-249" b="-10692"/>
                </a:stretch>
              </a:blipFill>
            </p:spPr>
            <p:txBody>
              <a:bodyPr/>
              <a:lstStyle/>
              <a:p>
                <a:r>
                  <a:rPr lang="zh-CN" altLang="en-US">
                    <a:noFill/>
                  </a:rPr>
                  <a:t> </a:t>
                </a:r>
              </a:p>
            </p:txBody>
          </p:sp>
        </mc:Fallback>
      </mc:AlternateContent>
      <p:sp>
        <p:nvSpPr>
          <p:cNvPr id="2" name="TextBox 8">
            <a:extLst>
              <a:ext uri="{FF2B5EF4-FFF2-40B4-BE49-F238E27FC236}">
                <a16:creationId xmlns:a16="http://schemas.microsoft.com/office/drawing/2014/main" id="{EDEEA955-68B6-858B-C2B1-6403615AA918}"/>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2300179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93600E2F-41B6-41A9-BFC4-9AB292066B80}"/>
              </a:ext>
            </a:extLst>
          </p:cNvPr>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安全约束经济调度电价计算模型</a:t>
            </a:r>
          </a:p>
        </p:txBody>
      </p:sp>
      <p:sp>
        <p:nvSpPr>
          <p:cNvPr id="4" name="矩形 3">
            <a:extLst>
              <a:ext uri="{FF2B5EF4-FFF2-40B4-BE49-F238E27FC236}">
                <a16:creationId xmlns:a16="http://schemas.microsoft.com/office/drawing/2014/main" id="{12FE11F7-D576-44A2-9ED8-E73C364CF7E0}"/>
              </a:ext>
            </a:extLst>
          </p:cNvPr>
          <p:cNvSpPr/>
          <p:nvPr/>
        </p:nvSpPr>
        <p:spPr>
          <a:xfrm>
            <a:off x="1287678" y="1628404"/>
            <a:ext cx="8411494" cy="499624"/>
          </a:xfrm>
          <a:prstGeom prst="rect">
            <a:avLst/>
          </a:prstGeom>
        </p:spPr>
        <p:txBody>
          <a:bodyPr wrap="square">
            <a:spAutoFit/>
          </a:bodyPr>
          <a:lstStyle/>
          <a:p>
            <a:pPr defTabSz="1219163">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目前国外大部分以及广东电力市场采用直流最优潮流模型计算节点电价</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1D345BD2-8D9C-43E8-9149-E5184D018F62}"/>
              </a:ext>
            </a:extLst>
          </p:cNvPr>
          <p:cNvPicPr>
            <a:picLocks noChangeAspect="1"/>
          </p:cNvPicPr>
          <p:nvPr/>
        </p:nvPicPr>
        <p:blipFill>
          <a:blip r:embed="rId4"/>
          <a:stretch>
            <a:fillRect/>
          </a:stretch>
        </p:blipFill>
        <p:spPr>
          <a:xfrm>
            <a:off x="3817537" y="2275759"/>
            <a:ext cx="3289861" cy="1636581"/>
          </a:xfrm>
          <a:prstGeom prst="rect">
            <a:avLst/>
          </a:prstGeom>
        </p:spPr>
      </p:pic>
      <p:sp>
        <p:nvSpPr>
          <p:cNvPr id="6" name="文本框 5">
            <a:extLst>
              <a:ext uri="{FF2B5EF4-FFF2-40B4-BE49-F238E27FC236}">
                <a16:creationId xmlns:a16="http://schemas.microsoft.com/office/drawing/2014/main" id="{C2BF4180-355F-409C-87C6-4AD461AB2480}"/>
              </a:ext>
            </a:extLst>
          </p:cNvPr>
          <p:cNvSpPr txBox="1"/>
          <p:nvPr/>
        </p:nvSpPr>
        <p:spPr>
          <a:xfrm>
            <a:off x="7322738" y="2172196"/>
            <a:ext cx="497252" cy="1881990"/>
          </a:xfrm>
          <a:prstGeom prst="rect">
            <a:avLst/>
          </a:prstGeom>
          <a:noFill/>
        </p:spPr>
        <p:txBody>
          <a:bodyPr wrap="none" rtlCol="0">
            <a:spAutoFit/>
          </a:bodyPr>
          <a:lstStyle/>
          <a:p>
            <a:pPr>
              <a:lnSpc>
                <a:spcPct val="150000"/>
              </a:lnSpc>
            </a:pPr>
            <a:r>
              <a:rPr lang="en-US" altLang="zh-CN" sz="2000" dirty="0">
                <a:latin typeface="Arial" panose="020B0604020202020204" pitchFamily="34" charset="0"/>
                <a:cs typeface="Arial" panose="020B0604020202020204" pitchFamily="34" charset="0"/>
              </a:rPr>
              <a:t>(a)</a:t>
            </a:r>
          </a:p>
          <a:p>
            <a:pPr>
              <a:lnSpc>
                <a:spcPct val="150000"/>
              </a:lnSpc>
            </a:pPr>
            <a:r>
              <a:rPr lang="en-US" altLang="zh-CN" sz="2000" dirty="0">
                <a:latin typeface="Arial" panose="020B0604020202020204" pitchFamily="34" charset="0"/>
                <a:cs typeface="Arial" panose="020B0604020202020204" pitchFamily="34" charset="0"/>
              </a:rPr>
              <a:t>(b)</a:t>
            </a:r>
          </a:p>
          <a:p>
            <a:pPr>
              <a:lnSpc>
                <a:spcPct val="150000"/>
              </a:lnSpc>
            </a:pPr>
            <a:r>
              <a:rPr lang="en-US" altLang="zh-CN" sz="2000" dirty="0">
                <a:latin typeface="Arial" panose="020B0604020202020204" pitchFamily="34" charset="0"/>
                <a:cs typeface="Arial" panose="020B0604020202020204" pitchFamily="34" charset="0"/>
              </a:rPr>
              <a:t>(c)</a:t>
            </a:r>
          </a:p>
          <a:p>
            <a:pPr>
              <a:lnSpc>
                <a:spcPct val="150000"/>
              </a:lnSpc>
            </a:pPr>
            <a:r>
              <a:rPr lang="en-US" altLang="zh-CN" sz="2000" dirty="0">
                <a:latin typeface="Arial" panose="020B0604020202020204" pitchFamily="34" charset="0"/>
                <a:cs typeface="Arial" panose="020B0604020202020204" pitchFamily="34" charset="0"/>
              </a:rPr>
              <a:t>(d)</a:t>
            </a:r>
            <a:endParaRPr lang="zh-CN" altLang="en-US" sz="2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8FCF969-1940-40FA-A6DC-E1BC40592480}"/>
                  </a:ext>
                </a:extLst>
              </p:cNvPr>
              <p:cNvSpPr/>
              <p:nvPr/>
            </p:nvSpPr>
            <p:spPr>
              <a:xfrm>
                <a:off x="1305774" y="3988306"/>
                <a:ext cx="9645255" cy="961289"/>
              </a:xfrm>
              <a:prstGeom prst="rect">
                <a:avLst/>
              </a:prstGeom>
            </p:spPr>
            <p:txBody>
              <a:bodyPr wrap="square">
                <a:spAutoFit/>
              </a:bodyPr>
              <a:lstStyle/>
              <a:p>
                <a:pPr defTabSz="1219163">
                  <a:lnSpc>
                    <a:spcPct val="150000"/>
                  </a:lnSpc>
                  <a:defRPr/>
                </a:pPr>
                <a:r>
                  <a:rPr lang="zh-CN" altLang="zh-CN" sz="2000" kern="0" dirty="0">
                    <a:solidFill>
                      <a:prstClr val="black"/>
                    </a:solidFill>
                    <a:latin typeface="微软雅黑" panose="020B0503020204020204" pitchFamily="34" charset="-122"/>
                    <a:ea typeface="微软雅黑" panose="020B0503020204020204" pitchFamily="34" charset="-122"/>
                  </a:rPr>
                  <a:t>最优发电机出力</a:t>
                </a:r>
                <a14:m>
                  <m:oMath xmlns:m="http://schemas.openxmlformats.org/officeDocument/2006/math">
                    <m:sSubSup>
                      <m:sSubSupPr>
                        <m:ctrlPr>
                          <a:rPr lang="zh-CN" altLang="zh-CN" sz="2000" i="1" kern="0">
                            <a:solidFill>
                              <a:prstClr val="black"/>
                            </a:solidFill>
                            <a:latin typeface="Cambria Math" panose="02040503050406030204" pitchFamily="18" charset="0"/>
                            <a:ea typeface="微软雅黑" panose="020B0503020204020204" pitchFamily="34" charset="-122"/>
                          </a:rPr>
                        </m:ctrlPr>
                      </m:sSubSupPr>
                      <m:e>
                        <m:r>
                          <a:rPr lang="en-US" altLang="zh-CN" sz="2000" kern="0">
                            <a:solidFill>
                              <a:prstClr val="black"/>
                            </a:solidFill>
                            <a:latin typeface="Cambria Math" panose="02040503050406030204" pitchFamily="18" charset="0"/>
                            <a:ea typeface="微软雅黑" panose="020B0503020204020204" pitchFamily="34" charset="-122"/>
                          </a:rPr>
                          <m:t>𝑷</m:t>
                        </m:r>
                      </m:e>
                      <m:sub>
                        <m:r>
                          <a:rPr lang="en-US" altLang="zh-CN" sz="2000" kern="0">
                            <a:solidFill>
                              <a:prstClr val="black"/>
                            </a:solidFill>
                            <a:latin typeface="Cambria Math" panose="02040503050406030204" pitchFamily="18" charset="0"/>
                            <a:ea typeface="微软雅黑" panose="020B0503020204020204" pitchFamily="34" charset="-122"/>
                          </a:rPr>
                          <m:t>𝐺</m:t>
                        </m:r>
                      </m:sub>
                      <m:sup>
                        <m:r>
                          <a:rPr lang="en-US" altLang="zh-CN" sz="2000" kern="0">
                            <a:solidFill>
                              <a:prstClr val="black"/>
                            </a:solidFill>
                            <a:latin typeface="Cambria Math" panose="02040503050406030204" pitchFamily="18" charset="0"/>
                            <a:ea typeface="微软雅黑" panose="020B0503020204020204" pitchFamily="34" charset="-122"/>
                          </a:rPr>
                          <m:t>∗</m:t>
                        </m:r>
                      </m:sup>
                    </m:sSubSup>
                  </m:oMath>
                </a14:m>
                <a:r>
                  <a:rPr lang="zh-CN" altLang="zh-CN" sz="2000" kern="0" dirty="0">
                    <a:solidFill>
                      <a:prstClr val="black"/>
                    </a:solidFill>
                    <a:latin typeface="微软雅黑" panose="020B0503020204020204" pitchFamily="34" charset="-122"/>
                    <a:ea typeface="微软雅黑" panose="020B0503020204020204" pitchFamily="34" charset="-122"/>
                  </a:rPr>
                  <a:t>通过式</a:t>
                </a:r>
                <a14:m>
                  <m:oMath xmlns:m="http://schemas.openxmlformats.org/officeDocument/2006/math">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a</m:t>
                        </m:r>
                      </m:e>
                    </m:d>
                  </m:oMath>
                </a14:m>
                <a:r>
                  <a:rPr lang="zh-CN" altLang="zh-CN" sz="2000" kern="0" dirty="0">
                    <a:solidFill>
                      <a:prstClr val="black"/>
                    </a:solidFill>
                    <a:latin typeface="微软雅黑" panose="020B0503020204020204" pitchFamily="34" charset="-122"/>
                    <a:ea typeface="微软雅黑" panose="020B0503020204020204" pitchFamily="34" charset="-122"/>
                  </a:rPr>
                  <a:t>最小化发电成本计算得到，约束条件</a:t>
                </a:r>
                <a14:m>
                  <m:oMath xmlns:m="http://schemas.openxmlformats.org/officeDocument/2006/math">
                    <m:d>
                      <m:dPr>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b</m:t>
                        </m:r>
                      </m:e>
                    </m:d>
                  </m:oMath>
                </a14:m>
                <a:r>
                  <a:rPr lang="zh-CN" altLang="zh-CN" sz="2000" kern="0" dirty="0">
                    <a:solidFill>
                      <a:prstClr val="black"/>
                    </a:solidFill>
                    <a:latin typeface="微软雅黑" panose="020B0503020204020204" pitchFamily="34" charset="-122"/>
                    <a:ea typeface="微软雅黑" panose="020B0503020204020204" pitchFamily="34" charset="-122"/>
                  </a:rPr>
                  <a:t>为功率平衡约束，</a:t>
                </a:r>
                <a14:m>
                  <m:oMath xmlns:m="http://schemas.openxmlformats.org/officeDocument/2006/math">
                    <m:d>
                      <m:dPr>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c</m:t>
                        </m:r>
                      </m:e>
                    </m:d>
                  </m:oMath>
                </a14:m>
                <a:r>
                  <a:rPr lang="zh-CN" altLang="zh-CN" sz="2000" kern="0" dirty="0">
                    <a:solidFill>
                      <a:prstClr val="black"/>
                    </a:solidFill>
                    <a:latin typeface="微软雅黑" panose="020B0503020204020204" pitchFamily="34" charset="-122"/>
                    <a:ea typeface="微软雅黑" panose="020B0503020204020204" pitchFamily="34" charset="-122"/>
                  </a:rPr>
                  <a:t>为发电机出力约束，</a:t>
                </a:r>
                <a14:m>
                  <m:oMath xmlns:m="http://schemas.openxmlformats.org/officeDocument/2006/math">
                    <m:d>
                      <m:dPr>
                        <m:ctrlPr>
                          <a:rPr lang="zh-CN" altLang="zh-CN" sz="2000" i="1" kern="0">
                            <a:solidFill>
                              <a:prstClr val="black"/>
                            </a:solidFill>
                            <a:latin typeface="Cambria Math" panose="02040503050406030204" pitchFamily="18" charset="0"/>
                            <a:ea typeface="微软雅黑" panose="020B0503020204020204" pitchFamily="34" charset="-122"/>
                          </a:rPr>
                        </m:ctrlPr>
                      </m:dPr>
                      <m:e>
                        <m:r>
                          <m:rPr>
                            <m:sty m:val="p"/>
                          </m:rPr>
                          <a:rPr lang="en-US" altLang="zh-CN" sz="2000" kern="0">
                            <a:solidFill>
                              <a:prstClr val="black"/>
                            </a:solidFill>
                            <a:latin typeface="Cambria Math" panose="02040503050406030204" pitchFamily="18" charset="0"/>
                            <a:ea typeface="微软雅黑" panose="020B0503020204020204" pitchFamily="34" charset="-122"/>
                          </a:rPr>
                          <m:t>d</m:t>
                        </m:r>
                      </m:e>
                    </m:d>
                  </m:oMath>
                </a14:m>
                <a:r>
                  <a:rPr lang="zh-CN" altLang="zh-CN" sz="2000" kern="0" dirty="0">
                    <a:solidFill>
                      <a:prstClr val="black"/>
                    </a:solidFill>
                    <a:latin typeface="微软雅黑" panose="020B0503020204020204" pitchFamily="34" charset="-122"/>
                    <a:ea typeface="微软雅黑" panose="020B0503020204020204" pitchFamily="34" charset="-122"/>
                  </a:rPr>
                  <a:t>为线路潮流约束</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28FCF969-1940-40FA-A6DC-E1BC40592480}"/>
                  </a:ext>
                </a:extLst>
              </p:cNvPr>
              <p:cNvSpPr>
                <a:spLocks noRot="1" noChangeAspect="1" noMove="1" noResize="1" noEditPoints="1" noAdjustHandles="1" noChangeArrowheads="1" noChangeShapeType="1" noTextEdit="1"/>
              </p:cNvSpPr>
              <p:nvPr/>
            </p:nvSpPr>
            <p:spPr>
              <a:xfrm>
                <a:off x="1305774" y="3988306"/>
                <a:ext cx="9645255" cy="961289"/>
              </a:xfrm>
              <a:prstGeom prst="rect">
                <a:avLst/>
              </a:prstGeom>
              <a:blipFill>
                <a:blip r:embed="rId5"/>
                <a:stretch>
                  <a:fillRect l="-632" r="-3287" b="-10127"/>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6E6797AF-B24F-4828-87DD-EE4022816699}"/>
              </a:ext>
            </a:extLst>
          </p:cNvPr>
          <p:cNvSpPr/>
          <p:nvPr/>
        </p:nvSpPr>
        <p:spPr>
          <a:xfrm>
            <a:off x="1287677" y="4969432"/>
            <a:ext cx="7574131" cy="499624"/>
          </a:xfrm>
          <a:prstGeom prst="rect">
            <a:avLst/>
          </a:prstGeom>
        </p:spPr>
        <p:txBody>
          <a:bodyPr wrap="square">
            <a:spAutoFit/>
          </a:bodyPr>
          <a:lstStyle/>
          <a:p>
            <a:pPr defTabSz="1219163">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节点边际电价由电能价格、网损价格、阻塞价格三部分组成</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2F3A7273-1476-4FA0-84E0-A72342B75C63}"/>
              </a:ext>
            </a:extLst>
          </p:cNvPr>
          <p:cNvPicPr>
            <a:picLocks noChangeAspect="1"/>
          </p:cNvPicPr>
          <p:nvPr/>
        </p:nvPicPr>
        <p:blipFill>
          <a:blip r:embed="rId6"/>
          <a:stretch>
            <a:fillRect/>
          </a:stretch>
        </p:blipFill>
        <p:spPr>
          <a:xfrm>
            <a:off x="5546391" y="5583096"/>
            <a:ext cx="1561007" cy="400259"/>
          </a:xfrm>
          <a:prstGeom prst="rect">
            <a:avLst/>
          </a:prstGeom>
        </p:spPr>
      </p:pic>
      <p:sp>
        <p:nvSpPr>
          <p:cNvPr id="10" name="矩形 9">
            <a:extLst>
              <a:ext uri="{FF2B5EF4-FFF2-40B4-BE49-F238E27FC236}">
                <a16:creationId xmlns:a16="http://schemas.microsoft.com/office/drawing/2014/main" id="{DDB30F7C-8D6C-4578-A716-CBDFE6CD367D}"/>
              </a:ext>
            </a:extLst>
          </p:cNvPr>
          <p:cNvSpPr/>
          <p:nvPr/>
        </p:nvSpPr>
        <p:spPr>
          <a:xfrm>
            <a:off x="4162361" y="5614023"/>
            <a:ext cx="1210588" cy="400110"/>
          </a:xfrm>
          <a:prstGeom prst="rect">
            <a:avLst/>
          </a:prstGeom>
        </p:spPr>
        <p:txBody>
          <a:bodyPr wrap="none">
            <a:spAutoFit/>
          </a:bodyPr>
          <a:lstStyle/>
          <a:p>
            <a:r>
              <a:rPr lang="zh-CN" altLang="en-US" sz="2000" kern="0" dirty="0">
                <a:solidFill>
                  <a:prstClr val="black"/>
                </a:solidFill>
                <a:latin typeface="微软雅黑" panose="020B0503020204020204" pitchFamily="34" charset="-122"/>
                <a:ea typeface="微软雅黑" panose="020B0503020204020204" pitchFamily="34" charset="-122"/>
              </a:rPr>
              <a:t>阻塞价格</a:t>
            </a:r>
            <a:endParaRPr lang="zh-CN" altLang="en-US" sz="2000" dirty="0"/>
          </a:p>
        </p:txBody>
      </p:sp>
      <p:sp>
        <p:nvSpPr>
          <p:cNvPr id="2" name="TextBox 8">
            <a:extLst>
              <a:ext uri="{FF2B5EF4-FFF2-40B4-BE49-F238E27FC236}">
                <a16:creationId xmlns:a16="http://schemas.microsoft.com/office/drawing/2014/main" id="{E467C2F9-1DB9-9D5E-72BF-33CB73594197}"/>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pic>
        <p:nvPicPr>
          <p:cNvPr id="11" name="图片 10">
            <a:extLst>
              <a:ext uri="{FF2B5EF4-FFF2-40B4-BE49-F238E27FC236}">
                <a16:creationId xmlns:a16="http://schemas.microsoft.com/office/drawing/2014/main" id="{452ABDFC-6A8D-2F4E-61FB-2FCC278FCC2E}"/>
              </a:ext>
            </a:extLst>
          </p:cNvPr>
          <p:cNvPicPr>
            <a:picLocks noChangeAspect="1"/>
          </p:cNvPicPr>
          <p:nvPr/>
        </p:nvPicPr>
        <p:blipFill>
          <a:blip r:embed="rId6"/>
          <a:srcRect r="77489" b="36"/>
          <a:stretch/>
        </p:blipFill>
        <p:spPr>
          <a:xfrm>
            <a:off x="2102129" y="6101298"/>
            <a:ext cx="351396" cy="400110"/>
          </a:xfrm>
          <a:prstGeom prst="rect">
            <a:avLst/>
          </a:prstGeom>
        </p:spPr>
      </p:pic>
      <p:pic>
        <p:nvPicPr>
          <p:cNvPr id="12" name="图片 11">
            <a:extLst>
              <a:ext uri="{FF2B5EF4-FFF2-40B4-BE49-F238E27FC236}">
                <a16:creationId xmlns:a16="http://schemas.microsoft.com/office/drawing/2014/main" id="{FF523FE3-749A-CF02-64FB-3A097436B89A}"/>
              </a:ext>
            </a:extLst>
          </p:cNvPr>
          <p:cNvPicPr>
            <a:picLocks noChangeAspect="1"/>
          </p:cNvPicPr>
          <p:nvPr/>
        </p:nvPicPr>
        <p:blipFill>
          <a:blip r:embed="rId6"/>
          <a:srcRect l="77489" b="36"/>
          <a:stretch/>
        </p:blipFill>
        <p:spPr>
          <a:xfrm>
            <a:off x="5279175" y="6084701"/>
            <a:ext cx="351396" cy="400110"/>
          </a:xfrm>
          <a:prstGeom prst="rect">
            <a:avLst/>
          </a:prstGeom>
        </p:spPr>
      </p:pic>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582D28A4-013F-285E-24EE-2783C718F0BD}"/>
                  </a:ext>
                </a:extLst>
              </p:cNvPr>
              <p:cNvSpPr/>
              <p:nvPr/>
            </p:nvSpPr>
            <p:spPr>
              <a:xfrm>
                <a:off x="1305774" y="6018045"/>
                <a:ext cx="7574131" cy="499624"/>
              </a:xfrm>
              <a:prstGeom prst="rect">
                <a:avLst/>
              </a:prstGeom>
            </p:spPr>
            <p:txBody>
              <a:bodyPr wrap="square">
                <a:spAutoFit/>
              </a:bodyPr>
              <a:lstStyle/>
              <a:p>
                <a:pPr defTabSz="1219163">
                  <a:lnSpc>
                    <a:spcPct val="150000"/>
                  </a:lnSpc>
                  <a:defRPr/>
                </a:pPr>
                <a:r>
                  <a:rPr lang="zh-CN" altLang="en-US" sz="2000" kern="0" dirty="0">
                    <a:solidFill>
                      <a:prstClr val="black"/>
                    </a:solidFill>
                    <a:latin typeface="微软雅黑" panose="020B0503020204020204" pitchFamily="34" charset="-122"/>
                    <a:ea typeface="微软雅黑" panose="020B0503020204020204" pitchFamily="34" charset="-122"/>
                  </a:rPr>
                  <a:t>其中，    为</a:t>
                </a:r>
                <a14:m>
                  <m:oMath xmlns:m="http://schemas.openxmlformats.org/officeDocument/2006/math">
                    <m:r>
                      <a:rPr lang="en-US" altLang="zh-CN" sz="2000" i="1" kern="0" dirty="0" smtClean="0">
                        <a:solidFill>
                          <a:prstClr val="black"/>
                        </a:solidFill>
                        <a:latin typeface="Cambria Math" panose="02040503050406030204" pitchFamily="18" charset="0"/>
                        <a:ea typeface="微软雅黑" panose="020B0503020204020204" pitchFamily="34" charset="-122"/>
                      </a:rPr>
                      <m:t>𝑡</m:t>
                    </m:r>
                  </m:oMath>
                </a14:m>
                <a:r>
                  <a:rPr lang="zh-CN" altLang="en-US" sz="2000" kern="0" dirty="0">
                    <a:solidFill>
                      <a:prstClr val="black"/>
                    </a:solidFill>
                    <a:latin typeface="微软雅黑" panose="020B0503020204020204" pitchFamily="34" charset="-122"/>
                    <a:ea typeface="微软雅黑" panose="020B0503020204020204" pitchFamily="34" charset="-122"/>
                  </a:rPr>
                  <a:t>时刻的阻塞价格分量，    为</a:t>
                </a:r>
                <a14:m>
                  <m:oMath xmlns:m="http://schemas.openxmlformats.org/officeDocument/2006/math">
                    <m:r>
                      <a:rPr lang="en-US" altLang="zh-CN" sz="2000" i="1" kern="0" dirty="0">
                        <a:solidFill>
                          <a:prstClr val="black"/>
                        </a:solidFill>
                        <a:latin typeface="Cambria Math" panose="02040503050406030204" pitchFamily="18" charset="0"/>
                        <a:ea typeface="微软雅黑" panose="020B0503020204020204" pitchFamily="34" charset="-122"/>
                      </a:rPr>
                      <m:t>𝑡</m:t>
                    </m:r>
                  </m:oMath>
                </a14:m>
                <a:r>
                  <a:rPr lang="zh-CN" altLang="en-US" sz="2000" kern="0" dirty="0">
                    <a:solidFill>
                      <a:prstClr val="black"/>
                    </a:solidFill>
                    <a:latin typeface="微软雅黑" panose="020B0503020204020204" pitchFamily="34" charset="-122"/>
                    <a:ea typeface="微软雅黑" panose="020B0503020204020204" pitchFamily="34" charset="-122"/>
                  </a:rPr>
                  <a:t>时刻的线路影子价格</a:t>
                </a:r>
                <a:endParaRPr lang="en-US" altLang="zh-CN" sz="2000" kern="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13" name="矩形 12">
                <a:extLst>
                  <a:ext uri="{FF2B5EF4-FFF2-40B4-BE49-F238E27FC236}">
                    <a16:creationId xmlns:a16="http://schemas.microsoft.com/office/drawing/2014/main" id="{582D28A4-013F-285E-24EE-2783C718F0BD}"/>
                  </a:ext>
                </a:extLst>
              </p:cNvPr>
              <p:cNvSpPr>
                <a:spLocks noRot="1" noChangeAspect="1" noMove="1" noResize="1" noEditPoints="1" noAdjustHandles="1" noChangeArrowheads="1" noChangeShapeType="1" noTextEdit="1"/>
              </p:cNvSpPr>
              <p:nvPr/>
            </p:nvSpPr>
            <p:spPr>
              <a:xfrm>
                <a:off x="1305774" y="6018045"/>
                <a:ext cx="7574131" cy="499624"/>
              </a:xfrm>
              <a:prstGeom prst="rect">
                <a:avLst/>
              </a:prstGeom>
              <a:blipFill>
                <a:blip r:embed="rId7"/>
                <a:stretch>
                  <a:fillRect l="-805" b="-207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6825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93600E2F-41B6-41A9-BFC4-9AB292066B80}"/>
              </a:ext>
            </a:extLst>
          </p:cNvPr>
          <p:cNvSpPr txBox="1"/>
          <p:nvPr/>
        </p:nvSpPr>
        <p:spPr>
          <a:xfrm>
            <a:off x="437206" y="996561"/>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导纳推断模型</a:t>
            </a:r>
          </a:p>
        </p:txBody>
      </p:sp>
      <p:sp>
        <p:nvSpPr>
          <p:cNvPr id="21" name="右大括号 10">
            <a:extLst>
              <a:ext uri="{FF2B5EF4-FFF2-40B4-BE49-F238E27FC236}">
                <a16:creationId xmlns:a16="http://schemas.microsoft.com/office/drawing/2014/main" id="{1AC980D3-9061-4490-81A1-DDD1C293CDF1}"/>
              </a:ext>
            </a:extLst>
          </p:cNvPr>
          <p:cNvSpPr/>
          <p:nvPr/>
        </p:nvSpPr>
        <p:spPr>
          <a:xfrm>
            <a:off x="4131448" y="2008993"/>
            <a:ext cx="231494" cy="167033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2" name="矩形 64">
            <a:extLst>
              <a:ext uri="{FF2B5EF4-FFF2-40B4-BE49-F238E27FC236}">
                <a16:creationId xmlns:a16="http://schemas.microsoft.com/office/drawing/2014/main" id="{7E30C92A-4030-455F-AE96-D11DAC2585AE}"/>
              </a:ext>
            </a:extLst>
          </p:cNvPr>
          <p:cNvSpPr/>
          <p:nvPr/>
        </p:nvSpPr>
        <p:spPr>
          <a:xfrm>
            <a:off x="1970271" y="3932707"/>
            <a:ext cx="1467068" cy="400110"/>
          </a:xfrm>
          <a:prstGeom prst="rect">
            <a:avLst/>
          </a:prstGeom>
        </p:spPr>
        <p:txBody>
          <a:bodyPr wrap="none">
            <a:spAutoFit/>
          </a:bodyPr>
          <a:lstStyle/>
          <a:p>
            <a:r>
              <a:rPr lang="zh-CN" altLang="en-US" sz="2000" kern="100" dirty="0">
                <a:latin typeface="Arial" panose="020B0604020202020204" pitchFamily="34" charset="0"/>
                <a:ea typeface="微软雅黑" panose="020B0503020204020204" pitchFamily="34" charset="-122"/>
                <a:cs typeface="Arial" panose="020B0604020202020204" pitchFamily="34" charset="0"/>
              </a:rPr>
              <a:t>令系数矩阵</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F5D0A7ED-C734-4477-A57A-3C01EC11F4F5}"/>
                  </a:ext>
                </a:extLst>
              </p:cNvPr>
              <p:cNvSpPr/>
              <p:nvPr/>
            </p:nvSpPr>
            <p:spPr>
              <a:xfrm>
                <a:off x="2271362" y="2060210"/>
                <a:ext cx="1687770" cy="468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a:latin typeface="Cambria Math" panose="02040503050406030204" pitchFamily="18" charset="0"/>
                        </a:rPr>
                        <m:t>𝑩</m:t>
                      </m:r>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1" i="1">
                          <a:latin typeface="Cambria Math" panose="02040503050406030204" pitchFamily="18" charset="0"/>
                        </a:rPr>
                        <m:t>𝑫𝑨</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3" name="矩形 22">
                <a:extLst>
                  <a:ext uri="{FF2B5EF4-FFF2-40B4-BE49-F238E27FC236}">
                    <a16:creationId xmlns:a16="http://schemas.microsoft.com/office/drawing/2014/main" id="{F5D0A7ED-C734-4477-A57A-3C01EC11F4F5}"/>
                  </a:ext>
                </a:extLst>
              </p:cNvPr>
              <p:cNvSpPr>
                <a:spLocks noRot="1" noChangeAspect="1" noMove="1" noResize="1" noEditPoints="1" noAdjustHandles="1" noChangeArrowheads="1" noChangeShapeType="1" noTextEdit="1"/>
              </p:cNvSpPr>
              <p:nvPr/>
            </p:nvSpPr>
            <p:spPr>
              <a:xfrm>
                <a:off x="2271362" y="2060210"/>
                <a:ext cx="1687770" cy="46820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5EE6BB7E-9537-43F8-BE7F-1A030AF2CE60}"/>
                  </a:ext>
                </a:extLst>
              </p:cNvPr>
              <p:cNvSpPr/>
              <p:nvPr/>
            </p:nvSpPr>
            <p:spPr>
              <a:xfrm>
                <a:off x="2271362" y="3166103"/>
                <a:ext cx="16502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𝜞</m:t>
                          </m:r>
                        </m:e>
                        <m:sup>
                          <m:r>
                            <a:rPr lang="zh-CN" altLang="en-US" sz="2400" b="0" i="1">
                              <a:latin typeface="Cambria Math" panose="02040503050406030204" pitchFamily="18" charset="0"/>
                            </a:rPr>
                            <m:t>𝑇</m:t>
                          </m:r>
                        </m:sup>
                      </m:sSup>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4" name="矩形 23">
                <a:extLst>
                  <a:ext uri="{FF2B5EF4-FFF2-40B4-BE49-F238E27FC236}">
                    <a16:creationId xmlns:a16="http://schemas.microsoft.com/office/drawing/2014/main" id="{5EE6BB7E-9537-43F8-BE7F-1A030AF2CE60}"/>
                  </a:ext>
                </a:extLst>
              </p:cNvPr>
              <p:cNvSpPr>
                <a:spLocks noRot="1" noChangeAspect="1" noMove="1" noResize="1" noEditPoints="1" noAdjustHandles="1" noChangeArrowheads="1" noChangeShapeType="1" noTextEdit="1"/>
              </p:cNvSpPr>
              <p:nvPr/>
            </p:nvSpPr>
            <p:spPr>
              <a:xfrm>
                <a:off x="2271362" y="3166103"/>
                <a:ext cx="1650260" cy="461665"/>
              </a:xfrm>
              <a:prstGeom prst="rect">
                <a:avLst/>
              </a:prstGeom>
              <a:blipFill>
                <a:blip r:embed="rId5"/>
                <a:stretch>
                  <a:fillRect b="-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0B1ACB8F-69B0-4A5E-A411-7CB9B3B08542}"/>
                  </a:ext>
                </a:extLst>
              </p:cNvPr>
              <p:cNvSpPr/>
              <p:nvPr/>
            </p:nvSpPr>
            <p:spPr>
              <a:xfrm>
                <a:off x="2271362" y="2637697"/>
                <a:ext cx="15225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a:latin typeface="Cambria Math" panose="02040503050406030204" pitchFamily="18" charset="0"/>
                        </a:rPr>
                        <m:t>𝜞</m:t>
                      </m:r>
                      <m:r>
                        <a:rPr lang="zh-CN" altLang="en-US" sz="2400" b="1" i="1">
                          <a:latin typeface="Cambria Math" panose="02040503050406030204" pitchFamily="18" charset="0"/>
                        </a:rPr>
                        <m:t>𝑩</m:t>
                      </m:r>
                      <m:r>
                        <a:rPr lang="zh-CN" altLang="en-US" sz="2400" b="0" i="0">
                          <a:latin typeface="Cambria Math" panose="02040503050406030204" pitchFamily="18" charset="0"/>
                        </a:rPr>
                        <m:t>=</m:t>
                      </m:r>
                      <m:r>
                        <a:rPr lang="zh-CN" altLang="en-US" sz="2400" b="1" i="1">
                          <a:latin typeface="Cambria Math" panose="02040503050406030204" pitchFamily="18" charset="0"/>
                        </a:rPr>
                        <m:t>𝑫𝑨</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5" name="矩形 24">
                <a:extLst>
                  <a:ext uri="{FF2B5EF4-FFF2-40B4-BE49-F238E27FC236}">
                    <a16:creationId xmlns:a16="http://schemas.microsoft.com/office/drawing/2014/main" id="{0B1ACB8F-69B0-4A5E-A411-7CB9B3B08542}"/>
                  </a:ext>
                </a:extLst>
              </p:cNvPr>
              <p:cNvSpPr>
                <a:spLocks noRot="1" noChangeAspect="1" noMove="1" noResize="1" noEditPoints="1" noAdjustHandles="1" noChangeArrowheads="1" noChangeShapeType="1" noTextEdit="1"/>
              </p:cNvSpPr>
              <p:nvPr/>
            </p:nvSpPr>
            <p:spPr>
              <a:xfrm>
                <a:off x="2271362" y="2637697"/>
                <a:ext cx="1522596" cy="46166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70221CC9-2411-4905-9669-7FCDE4ECDD43}"/>
                  </a:ext>
                </a:extLst>
              </p:cNvPr>
              <p:cNvSpPr/>
              <p:nvPr/>
            </p:nvSpPr>
            <p:spPr>
              <a:xfrm>
                <a:off x="5206668" y="2060209"/>
                <a:ext cx="49045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zh-CN" sz="2400" b="1" i="1" smtClean="0">
                              <a:latin typeface="Cambria Math" panose="02040503050406030204" pitchFamily="18" charset="0"/>
                              <a:cs typeface="Times New Roman" panose="02020603050405020304" pitchFamily="18" charset="0"/>
                            </a:rPr>
                          </m:ctrlPr>
                        </m:sSupPr>
                        <m:e>
                          <m:r>
                            <a:rPr lang="en-US" altLang="zh-CN" sz="2400" b="1" i="1">
                              <a:latin typeface="Cambria Math" panose="02040503050406030204" pitchFamily="18" charset="0"/>
                              <a:cs typeface="Times New Roman" panose="02020603050405020304" pitchFamily="18" charset="0"/>
                            </a:rPr>
                            <m:t>𝑨</m:t>
                          </m:r>
                        </m:e>
                        <m:sup>
                          <m:r>
                            <a:rPr lang="en-US" altLang="zh-CN" sz="2400" i="1">
                              <a:latin typeface="Cambria Math" panose="02040503050406030204" pitchFamily="18" charset="0"/>
                              <a:cs typeface="Times New Roman" panose="02020603050405020304" pitchFamily="18" charset="0"/>
                            </a:rPr>
                            <m:t>𝑇</m:t>
                          </m:r>
                        </m:sup>
                      </m:sSup>
                      <m:r>
                        <a:rPr lang="en-US" altLang="zh-CN" sz="2400" b="1" i="1">
                          <a:latin typeface="Cambria Math" panose="02040503050406030204" pitchFamily="18" charset="0"/>
                          <a:cs typeface="Times New Roman" panose="02020603050405020304" pitchFamily="18" charset="0"/>
                        </a:rPr>
                        <m:t>𝑫𝑨</m:t>
                      </m:r>
                      <m:sSub>
                        <m:sSubPr>
                          <m:ctrlPr>
                            <a:rPr lang="zh-CN" altLang="zh-CN" sz="2400" b="1" i="1">
                              <a:latin typeface="Cambria Math" panose="02040503050406030204" pitchFamily="18" charset="0"/>
                              <a:cs typeface="Times New Roman" panose="02020603050405020304" pitchFamily="18" charset="0"/>
                            </a:rPr>
                          </m:ctrlPr>
                        </m:sSubPr>
                        <m:e>
                          <m:r>
                            <a:rPr lang="en-US" altLang="zh-CN" sz="2400" b="1" i="1">
                              <a:latin typeface="Cambria Math" panose="02040503050406030204" pitchFamily="18" charset="0"/>
                              <a:cs typeface="Times New Roman" panose="02020603050405020304" pitchFamily="18" charset="0"/>
                            </a:rPr>
                            <m:t>𝝀</m:t>
                          </m:r>
                        </m:e>
                        <m:sub>
                          <m:r>
                            <a:rPr lang="en-US" altLang="zh-CN" sz="2400" i="1">
                              <a:latin typeface="Cambria Math" panose="02040503050406030204" pitchFamily="18" charset="0"/>
                              <a:cs typeface="Times New Roman" panose="02020603050405020304" pitchFamily="18" charset="0"/>
                            </a:rPr>
                            <m:t>𝑡</m:t>
                          </m:r>
                        </m:sub>
                      </m:sSub>
                      <m:r>
                        <a:rPr lang="en-US" altLang="zh-CN" sz="2400" b="1" i="1" smtClean="0">
                          <a:latin typeface="Cambria Math" panose="02040503050406030204" pitchFamily="18" charset="0"/>
                          <a:cs typeface="Times New Roman" panose="02020603050405020304" pitchFamily="18" charset="0"/>
                        </a:rPr>
                        <m:t>=</m:t>
                      </m:r>
                      <m:r>
                        <a:rPr lang="zh-CN" altLang="en-US" sz="2400" b="1" i="1">
                          <a:latin typeface="Cambria Math" panose="02040503050406030204" pitchFamily="18" charset="0"/>
                        </a:rPr>
                        <m:t>𝑩</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r>
                        <a:rPr lang="zh-CN" altLang="en-US" sz="2400" b="1" i="1">
                          <a:latin typeface="Cambria Math" panose="02040503050406030204" pitchFamily="18" charset="0"/>
                        </a:rPr>
                        <m:t>𝑩</m:t>
                      </m:r>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𝜞</m:t>
                          </m:r>
                        </m:e>
                        <m:sup>
                          <m:r>
                            <a:rPr lang="zh-CN" altLang="en-US" sz="2400" b="0" i="1">
                              <a:latin typeface="Cambria Math" panose="02040503050406030204" pitchFamily="18" charset="0"/>
                            </a:rPr>
                            <m:t>𝑇</m:t>
                          </m:r>
                        </m:sup>
                      </m:sSup>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1" i="1">
                          <a:latin typeface="Cambria Math" panose="02040503050406030204" pitchFamily="18" charset="0"/>
                        </a:rPr>
                        <m:t>𝑫</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6" name="矩形 25">
                <a:extLst>
                  <a:ext uri="{FF2B5EF4-FFF2-40B4-BE49-F238E27FC236}">
                    <a16:creationId xmlns:a16="http://schemas.microsoft.com/office/drawing/2014/main" id="{70221CC9-2411-4905-9669-7FCDE4ECDD43}"/>
                  </a:ext>
                </a:extLst>
              </p:cNvPr>
              <p:cNvSpPr>
                <a:spLocks noRot="1" noChangeAspect="1" noMove="1" noResize="1" noEditPoints="1" noAdjustHandles="1" noChangeArrowheads="1" noChangeShapeType="1" noTextEdit="1"/>
              </p:cNvSpPr>
              <p:nvPr/>
            </p:nvSpPr>
            <p:spPr>
              <a:xfrm>
                <a:off x="5206668" y="2060209"/>
                <a:ext cx="4904548"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8472E1A5-1F6A-41CA-86AE-ABEF64AC11E9}"/>
                  </a:ext>
                </a:extLst>
              </p:cNvPr>
              <p:cNvSpPr/>
              <p:nvPr/>
            </p:nvSpPr>
            <p:spPr>
              <a:xfrm>
                <a:off x="5206668" y="2622311"/>
                <a:ext cx="28851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1" i="1">
                          <a:latin typeface="Cambria Math" panose="02040503050406030204" pitchFamily="18" charset="0"/>
                        </a:rPr>
                        <m:t>𝑫</m:t>
                      </m:r>
                      <m:r>
                        <a:rPr lang="zh-CN" altLang="en-US" sz="2400" b="0" i="0">
                          <a:latin typeface="Cambria Math" panose="02040503050406030204" pitchFamily="18" charset="0"/>
                        </a:rPr>
                        <m:t>(</m:t>
                      </m:r>
                      <m:r>
                        <a:rPr lang="zh-CN" altLang="en-US" sz="2400" b="1" i="1">
                          <a:latin typeface="Cambria Math" panose="02040503050406030204" pitchFamily="18" charset="0"/>
                        </a:rPr>
                        <m:t>𝑨</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)=0</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7" name="矩形 26">
                <a:extLst>
                  <a:ext uri="{FF2B5EF4-FFF2-40B4-BE49-F238E27FC236}">
                    <a16:creationId xmlns:a16="http://schemas.microsoft.com/office/drawing/2014/main" id="{8472E1A5-1F6A-41CA-86AE-ABEF64AC11E9}"/>
                  </a:ext>
                </a:extLst>
              </p:cNvPr>
              <p:cNvSpPr>
                <a:spLocks noRot="1" noChangeAspect="1" noMove="1" noResize="1" noEditPoints="1" noAdjustHandles="1" noChangeArrowheads="1" noChangeShapeType="1" noTextEdit="1"/>
              </p:cNvSpPr>
              <p:nvPr/>
            </p:nvSpPr>
            <p:spPr>
              <a:xfrm>
                <a:off x="5206668" y="2622311"/>
                <a:ext cx="2885149" cy="461665"/>
              </a:xfrm>
              <a:prstGeom prst="rect">
                <a:avLst/>
              </a:prstGeom>
              <a:blipFill>
                <a:blip r:embed="rId8"/>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37CCCA4E-2599-4E21-AC75-8EC351362F07}"/>
                  </a:ext>
                </a:extLst>
              </p:cNvPr>
              <p:cNvSpPr/>
              <p:nvPr/>
            </p:nvSpPr>
            <p:spPr>
              <a:xfrm>
                <a:off x="5206668" y="3166102"/>
                <a:ext cx="3476272" cy="468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2400" b="1"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0" i="1">
                          <a:latin typeface="Cambria Math" panose="02040503050406030204" pitchFamily="18" charset="0"/>
                        </a:rPr>
                        <m:t>𝑑𝑖𝑎𝑔</m:t>
                      </m:r>
                      <m:d>
                        <m:dPr>
                          <m:ctrlPr>
                            <a:rPr lang="zh-CN" altLang="en-US" sz="2400" b="0" i="1">
                              <a:latin typeface="Cambria Math" panose="02040503050406030204" pitchFamily="18" charset="0"/>
                            </a:rPr>
                          </m:ctrlPr>
                        </m:dPr>
                        <m:e>
                          <m:r>
                            <a:rPr lang="zh-CN" altLang="en-US" sz="2400" b="1" i="1">
                              <a:latin typeface="Cambria Math" panose="02040503050406030204" pitchFamily="18" charset="0"/>
                            </a:rPr>
                            <m:t>𝑨</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e>
                      </m:d>
                      <m:r>
                        <a:rPr lang="zh-CN" altLang="en-US" sz="2400" b="1" i="1">
                          <a:latin typeface="Cambria Math" panose="02040503050406030204" pitchFamily="18" charset="0"/>
                        </a:rPr>
                        <m:t>𝑿</m:t>
                      </m:r>
                      <m:r>
                        <a:rPr lang="zh-CN" altLang="en-US" sz="2400" b="0" i="0">
                          <a:latin typeface="Cambria Math" panose="02040503050406030204" pitchFamily="18" charset="0"/>
                        </a:rPr>
                        <m:t>=0</m:t>
                      </m:r>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28" name="矩形 27">
                <a:extLst>
                  <a:ext uri="{FF2B5EF4-FFF2-40B4-BE49-F238E27FC236}">
                    <a16:creationId xmlns:a16="http://schemas.microsoft.com/office/drawing/2014/main" id="{37CCCA4E-2599-4E21-AC75-8EC351362F07}"/>
                  </a:ext>
                </a:extLst>
              </p:cNvPr>
              <p:cNvSpPr>
                <a:spLocks noRot="1" noChangeAspect="1" noMove="1" noResize="1" noEditPoints="1" noAdjustHandles="1" noChangeArrowheads="1" noChangeShapeType="1" noTextEdit="1"/>
              </p:cNvSpPr>
              <p:nvPr/>
            </p:nvSpPr>
            <p:spPr>
              <a:xfrm>
                <a:off x="5206668" y="3166102"/>
                <a:ext cx="3476272" cy="468205"/>
              </a:xfrm>
              <a:prstGeom prst="rect">
                <a:avLst/>
              </a:prstGeom>
              <a:blipFill>
                <a:blip r:embed="rId9"/>
                <a:stretch>
                  <a:fillRect b="-18182"/>
                </a:stretch>
              </a:blipFill>
            </p:spPr>
            <p:txBody>
              <a:bodyPr/>
              <a:lstStyle/>
              <a:p>
                <a:r>
                  <a:rPr lang="zh-CN" altLang="en-US">
                    <a:noFill/>
                  </a:rPr>
                  <a:t> </a:t>
                </a:r>
              </a:p>
            </p:txBody>
          </p:sp>
        </mc:Fallback>
      </mc:AlternateContent>
      <p:sp>
        <p:nvSpPr>
          <p:cNvPr id="29" name="箭头: 右 28">
            <a:extLst>
              <a:ext uri="{FF2B5EF4-FFF2-40B4-BE49-F238E27FC236}">
                <a16:creationId xmlns:a16="http://schemas.microsoft.com/office/drawing/2014/main" id="{B1A9DACF-70DD-4B06-BC51-DBC0726C9236}"/>
              </a:ext>
            </a:extLst>
          </p:cNvPr>
          <p:cNvSpPr/>
          <p:nvPr/>
        </p:nvSpPr>
        <p:spPr>
          <a:xfrm>
            <a:off x="4552951" y="2677355"/>
            <a:ext cx="576995" cy="351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C9278017-B8DF-4750-816E-25653CE8CFF3}"/>
                  </a:ext>
                </a:extLst>
              </p:cNvPr>
              <p:cNvSpPr/>
              <p:nvPr/>
            </p:nvSpPr>
            <p:spPr>
              <a:xfrm>
                <a:off x="3858075" y="3866662"/>
                <a:ext cx="3443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𝑬</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p>
                        <m:sSupPr>
                          <m:ctrlPr>
                            <a:rPr lang="zh-CN" altLang="en-US" sz="2400" b="0" i="1">
                              <a:latin typeface="Cambria Math" panose="02040503050406030204" pitchFamily="18" charset="0"/>
                            </a:rPr>
                          </m:ctrlPr>
                        </m:sSupPr>
                        <m:e>
                          <m:r>
                            <a:rPr lang="zh-CN" altLang="en-US" sz="2400" b="1" i="1">
                              <a:latin typeface="Cambria Math" panose="02040503050406030204" pitchFamily="18" charset="0"/>
                            </a:rPr>
                            <m:t>𝑨</m:t>
                          </m:r>
                        </m:e>
                        <m:sup>
                          <m:r>
                            <a:rPr lang="zh-CN" altLang="en-US" sz="2400" b="0" i="1">
                              <a:latin typeface="Cambria Math" panose="02040503050406030204" pitchFamily="18" charset="0"/>
                            </a:rPr>
                            <m:t>𝑇</m:t>
                          </m:r>
                        </m:sup>
                      </m:sSup>
                      <m:r>
                        <a:rPr lang="zh-CN" altLang="en-US" sz="2400" b="0" i="1">
                          <a:latin typeface="Cambria Math" panose="02040503050406030204" pitchFamily="18" charset="0"/>
                        </a:rPr>
                        <m:t>𝑑𝑖𝑎𝑔</m:t>
                      </m:r>
                      <m:d>
                        <m:dPr>
                          <m:ctrlPr>
                            <a:rPr lang="zh-CN" altLang="en-US" sz="2400" b="0" i="1">
                              <a:latin typeface="Cambria Math" panose="02040503050406030204" pitchFamily="18" charset="0"/>
                            </a:rPr>
                          </m:ctrlPr>
                        </m:dPr>
                        <m:e>
                          <m:r>
                            <a:rPr lang="zh-CN" altLang="en-US" sz="2400" b="1" i="1">
                              <a:latin typeface="Cambria Math" panose="02040503050406030204" pitchFamily="18" charset="0"/>
                            </a:rPr>
                            <m:t>𝑨</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𝝀</m:t>
                              </m:r>
                            </m:e>
                            <m:sub>
                              <m:r>
                                <a:rPr lang="zh-CN" altLang="en-US" sz="2400" b="0" i="1">
                                  <a:latin typeface="Cambria Math" panose="02040503050406030204" pitchFamily="18" charset="0"/>
                                </a:rPr>
                                <m:t>𝑡</m:t>
                              </m:r>
                            </m:sub>
                          </m:sSub>
                          <m:r>
                            <a:rPr lang="zh-CN" altLang="en-US" sz="2400" b="0" i="0">
                              <a:latin typeface="Cambria Math" panose="02040503050406030204" pitchFamily="18" charset="0"/>
                            </a:rPr>
                            <m:t>−</m:t>
                          </m:r>
                          <m:sSub>
                            <m:sSubPr>
                              <m:ctrlPr>
                                <a:rPr lang="zh-CN" altLang="en-US" sz="2400" b="0" i="1">
                                  <a:latin typeface="Cambria Math" panose="02040503050406030204" pitchFamily="18" charset="0"/>
                                </a:rPr>
                              </m:ctrlPr>
                            </m:sSubPr>
                            <m:e>
                              <m:r>
                                <a:rPr lang="zh-CN" altLang="en-US" sz="2400" b="1" i="1">
                                  <a:latin typeface="Cambria Math" panose="02040503050406030204" pitchFamily="18" charset="0"/>
                                </a:rPr>
                                <m:t>𝝅</m:t>
                              </m:r>
                            </m:e>
                            <m:sub>
                              <m:r>
                                <a:rPr lang="zh-CN" altLang="en-US" sz="2400" b="0" i="1">
                                  <a:latin typeface="Cambria Math" panose="02040503050406030204" pitchFamily="18" charset="0"/>
                                </a:rPr>
                                <m:t>𝑡</m:t>
                              </m:r>
                            </m:sub>
                          </m:sSub>
                        </m:e>
                      </m:d>
                    </m:oMath>
                  </m:oMathPara>
                </a14:m>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30" name="矩形 29">
                <a:extLst>
                  <a:ext uri="{FF2B5EF4-FFF2-40B4-BE49-F238E27FC236}">
                    <a16:creationId xmlns:a16="http://schemas.microsoft.com/office/drawing/2014/main" id="{C9278017-B8DF-4750-816E-25653CE8CFF3}"/>
                  </a:ext>
                </a:extLst>
              </p:cNvPr>
              <p:cNvSpPr>
                <a:spLocks noRot="1" noChangeAspect="1" noMove="1" noResize="1" noEditPoints="1" noAdjustHandles="1" noChangeArrowheads="1" noChangeShapeType="1" noTextEdit="1"/>
              </p:cNvSpPr>
              <p:nvPr/>
            </p:nvSpPr>
            <p:spPr>
              <a:xfrm>
                <a:off x="3858075" y="3866662"/>
                <a:ext cx="3443570" cy="461665"/>
              </a:xfrm>
              <a:prstGeom prst="rect">
                <a:avLst/>
              </a:prstGeom>
              <a:blipFill>
                <a:blip r:embed="rId10"/>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B9F952E5-68F6-43B1-A2B9-D4C403ADA9B9}"/>
                  </a:ext>
                </a:extLst>
              </p:cNvPr>
              <p:cNvSpPr/>
              <p:nvPr/>
            </p:nvSpPr>
            <p:spPr>
              <a:xfrm>
                <a:off x="1988914" y="4745600"/>
                <a:ext cx="2730684" cy="401200"/>
              </a:xfrm>
              <a:prstGeom prst="rect">
                <a:avLst/>
              </a:prstGeom>
            </p:spPr>
            <p:txBody>
              <a:bodyPr wrap="none">
                <a:spAutoFit/>
              </a:bodyPr>
              <a:lstStyle/>
              <a:p>
                <a14:m>
                  <m:oMath xmlns:m="http://schemas.openxmlformats.org/officeDocument/2006/math">
                    <m:r>
                      <m:rPr>
                        <m:nor/>
                      </m:rPr>
                      <a:rPr lang="zh-CN" altLang="en-US" sz="2000" dirty="0">
                        <a:latin typeface="Arial" panose="020B0604020202020204" pitchFamily="34" charset="0"/>
                        <a:ea typeface="微软雅黑" panose="020B0503020204020204" pitchFamily="34" charset="-122"/>
                        <a:cs typeface="Arial" panose="020B0604020202020204" pitchFamily="34" charset="0"/>
                      </a:rPr>
                      <m:t>将</m:t>
                    </m:r>
                    <m:r>
                      <a:rPr lang="en-US" altLang="zh-CN" sz="2000" i="1" smtClean="0">
                        <a:latin typeface="Cambria Math" panose="02040503050406030204" pitchFamily="18" charset="0"/>
                        <a:cs typeface="Times New Roman" panose="02020603050405020304" pitchFamily="18" charset="0"/>
                      </a:rPr>
                      <m:t>𝑇</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时刻的</a:t>
                </a:r>
                <a14:m>
                  <m:oMath xmlns:m="http://schemas.openxmlformats.org/officeDocument/2006/math">
                    <m:sSub>
                      <m:sSubPr>
                        <m:ctrlPr>
                          <a:rPr lang="zh-CN" altLang="zh-CN" sz="2000" b="1" i="1">
                            <a:latin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cs typeface="Times New Roman" panose="02020603050405020304" pitchFamily="18" charset="0"/>
                          </a:rPr>
                          <m:t>𝑬</m:t>
                        </m:r>
                      </m:e>
                      <m:sub>
                        <m:r>
                          <a:rPr lang="en-US" altLang="zh-CN" sz="2000" i="1">
                            <a:latin typeface="Cambria Math" panose="02040503050406030204" pitchFamily="18" charset="0"/>
                            <a:cs typeface="Times New Roman" panose="02020603050405020304" pitchFamily="18" charset="0"/>
                          </a:rPr>
                          <m:t>𝑡</m:t>
                        </m:r>
                      </m:sub>
                    </m:sSub>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拼接可得</a:t>
                </a:r>
              </a:p>
            </p:txBody>
          </p:sp>
        </mc:Choice>
        <mc:Fallback xmlns="">
          <p:sp>
            <p:nvSpPr>
              <p:cNvPr id="31" name="矩形 30">
                <a:extLst>
                  <a:ext uri="{FF2B5EF4-FFF2-40B4-BE49-F238E27FC236}">
                    <a16:creationId xmlns:a16="http://schemas.microsoft.com/office/drawing/2014/main" id="{B9F952E5-68F6-43B1-A2B9-D4C403ADA9B9}"/>
                  </a:ext>
                </a:extLst>
              </p:cNvPr>
              <p:cNvSpPr>
                <a:spLocks noRot="1" noChangeAspect="1" noMove="1" noResize="1" noEditPoints="1" noAdjustHandles="1" noChangeArrowheads="1" noChangeShapeType="1" noTextEdit="1"/>
              </p:cNvSpPr>
              <p:nvPr/>
            </p:nvSpPr>
            <p:spPr>
              <a:xfrm>
                <a:off x="1988914" y="4745600"/>
                <a:ext cx="2730684" cy="401200"/>
              </a:xfrm>
              <a:prstGeom prst="rect">
                <a:avLst/>
              </a:prstGeom>
              <a:blipFill>
                <a:blip r:embed="rId11"/>
                <a:stretch>
                  <a:fillRect l="-1116" t="-7576" r="-1562" b="-25758"/>
                </a:stretch>
              </a:blipFill>
            </p:spPr>
            <p:txBody>
              <a:bodyPr/>
              <a:lstStyle/>
              <a:p>
                <a:r>
                  <a:rPr lang="zh-CN" altLang="en-US">
                    <a:noFill/>
                  </a:rPr>
                  <a:t> </a:t>
                </a:r>
              </a:p>
            </p:txBody>
          </p:sp>
        </mc:Fallback>
      </mc:AlternateContent>
      <p:sp>
        <p:nvSpPr>
          <p:cNvPr id="32" name="Rectangle 3">
            <a:extLst>
              <a:ext uri="{FF2B5EF4-FFF2-40B4-BE49-F238E27FC236}">
                <a16:creationId xmlns:a16="http://schemas.microsoft.com/office/drawing/2014/main" id="{D6A5F0C8-C9EC-4B35-9672-BF9DDEA21019}"/>
              </a:ext>
            </a:extLst>
          </p:cNvPr>
          <p:cNvSpPr>
            <a:spLocks noChangeArrowheads="1"/>
          </p:cNvSpPr>
          <p:nvPr/>
        </p:nvSpPr>
        <p:spPr bwMode="auto">
          <a:xfrm>
            <a:off x="1999798" y="5560004"/>
            <a:ext cx="45513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en-US" sz="20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使用最小二乘法与</a:t>
            </a:r>
            <a:r>
              <a:rPr kumimoji="1" lang="en-US" altLang="zh-CN"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Tikhonov</a:t>
            </a:r>
            <a:r>
              <a:rPr kumimoji="1" lang="zh-CN" altLang="en-US" sz="20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正则化求解</a:t>
            </a:r>
            <a:endParaRPr kumimoji="0" lang="en-US" altLang="zh-CN" sz="20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8F238903-DF70-4425-873B-FA1980534199}"/>
                  </a:ext>
                </a:extLst>
              </p:cNvPr>
              <p:cNvSpPr/>
              <p:nvPr/>
            </p:nvSpPr>
            <p:spPr>
              <a:xfrm>
                <a:off x="4322404" y="5967459"/>
                <a:ext cx="3634280" cy="707758"/>
              </a:xfrm>
              <a:prstGeom prst="rect">
                <a:avLst/>
              </a:prstGeom>
            </p:spPr>
            <p:txBody>
              <a:bodyPr wrap="square">
                <a:spAutoFit/>
              </a:bodyPr>
              <a:lstStyle/>
              <a:p>
                <a:pPr/>
                <a14:m>
                  <m:oMathPara xmlns:m="http://schemas.openxmlformats.org/officeDocument/2006/math">
                    <m:oMathParaPr>
                      <m:jc m:val="center"/>
                    </m:oMathParaPr>
                    <m:oMath xmlns:m="http://schemas.openxmlformats.org/officeDocument/2006/math">
                      <m:eqArr>
                        <m:eqArrPr>
                          <m:ctrlPr>
                            <a:rPr lang="zh-CN" altLang="en-US" sz="2400" i="1" smtClean="0">
                              <a:latin typeface="Cambria Math" panose="02040503050406030204" pitchFamily="18" charset="0"/>
                            </a:rPr>
                          </m:ctrlPr>
                        </m:eqArrPr>
                        <m:e>
                          <m:func>
                            <m:funcPr>
                              <m:ctrlPr>
                                <a:rPr lang="zh-CN" altLang="en-US" sz="2400" i="1">
                                  <a:latin typeface="Cambria Math" panose="02040503050406030204" pitchFamily="18" charset="0"/>
                                </a:rPr>
                              </m:ctrlPr>
                            </m:funcPr>
                            <m:fName>
                              <m:limLow>
                                <m:limLowPr>
                                  <m:ctrlPr>
                                    <a:rPr lang="zh-CN" altLang="en-US" sz="2400" i="1">
                                      <a:latin typeface="Cambria Math" panose="02040503050406030204" pitchFamily="18" charset="0"/>
                                    </a:rPr>
                                  </m:ctrlPr>
                                </m:limLowPr>
                                <m:e>
                                  <m:r>
                                    <m:rPr>
                                      <m:sty m:val="p"/>
                                    </m:rPr>
                                    <a:rPr lang="zh-CN" altLang="en-US" sz="2400" i="0">
                                      <a:latin typeface="Cambria Math" panose="02040503050406030204" pitchFamily="18" charset="0"/>
                                    </a:rPr>
                                    <m:t>min</m:t>
                                  </m:r>
                                </m:e>
                                <m:lim>
                                  <m:acc>
                                    <m:accPr>
                                      <m:chr m:val="̂"/>
                                      <m:ctrlPr>
                                        <a:rPr lang="zh-CN" altLang="en-US" sz="2400" i="1">
                                          <a:latin typeface="Cambria Math" panose="02040503050406030204" pitchFamily="18" charset="0"/>
                                        </a:rPr>
                                      </m:ctrlPr>
                                    </m:accPr>
                                    <m:e>
                                      <m:r>
                                        <a:rPr lang="zh-CN" altLang="en-US" sz="2400" b="1" i="1">
                                          <a:latin typeface="Cambria Math" panose="02040503050406030204" pitchFamily="18" charset="0"/>
                                        </a:rPr>
                                        <m:t>𝑿</m:t>
                                      </m:r>
                                    </m:e>
                                  </m:acc>
                                </m:lim>
                              </m:limLow>
                            </m:fName>
                            <m:e>
                              <m:r>
                                <a:rPr lang="zh-CN" altLang="en-US" sz="2400" b="0" i="0">
                                  <a:latin typeface="Cambria Math" panose="02040503050406030204" pitchFamily="18" charset="0"/>
                                </a:rPr>
                                <m:t>∥</m:t>
                              </m:r>
                              <m:r>
                                <a:rPr lang="en-US" altLang="zh-CN" sz="2400" b="1" i="1">
                                  <a:latin typeface="Cambria Math" panose="02040503050406030204" pitchFamily="18" charset="0"/>
                                </a:rPr>
                                <m:t>𝑬</m:t>
                              </m:r>
                              <m:acc>
                                <m:accPr>
                                  <m:chr m:val="̂"/>
                                  <m:ctrlPr>
                                    <a:rPr lang="zh-CN" altLang="en-US" sz="2400" b="0" i="1">
                                      <a:latin typeface="Cambria Math" panose="02040503050406030204" pitchFamily="18" charset="0"/>
                                    </a:rPr>
                                  </m:ctrlPr>
                                </m:accPr>
                                <m:e>
                                  <m:r>
                                    <a:rPr lang="zh-CN" altLang="en-US" sz="2400" b="1" i="1">
                                      <a:latin typeface="Cambria Math" panose="02040503050406030204" pitchFamily="18" charset="0"/>
                                    </a:rPr>
                                    <m:t>𝑿</m:t>
                                  </m:r>
                                </m:e>
                              </m:acc>
                              <m:sSubSup>
                                <m:sSubSupPr>
                                  <m:ctrlPr>
                                    <a:rPr lang="zh-CN" altLang="en-US" sz="2400" b="0" i="1">
                                      <a:latin typeface="Cambria Math" panose="02040503050406030204" pitchFamily="18" charset="0"/>
                                    </a:rPr>
                                  </m:ctrlPr>
                                </m:sSubSupPr>
                                <m:e>
                                  <m:r>
                                    <a:rPr lang="zh-CN" altLang="en-US" sz="2400" b="0" i="0">
                                      <a:latin typeface="Cambria Math" panose="02040503050406030204" pitchFamily="18" charset="0"/>
                                    </a:rPr>
                                    <m:t>∥</m:t>
                                  </m:r>
                                </m:e>
                                <m:sub>
                                  <m:r>
                                    <a:rPr lang="zh-CN" altLang="en-US" sz="2400" b="0" i="0">
                                      <a:latin typeface="Cambria Math" panose="02040503050406030204" pitchFamily="18" charset="0"/>
                                    </a:rPr>
                                    <m:t>2</m:t>
                                  </m:r>
                                </m:sub>
                                <m:sup>
                                  <m:r>
                                    <a:rPr lang="zh-CN" altLang="en-US" sz="2400" b="0" i="0">
                                      <a:latin typeface="Cambria Math" panose="02040503050406030204" pitchFamily="18" charset="0"/>
                                    </a:rPr>
                                    <m:t>2</m:t>
                                  </m:r>
                                </m:sup>
                              </m:sSubSup>
                              <m:r>
                                <a:rPr lang="zh-CN" altLang="en-US" sz="2400" b="0" i="0">
                                  <a:latin typeface="Cambria Math" panose="02040503050406030204" pitchFamily="18" charset="0"/>
                                </a:rPr>
                                <m:t> +</m:t>
                              </m:r>
                              <m:r>
                                <a:rPr lang="zh-CN" altLang="en-US" sz="2400" b="0" i="1">
                                  <a:latin typeface="Cambria Math" panose="02040503050406030204" pitchFamily="18" charset="0"/>
                                </a:rPr>
                                <m:t>𝜇</m:t>
                              </m:r>
                              <m:sSubSup>
                                <m:sSubSupPr>
                                  <m:ctrlPr>
                                    <a:rPr lang="zh-CN" altLang="en-US" sz="2400" b="0" i="1">
                                      <a:latin typeface="Cambria Math" panose="02040503050406030204" pitchFamily="18" charset="0"/>
                                    </a:rPr>
                                  </m:ctrlPr>
                                </m:sSubSupPr>
                                <m:e>
                                  <m:d>
                                    <m:dPr>
                                      <m:begChr m:val="‖"/>
                                      <m:endChr m:val="‖"/>
                                      <m:ctrlPr>
                                        <a:rPr lang="zh-CN" altLang="en-US" sz="2400" b="0" i="1">
                                          <a:latin typeface="Cambria Math" panose="02040503050406030204" pitchFamily="18" charset="0"/>
                                        </a:rPr>
                                      </m:ctrlPr>
                                    </m:dPr>
                                    <m:e>
                                      <m:acc>
                                        <m:accPr>
                                          <m:chr m:val="̂"/>
                                          <m:ctrlPr>
                                            <a:rPr lang="zh-CN" altLang="en-US" sz="2400" b="0" i="1">
                                              <a:latin typeface="Cambria Math" panose="02040503050406030204" pitchFamily="18" charset="0"/>
                                            </a:rPr>
                                          </m:ctrlPr>
                                        </m:accPr>
                                        <m:e>
                                          <m:r>
                                            <a:rPr lang="zh-CN" altLang="en-US" sz="2400" b="1" i="1">
                                              <a:latin typeface="Cambria Math" panose="02040503050406030204" pitchFamily="18" charset="0"/>
                                            </a:rPr>
                                            <m:t>𝑿</m:t>
                                          </m:r>
                                        </m:e>
                                      </m:acc>
                                    </m:e>
                                  </m:d>
                                </m:e>
                                <m:sub>
                                  <m:r>
                                    <a:rPr lang="zh-CN" altLang="en-US" sz="2400" b="0" i="0">
                                      <a:latin typeface="Cambria Math" panose="02040503050406030204" pitchFamily="18" charset="0"/>
                                    </a:rPr>
                                    <m:t>2</m:t>
                                  </m:r>
                                </m:sub>
                                <m:sup>
                                  <m:r>
                                    <a:rPr lang="zh-CN" altLang="en-US" sz="2400" b="0" i="0">
                                      <a:latin typeface="Cambria Math" panose="02040503050406030204" pitchFamily="18" charset="0"/>
                                    </a:rPr>
                                    <m:t>2</m:t>
                                  </m:r>
                                </m:sup>
                              </m:sSubSup>
                              <m:r>
                                <a:rPr lang="zh-CN" altLang="en-US" sz="2400" b="0" i="0">
                                  <a:latin typeface="Cambria Math" panose="02040503050406030204" pitchFamily="18" charset="0"/>
                                </a:rPr>
                                <m:t> </m:t>
                              </m:r>
                            </m:e>
                          </m:func>
                        </m:e>
                      </m:eqArr>
                    </m:oMath>
                  </m:oMathPara>
                </a14:m>
                <a:endParaRPr lang="zh-CN" altLang="en-US" sz="2400" dirty="0">
                  <a:latin typeface="Arial" panose="020B0604020202020204" pitchFamily="34" charset="0"/>
                  <a:cs typeface="Arial" panose="020B0604020202020204" pitchFamily="34" charset="0"/>
                </a:endParaRPr>
              </a:p>
            </p:txBody>
          </p:sp>
        </mc:Choice>
        <mc:Fallback xmlns="">
          <p:sp>
            <p:nvSpPr>
              <p:cNvPr id="33" name="矩形 32">
                <a:extLst>
                  <a:ext uri="{FF2B5EF4-FFF2-40B4-BE49-F238E27FC236}">
                    <a16:creationId xmlns:a16="http://schemas.microsoft.com/office/drawing/2014/main" id="{8F238903-DF70-4425-873B-FA1980534199}"/>
                  </a:ext>
                </a:extLst>
              </p:cNvPr>
              <p:cNvSpPr>
                <a:spLocks noRot="1" noChangeAspect="1" noMove="1" noResize="1" noEditPoints="1" noAdjustHandles="1" noChangeArrowheads="1" noChangeShapeType="1" noTextEdit="1"/>
              </p:cNvSpPr>
              <p:nvPr/>
            </p:nvSpPr>
            <p:spPr>
              <a:xfrm>
                <a:off x="4322404" y="5967459"/>
                <a:ext cx="3634280" cy="707758"/>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7B7AD2FC-F4A7-49BC-BD06-AE75B456DA10}"/>
                  </a:ext>
                </a:extLst>
              </p:cNvPr>
              <p:cNvSpPr txBox="1"/>
              <p:nvPr/>
            </p:nvSpPr>
            <p:spPr>
              <a:xfrm>
                <a:off x="4814089" y="4505189"/>
                <a:ext cx="2004972" cy="8621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𝑬𝑿</m:t>
                      </m:r>
                      <m:r>
                        <a:rPr lang="en-US" altLang="zh-CN" sz="2000" b="1" i="1" smtClean="0">
                          <a:latin typeface="Cambria Math" panose="02040503050406030204" pitchFamily="18" charset="0"/>
                        </a:rPr>
                        <m:t>=</m:t>
                      </m:r>
                      <m:d>
                        <m:dPr>
                          <m:begChr m:val="["/>
                          <m:endChr m:val="]"/>
                          <m:ctrlPr>
                            <a:rPr lang="en-US" altLang="zh-CN" sz="2000" b="1" i="1" smtClean="0">
                              <a:latin typeface="Cambria Math" panose="02040503050406030204" pitchFamily="18" charset="0"/>
                            </a:rPr>
                          </m:ctrlPr>
                        </m:dPr>
                        <m:e>
                          <m:m>
                            <m:mPr>
                              <m:mcs>
                                <m:mc>
                                  <m:mcPr>
                                    <m:count m:val="1"/>
                                    <m:mcJc m:val="center"/>
                                  </m:mcPr>
                                </m:mc>
                              </m:mcs>
                              <m:ctrlPr>
                                <a:rPr lang="en-US" altLang="zh-CN" sz="2000" b="1" i="1" smtClean="0">
                                  <a:latin typeface="Cambria Math" panose="02040503050406030204" pitchFamily="18" charset="0"/>
                                </a:rPr>
                              </m:ctrlPr>
                            </m:mPr>
                            <m:m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𝟏</m:t>
                                    </m:r>
                                  </m:sub>
                                </m:sSub>
                              </m:e>
                            </m:mr>
                            <m:mr>
                              <m:e>
                                <m:r>
                                  <a:rPr lang="en-US" altLang="zh-CN" sz="2000" b="1" i="1" smtClean="0">
                                    <a:latin typeface="Cambria Math" panose="02040503050406030204" pitchFamily="18" charset="0"/>
                                  </a:rPr>
                                  <m:t>⋯</m:t>
                                </m:r>
                              </m:e>
                            </m:mr>
                            <m:mr>
                              <m:e>
                                <m:sSub>
                                  <m:sSubPr>
                                    <m:ctrlPr>
                                      <a:rPr lang="zh-CN" altLang="en-US" sz="2000" b="1" i="1" smtClean="0">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𝑻</m:t>
                                    </m:r>
                                  </m:sub>
                                </m:sSub>
                              </m:e>
                            </m:mr>
                          </m:m>
                        </m:e>
                      </m:d>
                      <m:r>
                        <a:rPr lang="en-US" altLang="zh-CN" sz="2000" b="1" i="1" smtClean="0">
                          <a:latin typeface="Cambria Math" panose="02040503050406030204" pitchFamily="18" charset="0"/>
                        </a:rPr>
                        <m:t>𝑿</m:t>
                      </m:r>
                      <m:r>
                        <a:rPr lang="en-US" altLang="zh-CN" sz="2000" b="1" i="1" smtClean="0">
                          <a:latin typeface="Cambria Math" panose="02040503050406030204" pitchFamily="18" charset="0"/>
                        </a:rPr>
                        <m:t>=</m:t>
                      </m:r>
                      <m:r>
                        <a:rPr lang="en-US" altLang="zh-CN" sz="2000" b="0" i="1" smtClean="0">
                          <a:latin typeface="Cambria Math" panose="02040503050406030204" pitchFamily="18" charset="0"/>
                        </a:rPr>
                        <m:t>0</m:t>
                      </m:r>
                    </m:oMath>
                  </m:oMathPara>
                </a14:m>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34" name="文本框 33">
                <a:extLst>
                  <a:ext uri="{FF2B5EF4-FFF2-40B4-BE49-F238E27FC236}">
                    <a16:creationId xmlns:a16="http://schemas.microsoft.com/office/drawing/2014/main" id="{7B7AD2FC-F4A7-49BC-BD06-AE75B456DA10}"/>
                  </a:ext>
                </a:extLst>
              </p:cNvPr>
              <p:cNvSpPr txBox="1">
                <a:spLocks noRot="1" noChangeAspect="1" noMove="1" noResize="1" noEditPoints="1" noAdjustHandles="1" noChangeArrowheads="1" noChangeShapeType="1" noTextEdit="1"/>
              </p:cNvSpPr>
              <p:nvPr/>
            </p:nvSpPr>
            <p:spPr>
              <a:xfrm>
                <a:off x="4814089" y="4505189"/>
                <a:ext cx="2004972" cy="862159"/>
              </a:xfrm>
              <a:prstGeom prst="rect">
                <a:avLst/>
              </a:prstGeom>
              <a:blipFill>
                <a:blip r:embed="rId13"/>
                <a:stretch>
                  <a:fillRect b="-709"/>
                </a:stretch>
              </a:blipFill>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22DE7EAC-9002-491A-899B-A214811CE35B}"/>
              </a:ext>
            </a:extLst>
          </p:cNvPr>
          <p:cNvSpPr/>
          <p:nvPr/>
        </p:nvSpPr>
        <p:spPr>
          <a:xfrm>
            <a:off x="2543360" y="1554321"/>
            <a:ext cx="1415772" cy="461665"/>
          </a:xfrm>
          <a:prstGeom prst="rect">
            <a:avLst/>
          </a:prstGeom>
        </p:spPr>
        <p:txBody>
          <a:bodyPr wrap="none">
            <a:spAutoFit/>
          </a:bodyPr>
          <a:lstStyle/>
          <a:p>
            <a:r>
              <a:rPr kumimoji="1" lang="zh-CN" altLang="en-US" sz="24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正向计算</a:t>
            </a:r>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p:sp>
        <p:nvSpPr>
          <p:cNvPr id="36" name="矩形 35">
            <a:extLst>
              <a:ext uri="{FF2B5EF4-FFF2-40B4-BE49-F238E27FC236}">
                <a16:creationId xmlns:a16="http://schemas.microsoft.com/office/drawing/2014/main" id="{39A81ADA-5085-4222-8EC7-30D1B70951F7}"/>
              </a:ext>
            </a:extLst>
          </p:cNvPr>
          <p:cNvSpPr/>
          <p:nvPr/>
        </p:nvSpPr>
        <p:spPr>
          <a:xfrm>
            <a:off x="6908452" y="1554321"/>
            <a:ext cx="1415772" cy="461665"/>
          </a:xfrm>
          <a:prstGeom prst="rect">
            <a:avLst/>
          </a:prstGeom>
        </p:spPr>
        <p:txBody>
          <a:bodyPr wrap="none">
            <a:spAutoFit/>
          </a:bodyPr>
          <a:lstStyle/>
          <a:p>
            <a:r>
              <a:rPr kumimoji="1" lang="zh-CN" altLang="en-US" sz="24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rPr>
              <a:t>逆向推断</a:t>
            </a:r>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p:sp>
        <p:nvSpPr>
          <p:cNvPr id="2" name="TextBox 8">
            <a:extLst>
              <a:ext uri="{FF2B5EF4-FFF2-40B4-BE49-F238E27FC236}">
                <a16:creationId xmlns:a16="http://schemas.microsoft.com/office/drawing/2014/main" id="{D4433D0E-9C68-D789-03AD-974475B545D5}"/>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1533082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AFE5398-72EB-FA44-9786-EAB1C5A35275}"/>
              </a:ext>
            </a:extLst>
          </p:cNvPr>
          <p:cNvSpPr txBox="1"/>
          <p:nvPr/>
        </p:nvSpPr>
        <p:spPr>
          <a:xfrm>
            <a:off x="439368" y="985604"/>
            <a:ext cx="4647426"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dirty="0"/>
              <a:t>电价公开与推断能力的关系</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115B937-5237-64A2-51BA-DF367F794BC2}"/>
                  </a:ext>
                </a:extLst>
              </p:cNvPr>
              <p:cNvSpPr txBox="1"/>
              <p:nvPr/>
            </p:nvSpPr>
            <p:spPr>
              <a:xfrm>
                <a:off x="2313043" y="1570250"/>
                <a:ext cx="1955084" cy="8621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𝑬𝑿</m:t>
                      </m:r>
                      <m:r>
                        <a:rPr lang="en-US" altLang="zh-CN" sz="2000" b="1" i="1" smtClean="0">
                          <a:latin typeface="Cambria Math" panose="02040503050406030204" pitchFamily="18" charset="0"/>
                        </a:rPr>
                        <m:t>=</m:t>
                      </m:r>
                      <m:d>
                        <m:dPr>
                          <m:begChr m:val="["/>
                          <m:endChr m:val="]"/>
                          <m:ctrlPr>
                            <a:rPr lang="en-US" altLang="zh-CN" sz="2000" b="1" i="1" smtClean="0">
                              <a:latin typeface="Cambria Math" panose="02040503050406030204" pitchFamily="18" charset="0"/>
                            </a:rPr>
                          </m:ctrlPr>
                        </m:dPr>
                        <m:e>
                          <m:m>
                            <m:mPr>
                              <m:mcs>
                                <m:mc>
                                  <m:mcPr>
                                    <m:count m:val="1"/>
                                    <m:mcJc m:val="center"/>
                                  </m:mcPr>
                                </m:mc>
                              </m:mcs>
                              <m:ctrlPr>
                                <a:rPr lang="en-US" altLang="zh-CN" sz="2000" b="1" i="1" smtClean="0">
                                  <a:latin typeface="Cambria Math" panose="02040503050406030204" pitchFamily="18" charset="0"/>
                                </a:rPr>
                              </m:ctrlPr>
                            </m:mPr>
                            <m:m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𝟏</m:t>
                                    </m:r>
                                  </m:sub>
                                </m:sSub>
                              </m:e>
                            </m:mr>
                            <m:mr>
                              <m:e>
                                <m:r>
                                  <a:rPr lang="en-US" altLang="zh-CN" sz="2000" b="1" i="1" smtClean="0">
                                    <a:latin typeface="Cambria Math" panose="02040503050406030204" pitchFamily="18" charset="0"/>
                                    <a:ea typeface="Cambria Math" panose="02040503050406030204" pitchFamily="18" charset="0"/>
                                  </a:rPr>
                                  <m:t>⋯</m:t>
                                </m:r>
                              </m:e>
                            </m:mr>
                            <m:m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𝑬</m:t>
                                    </m:r>
                                  </m:e>
                                  <m:sub>
                                    <m:r>
                                      <a:rPr lang="en-US" altLang="zh-CN" sz="2000" b="1" i="1" smtClean="0">
                                        <a:latin typeface="Cambria Math" panose="02040503050406030204" pitchFamily="18" charset="0"/>
                                      </a:rPr>
                                      <m:t>𝑻</m:t>
                                    </m:r>
                                  </m:sub>
                                </m:sSub>
                              </m:e>
                            </m:mr>
                          </m:m>
                        </m:e>
                      </m:d>
                      <m:r>
                        <a:rPr lang="en-US" altLang="zh-CN" sz="2000" b="1" i="1" smtClean="0">
                          <a:latin typeface="Cambria Math" panose="02040503050406030204" pitchFamily="18" charset="0"/>
                        </a:rPr>
                        <m:t>𝑿</m:t>
                      </m:r>
                      <m:r>
                        <a:rPr lang="en-US" altLang="zh-CN" sz="2000" b="1" i="1" smtClean="0">
                          <a:latin typeface="Cambria Math" panose="02040503050406030204" pitchFamily="18" charset="0"/>
                        </a:rPr>
                        <m:t>=</m:t>
                      </m:r>
                      <m:r>
                        <a:rPr lang="en-US" altLang="zh-CN" sz="2000" b="0" i="1" smtClean="0">
                          <a:latin typeface="Cambria Math" panose="02040503050406030204" pitchFamily="18" charset="0"/>
                        </a:rPr>
                        <m:t>0</m:t>
                      </m:r>
                    </m:oMath>
                  </m:oMathPara>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F115B937-5237-64A2-51BA-DF367F794BC2}"/>
                  </a:ext>
                </a:extLst>
              </p:cNvPr>
              <p:cNvSpPr txBox="1">
                <a:spLocks noRot="1" noChangeAspect="1" noMove="1" noResize="1" noEditPoints="1" noAdjustHandles="1" noChangeArrowheads="1" noChangeShapeType="1" noTextEdit="1"/>
              </p:cNvSpPr>
              <p:nvPr/>
            </p:nvSpPr>
            <p:spPr>
              <a:xfrm>
                <a:off x="2313043" y="1570250"/>
                <a:ext cx="1955084" cy="86215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137B660-816F-5AA5-6ED6-7153D9958C45}"/>
                  </a:ext>
                </a:extLst>
              </p:cNvPr>
              <p:cNvSpPr/>
              <p:nvPr/>
            </p:nvSpPr>
            <p:spPr>
              <a:xfrm>
                <a:off x="4715653" y="1799709"/>
                <a:ext cx="4908364" cy="369332"/>
              </a:xfrm>
              <a:prstGeom prst="rect">
                <a:avLst/>
              </a:prstGeom>
            </p:spPr>
            <p:txBody>
              <a:bodyPr wrap="square">
                <a:spAutoFit/>
              </a:bodyPr>
              <a:lstStyle/>
              <a:p>
                <a:pPr defTabSz="1219163">
                  <a:defRPr/>
                </a:pPr>
                <a:r>
                  <a:rPr lang="zh-CN" altLang="en-US" kern="0" dirty="0">
                    <a:solidFill>
                      <a:prstClr val="black"/>
                    </a:solidFill>
                    <a:latin typeface="微软雅黑" panose="020B0503020204020204" pitchFamily="34" charset="-122"/>
                    <a:ea typeface="微软雅黑" panose="020B0503020204020204" pitchFamily="34" charset="-122"/>
                  </a:rPr>
                  <a:t>时刻</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𝑻</m:t>
                    </m:r>
                  </m:oMath>
                </a14:m>
                <a:r>
                  <a:rPr lang="zh-CN" altLang="en-US" kern="0" dirty="0">
                    <a:solidFill>
                      <a:prstClr val="black"/>
                    </a:solidFill>
                    <a:latin typeface="微软雅黑" panose="020B0503020204020204" pitchFamily="34" charset="-122"/>
                    <a:ea typeface="微软雅黑" panose="020B0503020204020204" pitchFamily="34" charset="-122"/>
                  </a:rPr>
                  <a:t>越多，数据量越大，方程数越多</a:t>
                </a:r>
              </a:p>
            </p:txBody>
          </p:sp>
        </mc:Choice>
        <mc:Fallback xmlns="">
          <p:sp>
            <p:nvSpPr>
              <p:cNvPr id="5" name="矩形 4">
                <a:extLst>
                  <a:ext uri="{FF2B5EF4-FFF2-40B4-BE49-F238E27FC236}">
                    <a16:creationId xmlns:a16="http://schemas.microsoft.com/office/drawing/2014/main" id="{6137B660-816F-5AA5-6ED6-7153D9958C45}"/>
                  </a:ext>
                </a:extLst>
              </p:cNvPr>
              <p:cNvSpPr>
                <a:spLocks noRot="1" noChangeAspect="1" noMove="1" noResize="1" noEditPoints="1" noAdjustHandles="1" noChangeArrowheads="1" noChangeShapeType="1" noTextEdit="1"/>
              </p:cNvSpPr>
              <p:nvPr/>
            </p:nvSpPr>
            <p:spPr>
              <a:xfrm>
                <a:off x="4715653" y="1799709"/>
                <a:ext cx="4908364" cy="369332"/>
              </a:xfrm>
              <a:prstGeom prst="rect">
                <a:avLst/>
              </a:prstGeom>
              <a:blipFill>
                <a:blip r:embed="rId4"/>
                <a:stretch>
                  <a:fillRect l="-1118"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758D68B-3DF8-4A30-374F-82500136146F}"/>
                  </a:ext>
                </a:extLst>
              </p:cNvPr>
              <p:cNvSpPr/>
              <p:nvPr/>
            </p:nvSpPr>
            <p:spPr>
              <a:xfrm>
                <a:off x="2313043" y="2544542"/>
                <a:ext cx="7803203" cy="369332"/>
              </a:xfrm>
              <a:prstGeom prst="rect">
                <a:avLst/>
              </a:prstGeom>
            </p:spPr>
            <p:txBody>
              <a:bodyPr wrap="square">
                <a:spAutoFit/>
              </a:bodyPr>
              <a:lstStyle/>
              <a:p>
                <a:pPr defTabSz="1219163">
                  <a:defRPr/>
                </a:pPr>
                <a:r>
                  <a:rPr lang="zh-CN" altLang="en-US" kern="0" dirty="0">
                    <a:solidFill>
                      <a:prstClr val="black"/>
                    </a:solidFill>
                    <a:latin typeface="微软雅黑" panose="020B0503020204020204" pitchFamily="34" charset="-122"/>
                    <a:ea typeface="微软雅黑" panose="020B0503020204020204" pitchFamily="34" charset="-122"/>
                  </a:rPr>
                  <a:t>然而推断准确率由</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r>
                  <a:rPr lang="zh-CN" altLang="en-US" kern="0" dirty="0">
                    <a:solidFill>
                      <a:prstClr val="black"/>
                    </a:solidFill>
                    <a:latin typeface="微软雅黑" panose="020B0503020204020204" pitchFamily="34" charset="-122"/>
                    <a:ea typeface="微软雅黑" panose="020B0503020204020204" pitchFamily="34" charset="-122"/>
                  </a:rPr>
                  <a:t>决定，不是所有数据都能增加</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endParaRPr lang="zh-CN" altLang="en-US" kern="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6" name="矩形 5">
                <a:extLst>
                  <a:ext uri="{FF2B5EF4-FFF2-40B4-BE49-F238E27FC236}">
                    <a16:creationId xmlns:a16="http://schemas.microsoft.com/office/drawing/2014/main" id="{9758D68B-3DF8-4A30-374F-82500136146F}"/>
                  </a:ext>
                </a:extLst>
              </p:cNvPr>
              <p:cNvSpPr>
                <a:spLocks noRot="1" noChangeAspect="1" noMove="1" noResize="1" noEditPoints="1" noAdjustHandles="1" noChangeArrowheads="1" noChangeShapeType="1" noTextEdit="1"/>
              </p:cNvSpPr>
              <p:nvPr/>
            </p:nvSpPr>
            <p:spPr>
              <a:xfrm>
                <a:off x="2313043" y="2544542"/>
                <a:ext cx="7803203" cy="369332"/>
              </a:xfrm>
              <a:prstGeom prst="rect">
                <a:avLst/>
              </a:prstGeom>
              <a:blipFill>
                <a:blip r:embed="rId5"/>
                <a:stretch>
                  <a:fillRect l="-625" t="-8197" b="-24590"/>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21AE433A-69F6-4C92-AD2F-1982D8D56E3C}"/>
              </a:ext>
            </a:extLst>
          </p:cNvPr>
          <p:cNvSpPr/>
          <p:nvPr/>
        </p:nvSpPr>
        <p:spPr>
          <a:xfrm>
            <a:off x="2044957" y="5511860"/>
            <a:ext cx="2673251"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多条线路在多个时刻同时阻塞</a:t>
            </a:r>
          </a:p>
        </p:txBody>
      </p:sp>
      <p:sp>
        <p:nvSpPr>
          <p:cNvPr id="8" name="箭头: 右 7">
            <a:extLst>
              <a:ext uri="{FF2B5EF4-FFF2-40B4-BE49-F238E27FC236}">
                <a16:creationId xmlns:a16="http://schemas.microsoft.com/office/drawing/2014/main" id="{580A47DE-A682-86C1-8B8D-4A9723435FA3}"/>
              </a:ext>
            </a:extLst>
          </p:cNvPr>
          <p:cNvSpPr/>
          <p:nvPr/>
        </p:nvSpPr>
        <p:spPr>
          <a:xfrm>
            <a:off x="5419855" y="5711060"/>
            <a:ext cx="828000" cy="3094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4D7B850C-7B7F-3BCC-6333-7DC06FE64511}"/>
              </a:ext>
            </a:extLst>
          </p:cNvPr>
          <p:cNvSpPr/>
          <p:nvPr/>
        </p:nvSpPr>
        <p:spPr>
          <a:xfrm>
            <a:off x="6963311" y="5511860"/>
            <a:ext cx="2560499" cy="707886"/>
          </a:xfrm>
          <a:prstGeom prst="rect">
            <a:avLst/>
          </a:prstGeom>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单条线路在单个时刻分别阻塞</a:t>
            </a:r>
          </a:p>
        </p:txBody>
      </p:sp>
      <p:sp>
        <p:nvSpPr>
          <p:cNvPr id="10" name="矩形 9">
            <a:extLst>
              <a:ext uri="{FF2B5EF4-FFF2-40B4-BE49-F238E27FC236}">
                <a16:creationId xmlns:a16="http://schemas.microsoft.com/office/drawing/2014/main" id="{EB8CB14C-FF8A-095B-DCFD-B4BC6D4A4E63}"/>
              </a:ext>
            </a:extLst>
          </p:cNvPr>
          <p:cNvSpPr/>
          <p:nvPr/>
        </p:nvSpPr>
        <p:spPr>
          <a:xfrm>
            <a:off x="2979870" y="6195992"/>
            <a:ext cx="80342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无限</a:t>
            </a:r>
          </a:p>
        </p:txBody>
      </p:sp>
      <p:sp>
        <p:nvSpPr>
          <p:cNvPr id="11" name="矩形 10">
            <a:extLst>
              <a:ext uri="{FF2B5EF4-FFF2-40B4-BE49-F238E27FC236}">
                <a16:creationId xmlns:a16="http://schemas.microsoft.com/office/drawing/2014/main" id="{914EEC78-9A84-01BC-51B5-F564D438A8F0}"/>
              </a:ext>
            </a:extLst>
          </p:cNvPr>
          <p:cNvSpPr/>
          <p:nvPr/>
        </p:nvSpPr>
        <p:spPr>
          <a:xfrm>
            <a:off x="7841848" y="6191252"/>
            <a:ext cx="80342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有限</a:t>
            </a:r>
          </a:p>
        </p:txBody>
      </p:sp>
      <p:sp>
        <p:nvSpPr>
          <p:cNvPr id="12" name="矩形 11">
            <a:extLst>
              <a:ext uri="{FF2B5EF4-FFF2-40B4-BE49-F238E27FC236}">
                <a16:creationId xmlns:a16="http://schemas.microsoft.com/office/drawing/2014/main" id="{202197D6-99AC-254E-D1F8-4F9CF0EAE7DC}"/>
              </a:ext>
            </a:extLst>
          </p:cNvPr>
          <p:cNvSpPr/>
          <p:nvPr/>
        </p:nvSpPr>
        <p:spPr>
          <a:xfrm>
            <a:off x="5456827" y="5995937"/>
            <a:ext cx="700833" cy="400110"/>
          </a:xfrm>
          <a:prstGeom prst="rect">
            <a:avLst/>
          </a:prstGeom>
        </p:spPr>
        <p:txBody>
          <a:bodyPr wrap="none">
            <a:spAutoFit/>
          </a:bodyPr>
          <a:lstStyle/>
          <a:p>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简化</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FBFB825-98E0-6EEE-2AAB-DE4E914AEA75}"/>
                  </a:ext>
                </a:extLst>
              </p:cNvPr>
              <p:cNvSpPr/>
              <p:nvPr/>
            </p:nvSpPr>
            <p:spPr>
              <a:xfrm>
                <a:off x="1241535" y="3043319"/>
                <a:ext cx="9509760" cy="2274790"/>
              </a:xfrm>
              <a:prstGeom prst="rect">
                <a:avLst/>
              </a:prstGeom>
            </p:spPr>
            <p:txBody>
              <a:bodyPr wrap="square">
                <a:spAutoFit/>
              </a:bodyPr>
              <a:lstStyle/>
              <a:p>
                <a:pPr defTabSz="1219163">
                  <a:lnSpc>
                    <a:spcPct val="150000"/>
                  </a:lnSpc>
                  <a:spcAft>
                    <a:spcPts val="600"/>
                  </a:spcAft>
                </a:pPr>
                <a:r>
                  <a:rPr lang="zh-CN" altLang="en-US" b="1" kern="0" dirty="0">
                    <a:solidFill>
                      <a:prstClr val="black"/>
                    </a:solidFill>
                    <a:latin typeface="微软雅黑" panose="020B0503020204020204" pitchFamily="34" charset="-122"/>
                    <a:ea typeface="微软雅黑" panose="020B0503020204020204" pitchFamily="34" charset="-122"/>
                  </a:rPr>
                  <a:t>定理</a:t>
                </a:r>
                <a:r>
                  <a:rPr lang="en-US" altLang="zh-CN" b="1" kern="0" dirty="0">
                    <a:solidFill>
                      <a:prstClr val="black"/>
                    </a:solidFill>
                    <a:latin typeface="微软雅黑" panose="020B0503020204020204" pitchFamily="34" charset="-122"/>
                    <a:ea typeface="微软雅黑" panose="020B0503020204020204" pitchFamily="34" charset="-122"/>
                  </a:rPr>
                  <a:t>1</a:t>
                </a:r>
                <a:r>
                  <a:rPr lang="zh-CN" altLang="zh-CN" kern="0" dirty="0">
                    <a:solidFill>
                      <a:prstClr val="black"/>
                    </a:solidFill>
                    <a:latin typeface="微软雅黑" panose="020B0503020204020204" pitchFamily="34" charset="-122"/>
                    <a:ea typeface="微软雅黑" panose="020B0503020204020204" pitchFamily="34" charset="-122"/>
                  </a:rPr>
                  <a:t>：</a:t>
                </a:r>
                <a:r>
                  <a:rPr lang="zh-CN" altLang="en-US" kern="0" dirty="0">
                    <a:solidFill>
                      <a:prstClr val="black"/>
                    </a:solidFill>
                    <a:latin typeface="微软雅黑" panose="020B0503020204020204" pitchFamily="34" charset="-122"/>
                    <a:ea typeface="微软雅黑" panose="020B0503020204020204" pitchFamily="34" charset="-122"/>
                  </a:rPr>
                  <a:t>若某时刻没有线路发生阻塞，那么已知该时刻的电价不会增加</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endParaRPr lang="en-US" altLang="zh-CN" kern="0" dirty="0">
                  <a:solidFill>
                    <a:prstClr val="black"/>
                  </a:solidFill>
                  <a:latin typeface="微软雅黑" panose="020B0503020204020204" pitchFamily="34" charset="-122"/>
                  <a:ea typeface="微软雅黑" panose="020B0503020204020204" pitchFamily="34" charset="-122"/>
                </a:endParaRPr>
              </a:p>
              <a:p>
                <a:pPr defTabSz="1219163">
                  <a:lnSpc>
                    <a:spcPct val="150000"/>
                  </a:lnSpc>
                  <a:spcAft>
                    <a:spcPts val="600"/>
                  </a:spcAft>
                </a:pPr>
                <a:r>
                  <a:rPr lang="zh-CN" altLang="en-US" b="1" kern="0" dirty="0">
                    <a:solidFill>
                      <a:prstClr val="black"/>
                    </a:solidFill>
                    <a:latin typeface="微软雅黑" panose="020B0503020204020204" pitchFamily="34" charset="-122"/>
                    <a:ea typeface="微软雅黑" panose="020B0503020204020204" pitchFamily="34" charset="-122"/>
                  </a:rPr>
                  <a:t>定理</a:t>
                </a:r>
                <a:r>
                  <a:rPr lang="en-US" altLang="zh-CN" b="1" kern="0" dirty="0">
                    <a:solidFill>
                      <a:prstClr val="black"/>
                    </a:solidFill>
                    <a:latin typeface="微软雅黑" panose="020B0503020204020204" pitchFamily="34" charset="-122"/>
                    <a:ea typeface="微软雅黑" panose="020B0503020204020204" pitchFamily="34" charset="-122"/>
                  </a:rPr>
                  <a:t>2</a:t>
                </a:r>
                <a:r>
                  <a:rPr lang="zh-CN" altLang="zh-CN" kern="0" dirty="0">
                    <a:solidFill>
                      <a:prstClr val="black"/>
                    </a:solidFill>
                    <a:latin typeface="微软雅黑" panose="020B0503020204020204" pitchFamily="34" charset="-122"/>
                    <a:ea typeface="微软雅黑" panose="020B0503020204020204" pitchFamily="34" charset="-122"/>
                  </a:rPr>
                  <a:t>：</a:t>
                </a:r>
                <a:r>
                  <a:rPr lang="zh-CN" altLang="en-US" kern="0" dirty="0">
                    <a:solidFill>
                      <a:prstClr val="black"/>
                    </a:solidFill>
                    <a:latin typeface="微软雅黑" panose="020B0503020204020204" pitchFamily="34" charset="-122"/>
                    <a:ea typeface="微软雅黑" panose="020B0503020204020204" pitchFamily="34" charset="-122"/>
                  </a:rPr>
                  <a:t>若多个不同时刻均仅有同一条线路发生阻塞，那么已知这些时刻的电价与已知其中单一时刻的电价相比，不会额外增加</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endParaRPr lang="zh-CN" altLang="en-US" kern="0" dirty="0">
                  <a:solidFill>
                    <a:prstClr val="black"/>
                  </a:solidFill>
                  <a:latin typeface="微软雅黑" panose="020B0503020204020204" pitchFamily="34" charset="-122"/>
                  <a:ea typeface="微软雅黑" panose="020B0503020204020204" pitchFamily="34" charset="-122"/>
                </a:endParaRPr>
              </a:p>
              <a:p>
                <a:pPr defTabSz="1219163">
                  <a:lnSpc>
                    <a:spcPct val="150000"/>
                  </a:lnSpc>
                </a:pPr>
                <a:r>
                  <a:rPr lang="zh-CN" altLang="en-US" b="1" kern="0" dirty="0">
                    <a:solidFill>
                      <a:prstClr val="black"/>
                    </a:solidFill>
                    <a:latin typeface="微软雅黑" panose="020B0503020204020204" pitchFamily="34" charset="-122"/>
                    <a:ea typeface="微软雅黑" panose="020B0503020204020204" pitchFamily="34" charset="-122"/>
                  </a:rPr>
                  <a:t>定理</a:t>
                </a:r>
                <a:r>
                  <a:rPr lang="en-US" altLang="zh-CN" b="1" kern="0" dirty="0">
                    <a:solidFill>
                      <a:prstClr val="black"/>
                    </a:solidFill>
                    <a:latin typeface="微软雅黑" panose="020B0503020204020204" pitchFamily="34" charset="-122"/>
                    <a:ea typeface="微软雅黑" panose="020B0503020204020204" pitchFamily="34" charset="-122"/>
                  </a:rPr>
                  <a:t>3</a:t>
                </a:r>
                <a:r>
                  <a:rPr lang="zh-CN" altLang="zh-CN" kern="0" dirty="0">
                    <a:solidFill>
                      <a:prstClr val="black"/>
                    </a:solidFill>
                    <a:latin typeface="微软雅黑" panose="020B0503020204020204" pitchFamily="34" charset="-122"/>
                    <a:ea typeface="微软雅黑" panose="020B0503020204020204" pitchFamily="34" charset="-122"/>
                  </a:rPr>
                  <a:t>：</a:t>
                </a:r>
                <a:r>
                  <a:rPr lang="zh-CN" altLang="en-US" kern="0" dirty="0">
                    <a:solidFill>
                      <a:prstClr val="black"/>
                    </a:solidFill>
                    <a:latin typeface="微软雅黑" panose="020B0503020204020204" pitchFamily="34" charset="-122"/>
                    <a:ea typeface="微软雅黑" panose="020B0503020204020204" pitchFamily="34" charset="-122"/>
                  </a:rPr>
                  <a:t>多个时刻多条线路同时发生阻塞的电价对于</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r>
                  <a:rPr lang="zh-CN" altLang="en-US" kern="0" dirty="0">
                    <a:solidFill>
                      <a:prstClr val="black"/>
                    </a:solidFill>
                    <a:latin typeface="微软雅黑" panose="020B0503020204020204" pitchFamily="34" charset="-122"/>
                    <a:ea typeface="微软雅黑" panose="020B0503020204020204" pitchFamily="34" charset="-122"/>
                  </a:rPr>
                  <a:t>的增益，小于等于这些线路在多个时刻分别发生阻塞的电价对于</a:t>
                </a:r>
                <a14:m>
                  <m:oMath xmlns:m="http://schemas.openxmlformats.org/officeDocument/2006/math">
                    <m:r>
                      <a:rPr lang="en-US" altLang="zh-CN"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i="1" kern="0">
                            <a:solidFill>
                              <a:prstClr val="black"/>
                            </a:solidFill>
                            <a:latin typeface="Cambria Math" panose="02040503050406030204" pitchFamily="18" charset="0"/>
                            <a:ea typeface="微软雅黑" panose="020B0503020204020204" pitchFamily="34" charset="-122"/>
                          </a:rPr>
                        </m:ctrlPr>
                      </m:dPr>
                      <m:e>
                        <m:r>
                          <a:rPr lang="en-US" altLang="zh-CN" kern="0">
                            <a:solidFill>
                              <a:prstClr val="black"/>
                            </a:solidFill>
                            <a:latin typeface="Cambria Math" panose="02040503050406030204" pitchFamily="18" charset="0"/>
                            <a:ea typeface="微软雅黑" panose="020B0503020204020204" pitchFamily="34" charset="-122"/>
                          </a:rPr>
                          <m:t>𝑬</m:t>
                        </m:r>
                      </m:e>
                    </m:d>
                  </m:oMath>
                </a14:m>
                <a:r>
                  <a:rPr lang="zh-CN" altLang="en-US" kern="0" dirty="0">
                    <a:solidFill>
                      <a:prstClr val="black"/>
                    </a:solidFill>
                    <a:latin typeface="微软雅黑" panose="020B0503020204020204" pitchFamily="34" charset="-122"/>
                    <a:ea typeface="微软雅黑" panose="020B0503020204020204" pitchFamily="34" charset="-122"/>
                  </a:rPr>
                  <a:t>的增益</a:t>
                </a:r>
              </a:p>
            </p:txBody>
          </p:sp>
        </mc:Choice>
        <mc:Fallback xmlns="">
          <p:sp>
            <p:nvSpPr>
              <p:cNvPr id="13" name="矩形 12">
                <a:extLst>
                  <a:ext uri="{FF2B5EF4-FFF2-40B4-BE49-F238E27FC236}">
                    <a16:creationId xmlns:a16="http://schemas.microsoft.com/office/drawing/2014/main" id="{CFBFB825-98E0-6EEE-2AAB-DE4E914AEA75}"/>
                  </a:ext>
                </a:extLst>
              </p:cNvPr>
              <p:cNvSpPr>
                <a:spLocks noRot="1" noChangeAspect="1" noMove="1" noResize="1" noEditPoints="1" noAdjustHandles="1" noChangeArrowheads="1" noChangeShapeType="1" noTextEdit="1"/>
              </p:cNvSpPr>
              <p:nvPr/>
            </p:nvSpPr>
            <p:spPr>
              <a:xfrm>
                <a:off x="1241535" y="3043319"/>
                <a:ext cx="9509760" cy="2274790"/>
              </a:xfrm>
              <a:prstGeom prst="rect">
                <a:avLst/>
              </a:prstGeom>
              <a:blipFill>
                <a:blip r:embed="rId6"/>
                <a:stretch>
                  <a:fillRect l="-577" r="-256" b="-3485"/>
                </a:stretch>
              </a:blipFill>
            </p:spPr>
            <p:txBody>
              <a:bodyPr/>
              <a:lstStyle/>
              <a:p>
                <a:r>
                  <a:rPr lang="zh-CN" altLang="en-US">
                    <a:noFill/>
                  </a:rPr>
                  <a:t> </a:t>
                </a:r>
              </a:p>
            </p:txBody>
          </p:sp>
        </mc:Fallback>
      </mc:AlternateContent>
      <p:sp>
        <p:nvSpPr>
          <p:cNvPr id="14" name="TextBox 8">
            <a:extLst>
              <a:ext uri="{FF2B5EF4-FFF2-40B4-BE49-F238E27FC236}">
                <a16:creationId xmlns:a16="http://schemas.microsoft.com/office/drawing/2014/main" id="{31607675-8B44-A550-7741-A6C3D4A49F8D}"/>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3240736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15FFFA5-16B5-8B94-270D-1B6229D1526B}"/>
              </a:ext>
            </a:extLst>
          </p:cNvPr>
          <p:cNvSpPr txBox="1"/>
          <p:nvPr/>
        </p:nvSpPr>
        <p:spPr>
          <a:xfrm>
            <a:off x="632408" y="1010450"/>
            <a:ext cx="3313728"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dirty="0"/>
              <a:t>推断能力实现分析</a:t>
            </a:r>
          </a:p>
        </p:txBody>
      </p:sp>
      <p:sp>
        <p:nvSpPr>
          <p:cNvPr id="4" name="矩形 3">
            <a:extLst>
              <a:ext uri="{FF2B5EF4-FFF2-40B4-BE49-F238E27FC236}">
                <a16:creationId xmlns:a16="http://schemas.microsoft.com/office/drawing/2014/main" id="{A475B874-2A6F-2F18-F0DD-55C147D8FE41}"/>
              </a:ext>
            </a:extLst>
          </p:cNvPr>
          <p:cNvSpPr/>
          <p:nvPr/>
        </p:nvSpPr>
        <p:spPr>
          <a:xfrm>
            <a:off x="7257435" y="2913939"/>
            <a:ext cx="2751866" cy="400110"/>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生成树的补图称为余树</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0EBBE9E-4C4C-C1BE-9959-B29EDF55ADA3}"/>
                  </a:ext>
                </a:extLst>
              </p:cNvPr>
              <p:cNvSpPr/>
              <p:nvPr/>
            </p:nvSpPr>
            <p:spPr>
              <a:xfrm>
                <a:off x="7257435" y="3472056"/>
                <a:ext cx="3109197" cy="400110"/>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余树的线路数为</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𝐿</m:t>
                    </m:r>
                    <m:r>
                      <a:rPr lang="en-US" altLang="zh-CN" sz="2000" b="0" i="1" kern="0" smtClea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𝑁</m:t>
                    </m:r>
                    <m:r>
                      <a:rPr lang="en-US" altLang="zh-CN" sz="2000" b="0" i="1" kern="0" smtClean="0">
                        <a:solidFill>
                          <a:prstClr val="black"/>
                        </a:solidFill>
                        <a:latin typeface="Cambria Math" panose="02040503050406030204" pitchFamily="18" charset="0"/>
                        <a:ea typeface="微软雅黑" panose="020B0503020204020204" pitchFamily="34" charset="-122"/>
                      </a:rPr>
                      <m:t>+1</m:t>
                    </m:r>
                  </m:oMath>
                </a14:m>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30EBBE9E-4C4C-C1BE-9959-B29EDF55ADA3}"/>
                  </a:ext>
                </a:extLst>
              </p:cNvPr>
              <p:cNvSpPr>
                <a:spLocks noRot="1" noChangeAspect="1" noMove="1" noResize="1" noEditPoints="1" noAdjustHandles="1" noChangeArrowheads="1" noChangeShapeType="1" noTextEdit="1"/>
              </p:cNvSpPr>
              <p:nvPr/>
            </p:nvSpPr>
            <p:spPr>
              <a:xfrm>
                <a:off x="7257435" y="3472056"/>
                <a:ext cx="3109197" cy="400110"/>
              </a:xfrm>
              <a:prstGeom prst="rect">
                <a:avLst/>
              </a:prstGeom>
              <a:blipFill>
                <a:blip r:embed="rId3"/>
                <a:stretch>
                  <a:fillRect l="-2157" t="-9231"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19F8EFE-8232-31D7-50C6-6425A7FFDE35}"/>
                  </a:ext>
                </a:extLst>
              </p:cNvPr>
              <p:cNvSpPr/>
              <p:nvPr/>
            </p:nvSpPr>
            <p:spPr>
              <a:xfrm>
                <a:off x="1941816" y="5214921"/>
                <a:ext cx="8308367" cy="960776"/>
              </a:xfrm>
              <a:prstGeom prst="rect">
                <a:avLst/>
              </a:prstGeom>
            </p:spPr>
            <p:txBody>
              <a:bodyPr wrap="square">
                <a:spAutoFit/>
              </a:bodyPr>
              <a:lstStyle/>
              <a:p>
                <a:pPr>
                  <a:lnSpc>
                    <a:spcPct val="150000"/>
                  </a:lnSpc>
                </a:pPr>
                <a:r>
                  <a:rPr lang="zh-CN" altLang="en-US"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定理</a:t>
                </a:r>
                <a:r>
                  <a:rPr lang="en-US" altLang="zh-CN"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4</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a:t>
                </a:r>
                <a:r>
                  <a:rPr lang="zh-CN" altLang="en-US"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攻击者仅需要获取电网拓扑中任意一个余树中</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𝐿</m:t>
                    </m:r>
                    <m:r>
                      <a:rPr lang="en-US" altLang="zh-CN" sz="2000" i="1" ker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𝑁</m:t>
                    </m:r>
                    <m:r>
                      <a:rPr lang="en-US" altLang="zh-CN" sz="2000" i="1" kern="0">
                        <a:solidFill>
                          <a:prstClr val="black"/>
                        </a:solidFill>
                        <a:latin typeface="Cambria Math" panose="02040503050406030204" pitchFamily="18" charset="0"/>
                        <a:ea typeface="微软雅黑" panose="020B0503020204020204" pitchFamily="34" charset="-122"/>
                      </a:rPr>
                      <m:t>+1</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条线路在</a:t>
                </a:r>
                <a14:m>
                  <m:oMath xmlns:m="http://schemas.openxmlformats.org/officeDocument/2006/math">
                    <m:r>
                      <a:rPr lang="en-US" altLang="zh-CN" sz="2000" i="1" kern="0">
                        <a:solidFill>
                          <a:prstClr val="black"/>
                        </a:solidFill>
                        <a:latin typeface="Cambria Math" panose="02040503050406030204" pitchFamily="18" charset="0"/>
                        <a:ea typeface="微软雅黑" panose="020B0503020204020204" pitchFamily="34" charset="-122"/>
                      </a:rPr>
                      <m:t>𝐿</m:t>
                    </m:r>
                    <m:r>
                      <a:rPr lang="en-US" altLang="zh-CN" sz="2000" i="1" kern="0">
                        <a:solidFill>
                          <a:prstClr val="black"/>
                        </a:solidFill>
                        <a:latin typeface="Cambria Math" panose="02040503050406030204" pitchFamily="18" charset="0"/>
                        <a:ea typeface="微软雅黑" panose="020B0503020204020204" pitchFamily="34" charset="-122"/>
                      </a:rPr>
                      <m:t>−</m:t>
                    </m:r>
                    <m:r>
                      <a:rPr lang="en-US" altLang="zh-CN" sz="2000" i="1" kern="0">
                        <a:solidFill>
                          <a:prstClr val="black"/>
                        </a:solidFill>
                        <a:latin typeface="Cambria Math" panose="02040503050406030204" pitchFamily="18" charset="0"/>
                        <a:ea typeface="微软雅黑" panose="020B0503020204020204" pitchFamily="34" charset="-122"/>
                      </a:rPr>
                      <m:t>𝑁</m:t>
                    </m:r>
                    <m:r>
                      <a:rPr lang="en-US" altLang="zh-CN" sz="2000" i="1" kern="0">
                        <a:solidFill>
                          <a:prstClr val="black"/>
                        </a:solidFill>
                        <a:latin typeface="Cambria Math" panose="02040503050406030204" pitchFamily="18" charset="0"/>
                        <a:ea typeface="微软雅黑" panose="020B0503020204020204" pitchFamily="34" charset="-122"/>
                      </a:rPr>
                      <m:t>+1</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个时刻阻塞对应的电价数据，便能够使</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a:rPr lang="en-US" altLang="zh-CN" sz="2000" kern="0">
                            <a:solidFill>
                              <a:prstClr val="black"/>
                            </a:solidFill>
                            <a:latin typeface="Cambria Math" panose="02040503050406030204" pitchFamily="18" charset="0"/>
                            <a:ea typeface="微软雅黑" panose="020B0503020204020204" pitchFamily="34" charset="-122"/>
                          </a:rPr>
                          <m:t>𝑬</m:t>
                        </m:r>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达到上界</a:t>
                </a:r>
              </a:p>
            </p:txBody>
          </p:sp>
        </mc:Choice>
        <mc:Fallback xmlns="">
          <p:sp>
            <p:nvSpPr>
              <p:cNvPr id="6" name="矩形 5">
                <a:extLst>
                  <a:ext uri="{FF2B5EF4-FFF2-40B4-BE49-F238E27FC236}">
                    <a16:creationId xmlns:a16="http://schemas.microsoft.com/office/drawing/2014/main" id="{A19F8EFE-8232-31D7-50C6-6425A7FFDE35}"/>
                  </a:ext>
                </a:extLst>
              </p:cNvPr>
              <p:cNvSpPr>
                <a:spLocks noRot="1" noChangeAspect="1" noMove="1" noResize="1" noEditPoints="1" noAdjustHandles="1" noChangeArrowheads="1" noChangeShapeType="1" noTextEdit="1"/>
              </p:cNvSpPr>
              <p:nvPr/>
            </p:nvSpPr>
            <p:spPr>
              <a:xfrm>
                <a:off x="1941816" y="5214921"/>
                <a:ext cx="8308367" cy="960776"/>
              </a:xfrm>
              <a:prstGeom prst="rect">
                <a:avLst/>
              </a:prstGeom>
              <a:blipFill>
                <a:blip r:embed="rId4"/>
                <a:stretch>
                  <a:fillRect l="-808" r="-441" b="-10127"/>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9D4BE8FF-65C6-CB59-EE53-16D034471C84}"/>
              </a:ext>
            </a:extLst>
          </p:cNvPr>
          <p:cNvPicPr>
            <a:picLocks noChangeAspect="1"/>
          </p:cNvPicPr>
          <p:nvPr/>
        </p:nvPicPr>
        <p:blipFill>
          <a:blip r:embed="rId5"/>
          <a:stretch>
            <a:fillRect/>
          </a:stretch>
        </p:blipFill>
        <p:spPr>
          <a:xfrm>
            <a:off x="1486319" y="1820557"/>
            <a:ext cx="5326034" cy="2944268"/>
          </a:xfrm>
          <a:prstGeom prst="rect">
            <a:avLst/>
          </a:prstGeom>
        </p:spPr>
      </p:pic>
      <p:sp>
        <p:nvSpPr>
          <p:cNvPr id="8" name="TextBox 8">
            <a:extLst>
              <a:ext uri="{FF2B5EF4-FFF2-40B4-BE49-F238E27FC236}">
                <a16:creationId xmlns:a16="http://schemas.microsoft.com/office/drawing/2014/main" id="{54284A99-9977-EE95-F128-F854CB0AA493}"/>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84263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C0E9C16-1532-AAD2-ED07-171EA17F39D6}"/>
              </a:ext>
            </a:extLst>
          </p:cNvPr>
          <p:cNvSpPr txBox="1"/>
          <p:nvPr/>
        </p:nvSpPr>
        <p:spPr>
          <a:xfrm>
            <a:off x="835608" y="1012653"/>
            <a:ext cx="3692101"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zh-CN" altLang="en-US" dirty="0"/>
              <a:t>推断能力上界分析</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16EA9E8-3574-9342-5AEF-DCA86239321B}"/>
                  </a:ext>
                </a:extLst>
              </p:cNvPr>
              <p:cNvSpPr/>
              <p:nvPr/>
            </p:nvSpPr>
            <p:spPr>
              <a:xfrm>
                <a:off x="1201219" y="1721112"/>
                <a:ext cx="3692101" cy="400110"/>
              </a:xfrm>
              <a:prstGeom prst="rect">
                <a:avLst/>
              </a:prstGeom>
            </p:spPr>
            <p:txBody>
              <a:bodyPr wrap="non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推断能力上界与电网拓扑</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𝐺</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相关</a:t>
                </a:r>
              </a:p>
            </p:txBody>
          </p:sp>
        </mc:Choice>
        <mc:Fallback xmlns="">
          <p:sp>
            <p:nvSpPr>
              <p:cNvPr id="4" name="矩形 3">
                <a:extLst>
                  <a:ext uri="{FF2B5EF4-FFF2-40B4-BE49-F238E27FC236}">
                    <a16:creationId xmlns:a16="http://schemas.microsoft.com/office/drawing/2014/main" id="{916EA9E8-3574-9342-5AEF-DCA86239321B}"/>
                  </a:ext>
                </a:extLst>
              </p:cNvPr>
              <p:cNvSpPr>
                <a:spLocks noRot="1" noChangeAspect="1" noMove="1" noResize="1" noEditPoints="1" noAdjustHandles="1" noChangeArrowheads="1" noChangeShapeType="1" noTextEdit="1"/>
              </p:cNvSpPr>
              <p:nvPr/>
            </p:nvSpPr>
            <p:spPr>
              <a:xfrm>
                <a:off x="1201219" y="1721112"/>
                <a:ext cx="3692101" cy="400110"/>
              </a:xfrm>
              <a:prstGeom prst="rect">
                <a:avLst/>
              </a:prstGeom>
              <a:blipFill>
                <a:blip r:embed="rId4"/>
                <a:stretch>
                  <a:fillRect l="-1650" t="-7576" r="-1320"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B27AD52-8FE7-C592-B2CB-C9270735C401}"/>
                  </a:ext>
                </a:extLst>
              </p:cNvPr>
              <p:cNvSpPr/>
              <p:nvPr/>
            </p:nvSpPr>
            <p:spPr>
              <a:xfrm>
                <a:off x="1201218" y="2357408"/>
                <a:ext cx="7102973" cy="707886"/>
              </a:xfrm>
              <a:prstGeom prst="rect">
                <a:avLst/>
              </a:prstGeom>
            </p:spPr>
            <p:txBody>
              <a:bodyPr wrap="square">
                <a:spAutoFit/>
              </a:bodyPr>
              <a:lstStyle/>
              <a:p>
                <a:pPr lvl="0"/>
                <a14:m>
                  <m:oMath xmlns:m="http://schemas.openxmlformats.org/officeDocument/2006/math">
                    <m:sSub>
                      <m:sSubPr>
                        <m:ctrlPr>
                          <a:rPr lang="zh-CN" altLang="en-US" sz="2000" b="1" i="1" smtClean="0">
                            <a:solidFill>
                              <a:prstClr val="black"/>
                            </a:solidFill>
                            <a:latin typeface="Cambria Math" panose="02040503050406030204" pitchFamily="18" charset="0"/>
                          </a:rPr>
                        </m:ctrlPr>
                      </m:sSubPr>
                      <m:e>
                        <m:r>
                          <a:rPr lang="en-US" altLang="zh-CN" sz="2000" i="1">
                            <a:latin typeface="Cambria Math" panose="02040503050406030204" pitchFamily="18" charset="0"/>
                            <a:cs typeface="Times New Roman" panose="02020603050405020304" pitchFamily="18" charset="0"/>
                          </a:rPr>
                          <m:t>𝐺</m:t>
                        </m:r>
                      </m:e>
                      <m:sub>
                        <m:r>
                          <a:rPr lang="en-US" altLang="zh-CN" sz="2000" b="0" i="1" smtClean="0">
                            <a:solidFill>
                              <a:prstClr val="black"/>
                            </a:solidFill>
                            <a:latin typeface="Cambria Math" panose="02040503050406030204" pitchFamily="18" charset="0"/>
                          </a:rPr>
                          <m:t>𝑛</m:t>
                        </m:r>
                      </m:sub>
                    </m:sSub>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是拓扑中割边和不属于割边的割点的集合，定义</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𝐺</m:t>
                    </m:r>
                    <m:r>
                      <a:rPr lang="en-US" altLang="zh-CN" sz="2000" i="1">
                        <a:latin typeface="Cambria Math" panose="02040503050406030204" pitchFamily="18" charset="0"/>
                        <a:cs typeface="Times New Roman" panose="02020603050405020304" pitchFamily="18" charset="0"/>
                      </a:rPr>
                      <m:t>−</m:t>
                    </m:r>
                    <m:sSub>
                      <m:sSubPr>
                        <m:ctrlPr>
                          <a:rPr lang="zh-CN" altLang="en-US" sz="2000" b="1" i="1">
                            <a:solidFill>
                              <a:prstClr val="black"/>
                            </a:solidFill>
                            <a:latin typeface="Cambria Math" panose="02040503050406030204" pitchFamily="18" charset="0"/>
                          </a:rPr>
                        </m:ctrlPr>
                      </m:sSubPr>
                      <m:e>
                        <m:r>
                          <a:rPr lang="en-US" altLang="zh-CN" sz="2000" i="1">
                            <a:latin typeface="Cambria Math" panose="02040503050406030204" pitchFamily="18" charset="0"/>
                            <a:cs typeface="Times New Roman" panose="02020603050405020304" pitchFamily="18" charset="0"/>
                          </a:rPr>
                          <m:t>𝐺</m:t>
                        </m:r>
                      </m:e>
                      <m:sub>
                        <m:r>
                          <a:rPr lang="en-US" altLang="zh-CN" sz="2000" i="1">
                            <a:solidFill>
                              <a:prstClr val="black"/>
                            </a:solidFill>
                            <a:latin typeface="Cambria Math" panose="02040503050406030204" pitchFamily="18" charset="0"/>
                          </a:rPr>
                          <m:t>𝑛</m:t>
                        </m:r>
                      </m:sub>
                    </m:sSub>
                  </m:oMath>
                </a14:m>
                <a:r>
                  <a:rPr lang="zh-CN" altLang="en-US" sz="2000" dirty="0">
                    <a:latin typeface="Arial" panose="020B0604020202020204" pitchFamily="34" charset="0"/>
                    <a:ea typeface="微软雅黑" panose="020B0503020204020204" pitchFamily="34" charset="-122"/>
                    <a:cs typeface="Arial" panose="020B0604020202020204" pitchFamily="34" charset="0"/>
                  </a:rPr>
                  <a:t>为</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oMath>
                </a14:m>
                <a:r>
                  <a:rPr lang="zh-CN" altLang="en-US" sz="2000" dirty="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的连通分量个数为</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r>
                      <a:rPr lang="en-US" altLang="zh-CN" sz="2000">
                        <a:latin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r>
                      <a:rPr lang="en-US" altLang="zh-CN" sz="2000" i="1">
                        <a:latin typeface="Cambria Math" panose="02040503050406030204" pitchFamily="18" charset="0"/>
                        <a:cs typeface="Times New Roman" panose="02020603050405020304" pitchFamily="18" charset="0"/>
                      </a:rPr>
                      <m:t>)</m:t>
                    </m:r>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的单点连通分量个数为</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𝑛</m:t>
                        </m:r>
                      </m:e>
                      <m:sub>
                        <m:r>
                          <a:rPr lang="en-US" altLang="zh-CN" sz="2000" i="1">
                            <a:latin typeface="Cambria Math" panose="02040503050406030204" pitchFamily="18" charset="0"/>
                            <a:cs typeface="Times New Roman" panose="02020603050405020304" pitchFamily="18" charset="0"/>
                          </a:rPr>
                          <m:t>𝑣</m:t>
                        </m:r>
                      </m:sub>
                    </m:sSub>
                    <m:r>
                      <a:rPr lang="en-US" altLang="zh-CN" sz="2000">
                        <a:latin typeface="Cambria Math" panose="02040503050406030204" pitchFamily="18" charset="0"/>
                        <a:cs typeface="Times New Roman" panose="02020603050405020304" pitchFamily="18" charset="0"/>
                      </a:rPr>
                      <m:t>(</m:t>
                    </m:r>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r>
                      <a:rPr lang="en-US" altLang="zh-CN" sz="2000" i="1">
                        <a:latin typeface="Cambria Math" panose="02040503050406030204" pitchFamily="18" charset="0"/>
                        <a:cs typeface="Times New Roman" panose="02020603050405020304" pitchFamily="18" charset="0"/>
                      </a:rPr>
                      <m:t>)</m:t>
                    </m:r>
                  </m:oMath>
                </a14:m>
                <a:endParaRPr lang="zh-CN" altLang="en-US" sz="2000" dirty="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5" name="矩形 4">
                <a:extLst>
                  <a:ext uri="{FF2B5EF4-FFF2-40B4-BE49-F238E27FC236}">
                    <a16:creationId xmlns:a16="http://schemas.microsoft.com/office/drawing/2014/main" id="{4B27AD52-8FE7-C592-B2CB-C9270735C401}"/>
                  </a:ext>
                </a:extLst>
              </p:cNvPr>
              <p:cNvSpPr>
                <a:spLocks noRot="1" noChangeAspect="1" noMove="1" noResize="1" noEditPoints="1" noAdjustHandles="1" noChangeArrowheads="1" noChangeShapeType="1" noTextEdit="1"/>
              </p:cNvSpPr>
              <p:nvPr/>
            </p:nvSpPr>
            <p:spPr>
              <a:xfrm>
                <a:off x="1201218" y="2357408"/>
                <a:ext cx="7102973" cy="707886"/>
              </a:xfrm>
              <a:prstGeom prst="rect">
                <a:avLst/>
              </a:prstGeom>
              <a:blipFill>
                <a:blip r:embed="rId5"/>
                <a:stretch>
                  <a:fillRect t="-5172" r="-4464" b="-14655"/>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E072F635-80E5-94BC-0125-8F9C06FD0713}"/>
              </a:ext>
            </a:extLst>
          </p:cNvPr>
          <p:cNvSpPr/>
          <p:nvPr/>
        </p:nvSpPr>
        <p:spPr>
          <a:xfrm>
            <a:off x="1201218" y="5973610"/>
            <a:ext cx="7593797" cy="400110"/>
          </a:xfrm>
          <a:prstGeom prst="rect">
            <a:avLst/>
          </a:prstGeom>
        </p:spPr>
        <p:txBody>
          <a:bodyPr wrap="squar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此时割边电抗无法推断，但连通分量中的线路电抗能够准确推断</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D7C91B0-619B-AD24-6FF8-2A280F37D74E}"/>
                  </a:ext>
                </a:extLst>
              </p:cNvPr>
              <p:cNvSpPr/>
              <p:nvPr/>
            </p:nvSpPr>
            <p:spPr>
              <a:xfrm>
                <a:off x="1133970" y="3513895"/>
                <a:ext cx="7593797" cy="400110"/>
              </a:xfrm>
              <a:prstGeom prst="rect">
                <a:avLst/>
              </a:prstGeom>
            </p:spPr>
            <p:txBody>
              <a:bodyPr wrap="squar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在右图的</a:t>
                </a:r>
                <a:r>
                  <a:rPr lang="en-US" altLang="zh-CN" sz="2000" dirty="0">
                    <a:latin typeface="Arial" panose="020B0604020202020204" pitchFamily="34" charset="0"/>
                    <a:ea typeface="微软雅黑" panose="020B0503020204020204" pitchFamily="34" charset="-122"/>
                    <a:cs typeface="Arial" panose="020B0604020202020204" pitchFamily="34" charset="0"/>
                  </a:rPr>
                  <a:t>8</a:t>
                </a:r>
                <a:r>
                  <a:rPr lang="zh-CN" altLang="en-US" sz="2000" dirty="0">
                    <a:latin typeface="Arial" panose="020B0604020202020204" pitchFamily="34" charset="0"/>
                    <a:ea typeface="微软雅黑" panose="020B0503020204020204" pitchFamily="34" charset="-122"/>
                    <a:cs typeface="Arial" panose="020B0604020202020204" pitchFamily="34" charset="0"/>
                  </a:rPr>
                  <a:t>节点系统中，</a:t>
                </a:r>
                <a:r>
                  <a:rPr lang="en-US" altLang="zh-CN" sz="2000" dirty="0">
                    <a:solidFill>
                      <a:prstClr val="black"/>
                    </a:solidFill>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sSub>
                      <m:sSubPr>
                        <m:ctrlPr>
                          <a:rPr lang="zh-CN" altLang="en-US" sz="2000" b="1"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cs typeface="Times New Roman" panose="02020603050405020304" pitchFamily="18" charset="0"/>
                          </a:rPr>
                          <m:t>𝐺</m:t>
                        </m:r>
                      </m:e>
                      <m:sub>
                        <m:r>
                          <a:rPr lang="en-US" altLang="zh-CN" sz="2000" i="1">
                            <a:solidFill>
                              <a:prstClr val="black"/>
                            </a:solidFill>
                            <a:latin typeface="Cambria Math" panose="02040503050406030204" pitchFamily="18" charset="0"/>
                          </a:rPr>
                          <m:t>𝑛</m:t>
                        </m:r>
                      </m:sub>
                    </m:sSub>
                    <m:r>
                      <a:rPr lang="en-US" altLang="zh-CN" sz="2000" i="1">
                        <a:solidFill>
                          <a:prstClr val="black"/>
                        </a:solidFill>
                        <a:latin typeface="Cambria Math" panose="02040503050406030204" pitchFamily="18" charset="0"/>
                      </a:rPr>
                      <m:t>={1−8, 2</m:t>
                    </m:r>
                    <m:r>
                      <a:rPr lang="en-US" altLang="zh-CN" sz="2000" b="1" i="1">
                        <a:solidFill>
                          <a:prstClr val="black"/>
                        </a:solidFill>
                        <a:latin typeface="Cambria Math" panose="02040503050406030204" pitchFamily="18" charset="0"/>
                      </a:rPr>
                      <m:t>} </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𝑛</m:t>
                    </m:r>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r>
                      <a:rPr lang="en-US" altLang="zh-CN" sz="2000" i="1">
                        <a:latin typeface="Cambria Math" panose="02040503050406030204" pitchFamily="18" charset="0"/>
                        <a:cs typeface="Times New Roman" panose="02020603050405020304" pitchFamily="18" charset="0"/>
                      </a:rPr>
                      <m:t>=3</m:t>
                    </m:r>
                    <m:r>
                      <a:rPr lang="zh-CN" altLang="en-US" sz="2000" i="1" smtClean="0">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𝑛</m:t>
                        </m:r>
                      </m:e>
                      <m:sub>
                        <m:r>
                          <a:rPr lang="en-US" altLang="zh-CN" sz="2000" i="1">
                            <a:latin typeface="Cambria Math" panose="02040503050406030204" pitchFamily="18" charset="0"/>
                            <a:cs typeface="Times New Roman" panose="02020603050405020304" pitchFamily="18" charset="0"/>
                          </a:rPr>
                          <m:t>𝑣</m:t>
                        </m:r>
                      </m:sub>
                    </m:sSub>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r>
                      <a:rPr lang="en-US" altLang="zh-CN" sz="2000" i="1">
                        <a:latin typeface="Cambria Math" panose="02040503050406030204" pitchFamily="18" charset="0"/>
                        <a:cs typeface="Times New Roman" panose="02020603050405020304" pitchFamily="18" charset="0"/>
                      </a:rPr>
                      <m:t>=1</m:t>
                    </m:r>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7" name="矩形 6">
                <a:extLst>
                  <a:ext uri="{FF2B5EF4-FFF2-40B4-BE49-F238E27FC236}">
                    <a16:creationId xmlns:a16="http://schemas.microsoft.com/office/drawing/2014/main" id="{4D7C91B0-619B-AD24-6FF8-2A280F37D74E}"/>
                  </a:ext>
                </a:extLst>
              </p:cNvPr>
              <p:cNvSpPr>
                <a:spLocks noRot="1" noChangeAspect="1" noMove="1" noResize="1" noEditPoints="1" noAdjustHandles="1" noChangeArrowheads="1" noChangeShapeType="1" noTextEdit="1"/>
              </p:cNvSpPr>
              <p:nvPr/>
            </p:nvSpPr>
            <p:spPr>
              <a:xfrm>
                <a:off x="1133970" y="3513895"/>
                <a:ext cx="7593797" cy="400110"/>
              </a:xfrm>
              <a:prstGeom prst="rect">
                <a:avLst/>
              </a:prstGeom>
              <a:blipFill>
                <a:blip r:embed="rId6"/>
                <a:stretch>
                  <a:fillRect l="-803" t="-7576"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542689C8-EB47-F346-6BEE-139BC3A4CA79}"/>
                  </a:ext>
                </a:extLst>
              </p:cNvPr>
              <p:cNvSpPr/>
              <p:nvPr/>
            </p:nvSpPr>
            <p:spPr>
              <a:xfrm>
                <a:off x="1201218" y="4425432"/>
                <a:ext cx="9161981" cy="429861"/>
              </a:xfrm>
              <a:prstGeom prst="rect">
                <a:avLst/>
              </a:prstGeom>
            </p:spPr>
            <p:txBody>
              <a:bodyPr wrap="square">
                <a:spAutoFit/>
              </a:bodyPr>
              <a:lstStyle/>
              <a:p>
                <a:pPr>
                  <a:lnSpc>
                    <a:spcPct val="120000"/>
                  </a:lnSpc>
                </a:pPr>
                <a:r>
                  <a:rPr lang="zh-CN" altLang="en-US"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定理</a:t>
                </a:r>
                <a:r>
                  <a:rPr lang="en-US" altLang="zh-CN" sz="2000" b="1" kern="0" dirty="0">
                    <a:solidFill>
                      <a:prstClr val="black"/>
                    </a:solidFill>
                    <a:latin typeface="Arial" panose="020B0604020202020204" pitchFamily="34" charset="0"/>
                    <a:ea typeface="微软雅黑" panose="020B0503020204020204" pitchFamily="34" charset="-122"/>
                    <a:cs typeface="Arial" panose="020B0604020202020204" pitchFamily="34" charset="0"/>
                  </a:rPr>
                  <a:t>5</a:t>
                </a:r>
                <a:r>
                  <a:rPr lang="zh-CN" altLang="zh-CN" sz="2000" kern="0" dirty="0">
                    <a:solidFill>
                      <a:prstClr val="black"/>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a:rPr lang="en-US" altLang="zh-CN" sz="2000" kern="0">
                            <a:solidFill>
                              <a:prstClr val="black"/>
                            </a:solidFill>
                            <a:latin typeface="Cambria Math" panose="02040503050406030204" pitchFamily="18" charset="0"/>
                            <a:ea typeface="微软雅黑" panose="020B0503020204020204" pitchFamily="34" charset="-122"/>
                          </a:rPr>
                          <m:t>𝑬</m:t>
                        </m:r>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的最大值为</a:t>
                </a:r>
                <a14:m>
                  <m:oMath xmlns:m="http://schemas.openxmlformats.org/officeDocument/2006/math">
                    <m:r>
                      <a:rPr lang="en-US" altLang="zh-CN" sz="2000" i="1">
                        <a:latin typeface="Cambria Math" panose="02040503050406030204" pitchFamily="18" charset="0"/>
                        <a:ea typeface="宋体" panose="02010600030101010101" pitchFamily="2" charset="-122"/>
                        <a:cs typeface="Times New Roman" panose="02020603050405020304" pitchFamily="18" charset="0"/>
                      </a:rPr>
                      <m:t>𝐿</m:t>
                    </m:r>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𝐿</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𝑒</m:t>
                        </m:r>
                      </m:sub>
                    </m:sSub>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𝑛</m:t>
                    </m:r>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oMath>
                </a14:m>
                <a:r>
                  <a:rPr lang="en-US" altLang="zh-CN" sz="2000" dirty="0">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𝑛</m:t>
                        </m:r>
                      </m:e>
                      <m:sub>
                        <m:r>
                          <a:rPr lang="en-US" altLang="zh-CN" sz="2000" i="1">
                            <a:latin typeface="Cambria Math" panose="02040503050406030204" pitchFamily="18" charset="0"/>
                            <a:cs typeface="Times New Roman" panose="02020603050405020304" pitchFamily="18" charset="0"/>
                          </a:rPr>
                          <m:t>𝑣</m:t>
                        </m:r>
                      </m:sub>
                    </m:sSub>
                    <m:d>
                      <m:dPr>
                        <m:ctrlPr>
                          <a:rPr lang="en-US" altLang="zh-CN" sz="2000" i="1">
                            <a:latin typeface="Cambria Math" panose="02040503050406030204" pitchFamily="18" charset="0"/>
                            <a:cs typeface="Times New Roman" panose="02020603050405020304" pitchFamily="18" charset="0"/>
                          </a:rPr>
                        </m:ctrlPr>
                      </m:dPr>
                      <m:e>
                        <m:sSup>
                          <m:sSupPr>
                            <m:ctrlPr>
                              <a:rPr lang="en-US" altLang="zh-CN" sz="2000" i="1">
                                <a:latin typeface="Cambria Math" panose="02040503050406030204" pitchFamily="18" charset="0"/>
                                <a:cs typeface="Times New Roman" panose="02020603050405020304" pitchFamily="18" charset="0"/>
                              </a:rPr>
                            </m:ctrlPr>
                          </m:sSupPr>
                          <m:e>
                            <m:r>
                              <a:rPr lang="en-US" altLang="zh-CN" sz="2000" i="1">
                                <a:latin typeface="Cambria Math" panose="02040503050406030204" pitchFamily="18" charset="0"/>
                                <a:cs typeface="Times New Roman" panose="02020603050405020304" pitchFamily="18" charset="0"/>
                              </a:rPr>
                              <m:t>𝐺</m:t>
                            </m:r>
                          </m:e>
                          <m:sup>
                            <m:r>
                              <a:rPr lang="en-US" altLang="zh-CN" sz="2000" i="1">
                                <a:latin typeface="Cambria Math" panose="02040503050406030204" pitchFamily="18" charset="0"/>
                                <a:cs typeface="Times New Roman" panose="02020603050405020304" pitchFamily="18" charset="0"/>
                              </a:rPr>
                              <m:t>′</m:t>
                            </m:r>
                          </m:sup>
                        </m:sSup>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，其中</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i="1">
                            <a:latin typeface="Cambria Math" panose="02040503050406030204" pitchFamily="18" charset="0"/>
                            <a:ea typeface="宋体" panose="02010600030101010101" pitchFamily="2" charset="-122"/>
                            <a:cs typeface="Times New Roman" panose="02020603050405020304" pitchFamily="18" charset="0"/>
                          </a:rPr>
                          <m:t>𝐿</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𝑒</m:t>
                        </m:r>
                      </m:sub>
                    </m:sSub>
                  </m:oMath>
                </a14:m>
                <a:r>
                  <a:rPr lang="zh-CN" altLang="en-US" sz="2000" dirty="0">
                    <a:latin typeface="Arial" panose="020B0604020202020204" pitchFamily="34" charset="0"/>
                    <a:ea typeface="微软雅黑" panose="020B0503020204020204" pitchFamily="34" charset="-122"/>
                    <a:cs typeface="Arial" panose="020B0604020202020204" pitchFamily="34" charset="0"/>
                  </a:rPr>
                  <a:t>是</a:t>
                </a:r>
                <a14:m>
                  <m:oMath xmlns:m="http://schemas.openxmlformats.org/officeDocument/2006/math">
                    <m:r>
                      <a:rPr lang="en-US" altLang="zh-CN" sz="2000" i="1">
                        <a:latin typeface="Cambria Math" panose="02040503050406030204" pitchFamily="18" charset="0"/>
                        <a:cs typeface="Times New Roman" panose="02020603050405020304" pitchFamily="18" charset="0"/>
                      </a:rPr>
                      <m:t>𝐺</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中割边的数量</a:t>
                </a:r>
              </a:p>
            </p:txBody>
          </p:sp>
        </mc:Choice>
        <mc:Fallback xmlns="">
          <p:sp>
            <p:nvSpPr>
              <p:cNvPr id="8" name="矩形 7">
                <a:extLst>
                  <a:ext uri="{FF2B5EF4-FFF2-40B4-BE49-F238E27FC236}">
                    <a16:creationId xmlns:a16="http://schemas.microsoft.com/office/drawing/2014/main" id="{542689C8-EB47-F346-6BEE-139BC3A4CA79}"/>
                  </a:ext>
                </a:extLst>
              </p:cNvPr>
              <p:cNvSpPr>
                <a:spLocks noRot="1" noChangeAspect="1" noMove="1" noResize="1" noEditPoints="1" noAdjustHandles="1" noChangeArrowheads="1" noChangeShapeType="1" noTextEdit="1"/>
              </p:cNvSpPr>
              <p:nvPr/>
            </p:nvSpPr>
            <p:spPr>
              <a:xfrm>
                <a:off x="1201218" y="4425432"/>
                <a:ext cx="9161981" cy="429861"/>
              </a:xfrm>
              <a:prstGeom prst="rect">
                <a:avLst/>
              </a:prstGeom>
              <a:blipFill>
                <a:blip r:embed="rId7"/>
                <a:stretch>
                  <a:fillRect l="-665" t="-1429" b="-25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BF3E336E-61F6-DD74-5D44-F0BAD18ACAAB}"/>
                  </a:ext>
                </a:extLst>
              </p:cNvPr>
              <p:cNvSpPr/>
              <p:nvPr/>
            </p:nvSpPr>
            <p:spPr>
              <a:xfrm>
                <a:off x="1201218" y="5266753"/>
                <a:ext cx="6640738" cy="400110"/>
              </a:xfrm>
              <a:prstGeom prst="rect">
                <a:avLst/>
              </a:prstGeom>
            </p:spPr>
            <p:txBody>
              <a:bodyPr wrap="square">
                <a:spAutoFit/>
              </a:bodyPr>
              <a:lstStyle/>
              <a:p>
                <a:r>
                  <a:rPr lang="zh-CN" altLang="en-US" sz="2000" dirty="0">
                    <a:latin typeface="Arial" panose="020B0604020202020204" pitchFamily="34" charset="0"/>
                    <a:ea typeface="微软雅黑" panose="020B0503020204020204" pitchFamily="34" charset="-122"/>
                    <a:cs typeface="Arial" panose="020B0604020202020204" pitchFamily="34" charset="0"/>
                  </a:rPr>
                  <a:t>在</a:t>
                </a:r>
                <a:r>
                  <a:rPr lang="en-US" altLang="zh-CN" sz="2000" dirty="0">
                    <a:latin typeface="Arial" panose="020B0604020202020204" pitchFamily="34" charset="0"/>
                    <a:ea typeface="微软雅黑" panose="020B0503020204020204" pitchFamily="34" charset="-122"/>
                    <a:cs typeface="Arial" panose="020B0604020202020204" pitchFamily="34" charset="0"/>
                  </a:rPr>
                  <a:t>8</a:t>
                </a:r>
                <a:r>
                  <a:rPr lang="zh-CN" altLang="en-US" sz="2000" dirty="0">
                    <a:latin typeface="Arial" panose="020B0604020202020204" pitchFamily="34" charset="0"/>
                    <a:ea typeface="微软雅黑" panose="020B0503020204020204" pitchFamily="34" charset="-122"/>
                    <a:cs typeface="Arial" panose="020B0604020202020204" pitchFamily="34" charset="0"/>
                  </a:rPr>
                  <a:t>节点系统中， </a:t>
                </a:r>
                <a14:m>
                  <m:oMath xmlns:m="http://schemas.openxmlformats.org/officeDocument/2006/math">
                    <m:r>
                      <a:rPr lang="en-US" altLang="zh-CN" sz="2000" kern="0">
                        <a:solidFill>
                          <a:prstClr val="black"/>
                        </a:solidFill>
                        <a:latin typeface="Cambria Math" panose="02040503050406030204" pitchFamily="18" charset="0"/>
                        <a:ea typeface="微软雅黑" panose="020B0503020204020204" pitchFamily="34" charset="-122"/>
                      </a:rPr>
                      <m:t>𝑟𝑎𝑛𝑘</m:t>
                    </m:r>
                    <m:d>
                      <m:dPr>
                        <m:begChr m:val="（"/>
                        <m:endChr m:val="）"/>
                        <m:ctrlPr>
                          <a:rPr lang="zh-CN" altLang="zh-CN" sz="2000" i="1" kern="0">
                            <a:solidFill>
                              <a:prstClr val="black"/>
                            </a:solidFill>
                            <a:latin typeface="Cambria Math" panose="02040503050406030204" pitchFamily="18" charset="0"/>
                            <a:ea typeface="微软雅黑" panose="020B0503020204020204" pitchFamily="34" charset="-122"/>
                          </a:rPr>
                        </m:ctrlPr>
                      </m:dPr>
                      <m:e>
                        <m:r>
                          <a:rPr lang="en-US" altLang="zh-CN" sz="2000" kern="0">
                            <a:solidFill>
                              <a:prstClr val="black"/>
                            </a:solidFill>
                            <a:latin typeface="Cambria Math" panose="02040503050406030204" pitchFamily="18" charset="0"/>
                            <a:ea typeface="微软雅黑" panose="020B0503020204020204" pitchFamily="34" charset="-122"/>
                          </a:rPr>
                          <m:t>𝑬</m:t>
                        </m:r>
                      </m:e>
                    </m:d>
                  </m:oMath>
                </a14:m>
                <a:r>
                  <a:rPr lang="zh-CN" altLang="en-US" sz="2000" dirty="0">
                    <a:latin typeface="Arial" panose="020B0604020202020204" pitchFamily="34" charset="0"/>
                    <a:ea typeface="微软雅黑" panose="020B0503020204020204" pitchFamily="34" charset="-122"/>
                    <a:cs typeface="Arial" panose="020B0604020202020204" pitchFamily="34" charset="0"/>
                  </a:rPr>
                  <a:t>的最大值为</a:t>
                </a:r>
                <a:r>
                  <a:rPr lang="en-US" altLang="zh-CN" sz="2000" dirty="0">
                    <a:latin typeface="Arial" panose="020B0604020202020204" pitchFamily="34" charset="0"/>
                    <a:ea typeface="微软雅黑" panose="020B0503020204020204" pitchFamily="34" charset="-122"/>
                    <a:cs typeface="Arial" panose="020B0604020202020204" pitchFamily="34" charset="0"/>
                  </a:rPr>
                  <a:t>10-1-3+1=7</a:t>
                </a:r>
                <a:endParaRPr lang="zh-CN" altLang="en-US" sz="20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9" name="矩形 8">
                <a:extLst>
                  <a:ext uri="{FF2B5EF4-FFF2-40B4-BE49-F238E27FC236}">
                    <a16:creationId xmlns:a16="http://schemas.microsoft.com/office/drawing/2014/main" id="{BF3E336E-61F6-DD74-5D44-F0BAD18ACAAB}"/>
                  </a:ext>
                </a:extLst>
              </p:cNvPr>
              <p:cNvSpPr>
                <a:spLocks noRot="1" noChangeAspect="1" noMove="1" noResize="1" noEditPoints="1" noAdjustHandles="1" noChangeArrowheads="1" noChangeShapeType="1" noTextEdit="1"/>
              </p:cNvSpPr>
              <p:nvPr/>
            </p:nvSpPr>
            <p:spPr>
              <a:xfrm>
                <a:off x="1201218" y="5266753"/>
                <a:ext cx="6640738" cy="400110"/>
              </a:xfrm>
              <a:prstGeom prst="rect">
                <a:avLst/>
              </a:prstGeom>
              <a:blipFill>
                <a:blip r:embed="rId8"/>
                <a:stretch>
                  <a:fillRect l="-918" t="-9091" b="-25758"/>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8DB2C3FD-CDE2-1D41-CFC6-BF5CFDE67425}"/>
              </a:ext>
            </a:extLst>
          </p:cNvPr>
          <p:cNvPicPr>
            <a:picLocks noChangeAspect="1"/>
          </p:cNvPicPr>
          <p:nvPr/>
        </p:nvPicPr>
        <p:blipFill>
          <a:blip r:embed="rId9"/>
          <a:stretch>
            <a:fillRect/>
          </a:stretch>
        </p:blipFill>
        <p:spPr>
          <a:xfrm>
            <a:off x="8562449" y="1341813"/>
            <a:ext cx="2428332" cy="1982766"/>
          </a:xfrm>
          <a:prstGeom prst="rect">
            <a:avLst/>
          </a:prstGeom>
        </p:spPr>
      </p:pic>
      <p:sp>
        <p:nvSpPr>
          <p:cNvPr id="11" name="TextBox 8">
            <a:extLst>
              <a:ext uri="{FF2B5EF4-FFF2-40B4-BE49-F238E27FC236}">
                <a16:creationId xmlns:a16="http://schemas.microsoft.com/office/drawing/2014/main" id="{CE4DAC2C-7B6E-AD00-7FEC-B01EADBEC42F}"/>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453290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A3E1CBF-3FF8-1D37-1E6C-3ED724E1568F}"/>
              </a:ext>
            </a:extLst>
          </p:cNvPr>
          <p:cNvSpPr txBox="1"/>
          <p:nvPr/>
        </p:nvSpPr>
        <p:spPr>
          <a:xfrm>
            <a:off x="725214" y="1002493"/>
            <a:ext cx="3961701" cy="492443"/>
          </a:xfrm>
          <a:prstGeom prst="rect">
            <a:avLst/>
          </a:prstGeom>
          <a:noFill/>
        </p:spPr>
        <p:txBody>
          <a:bodyPr wrap="square">
            <a:spAutoFit/>
          </a:bodyPr>
          <a:lstStyle>
            <a:defPPr>
              <a:defRPr lang="zh-CN"/>
            </a:defPPr>
            <a:lvl1pPr marL="457200" indent="-457200">
              <a:buFont typeface="Wingdings" panose="05000000000000000000" pitchFamily="2" charset="2"/>
              <a:buChar char="Ø"/>
              <a:defRPr sz="2600" b="1">
                <a:latin typeface="微软雅黑" panose="020B0503020204020204" pitchFamily="34" charset="-122"/>
                <a:ea typeface="微软雅黑" panose="020B0503020204020204" pitchFamily="34" charset="-122"/>
              </a:defRPr>
            </a:lvl1pPr>
          </a:lstStyle>
          <a:p>
            <a:r>
              <a:rPr lang="en-US" altLang="zh-CN" dirty="0"/>
              <a:t>5</a:t>
            </a:r>
            <a:r>
              <a:rPr lang="zh-CN" altLang="en-US" dirty="0"/>
              <a:t>节点系统推断案例</a:t>
            </a:r>
          </a:p>
        </p:txBody>
      </p:sp>
      <p:sp>
        <p:nvSpPr>
          <p:cNvPr id="3" name="矩形 2">
            <a:extLst>
              <a:ext uri="{FF2B5EF4-FFF2-40B4-BE49-F238E27FC236}">
                <a16:creationId xmlns:a16="http://schemas.microsoft.com/office/drawing/2014/main" id="{989C6179-6E2D-DE38-5C9E-C696FE6B9DC0}"/>
              </a:ext>
            </a:extLst>
          </p:cNvPr>
          <p:cNvSpPr/>
          <p:nvPr/>
        </p:nvSpPr>
        <p:spPr>
          <a:xfrm>
            <a:off x="2158410" y="5494617"/>
            <a:ext cx="7206569" cy="960776"/>
          </a:xfrm>
          <a:prstGeom prst="rect">
            <a:avLst/>
          </a:prstGeom>
        </p:spPr>
        <p:txBody>
          <a:bodyPr wrap="square">
            <a:spAutoFit/>
          </a:bodyPr>
          <a:lstStyle/>
          <a:p>
            <a:pPr>
              <a:lnSpc>
                <a:spcPct val="150000"/>
              </a:lnSpc>
            </a:pPr>
            <a:r>
              <a:rPr lang="zh-CN" altLang="en-US" sz="2000" dirty="0">
                <a:latin typeface="Arial" panose="020B0604020202020204" pitchFamily="34" charset="0"/>
                <a:ea typeface="微软雅黑" panose="020B0503020204020204" pitchFamily="34" charset="-122"/>
                <a:cs typeface="Arial" panose="020B0604020202020204" pitchFamily="34" charset="0"/>
              </a:rPr>
              <a:t>仅需要线路</a:t>
            </a:r>
            <a:r>
              <a:rPr lang="en-US" altLang="zh-CN" sz="2000" dirty="0">
                <a:latin typeface="Arial" panose="020B0604020202020204" pitchFamily="34" charset="0"/>
                <a:ea typeface="微软雅黑" panose="020B0503020204020204" pitchFamily="34" charset="-122"/>
                <a:cs typeface="Arial" panose="020B0604020202020204" pitchFamily="34" charset="0"/>
              </a:rPr>
              <a:t>1</a:t>
            </a:r>
            <a:r>
              <a:rPr lang="zh-CN" altLang="en-US" sz="2000" dirty="0">
                <a:latin typeface="Arial" panose="020B0604020202020204" pitchFamily="34" charset="0"/>
                <a:ea typeface="微软雅黑" panose="020B0503020204020204" pitchFamily="34" charset="-122"/>
                <a:cs typeface="Arial" panose="020B0604020202020204" pitchFamily="34" charset="0"/>
              </a:rPr>
              <a:t>与线路</a:t>
            </a:r>
            <a:r>
              <a:rPr lang="en-US" altLang="zh-CN" sz="2000" dirty="0">
                <a:latin typeface="Arial" panose="020B0604020202020204" pitchFamily="34" charset="0"/>
                <a:ea typeface="微软雅黑" panose="020B0503020204020204" pitchFamily="34" charset="-122"/>
                <a:cs typeface="Arial" panose="020B0604020202020204" pitchFamily="34" charset="0"/>
              </a:rPr>
              <a:t>6</a:t>
            </a:r>
            <a:r>
              <a:rPr lang="zh-CN" altLang="en-US" sz="2000" dirty="0">
                <a:latin typeface="Arial" panose="020B0604020202020204" pitchFamily="34" charset="0"/>
                <a:ea typeface="微软雅黑" panose="020B0503020204020204" pitchFamily="34" charset="-122"/>
                <a:cs typeface="Arial" panose="020B0604020202020204" pitchFamily="34" charset="0"/>
              </a:rPr>
              <a:t>阻塞时的电价与影子价格被公开，就能够计算出</a:t>
            </a:r>
            <a:r>
              <a:rPr lang="en-US" altLang="zh-CN" sz="2000" dirty="0">
                <a:latin typeface="Arial" panose="020B0604020202020204" pitchFamily="34" charset="0"/>
                <a:ea typeface="微软雅黑" panose="020B0503020204020204" pitchFamily="34" charset="-122"/>
                <a:cs typeface="Arial" panose="020B0604020202020204" pitchFamily="34" charset="0"/>
              </a:rPr>
              <a:t>              </a:t>
            </a:r>
            <a:r>
              <a:rPr lang="zh-CN" altLang="en-US" sz="2000" dirty="0">
                <a:latin typeface="Arial" panose="020B0604020202020204" pitchFamily="34" charset="0"/>
                <a:ea typeface="微软雅黑" panose="020B0503020204020204" pitchFamily="34" charset="-122"/>
                <a:cs typeface="Arial" panose="020B0604020202020204" pitchFamily="34" charset="0"/>
              </a:rPr>
              <a:t>的完整形式，达到最大推断能力</a:t>
            </a:r>
          </a:p>
        </p:txBody>
      </p:sp>
      <p:pic>
        <p:nvPicPr>
          <p:cNvPr id="4" name="图片 3">
            <a:extLst>
              <a:ext uri="{FF2B5EF4-FFF2-40B4-BE49-F238E27FC236}">
                <a16:creationId xmlns:a16="http://schemas.microsoft.com/office/drawing/2014/main" id="{B8FAB7B8-8E35-360B-B9B0-4D2762AAF7C4}"/>
              </a:ext>
            </a:extLst>
          </p:cNvPr>
          <p:cNvPicPr>
            <a:picLocks noChangeAspect="1"/>
          </p:cNvPicPr>
          <p:nvPr/>
        </p:nvPicPr>
        <p:blipFill>
          <a:blip r:embed="rId3"/>
          <a:stretch>
            <a:fillRect/>
          </a:stretch>
        </p:blipFill>
        <p:spPr>
          <a:xfrm>
            <a:off x="2082808" y="1738915"/>
            <a:ext cx="4089105" cy="1436712"/>
          </a:xfrm>
          <a:prstGeom prst="rect">
            <a:avLst/>
          </a:prstGeom>
        </p:spPr>
      </p:pic>
      <p:pic>
        <p:nvPicPr>
          <p:cNvPr id="5" name="图片 4">
            <a:extLst>
              <a:ext uri="{FF2B5EF4-FFF2-40B4-BE49-F238E27FC236}">
                <a16:creationId xmlns:a16="http://schemas.microsoft.com/office/drawing/2014/main" id="{DD239751-8AF5-38FB-2C86-48C977E0F55E}"/>
              </a:ext>
            </a:extLst>
          </p:cNvPr>
          <p:cNvPicPr>
            <a:picLocks noChangeAspect="1"/>
          </p:cNvPicPr>
          <p:nvPr/>
        </p:nvPicPr>
        <p:blipFill>
          <a:blip r:embed="rId4"/>
          <a:stretch>
            <a:fillRect/>
          </a:stretch>
        </p:blipFill>
        <p:spPr>
          <a:xfrm>
            <a:off x="6360415" y="3751502"/>
            <a:ext cx="3490527" cy="1136132"/>
          </a:xfrm>
          <a:prstGeom prst="rect">
            <a:avLst/>
          </a:prstGeom>
        </p:spPr>
      </p:pic>
      <p:pic>
        <p:nvPicPr>
          <p:cNvPr id="6" name="图片 5">
            <a:extLst>
              <a:ext uri="{FF2B5EF4-FFF2-40B4-BE49-F238E27FC236}">
                <a16:creationId xmlns:a16="http://schemas.microsoft.com/office/drawing/2014/main" id="{72F57283-40FE-7BFD-4907-2BD23CBC8240}"/>
              </a:ext>
            </a:extLst>
          </p:cNvPr>
          <p:cNvPicPr>
            <a:picLocks noChangeAspect="1"/>
          </p:cNvPicPr>
          <p:nvPr/>
        </p:nvPicPr>
        <p:blipFill>
          <a:blip r:embed="rId5"/>
          <a:stretch>
            <a:fillRect/>
          </a:stretch>
        </p:blipFill>
        <p:spPr>
          <a:xfrm>
            <a:off x="6889035" y="1209331"/>
            <a:ext cx="2373790" cy="2230258"/>
          </a:xfrm>
          <a:prstGeom prst="rect">
            <a:avLst/>
          </a:prstGeom>
        </p:spPr>
      </p:pic>
      <p:pic>
        <p:nvPicPr>
          <p:cNvPr id="7" name="图片 6">
            <a:extLst>
              <a:ext uri="{FF2B5EF4-FFF2-40B4-BE49-F238E27FC236}">
                <a16:creationId xmlns:a16="http://schemas.microsoft.com/office/drawing/2014/main" id="{3B68D79E-69F5-7D3C-90DD-A4162CCCDB36}"/>
              </a:ext>
            </a:extLst>
          </p:cNvPr>
          <p:cNvPicPr>
            <a:picLocks noChangeAspect="1"/>
          </p:cNvPicPr>
          <p:nvPr/>
        </p:nvPicPr>
        <p:blipFill>
          <a:blip r:embed="rId6"/>
          <a:stretch>
            <a:fillRect/>
          </a:stretch>
        </p:blipFill>
        <p:spPr>
          <a:xfrm>
            <a:off x="2820784" y="3581097"/>
            <a:ext cx="3460153" cy="1508075"/>
          </a:xfrm>
          <a:prstGeom prst="rect">
            <a:avLst/>
          </a:prstGeom>
        </p:spPr>
      </p:pic>
      <p:pic>
        <p:nvPicPr>
          <p:cNvPr id="8" name="图片 7">
            <a:extLst>
              <a:ext uri="{FF2B5EF4-FFF2-40B4-BE49-F238E27FC236}">
                <a16:creationId xmlns:a16="http://schemas.microsoft.com/office/drawing/2014/main" id="{2D483946-E0B2-5BDE-A15C-206AEEE70E17}"/>
              </a:ext>
            </a:extLst>
          </p:cNvPr>
          <p:cNvPicPr>
            <a:picLocks noChangeAspect="1"/>
          </p:cNvPicPr>
          <p:nvPr/>
        </p:nvPicPr>
        <p:blipFill>
          <a:blip r:embed="rId7"/>
          <a:stretch>
            <a:fillRect/>
          </a:stretch>
        </p:blipFill>
        <p:spPr>
          <a:xfrm>
            <a:off x="1703115" y="4196931"/>
            <a:ext cx="802895" cy="276406"/>
          </a:xfrm>
          <a:prstGeom prst="rect">
            <a:avLst/>
          </a:prstGeom>
        </p:spPr>
      </p:pic>
      <p:pic>
        <p:nvPicPr>
          <p:cNvPr id="9" name="图片 8">
            <a:extLst>
              <a:ext uri="{FF2B5EF4-FFF2-40B4-BE49-F238E27FC236}">
                <a16:creationId xmlns:a16="http://schemas.microsoft.com/office/drawing/2014/main" id="{2F3FBFE2-8D86-E89B-C1DC-8B47E364CB2F}"/>
              </a:ext>
            </a:extLst>
          </p:cNvPr>
          <p:cNvPicPr>
            <a:picLocks noChangeAspect="1"/>
          </p:cNvPicPr>
          <p:nvPr/>
        </p:nvPicPr>
        <p:blipFill>
          <a:blip r:embed="rId8"/>
          <a:stretch>
            <a:fillRect/>
          </a:stretch>
        </p:blipFill>
        <p:spPr>
          <a:xfrm flipV="1">
            <a:off x="2564456" y="4322580"/>
            <a:ext cx="197881" cy="72000"/>
          </a:xfrm>
          <a:prstGeom prst="rect">
            <a:avLst/>
          </a:prstGeom>
        </p:spPr>
      </p:pic>
      <p:pic>
        <p:nvPicPr>
          <p:cNvPr id="10" name="图片 9">
            <a:extLst>
              <a:ext uri="{FF2B5EF4-FFF2-40B4-BE49-F238E27FC236}">
                <a16:creationId xmlns:a16="http://schemas.microsoft.com/office/drawing/2014/main" id="{7C2C5CF6-FECB-B191-F38F-9CEB465649CD}"/>
              </a:ext>
            </a:extLst>
          </p:cNvPr>
          <p:cNvPicPr>
            <a:picLocks noChangeAspect="1"/>
          </p:cNvPicPr>
          <p:nvPr/>
        </p:nvPicPr>
        <p:blipFill>
          <a:blip r:embed="rId7"/>
          <a:stretch>
            <a:fillRect/>
          </a:stretch>
        </p:blipFill>
        <p:spPr>
          <a:xfrm>
            <a:off x="3077715" y="6099724"/>
            <a:ext cx="836573" cy="288000"/>
          </a:xfrm>
          <a:prstGeom prst="rect">
            <a:avLst/>
          </a:prstGeom>
        </p:spPr>
      </p:pic>
      <p:sp>
        <p:nvSpPr>
          <p:cNvPr id="12" name="TextBox 8">
            <a:extLst>
              <a:ext uri="{FF2B5EF4-FFF2-40B4-BE49-F238E27FC236}">
                <a16:creationId xmlns:a16="http://schemas.microsoft.com/office/drawing/2014/main" id="{97326813-3D7C-DFA3-7145-BCCE5CEB6623}"/>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3669514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93600E2F-41B6-41A9-BFC4-9AB292066B80}"/>
              </a:ext>
            </a:extLst>
          </p:cNvPr>
          <p:cNvSpPr txBox="1"/>
          <p:nvPr/>
        </p:nvSpPr>
        <p:spPr>
          <a:xfrm>
            <a:off x="437206" y="953017"/>
            <a:ext cx="8274633" cy="492443"/>
          </a:xfrm>
          <a:prstGeom prst="rect">
            <a:avLst/>
          </a:prstGeom>
          <a:noFill/>
        </p:spPr>
        <p:txBody>
          <a:bodyPr wrap="square">
            <a:spAutoFit/>
          </a:bodyPr>
          <a:lstStyle/>
          <a:p>
            <a:pPr marL="457200" indent="-457200">
              <a:buFont typeface="Wingdings" panose="05000000000000000000" pitchFamily="2" charset="2"/>
              <a:buChar char="Ø"/>
            </a:pPr>
            <a:r>
              <a:rPr lang="en-US" altLang="zh-CN" sz="2600" b="1" dirty="0">
                <a:latin typeface="微软雅黑" panose="020B0503020204020204" pitchFamily="34" charset="-122"/>
                <a:ea typeface="微软雅黑" panose="020B0503020204020204" pitchFamily="34" charset="-122"/>
              </a:rPr>
              <a:t>IEEE</a:t>
            </a:r>
            <a:r>
              <a:rPr lang="zh-CN" altLang="en-US" sz="2600" b="1" dirty="0">
                <a:latin typeface="微软雅黑" panose="020B0503020204020204" pitchFamily="34" charset="-122"/>
                <a:ea typeface="微软雅黑" panose="020B0503020204020204" pitchFamily="34" charset="-122"/>
              </a:rPr>
              <a:t>算例仿真结果</a:t>
            </a:r>
          </a:p>
        </p:txBody>
      </p:sp>
      <p:sp>
        <p:nvSpPr>
          <p:cNvPr id="20" name="矩形: 圆角 5">
            <a:extLst>
              <a:ext uri="{FF2B5EF4-FFF2-40B4-BE49-F238E27FC236}">
                <a16:creationId xmlns:a16="http://schemas.microsoft.com/office/drawing/2014/main" id="{9228925E-5C43-4ABE-949E-13498AE8F97A}"/>
              </a:ext>
            </a:extLst>
          </p:cNvPr>
          <p:cNvSpPr/>
          <p:nvPr/>
        </p:nvSpPr>
        <p:spPr bwMode="auto">
          <a:xfrm>
            <a:off x="2344422" y="1626532"/>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拓扑数据</a:t>
            </a:r>
          </a:p>
        </p:txBody>
      </p:sp>
      <p:sp>
        <p:nvSpPr>
          <p:cNvPr id="37" name="矩形: 圆角 6">
            <a:extLst>
              <a:ext uri="{FF2B5EF4-FFF2-40B4-BE49-F238E27FC236}">
                <a16:creationId xmlns:a16="http://schemas.microsoft.com/office/drawing/2014/main" id="{FFCD7339-D78C-44BA-93BE-D006D4058202}"/>
              </a:ext>
            </a:extLst>
          </p:cNvPr>
          <p:cNvSpPr/>
          <p:nvPr/>
        </p:nvSpPr>
        <p:spPr bwMode="auto">
          <a:xfrm>
            <a:off x="2344422" y="2163402"/>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电价数据</a:t>
            </a:r>
          </a:p>
        </p:txBody>
      </p:sp>
      <p:sp>
        <p:nvSpPr>
          <p:cNvPr id="38" name="箭头: 右 7">
            <a:extLst>
              <a:ext uri="{FF2B5EF4-FFF2-40B4-BE49-F238E27FC236}">
                <a16:creationId xmlns:a16="http://schemas.microsoft.com/office/drawing/2014/main" id="{9D63EC96-1EB1-4DFB-9025-26BF6147503F}"/>
              </a:ext>
            </a:extLst>
          </p:cNvPr>
          <p:cNvSpPr/>
          <p:nvPr/>
        </p:nvSpPr>
        <p:spPr bwMode="auto">
          <a:xfrm>
            <a:off x="4454422" y="1961182"/>
            <a:ext cx="1007744" cy="184995"/>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右大括号 38">
            <a:extLst>
              <a:ext uri="{FF2B5EF4-FFF2-40B4-BE49-F238E27FC236}">
                <a16:creationId xmlns:a16="http://schemas.microsoft.com/office/drawing/2014/main" id="{608CF248-55CC-47E5-B06B-EBE4951E2769}"/>
              </a:ext>
            </a:extLst>
          </p:cNvPr>
          <p:cNvSpPr/>
          <p:nvPr/>
        </p:nvSpPr>
        <p:spPr bwMode="auto">
          <a:xfrm>
            <a:off x="4222419" y="1746229"/>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0" name="矩形: 圆角 9">
            <a:extLst>
              <a:ext uri="{FF2B5EF4-FFF2-40B4-BE49-F238E27FC236}">
                <a16:creationId xmlns:a16="http://schemas.microsoft.com/office/drawing/2014/main" id="{DFB34FD7-931D-42BB-A358-D5461AF247E7}"/>
              </a:ext>
            </a:extLst>
          </p:cNvPr>
          <p:cNvSpPr/>
          <p:nvPr/>
        </p:nvSpPr>
        <p:spPr bwMode="auto">
          <a:xfrm>
            <a:off x="5583908" y="1795550"/>
            <a:ext cx="1622851"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线路电抗</a:t>
            </a:r>
            <a:r>
              <a:rPr kumimoji="0" lang="en-US" altLang="zh-CN"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导纳矩阵</a:t>
            </a:r>
          </a:p>
        </p:txBody>
      </p:sp>
      <p:sp>
        <p:nvSpPr>
          <p:cNvPr id="41" name="矩形 40">
            <a:extLst>
              <a:ext uri="{FF2B5EF4-FFF2-40B4-BE49-F238E27FC236}">
                <a16:creationId xmlns:a16="http://schemas.microsoft.com/office/drawing/2014/main" id="{4F30C294-0AA0-4189-AEBA-68B151187E60}"/>
              </a:ext>
            </a:extLst>
          </p:cNvPr>
          <p:cNvSpPr/>
          <p:nvPr/>
        </p:nvSpPr>
        <p:spPr>
          <a:xfrm>
            <a:off x="4440470" y="1706132"/>
            <a:ext cx="1088612"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2" name="矩形: 圆角 35">
            <a:extLst>
              <a:ext uri="{FF2B5EF4-FFF2-40B4-BE49-F238E27FC236}">
                <a16:creationId xmlns:a16="http://schemas.microsoft.com/office/drawing/2014/main" id="{F095B465-F1F8-4540-9C62-37D15A5E83B4}"/>
              </a:ext>
            </a:extLst>
          </p:cNvPr>
          <p:cNvSpPr/>
          <p:nvPr/>
        </p:nvSpPr>
        <p:spPr bwMode="auto">
          <a:xfrm>
            <a:off x="8933291" y="1438406"/>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潮流计算验证</a:t>
            </a:r>
          </a:p>
        </p:txBody>
      </p:sp>
      <p:sp>
        <p:nvSpPr>
          <p:cNvPr id="43" name="箭头: 右 36">
            <a:extLst>
              <a:ext uri="{FF2B5EF4-FFF2-40B4-BE49-F238E27FC236}">
                <a16:creationId xmlns:a16="http://schemas.microsoft.com/office/drawing/2014/main" id="{7D9EC099-A911-4CFB-B492-62EA03CBBCA3}"/>
              </a:ext>
            </a:extLst>
          </p:cNvPr>
          <p:cNvSpPr/>
          <p:nvPr/>
        </p:nvSpPr>
        <p:spPr bwMode="auto">
          <a:xfrm>
            <a:off x="7644172" y="1644224"/>
            <a:ext cx="1127639" cy="22475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44" name="矩形 43">
            <a:extLst>
              <a:ext uri="{FF2B5EF4-FFF2-40B4-BE49-F238E27FC236}">
                <a16:creationId xmlns:a16="http://schemas.microsoft.com/office/drawing/2014/main" id="{DD7EEC9B-C459-45FD-B952-145C7A91D609}"/>
              </a:ext>
            </a:extLst>
          </p:cNvPr>
          <p:cNvSpPr/>
          <p:nvPr/>
        </p:nvSpPr>
        <p:spPr>
          <a:xfrm>
            <a:off x="7680493" y="1412414"/>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5" name="箭头: 右 44">
            <a:extLst>
              <a:ext uri="{FF2B5EF4-FFF2-40B4-BE49-F238E27FC236}">
                <a16:creationId xmlns:a16="http://schemas.microsoft.com/office/drawing/2014/main" id="{F8DFFEE2-9775-4E55-8D86-23A8D5B7652A}"/>
              </a:ext>
            </a:extLst>
          </p:cNvPr>
          <p:cNvSpPr/>
          <p:nvPr/>
        </p:nvSpPr>
        <p:spPr bwMode="auto">
          <a:xfrm>
            <a:off x="7639850" y="2252733"/>
            <a:ext cx="1133926" cy="23286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46" name="矩形: 圆角 45">
            <a:extLst>
              <a:ext uri="{FF2B5EF4-FFF2-40B4-BE49-F238E27FC236}">
                <a16:creationId xmlns:a16="http://schemas.microsoft.com/office/drawing/2014/main" id="{898C2889-9105-45E6-8609-2A90BA9AAF11}"/>
              </a:ext>
            </a:extLst>
          </p:cNvPr>
          <p:cNvSpPr/>
          <p:nvPr/>
        </p:nvSpPr>
        <p:spPr bwMode="auto">
          <a:xfrm>
            <a:off x="8933291" y="2078636"/>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实时电价计算</a:t>
            </a:r>
          </a:p>
        </p:txBody>
      </p:sp>
      <p:sp>
        <p:nvSpPr>
          <p:cNvPr id="47" name="矩形 46">
            <a:extLst>
              <a:ext uri="{FF2B5EF4-FFF2-40B4-BE49-F238E27FC236}">
                <a16:creationId xmlns:a16="http://schemas.microsoft.com/office/drawing/2014/main" id="{FCDA56A7-5DDB-415E-9E62-62DF39E41C0B}"/>
              </a:ext>
            </a:extLst>
          </p:cNvPr>
          <p:cNvSpPr/>
          <p:nvPr/>
        </p:nvSpPr>
        <p:spPr>
          <a:xfrm>
            <a:off x="7693994" y="2026420"/>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48" name="矩形 47">
            <a:extLst>
              <a:ext uri="{FF2B5EF4-FFF2-40B4-BE49-F238E27FC236}">
                <a16:creationId xmlns:a16="http://schemas.microsoft.com/office/drawing/2014/main" id="{849EC488-6CD6-4FBE-B309-F88F7D9DA69A}"/>
              </a:ext>
            </a:extLst>
          </p:cNvPr>
          <p:cNvSpPr/>
          <p:nvPr/>
        </p:nvSpPr>
        <p:spPr>
          <a:xfrm>
            <a:off x="1280378" y="2777337"/>
            <a:ext cx="9675341" cy="707886"/>
          </a:xfrm>
          <a:prstGeom prst="rect">
            <a:avLst/>
          </a:prstGeom>
          <a:solidFill>
            <a:srgbClr val="E7E6E6">
              <a:lumMod val="20000"/>
              <a:lumOff val="80000"/>
            </a:srgbClr>
          </a:solid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1</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实验中电网数据采用</a:t>
            </a:r>
            <a:r>
              <a:rPr kumimoji="1" lang="en-GB" altLang="zh-CN"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IEEE 30 bus</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系统。根据节点边际电价、拓扑、阻塞信息推断电网线路参数，分析</a:t>
            </a:r>
            <a:r>
              <a:rPr kumimoji="1" lang="en-US" altLang="zh-CN"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41</a:t>
            </a:r>
            <a:r>
              <a:rPr kumimoji="1" lang="zh-CN" altLang="en-US"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条线路参数的平均误差</a:t>
            </a:r>
            <a:endParaRPr kumimoji="1" lang="en-US" altLang="zh-CN"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49" name="右大括号 48">
            <a:extLst>
              <a:ext uri="{FF2B5EF4-FFF2-40B4-BE49-F238E27FC236}">
                <a16:creationId xmlns:a16="http://schemas.microsoft.com/office/drawing/2014/main" id="{0FE59520-DA13-4904-92F8-11C53823FF92}"/>
              </a:ext>
            </a:extLst>
          </p:cNvPr>
          <p:cNvSpPr/>
          <p:nvPr/>
        </p:nvSpPr>
        <p:spPr bwMode="auto">
          <a:xfrm flipH="1">
            <a:off x="7379077" y="1762526"/>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0" name="矩形 49">
            <a:extLst>
              <a:ext uri="{FF2B5EF4-FFF2-40B4-BE49-F238E27FC236}">
                <a16:creationId xmlns:a16="http://schemas.microsoft.com/office/drawing/2014/main" id="{0A3BC494-A701-431D-B8E6-3DB1E506EB48}"/>
              </a:ext>
            </a:extLst>
          </p:cNvPr>
          <p:cNvSpPr/>
          <p:nvPr/>
        </p:nvSpPr>
        <p:spPr>
          <a:xfrm>
            <a:off x="5284366" y="6194372"/>
            <a:ext cx="622769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实验结果：</a:t>
            </a:r>
            <a:r>
              <a:rPr kumimoji="1" lang="zh-CN" altLang="en-US"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导纳矩阵的平均</a:t>
            </a:r>
            <a:r>
              <a:rPr kumimoji="1" lang="en-US" altLang="zh-CN"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MAPE</a:t>
            </a:r>
            <a:r>
              <a:rPr kumimoji="1" lang="zh-CN" altLang="en-US"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为</a:t>
            </a:r>
            <a:r>
              <a:rPr kumimoji="1" lang="en-US" altLang="zh-CN"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8%</a:t>
            </a:r>
            <a:endParaRPr kumimoji="1" lang="zh-CN" altLang="en-US" sz="24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51" name="矩形 50">
            <a:extLst>
              <a:ext uri="{FF2B5EF4-FFF2-40B4-BE49-F238E27FC236}">
                <a16:creationId xmlns:a16="http://schemas.microsoft.com/office/drawing/2014/main" id="{F446AEBD-CEBC-454D-AD38-041F2B0DDAA2}"/>
              </a:ext>
            </a:extLst>
          </p:cNvPr>
          <p:cNvSpPr/>
          <p:nvPr/>
        </p:nvSpPr>
        <p:spPr>
          <a:xfrm>
            <a:off x="4484662" y="3844464"/>
            <a:ext cx="639114"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真实导纳矩阵</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52" name="矩形 51">
            <a:extLst>
              <a:ext uri="{FF2B5EF4-FFF2-40B4-BE49-F238E27FC236}">
                <a16:creationId xmlns:a16="http://schemas.microsoft.com/office/drawing/2014/main" id="{F0B3F2E6-360A-4638-A700-C5BDF646C408}"/>
              </a:ext>
            </a:extLst>
          </p:cNvPr>
          <p:cNvSpPr/>
          <p:nvPr/>
        </p:nvSpPr>
        <p:spPr>
          <a:xfrm>
            <a:off x="8316939" y="3844464"/>
            <a:ext cx="346480"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000" b="0" i="0" u="none" strike="noStrike" kern="1200" cap="none" spc="0" normalizeH="0" baseline="0" noProof="0" dirty="0">
                <a:ln>
                  <a:noFill/>
                </a:ln>
                <a:solidFill>
                  <a:srgbClr val="4472C4">
                    <a:lumMod val="10000"/>
                  </a:srgbClr>
                </a:solidFill>
                <a:effectLst/>
                <a:uLnTx/>
                <a:uFillTx/>
                <a:latin typeface="微软雅黑" panose="020B0503020204020204" pitchFamily="34" charset="-122"/>
                <a:ea typeface="微软雅黑" panose="020B0503020204020204" pitchFamily="34" charset="-122"/>
                <a:cs typeface="+mn-cs"/>
              </a:rPr>
              <a:t>推断导纳矩阵</a:t>
            </a:r>
            <a:endParaRPr kumimoji="1" lang="zh-CN" altLang="en-US" sz="2000" b="0"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53" name="图片 52">
            <a:extLst>
              <a:ext uri="{FF2B5EF4-FFF2-40B4-BE49-F238E27FC236}">
                <a16:creationId xmlns:a16="http://schemas.microsoft.com/office/drawing/2014/main" id="{8F961568-3E94-44EC-A9D1-8D6657B41FC3}"/>
              </a:ext>
            </a:extLst>
          </p:cNvPr>
          <p:cNvPicPr>
            <a:picLocks noChangeAspect="1"/>
          </p:cNvPicPr>
          <p:nvPr/>
        </p:nvPicPr>
        <p:blipFill>
          <a:blip r:embed="rId4"/>
          <a:stretch>
            <a:fillRect/>
          </a:stretch>
        </p:blipFill>
        <p:spPr>
          <a:xfrm>
            <a:off x="8666633" y="3561957"/>
            <a:ext cx="3350544" cy="2504007"/>
          </a:xfrm>
          <a:prstGeom prst="rect">
            <a:avLst/>
          </a:prstGeom>
        </p:spPr>
      </p:pic>
      <p:pic>
        <p:nvPicPr>
          <p:cNvPr id="54" name="图片 53">
            <a:extLst>
              <a:ext uri="{FF2B5EF4-FFF2-40B4-BE49-F238E27FC236}">
                <a16:creationId xmlns:a16="http://schemas.microsoft.com/office/drawing/2014/main" id="{D6D37CA9-875F-4B66-94A8-1CB15E084247}"/>
              </a:ext>
            </a:extLst>
          </p:cNvPr>
          <p:cNvPicPr>
            <a:picLocks noChangeAspect="1"/>
          </p:cNvPicPr>
          <p:nvPr/>
        </p:nvPicPr>
        <p:blipFill>
          <a:blip r:embed="rId5"/>
          <a:stretch>
            <a:fillRect/>
          </a:stretch>
        </p:blipFill>
        <p:spPr>
          <a:xfrm>
            <a:off x="5043107" y="3561957"/>
            <a:ext cx="3350544" cy="2504007"/>
          </a:xfrm>
          <a:prstGeom prst="rect">
            <a:avLst/>
          </a:prstGeom>
        </p:spPr>
      </p:pic>
      <p:sp>
        <p:nvSpPr>
          <p:cNvPr id="2" name="TextBox 8">
            <a:extLst>
              <a:ext uri="{FF2B5EF4-FFF2-40B4-BE49-F238E27FC236}">
                <a16:creationId xmlns:a16="http://schemas.microsoft.com/office/drawing/2014/main" id="{1F2F22C3-C139-343D-BF00-FDDB4B4DA687}"/>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pic>
        <p:nvPicPr>
          <p:cNvPr id="3" name="图片 2">
            <a:extLst>
              <a:ext uri="{FF2B5EF4-FFF2-40B4-BE49-F238E27FC236}">
                <a16:creationId xmlns:a16="http://schemas.microsoft.com/office/drawing/2014/main" id="{FF558FB7-9B85-E2BE-78F4-AB9209CA6A9F}"/>
              </a:ext>
            </a:extLst>
          </p:cNvPr>
          <p:cNvPicPr>
            <a:picLocks noChangeAspect="1"/>
          </p:cNvPicPr>
          <p:nvPr/>
        </p:nvPicPr>
        <p:blipFill>
          <a:blip r:embed="rId6"/>
          <a:stretch>
            <a:fillRect/>
          </a:stretch>
        </p:blipFill>
        <p:spPr>
          <a:xfrm>
            <a:off x="363989" y="3916561"/>
            <a:ext cx="3970539" cy="825249"/>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E55F214B-F0F4-1F3C-D596-C1B77156D2BB}"/>
                  </a:ext>
                </a:extLst>
              </p:cNvPr>
              <p:cNvSpPr/>
              <p:nvPr/>
            </p:nvSpPr>
            <p:spPr>
              <a:xfrm>
                <a:off x="338635" y="4928255"/>
                <a:ext cx="4101835" cy="973280"/>
              </a:xfrm>
              <a:prstGeom prst="rect">
                <a:avLst/>
              </a:prstGeom>
            </p:spPr>
            <p:txBody>
              <a:bodyPr wrap="square">
                <a:spAutoFit/>
              </a:bodyPr>
              <a:lstStyle/>
              <a:p>
                <a:pPr algn="ctr">
                  <a:lnSpc>
                    <a:spcPct val="150000"/>
                  </a:lnSpc>
                </a:pP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MAPE</a:t>
                </a:r>
                <a:r>
                  <a:rPr lang="zh-CN" altLang="en-US" sz="2000"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[0,</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sz="2000" b="0" i="0"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0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000" b="1" i="1">
                                <a:latin typeface="Cambria Math" panose="02040503050406030204" pitchFamily="18" charset="0"/>
                                <a:ea typeface="宋体" panose="02010600030101010101" pitchFamily="2" charset="-122"/>
                                <a:cs typeface="Times New Roman" panose="02020603050405020304" pitchFamily="18" charset="0"/>
                              </a:rPr>
                              <m:t>𝑿</m:t>
                            </m:r>
                          </m:e>
                        </m:acc>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𝑛𝑜𝑟𝑚</m:t>
                        </m:r>
                      </m:sub>
                    </m:sSub>
                    <m:r>
                      <a:rPr lang="en-US" altLang="zh-CN"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000" i="1">
                            <a:latin typeface="Cambria Math" panose="02040503050406030204" pitchFamily="18" charset="0"/>
                            <a:ea typeface="宋体" panose="02010600030101010101" pitchFamily="2" charset="-122"/>
                            <a:cs typeface="Times New Roman" panose="02020603050405020304" pitchFamily="18" charset="0"/>
                          </a:rPr>
                          <m:t>𝑛𝑜𝑟𝑚</m:t>
                        </m:r>
                      </m:sub>
                    </m:sSub>
                    <m:r>
                      <a:rPr lang="en-US" altLang="zh-CN" sz="2000" b="1" i="1">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000" dirty="0">
                    <a:latin typeface="Arial" panose="020B0604020202020204" pitchFamily="34" charset="0"/>
                    <a:ea typeface="微软雅黑" panose="020B0503020204020204" pitchFamily="34" charset="-122"/>
                    <a:cs typeface="Arial" panose="020B0604020202020204" pitchFamily="34" charset="0"/>
                  </a:rPr>
                  <a:t>分别是归一化的推断导纳值和真实导纳值</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4" name="矩形 3">
                <a:extLst>
                  <a:ext uri="{FF2B5EF4-FFF2-40B4-BE49-F238E27FC236}">
                    <a16:creationId xmlns:a16="http://schemas.microsoft.com/office/drawing/2014/main" id="{E55F214B-F0F4-1F3C-D596-C1B77156D2BB}"/>
                  </a:ext>
                </a:extLst>
              </p:cNvPr>
              <p:cNvSpPr>
                <a:spLocks noRot="1" noChangeAspect="1" noMove="1" noResize="1" noEditPoints="1" noAdjustHandles="1" noChangeArrowheads="1" noChangeShapeType="1" noTextEdit="1"/>
              </p:cNvSpPr>
              <p:nvPr/>
            </p:nvSpPr>
            <p:spPr>
              <a:xfrm>
                <a:off x="338635" y="4928255"/>
                <a:ext cx="4101835" cy="973280"/>
              </a:xfrm>
              <a:prstGeom prst="rect">
                <a:avLst/>
              </a:prstGeom>
              <a:blipFill>
                <a:blip r:embed="rId7"/>
                <a:stretch>
                  <a:fillRect l="-1042" r="-893" b="-1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7506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B742B1B6-E043-4362-AC31-6B44703FDD84}"/>
              </a:ext>
            </a:extLst>
          </p:cNvPr>
          <p:cNvPicPr>
            <a:picLocks noChangeAspect="1"/>
          </p:cNvPicPr>
          <p:nvPr/>
        </p:nvPicPr>
        <p:blipFill>
          <a:blip r:embed="rId4"/>
          <a:stretch>
            <a:fillRect/>
          </a:stretch>
        </p:blipFill>
        <p:spPr>
          <a:xfrm>
            <a:off x="6553114" y="3328327"/>
            <a:ext cx="3958699" cy="3015795"/>
          </a:xfrm>
          <a:prstGeom prst="rect">
            <a:avLst/>
          </a:prstGeom>
        </p:spPr>
      </p:pic>
      <p:sp>
        <p:nvSpPr>
          <p:cNvPr id="24" name="矩形 23">
            <a:extLst>
              <a:ext uri="{FF2B5EF4-FFF2-40B4-BE49-F238E27FC236}">
                <a16:creationId xmlns:a16="http://schemas.microsoft.com/office/drawing/2014/main" id="{F80DFF05-0C70-43EC-A669-598005B080D0}"/>
              </a:ext>
            </a:extLst>
          </p:cNvPr>
          <p:cNvSpPr/>
          <p:nvPr/>
        </p:nvSpPr>
        <p:spPr>
          <a:xfrm>
            <a:off x="998333" y="2654408"/>
            <a:ext cx="467707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2</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根据推断得到的导纳矩阵计算线路潮流，比较</a:t>
            </a:r>
            <a:r>
              <a:rPr kumimoji="1" lang="zh-CN" altLang="en-US"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与真实潮流的平均误差</a:t>
            </a:r>
            <a:endParaRPr kumimoji="1" lang="en-US" altLang="zh-CN"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矩形 24">
            <a:extLst>
              <a:ext uri="{FF2B5EF4-FFF2-40B4-BE49-F238E27FC236}">
                <a16:creationId xmlns:a16="http://schemas.microsoft.com/office/drawing/2014/main" id="{6B22F375-4762-4687-B64A-649415E22C82}"/>
              </a:ext>
            </a:extLst>
          </p:cNvPr>
          <p:cNvSpPr/>
          <p:nvPr/>
        </p:nvSpPr>
        <p:spPr>
          <a:xfrm>
            <a:off x="6472062" y="2654408"/>
            <a:ext cx="434130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实验</a:t>
            </a:r>
            <a:r>
              <a:rPr kumimoji="1" lang="en-US" altLang="zh-CN"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3</a:t>
            </a:r>
            <a:r>
              <a:rPr kumimoji="1" lang="zh-CN" altLang="en-US" sz="2000" b="1" i="0" u="none" strike="noStrike" kern="0" cap="none" spc="0" normalizeH="0" baseline="0" noProof="0" dirty="0">
                <a:ln>
                  <a:noFill/>
                </a:ln>
                <a:solidFill>
                  <a:srgbClr val="5B9BD5">
                    <a:lumMod val="50000"/>
                  </a:srgbClr>
                </a:solidFill>
                <a:effectLst/>
                <a:uLnTx/>
                <a:uFillTx/>
                <a:latin typeface="微软雅黑" panose="020B0503020204020204" pitchFamily="34" charset="-122"/>
                <a:ea typeface="微软雅黑" panose="020B0503020204020204" pitchFamily="34" charset="-122"/>
                <a:cs typeface="+mn-cs"/>
              </a:rPr>
              <a:t>：</a:t>
            </a:r>
            <a:r>
              <a:rPr kumimoji="1" lang="zh-CN" altLang="en-US" sz="2000" b="0"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进行电价出清的计算，比较</a:t>
            </a:r>
            <a:r>
              <a:rPr kumimoji="1" lang="zh-CN" altLang="en-US"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与真实电价之间的平均误差</a:t>
            </a:r>
            <a:endParaRPr kumimoji="1" lang="en-US" altLang="zh-CN" sz="20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26" name="图片 25">
            <a:extLst>
              <a:ext uri="{FF2B5EF4-FFF2-40B4-BE49-F238E27FC236}">
                <a16:creationId xmlns:a16="http://schemas.microsoft.com/office/drawing/2014/main" id="{C7C34732-D389-4127-B4EF-7D97CF4998FD}"/>
              </a:ext>
            </a:extLst>
          </p:cNvPr>
          <p:cNvPicPr>
            <a:picLocks noChangeAspect="1"/>
          </p:cNvPicPr>
          <p:nvPr/>
        </p:nvPicPr>
        <p:blipFill>
          <a:blip r:embed="rId5"/>
          <a:stretch>
            <a:fillRect/>
          </a:stretch>
        </p:blipFill>
        <p:spPr>
          <a:xfrm>
            <a:off x="1182804" y="3400405"/>
            <a:ext cx="3958699" cy="2926318"/>
          </a:xfrm>
          <a:prstGeom prst="rect">
            <a:avLst/>
          </a:prstGeom>
        </p:spPr>
      </p:pic>
      <p:sp>
        <p:nvSpPr>
          <p:cNvPr id="27" name="矩形: 圆角 26">
            <a:extLst>
              <a:ext uri="{FF2B5EF4-FFF2-40B4-BE49-F238E27FC236}">
                <a16:creationId xmlns:a16="http://schemas.microsoft.com/office/drawing/2014/main" id="{4A286A1B-E7A9-43BE-9A60-D9AD9A4FE360}"/>
              </a:ext>
            </a:extLst>
          </p:cNvPr>
          <p:cNvSpPr/>
          <p:nvPr/>
        </p:nvSpPr>
        <p:spPr bwMode="auto">
          <a:xfrm>
            <a:off x="2222167" y="1635262"/>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拓扑数据</a:t>
            </a:r>
          </a:p>
        </p:txBody>
      </p:sp>
      <p:sp>
        <p:nvSpPr>
          <p:cNvPr id="28" name="矩形: 圆角 27">
            <a:extLst>
              <a:ext uri="{FF2B5EF4-FFF2-40B4-BE49-F238E27FC236}">
                <a16:creationId xmlns:a16="http://schemas.microsoft.com/office/drawing/2014/main" id="{BDFA14E8-F7B1-4861-88EA-AEAE41C39FBF}"/>
              </a:ext>
            </a:extLst>
          </p:cNvPr>
          <p:cNvSpPr/>
          <p:nvPr/>
        </p:nvSpPr>
        <p:spPr bwMode="auto">
          <a:xfrm>
            <a:off x="2222167" y="2172132"/>
            <a:ext cx="1685483" cy="316235"/>
          </a:xfrm>
          <a:prstGeom prst="roundRect">
            <a:avLst/>
          </a:prstGeom>
          <a:solidFill>
            <a:srgbClr val="0070C0"/>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电价数据</a:t>
            </a:r>
          </a:p>
        </p:txBody>
      </p:sp>
      <p:sp>
        <p:nvSpPr>
          <p:cNvPr id="29" name="箭头: 右 28">
            <a:extLst>
              <a:ext uri="{FF2B5EF4-FFF2-40B4-BE49-F238E27FC236}">
                <a16:creationId xmlns:a16="http://schemas.microsoft.com/office/drawing/2014/main" id="{81F72280-5FD2-41A2-855D-79EFB840F008}"/>
              </a:ext>
            </a:extLst>
          </p:cNvPr>
          <p:cNvSpPr/>
          <p:nvPr/>
        </p:nvSpPr>
        <p:spPr bwMode="auto">
          <a:xfrm>
            <a:off x="4332167" y="1969912"/>
            <a:ext cx="1007744" cy="184995"/>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右大括号 29">
            <a:extLst>
              <a:ext uri="{FF2B5EF4-FFF2-40B4-BE49-F238E27FC236}">
                <a16:creationId xmlns:a16="http://schemas.microsoft.com/office/drawing/2014/main" id="{724065FB-450F-42EB-8764-D957F61DC413}"/>
              </a:ext>
            </a:extLst>
          </p:cNvPr>
          <p:cNvSpPr/>
          <p:nvPr/>
        </p:nvSpPr>
        <p:spPr bwMode="auto">
          <a:xfrm>
            <a:off x="4100164" y="1754959"/>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1" name="矩形: 圆角 30">
            <a:extLst>
              <a:ext uri="{FF2B5EF4-FFF2-40B4-BE49-F238E27FC236}">
                <a16:creationId xmlns:a16="http://schemas.microsoft.com/office/drawing/2014/main" id="{2161C5DA-EF12-4D61-9288-375CF51CCDC4}"/>
              </a:ext>
            </a:extLst>
          </p:cNvPr>
          <p:cNvSpPr/>
          <p:nvPr/>
        </p:nvSpPr>
        <p:spPr bwMode="auto">
          <a:xfrm>
            <a:off x="5461653" y="1804280"/>
            <a:ext cx="1622851"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线路电抗</a:t>
            </a:r>
            <a:r>
              <a:rPr kumimoji="0" lang="en-US" altLang="zh-CN"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导纳矩阵</a:t>
            </a:r>
          </a:p>
        </p:txBody>
      </p:sp>
      <p:sp>
        <p:nvSpPr>
          <p:cNvPr id="32" name="矩形 31">
            <a:extLst>
              <a:ext uri="{FF2B5EF4-FFF2-40B4-BE49-F238E27FC236}">
                <a16:creationId xmlns:a16="http://schemas.microsoft.com/office/drawing/2014/main" id="{56BA37D2-FDD3-48A2-9B14-DCA4EBCDA45C}"/>
              </a:ext>
            </a:extLst>
          </p:cNvPr>
          <p:cNvSpPr/>
          <p:nvPr/>
        </p:nvSpPr>
        <p:spPr>
          <a:xfrm>
            <a:off x="4318215" y="1714862"/>
            <a:ext cx="1088612"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33" name="箭头: 右 36">
            <a:extLst>
              <a:ext uri="{FF2B5EF4-FFF2-40B4-BE49-F238E27FC236}">
                <a16:creationId xmlns:a16="http://schemas.microsoft.com/office/drawing/2014/main" id="{FA407433-65A9-41C3-ABF3-848F9DDF51B5}"/>
              </a:ext>
            </a:extLst>
          </p:cNvPr>
          <p:cNvSpPr/>
          <p:nvPr/>
        </p:nvSpPr>
        <p:spPr bwMode="auto">
          <a:xfrm>
            <a:off x="7521917" y="1652954"/>
            <a:ext cx="1127639" cy="22475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34" name="箭头: 右 50">
            <a:extLst>
              <a:ext uri="{FF2B5EF4-FFF2-40B4-BE49-F238E27FC236}">
                <a16:creationId xmlns:a16="http://schemas.microsoft.com/office/drawing/2014/main" id="{C9BD90A0-09E0-4DEF-BDE3-E8B40B691BA9}"/>
              </a:ext>
            </a:extLst>
          </p:cNvPr>
          <p:cNvSpPr/>
          <p:nvPr/>
        </p:nvSpPr>
        <p:spPr bwMode="auto">
          <a:xfrm>
            <a:off x="7517595" y="2261463"/>
            <a:ext cx="1133926" cy="232869"/>
          </a:xfrm>
          <a:prstGeom prst="rightArrow">
            <a:avLst/>
          </a:prstGeom>
          <a:solidFill>
            <a:srgbClr val="4472C4"/>
          </a:solidFill>
          <a:ln w="9525" cap="flat" cmpd="sng" algn="ctr">
            <a:solidFill>
              <a:srgbClr val="2F5597"/>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黑体" panose="02010609060101010101" charset="-122"/>
              <a:ea typeface="微软雅黑" panose="020B0503020204020204" pitchFamily="34" charset="-122"/>
              <a:cs typeface="+mn-cs"/>
            </a:endParaRPr>
          </a:p>
        </p:txBody>
      </p:sp>
      <p:sp>
        <p:nvSpPr>
          <p:cNvPr id="35" name="矩形: 圆角 30">
            <a:extLst>
              <a:ext uri="{FF2B5EF4-FFF2-40B4-BE49-F238E27FC236}">
                <a16:creationId xmlns:a16="http://schemas.microsoft.com/office/drawing/2014/main" id="{E55079EC-20F8-4067-A605-0FC1104466BB}"/>
              </a:ext>
            </a:extLst>
          </p:cNvPr>
          <p:cNvSpPr/>
          <p:nvPr/>
        </p:nvSpPr>
        <p:spPr bwMode="auto">
          <a:xfrm>
            <a:off x="8811036" y="2087366"/>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实时电价计算</a:t>
            </a:r>
          </a:p>
        </p:txBody>
      </p:sp>
      <p:sp>
        <p:nvSpPr>
          <p:cNvPr id="36" name="矩形 35">
            <a:extLst>
              <a:ext uri="{FF2B5EF4-FFF2-40B4-BE49-F238E27FC236}">
                <a16:creationId xmlns:a16="http://schemas.microsoft.com/office/drawing/2014/main" id="{2F1A7A78-AE78-4C87-961F-F864308837EE}"/>
              </a:ext>
            </a:extLst>
          </p:cNvPr>
          <p:cNvSpPr/>
          <p:nvPr/>
        </p:nvSpPr>
        <p:spPr>
          <a:xfrm>
            <a:off x="7571739" y="2035150"/>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55" name="右大括号 54">
            <a:extLst>
              <a:ext uri="{FF2B5EF4-FFF2-40B4-BE49-F238E27FC236}">
                <a16:creationId xmlns:a16="http://schemas.microsoft.com/office/drawing/2014/main" id="{F4AC5D89-8563-428D-AD27-D4BE75C7B036}"/>
              </a:ext>
            </a:extLst>
          </p:cNvPr>
          <p:cNvSpPr/>
          <p:nvPr/>
        </p:nvSpPr>
        <p:spPr bwMode="auto">
          <a:xfrm flipH="1">
            <a:off x="7256822" y="1771256"/>
            <a:ext cx="268704" cy="616020"/>
          </a:xfrm>
          <a:prstGeom prst="rightBrace">
            <a:avLst/>
          </a:prstGeom>
          <a:noFill/>
          <a:ln w="28575" cap="flat" cmpd="sng" algn="ctr">
            <a:solidFill>
              <a:srgbClr val="4472C4"/>
            </a:solid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矩形 55">
            <a:extLst>
              <a:ext uri="{FF2B5EF4-FFF2-40B4-BE49-F238E27FC236}">
                <a16:creationId xmlns:a16="http://schemas.microsoft.com/office/drawing/2014/main" id="{0DD3FBE8-DEE2-4803-B3F0-AB91D81A298B}"/>
              </a:ext>
            </a:extLst>
          </p:cNvPr>
          <p:cNvSpPr/>
          <p:nvPr/>
        </p:nvSpPr>
        <p:spPr>
          <a:xfrm>
            <a:off x="7558238" y="1421144"/>
            <a:ext cx="104969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实验</a:t>
            </a:r>
            <a:r>
              <a:rPr kumimoji="1" lang="en-US" altLang="zh-CN"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57" name="矩形: 圆角 35">
            <a:extLst>
              <a:ext uri="{FF2B5EF4-FFF2-40B4-BE49-F238E27FC236}">
                <a16:creationId xmlns:a16="http://schemas.microsoft.com/office/drawing/2014/main" id="{F0BC6DED-DD83-4988-AA5F-C40E776B77D3}"/>
              </a:ext>
            </a:extLst>
          </p:cNvPr>
          <p:cNvSpPr/>
          <p:nvPr/>
        </p:nvSpPr>
        <p:spPr bwMode="auto">
          <a:xfrm>
            <a:off x="8811036" y="1447136"/>
            <a:ext cx="1127639" cy="566172"/>
          </a:xfrm>
          <a:prstGeom prst="roundRect">
            <a:avLst/>
          </a:prstGeom>
          <a:solidFill>
            <a:srgbClr val="ED7D31">
              <a:lumMod val="75000"/>
            </a:srgbClr>
          </a:solidFill>
          <a:ln w="12700" cap="flat" cmpd="sng" algn="ctr">
            <a:noFill/>
            <a:prstDash val="solid"/>
            <a:miter lim="800000"/>
            <a:headEnd type="none" w="med" len="med"/>
            <a:tailEnd type="none" w="med" len="med"/>
          </a:ln>
          <a:effectLst/>
        </p:spPr>
        <p:txBody>
          <a:bodyPr vert="horz" wrap="square" lIns="91440" tIns="45720" rIns="91440" bIns="45720"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潮流计算验证</a:t>
            </a:r>
          </a:p>
        </p:txBody>
      </p:sp>
      <p:sp>
        <p:nvSpPr>
          <p:cNvPr id="58" name="矩形 57">
            <a:extLst>
              <a:ext uri="{FF2B5EF4-FFF2-40B4-BE49-F238E27FC236}">
                <a16:creationId xmlns:a16="http://schemas.microsoft.com/office/drawing/2014/main" id="{08BD25DC-69A6-4073-8F20-A4B7E490FCE9}"/>
              </a:ext>
            </a:extLst>
          </p:cNvPr>
          <p:cNvSpPr/>
          <p:nvPr/>
        </p:nvSpPr>
        <p:spPr>
          <a:xfrm>
            <a:off x="1313116" y="6297574"/>
            <a:ext cx="4093711"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潮流平均</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MAPE</a:t>
            </a: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13.57%</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9" name="矩形 58">
            <a:extLst>
              <a:ext uri="{FF2B5EF4-FFF2-40B4-BE49-F238E27FC236}">
                <a16:creationId xmlns:a16="http://schemas.microsoft.com/office/drawing/2014/main" id="{16EED127-5131-437E-85CD-1440FFD8F459}"/>
              </a:ext>
            </a:extLst>
          </p:cNvPr>
          <p:cNvSpPr/>
          <p:nvPr/>
        </p:nvSpPr>
        <p:spPr>
          <a:xfrm>
            <a:off x="6730231" y="6297574"/>
            <a:ext cx="3932360"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电价平均</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MAPE</a:t>
            </a:r>
            <a:r>
              <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低于</a:t>
            </a:r>
            <a:r>
              <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TextBox 8">
            <a:extLst>
              <a:ext uri="{FF2B5EF4-FFF2-40B4-BE49-F238E27FC236}">
                <a16:creationId xmlns:a16="http://schemas.microsoft.com/office/drawing/2014/main" id="{3281A8A8-B7E8-3A55-A4DE-DEE6F71A5A66}"/>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
        <p:nvSpPr>
          <p:cNvPr id="3" name="文本框 2">
            <a:extLst>
              <a:ext uri="{FF2B5EF4-FFF2-40B4-BE49-F238E27FC236}">
                <a16:creationId xmlns:a16="http://schemas.microsoft.com/office/drawing/2014/main" id="{DF1F0220-759B-67FE-8C15-77015072BBB1}"/>
              </a:ext>
            </a:extLst>
          </p:cNvPr>
          <p:cNvSpPr txBox="1"/>
          <p:nvPr/>
        </p:nvSpPr>
        <p:spPr>
          <a:xfrm>
            <a:off x="437206" y="953017"/>
            <a:ext cx="8274633" cy="492443"/>
          </a:xfrm>
          <a:prstGeom prst="rect">
            <a:avLst/>
          </a:prstGeom>
          <a:noFill/>
        </p:spPr>
        <p:txBody>
          <a:bodyPr wrap="square">
            <a:spAutoFit/>
          </a:bodyPr>
          <a:lstStyle/>
          <a:p>
            <a:pPr marL="457200" indent="-457200">
              <a:buFont typeface="Wingdings" panose="05000000000000000000" pitchFamily="2" charset="2"/>
              <a:buChar char="Ø"/>
            </a:pPr>
            <a:r>
              <a:rPr lang="en-US" altLang="zh-CN" sz="2600" b="1" dirty="0">
                <a:latin typeface="微软雅黑" panose="020B0503020204020204" pitchFamily="34" charset="-122"/>
                <a:ea typeface="微软雅黑" panose="020B0503020204020204" pitchFamily="34" charset="-122"/>
              </a:rPr>
              <a:t>IEEE</a:t>
            </a:r>
            <a:r>
              <a:rPr lang="zh-CN" altLang="en-US" sz="2600" b="1" dirty="0">
                <a:latin typeface="微软雅黑" panose="020B0503020204020204" pitchFamily="34" charset="-122"/>
                <a:ea typeface="微软雅黑" panose="020B0503020204020204" pitchFamily="34" charset="-122"/>
              </a:rPr>
              <a:t>算例仿真结果</a:t>
            </a:r>
          </a:p>
        </p:txBody>
      </p:sp>
    </p:spTree>
    <p:extLst>
      <p:ext uri="{BB962C8B-B14F-4D97-AF65-F5344CB8AC3E}">
        <p14:creationId xmlns:p14="http://schemas.microsoft.com/office/powerpoint/2010/main" val="1580697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0A233E4-9B5A-4B0C-B8BE-451F785141B4}"/>
              </a:ext>
            </a:extLst>
          </p:cNvPr>
          <p:cNvPicPr>
            <a:picLocks noChangeAspect="1"/>
          </p:cNvPicPr>
          <p:nvPr/>
        </p:nvPicPr>
        <p:blipFill>
          <a:blip r:embed="rId3"/>
          <a:stretch>
            <a:fillRect/>
          </a:stretch>
        </p:blipFill>
        <p:spPr>
          <a:xfrm>
            <a:off x="1173786" y="2759338"/>
            <a:ext cx="3762266" cy="595077"/>
          </a:xfrm>
          <a:prstGeom prst="rect">
            <a:avLst/>
          </a:prstGeom>
        </p:spPr>
      </p:pic>
      <p:pic>
        <p:nvPicPr>
          <p:cNvPr id="4" name="图片 3">
            <a:extLst>
              <a:ext uri="{FF2B5EF4-FFF2-40B4-BE49-F238E27FC236}">
                <a16:creationId xmlns:a16="http://schemas.microsoft.com/office/drawing/2014/main" id="{DAF4833D-D085-4D05-96C9-EE301FC222D2}"/>
              </a:ext>
            </a:extLst>
          </p:cNvPr>
          <p:cNvPicPr>
            <a:picLocks noChangeAspect="1"/>
          </p:cNvPicPr>
          <p:nvPr/>
        </p:nvPicPr>
        <p:blipFill>
          <a:blip r:embed="rId4"/>
          <a:stretch>
            <a:fillRect/>
          </a:stretch>
        </p:blipFill>
        <p:spPr>
          <a:xfrm>
            <a:off x="1854590" y="2229629"/>
            <a:ext cx="2400661" cy="400110"/>
          </a:xfrm>
          <a:prstGeom prst="rect">
            <a:avLst/>
          </a:prstGeom>
        </p:spPr>
      </p:pic>
      <p:pic>
        <p:nvPicPr>
          <p:cNvPr id="5" name="图片 4">
            <a:extLst>
              <a:ext uri="{FF2B5EF4-FFF2-40B4-BE49-F238E27FC236}">
                <a16:creationId xmlns:a16="http://schemas.microsoft.com/office/drawing/2014/main" id="{4FB8AF0B-863A-413A-96A4-7F3C699A85A5}"/>
              </a:ext>
            </a:extLst>
          </p:cNvPr>
          <p:cNvPicPr>
            <a:picLocks noChangeAspect="1"/>
          </p:cNvPicPr>
          <p:nvPr/>
        </p:nvPicPr>
        <p:blipFill>
          <a:blip r:embed="rId5"/>
          <a:stretch>
            <a:fillRect/>
          </a:stretch>
        </p:blipFill>
        <p:spPr>
          <a:xfrm>
            <a:off x="2278656" y="4149906"/>
            <a:ext cx="2157997" cy="363594"/>
          </a:xfrm>
          <a:prstGeom prst="rect">
            <a:avLst/>
          </a:prstGeom>
        </p:spPr>
      </p:pic>
      <p:sp>
        <p:nvSpPr>
          <p:cNvPr id="6" name="矩形 5">
            <a:extLst>
              <a:ext uri="{FF2B5EF4-FFF2-40B4-BE49-F238E27FC236}">
                <a16:creationId xmlns:a16="http://schemas.microsoft.com/office/drawing/2014/main" id="{4209FB92-8EAE-44EC-9962-4941ACA0F000}"/>
              </a:ext>
            </a:extLst>
          </p:cNvPr>
          <p:cNvSpPr/>
          <p:nvPr/>
        </p:nvSpPr>
        <p:spPr>
          <a:xfrm>
            <a:off x="508798" y="1722237"/>
            <a:ext cx="5586591" cy="369332"/>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目前广东实时电力市场采用</a:t>
            </a:r>
            <a:r>
              <a:rPr kumimoji="1" lang="zh-CN" altLang="en-US" b="1" dirty="0">
                <a:solidFill>
                  <a:srgbClr val="C00000"/>
                </a:solidFill>
                <a:latin typeface="微软雅黑" panose="020B0503020204020204" pitchFamily="34" charset="-122"/>
                <a:ea typeface="微软雅黑" panose="020B0503020204020204" pitchFamily="34" charset="-122"/>
              </a:rPr>
              <a:t>基于</a:t>
            </a:r>
            <a:r>
              <a:rPr kumimoji="1" lang="en-US" altLang="zh-CN" b="1" dirty="0">
                <a:solidFill>
                  <a:srgbClr val="C00000"/>
                </a:solidFill>
                <a:latin typeface="微软雅黑" panose="020B0503020204020204" pitchFamily="34" charset="-122"/>
                <a:ea typeface="微软雅黑" panose="020B0503020204020204" pitchFamily="34" charset="-122"/>
              </a:rPr>
              <a:t>SCED</a:t>
            </a:r>
            <a:r>
              <a:rPr kumimoji="1" lang="zh-CN" altLang="en-US" b="1" dirty="0">
                <a:solidFill>
                  <a:srgbClr val="C00000"/>
                </a:solidFill>
                <a:latin typeface="微软雅黑" panose="020B0503020204020204" pitchFamily="34" charset="-122"/>
                <a:ea typeface="微软雅黑" panose="020B0503020204020204" pitchFamily="34" charset="-122"/>
              </a:rPr>
              <a:t>的</a:t>
            </a:r>
            <a:r>
              <a:rPr kumimoji="1" lang="en-US" altLang="zh-CN" b="1" dirty="0">
                <a:solidFill>
                  <a:srgbClr val="C00000"/>
                </a:solidFill>
                <a:latin typeface="微软雅黑" panose="020B0503020204020204" pitchFamily="34" charset="-122"/>
                <a:ea typeface="微软雅黑" panose="020B0503020204020204" pitchFamily="34" charset="-122"/>
              </a:rPr>
              <a:t>LMP</a:t>
            </a:r>
            <a:r>
              <a:rPr kumimoji="1" lang="zh-CN" altLang="en-US" b="1" dirty="0">
                <a:solidFill>
                  <a:srgbClr val="C00000"/>
                </a:solidFill>
                <a:latin typeface="微软雅黑" panose="020B0503020204020204" pitchFamily="34" charset="-122"/>
                <a:ea typeface="微软雅黑" panose="020B0503020204020204" pitchFamily="34" charset="-122"/>
              </a:rPr>
              <a:t>模型</a:t>
            </a:r>
          </a:p>
        </p:txBody>
      </p:sp>
      <p:sp>
        <p:nvSpPr>
          <p:cNvPr id="7" name="矩形 6">
            <a:extLst>
              <a:ext uri="{FF2B5EF4-FFF2-40B4-BE49-F238E27FC236}">
                <a16:creationId xmlns:a16="http://schemas.microsoft.com/office/drawing/2014/main" id="{A0511BE4-96A6-44B3-8823-B2BF62DB6331}"/>
              </a:ext>
            </a:extLst>
          </p:cNvPr>
          <p:cNvSpPr/>
          <p:nvPr/>
        </p:nvSpPr>
        <p:spPr>
          <a:xfrm>
            <a:off x="519072" y="3481539"/>
            <a:ext cx="5424643" cy="646331"/>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信息披露规则要求披露</a:t>
            </a:r>
            <a:r>
              <a:rPr kumimoji="1" lang="zh-CN" altLang="en-US" b="1" dirty="0">
                <a:solidFill>
                  <a:srgbClr val="C00000"/>
                </a:solidFill>
                <a:latin typeface="微软雅黑" panose="020B0503020204020204" pitchFamily="34" charset="-122"/>
                <a:ea typeface="微软雅黑" panose="020B0503020204020204" pitchFamily="34" charset="-122"/>
              </a:rPr>
              <a:t>电网拓扑、节点边际电价、阻塞情况</a:t>
            </a: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等信息</a:t>
            </a:r>
            <a:endParaRPr kumimoji="1"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0C5044D5-0B57-407A-AE70-E4846DCB7C7C}"/>
              </a:ext>
            </a:extLst>
          </p:cNvPr>
          <p:cNvPicPr>
            <a:picLocks noChangeAspect="1"/>
          </p:cNvPicPr>
          <p:nvPr/>
        </p:nvPicPr>
        <p:blipFill>
          <a:blip r:embed="rId6"/>
          <a:stretch>
            <a:fillRect/>
          </a:stretch>
        </p:blipFill>
        <p:spPr>
          <a:xfrm>
            <a:off x="810382" y="4544322"/>
            <a:ext cx="4860134" cy="2235545"/>
          </a:xfrm>
          <a:prstGeom prst="rect">
            <a:avLst/>
          </a:prstGeom>
        </p:spPr>
      </p:pic>
      <p:sp>
        <p:nvSpPr>
          <p:cNvPr id="9" name="矩形 8">
            <a:extLst>
              <a:ext uri="{FF2B5EF4-FFF2-40B4-BE49-F238E27FC236}">
                <a16:creationId xmlns:a16="http://schemas.microsoft.com/office/drawing/2014/main" id="{394CC7F1-4DCE-44F6-A2AE-E3ED47DDB081}"/>
              </a:ext>
            </a:extLst>
          </p:cNvPr>
          <p:cNvSpPr/>
          <p:nvPr/>
        </p:nvSpPr>
        <p:spPr>
          <a:xfrm>
            <a:off x="1854590" y="1339307"/>
            <a:ext cx="2498215" cy="400110"/>
          </a:xfrm>
          <a:prstGeom prst="rect">
            <a:avLst/>
          </a:prstGeom>
        </p:spPr>
        <p:txBody>
          <a:bodyPr wrap="square">
            <a:spAutoFit/>
          </a:bodyPr>
          <a:lstStyle/>
          <a:p>
            <a:pPr algn="ctr"/>
            <a:r>
              <a:rPr kumimoji="1"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广东电力市场</a:t>
            </a:r>
          </a:p>
        </p:txBody>
      </p:sp>
      <p:sp>
        <p:nvSpPr>
          <p:cNvPr id="10" name="矩形 9">
            <a:extLst>
              <a:ext uri="{FF2B5EF4-FFF2-40B4-BE49-F238E27FC236}">
                <a16:creationId xmlns:a16="http://schemas.microsoft.com/office/drawing/2014/main" id="{3F529077-0751-4DD1-AF84-8D0EA65B365A}"/>
              </a:ext>
            </a:extLst>
          </p:cNvPr>
          <p:cNvSpPr/>
          <p:nvPr/>
        </p:nvSpPr>
        <p:spPr>
          <a:xfrm>
            <a:off x="7711030" y="1328797"/>
            <a:ext cx="2498215" cy="400110"/>
          </a:xfrm>
          <a:prstGeom prst="rect">
            <a:avLst/>
          </a:prstGeom>
        </p:spPr>
        <p:txBody>
          <a:bodyPr wrap="square">
            <a:spAutoFit/>
          </a:bodyPr>
          <a:lstStyle/>
          <a:p>
            <a:pPr algn="ctr"/>
            <a:r>
              <a:rPr kumimoji="1"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反向逆推方法假设</a:t>
            </a:r>
          </a:p>
        </p:txBody>
      </p:sp>
      <p:pic>
        <p:nvPicPr>
          <p:cNvPr id="11" name="图片 10">
            <a:extLst>
              <a:ext uri="{FF2B5EF4-FFF2-40B4-BE49-F238E27FC236}">
                <a16:creationId xmlns:a16="http://schemas.microsoft.com/office/drawing/2014/main" id="{A969FCE3-2316-42DE-A87A-80CF8DED78A4}"/>
              </a:ext>
            </a:extLst>
          </p:cNvPr>
          <p:cNvPicPr>
            <a:picLocks noChangeAspect="1"/>
          </p:cNvPicPr>
          <p:nvPr/>
        </p:nvPicPr>
        <p:blipFill>
          <a:blip r:embed="rId7"/>
          <a:stretch>
            <a:fillRect/>
          </a:stretch>
        </p:blipFill>
        <p:spPr>
          <a:xfrm>
            <a:off x="7506142" y="2248191"/>
            <a:ext cx="2550145" cy="1271173"/>
          </a:xfrm>
          <a:prstGeom prst="rect">
            <a:avLst/>
          </a:prstGeom>
        </p:spPr>
      </p:pic>
      <p:sp>
        <p:nvSpPr>
          <p:cNvPr id="12" name="矩形 11">
            <a:extLst>
              <a:ext uri="{FF2B5EF4-FFF2-40B4-BE49-F238E27FC236}">
                <a16:creationId xmlns:a16="http://schemas.microsoft.com/office/drawing/2014/main" id="{6F5208A6-2EC7-4734-9EA9-69E2AC348CC1}"/>
              </a:ext>
            </a:extLst>
          </p:cNvPr>
          <p:cNvSpPr/>
          <p:nvPr/>
        </p:nvSpPr>
        <p:spPr>
          <a:xfrm>
            <a:off x="6873917" y="1774789"/>
            <a:ext cx="2802224" cy="369332"/>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基于</a:t>
            </a:r>
            <a:r>
              <a:rPr kumimoji="1" lang="en-US" altLang="zh-CN" b="1" dirty="0">
                <a:solidFill>
                  <a:schemeClr val="accent1">
                    <a:lumMod val="10000"/>
                  </a:schemeClr>
                </a:solidFill>
                <a:latin typeface="微软雅黑" panose="020B0503020204020204" pitchFamily="34" charset="-122"/>
                <a:ea typeface="微软雅黑" panose="020B0503020204020204" pitchFamily="34" charset="-122"/>
              </a:rPr>
              <a:t>SCED</a:t>
            </a: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的</a:t>
            </a:r>
            <a:r>
              <a:rPr kumimoji="1" lang="en-US" altLang="zh-CN" b="1" dirty="0">
                <a:solidFill>
                  <a:schemeClr val="accent1">
                    <a:lumMod val="10000"/>
                  </a:schemeClr>
                </a:solidFill>
                <a:latin typeface="微软雅黑" panose="020B0503020204020204" pitchFamily="34" charset="-122"/>
                <a:ea typeface="微软雅黑" panose="020B0503020204020204" pitchFamily="34" charset="-122"/>
              </a:rPr>
              <a:t>LMP</a:t>
            </a: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模型</a:t>
            </a:r>
            <a:endParaRPr kumimoji="1"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B2E11E2A-510A-4C29-B27B-DE78A074D30C}"/>
              </a:ext>
            </a:extLst>
          </p:cNvPr>
          <p:cNvSpPr/>
          <p:nvPr/>
        </p:nvSpPr>
        <p:spPr>
          <a:xfrm>
            <a:off x="10329241" y="2227643"/>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成本最低</a:t>
            </a:r>
          </a:p>
        </p:txBody>
      </p:sp>
      <p:sp>
        <p:nvSpPr>
          <p:cNvPr id="14" name="矩形 13">
            <a:extLst>
              <a:ext uri="{FF2B5EF4-FFF2-40B4-BE49-F238E27FC236}">
                <a16:creationId xmlns:a16="http://schemas.microsoft.com/office/drawing/2014/main" id="{AA381ECD-655B-4708-BDDB-65BBAF346D5B}"/>
              </a:ext>
            </a:extLst>
          </p:cNvPr>
          <p:cNvSpPr/>
          <p:nvPr/>
        </p:nvSpPr>
        <p:spPr>
          <a:xfrm>
            <a:off x="10329241" y="2554385"/>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功率平衡</a:t>
            </a:r>
          </a:p>
        </p:txBody>
      </p:sp>
      <p:sp>
        <p:nvSpPr>
          <p:cNvPr id="15" name="矩形 14">
            <a:extLst>
              <a:ext uri="{FF2B5EF4-FFF2-40B4-BE49-F238E27FC236}">
                <a16:creationId xmlns:a16="http://schemas.microsoft.com/office/drawing/2014/main" id="{8EBBF958-1E17-4684-9974-5F251C4907FB}"/>
              </a:ext>
            </a:extLst>
          </p:cNvPr>
          <p:cNvSpPr/>
          <p:nvPr/>
        </p:nvSpPr>
        <p:spPr>
          <a:xfrm>
            <a:off x="10329241" y="2881127"/>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发电约束</a:t>
            </a:r>
          </a:p>
        </p:txBody>
      </p:sp>
      <p:sp>
        <p:nvSpPr>
          <p:cNvPr id="16" name="矩形 15">
            <a:extLst>
              <a:ext uri="{FF2B5EF4-FFF2-40B4-BE49-F238E27FC236}">
                <a16:creationId xmlns:a16="http://schemas.microsoft.com/office/drawing/2014/main" id="{A3777765-850F-416F-898A-650AD028C4BB}"/>
              </a:ext>
            </a:extLst>
          </p:cNvPr>
          <p:cNvSpPr/>
          <p:nvPr/>
        </p:nvSpPr>
        <p:spPr>
          <a:xfrm>
            <a:off x="10329241" y="3207868"/>
            <a:ext cx="1178874" cy="369332"/>
          </a:xfrm>
          <a:prstGeom prst="rect">
            <a:avLst/>
          </a:prstGeom>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输电约束</a:t>
            </a:r>
          </a:p>
        </p:txBody>
      </p:sp>
      <p:cxnSp>
        <p:nvCxnSpPr>
          <p:cNvPr id="17" name="直接连接符 16">
            <a:extLst>
              <a:ext uri="{FF2B5EF4-FFF2-40B4-BE49-F238E27FC236}">
                <a16:creationId xmlns:a16="http://schemas.microsoft.com/office/drawing/2014/main" id="{478C292E-80F4-4D9F-A5E1-DBF106A833B4}"/>
              </a:ext>
            </a:extLst>
          </p:cNvPr>
          <p:cNvCxnSpPr/>
          <p:nvPr/>
        </p:nvCxnSpPr>
        <p:spPr>
          <a:xfrm>
            <a:off x="10081584" y="2403776"/>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B0F1244-060C-4860-B877-FD6D9FB2D424}"/>
              </a:ext>
            </a:extLst>
          </p:cNvPr>
          <p:cNvCxnSpPr/>
          <p:nvPr/>
        </p:nvCxnSpPr>
        <p:spPr>
          <a:xfrm>
            <a:off x="10081584" y="2723662"/>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41E239D-6DEB-4E5E-95DC-38D28DA5F7AD}"/>
              </a:ext>
            </a:extLst>
          </p:cNvPr>
          <p:cNvCxnSpPr/>
          <p:nvPr/>
        </p:nvCxnSpPr>
        <p:spPr>
          <a:xfrm>
            <a:off x="10081584" y="3050404"/>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2AFF841-7493-41DB-A516-CA8192930483}"/>
              </a:ext>
            </a:extLst>
          </p:cNvPr>
          <p:cNvCxnSpPr/>
          <p:nvPr/>
        </p:nvCxnSpPr>
        <p:spPr>
          <a:xfrm>
            <a:off x="10081584" y="3434402"/>
            <a:ext cx="318499"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EA41CDC9-A9D7-474B-8A08-AE4FBDE27B8F}"/>
              </a:ext>
            </a:extLst>
          </p:cNvPr>
          <p:cNvSpPr/>
          <p:nvPr/>
        </p:nvSpPr>
        <p:spPr>
          <a:xfrm>
            <a:off x="6873917" y="3578928"/>
            <a:ext cx="2802224" cy="369332"/>
          </a:xfrm>
          <a:prstGeom prst="rect">
            <a:avLst/>
          </a:prstGeom>
        </p:spPr>
        <p:txBody>
          <a:bodyPr wrap="square">
            <a:spAutoFit/>
          </a:bodyPr>
          <a:lstStyle/>
          <a:p>
            <a:pPr marL="285750" indent="-285750">
              <a:buFont typeface="Wingdings" panose="05000000000000000000" pitchFamily="2" charset="2"/>
              <a:buChar char="Ø"/>
            </a:pPr>
            <a:r>
              <a:rPr kumimoji="1" lang="zh-CN" altLang="en-US" b="1" dirty="0">
                <a:solidFill>
                  <a:schemeClr val="accent1">
                    <a:lumMod val="10000"/>
                  </a:schemeClr>
                </a:solidFill>
                <a:latin typeface="微软雅黑" panose="020B0503020204020204" pitchFamily="34" charset="-122"/>
                <a:ea typeface="微软雅黑" panose="020B0503020204020204" pitchFamily="34" charset="-122"/>
              </a:rPr>
              <a:t>反向逆推框架</a:t>
            </a:r>
            <a:endParaRPr kumimoji="1" lang="zh-CN" altLang="en-US"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2" name="组合 21">
            <a:extLst>
              <a:ext uri="{FF2B5EF4-FFF2-40B4-BE49-F238E27FC236}">
                <a16:creationId xmlns:a16="http://schemas.microsoft.com/office/drawing/2014/main" id="{BA4A784F-7980-490C-B24B-5195617A57B3}"/>
              </a:ext>
            </a:extLst>
          </p:cNvPr>
          <p:cNvGrpSpPr/>
          <p:nvPr/>
        </p:nvGrpSpPr>
        <p:grpSpPr>
          <a:xfrm>
            <a:off x="7004746" y="4038430"/>
            <a:ext cx="4457867" cy="2751712"/>
            <a:chOff x="7036179" y="3964924"/>
            <a:chExt cx="4457867" cy="2751712"/>
          </a:xfrm>
        </p:grpSpPr>
        <p:pic>
          <p:nvPicPr>
            <p:cNvPr id="23" name="图片 22">
              <a:extLst>
                <a:ext uri="{FF2B5EF4-FFF2-40B4-BE49-F238E27FC236}">
                  <a16:creationId xmlns:a16="http://schemas.microsoft.com/office/drawing/2014/main" id="{B108C882-C6CA-4D77-B741-FE6204A030EA}"/>
                </a:ext>
              </a:extLst>
            </p:cNvPr>
            <p:cNvPicPr>
              <a:picLocks noChangeAspect="1"/>
            </p:cNvPicPr>
            <p:nvPr/>
          </p:nvPicPr>
          <p:blipFill>
            <a:blip r:embed="rId8"/>
            <a:stretch>
              <a:fillRect/>
            </a:stretch>
          </p:blipFill>
          <p:spPr>
            <a:xfrm>
              <a:off x="7036179" y="3964924"/>
              <a:ext cx="4457867" cy="2733681"/>
            </a:xfrm>
            <a:prstGeom prst="rect">
              <a:avLst/>
            </a:prstGeom>
          </p:spPr>
        </p:pic>
        <p:sp>
          <p:nvSpPr>
            <p:cNvPr id="24" name="矩形 23">
              <a:extLst>
                <a:ext uri="{FF2B5EF4-FFF2-40B4-BE49-F238E27FC236}">
                  <a16:creationId xmlns:a16="http://schemas.microsoft.com/office/drawing/2014/main" id="{229A9BB8-0DA9-44C3-B363-85920A0A0F2F}"/>
                </a:ext>
              </a:extLst>
            </p:cNvPr>
            <p:cNvSpPr/>
            <p:nvPr/>
          </p:nvSpPr>
          <p:spPr>
            <a:xfrm>
              <a:off x="7649182" y="6121160"/>
              <a:ext cx="2789362" cy="5954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24">
            <a:extLst>
              <a:ext uri="{FF2B5EF4-FFF2-40B4-BE49-F238E27FC236}">
                <a16:creationId xmlns:a16="http://schemas.microsoft.com/office/drawing/2014/main" id="{CB7511DC-7083-4D65-A00D-3B160FA76B57}"/>
              </a:ext>
            </a:extLst>
          </p:cNvPr>
          <p:cNvSpPr/>
          <p:nvPr/>
        </p:nvSpPr>
        <p:spPr>
          <a:xfrm>
            <a:off x="10445717" y="6325845"/>
            <a:ext cx="1600905" cy="369332"/>
          </a:xfrm>
          <a:prstGeom prst="rect">
            <a:avLst/>
          </a:prstGeom>
          <a:solidFill>
            <a:schemeClr val="bg1"/>
          </a:solidFill>
        </p:spPr>
        <p:txBody>
          <a:bodyPr wrap="square">
            <a:spAutoFit/>
          </a:bodyPr>
          <a:lstStyle/>
          <a:p>
            <a:pPr algn="ctr"/>
            <a:r>
              <a:rPr kumimoji="1" lang="zh-CN" altLang="en-US" dirty="0">
                <a:solidFill>
                  <a:schemeClr val="tx1">
                    <a:lumMod val="95000"/>
                    <a:lumOff val="5000"/>
                  </a:schemeClr>
                </a:solidFill>
                <a:latin typeface="微软雅黑" panose="020B0503020204020204" pitchFamily="34" charset="-122"/>
                <a:ea typeface="微软雅黑" panose="020B0503020204020204" pitchFamily="34" charset="-122"/>
              </a:rPr>
              <a:t>逆推所需数据</a:t>
            </a:r>
          </a:p>
        </p:txBody>
      </p:sp>
      <p:sp>
        <p:nvSpPr>
          <p:cNvPr id="26" name="箭头: 左右 25">
            <a:extLst>
              <a:ext uri="{FF2B5EF4-FFF2-40B4-BE49-F238E27FC236}">
                <a16:creationId xmlns:a16="http://schemas.microsoft.com/office/drawing/2014/main" id="{1F0E8A55-63B6-4C0C-AD12-2FD9B352B770}"/>
              </a:ext>
            </a:extLst>
          </p:cNvPr>
          <p:cNvSpPr/>
          <p:nvPr/>
        </p:nvSpPr>
        <p:spPr>
          <a:xfrm>
            <a:off x="5854913" y="3021244"/>
            <a:ext cx="1080000" cy="32674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左右 26">
            <a:extLst>
              <a:ext uri="{FF2B5EF4-FFF2-40B4-BE49-F238E27FC236}">
                <a16:creationId xmlns:a16="http://schemas.microsoft.com/office/drawing/2014/main" id="{5C1782DB-0D1E-4EE9-8844-B1398BE86F39}"/>
              </a:ext>
            </a:extLst>
          </p:cNvPr>
          <p:cNvSpPr/>
          <p:nvPr/>
        </p:nvSpPr>
        <p:spPr>
          <a:xfrm>
            <a:off x="5866838" y="5451378"/>
            <a:ext cx="1080000" cy="32674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4841C7B2-216A-4B2D-9F29-26DD589443F9}"/>
              </a:ext>
            </a:extLst>
          </p:cNvPr>
          <p:cNvSpPr/>
          <p:nvPr/>
        </p:nvSpPr>
        <p:spPr>
          <a:xfrm>
            <a:off x="5869320" y="2383288"/>
            <a:ext cx="1178874" cy="646331"/>
          </a:xfrm>
          <a:prstGeom prst="rect">
            <a:avLst/>
          </a:prstGeom>
        </p:spPr>
        <p:txBody>
          <a:bodyPr wrap="square">
            <a:spAutoFit/>
          </a:bodyPr>
          <a:lstStyle/>
          <a:p>
            <a:pPr algn="ctr"/>
            <a:r>
              <a:rPr kumimoji="1" lang="zh-CN" altLang="en-US" b="1" dirty="0">
                <a:solidFill>
                  <a:srgbClr val="C00000"/>
                </a:solidFill>
                <a:latin typeface="微软雅黑" panose="020B0503020204020204" pitchFamily="34" charset="-122"/>
                <a:ea typeface="微软雅黑" panose="020B0503020204020204" pitchFamily="34" charset="-122"/>
              </a:rPr>
              <a:t>电价计算模型相同</a:t>
            </a:r>
          </a:p>
        </p:txBody>
      </p:sp>
      <p:sp>
        <p:nvSpPr>
          <p:cNvPr id="29" name="矩形 28">
            <a:extLst>
              <a:ext uri="{FF2B5EF4-FFF2-40B4-BE49-F238E27FC236}">
                <a16:creationId xmlns:a16="http://schemas.microsoft.com/office/drawing/2014/main" id="{D7D01087-2C1D-40C3-AF48-2D6440AFBA01}"/>
              </a:ext>
            </a:extLst>
          </p:cNvPr>
          <p:cNvSpPr/>
          <p:nvPr/>
        </p:nvSpPr>
        <p:spPr>
          <a:xfrm>
            <a:off x="5827675" y="4761027"/>
            <a:ext cx="1178874" cy="646331"/>
          </a:xfrm>
          <a:prstGeom prst="rect">
            <a:avLst/>
          </a:prstGeom>
        </p:spPr>
        <p:txBody>
          <a:bodyPr wrap="square">
            <a:spAutoFit/>
          </a:bodyPr>
          <a:lstStyle/>
          <a:p>
            <a:pPr algn="ctr"/>
            <a:r>
              <a:rPr kumimoji="1" lang="zh-CN" altLang="en-US" b="1" dirty="0">
                <a:solidFill>
                  <a:srgbClr val="C00000"/>
                </a:solidFill>
                <a:latin typeface="微软雅黑" panose="020B0503020204020204" pitchFamily="34" charset="-122"/>
                <a:ea typeface="微软雅黑" panose="020B0503020204020204" pitchFamily="34" charset="-122"/>
              </a:rPr>
              <a:t>逆推所需数据满足</a:t>
            </a:r>
          </a:p>
        </p:txBody>
      </p:sp>
      <p:sp>
        <p:nvSpPr>
          <p:cNvPr id="30" name="TextBox 8">
            <a:extLst>
              <a:ext uri="{FF2B5EF4-FFF2-40B4-BE49-F238E27FC236}">
                <a16:creationId xmlns:a16="http://schemas.microsoft.com/office/drawing/2014/main" id="{A7300C01-0587-1DB2-5FC0-7324CB265DBF}"/>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
        <p:nvSpPr>
          <p:cNvPr id="31" name="文本框 30">
            <a:extLst>
              <a:ext uri="{FF2B5EF4-FFF2-40B4-BE49-F238E27FC236}">
                <a16:creationId xmlns:a16="http://schemas.microsoft.com/office/drawing/2014/main" id="{5D72ED08-34AE-23D0-9A7C-F6D4A9AA0834}"/>
              </a:ext>
            </a:extLst>
          </p:cNvPr>
          <p:cNvSpPr txBox="1"/>
          <p:nvPr/>
        </p:nvSpPr>
        <p:spPr>
          <a:xfrm>
            <a:off x="437206" y="847917"/>
            <a:ext cx="3630297"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广东电网仿真算例</a:t>
            </a:r>
          </a:p>
        </p:txBody>
      </p:sp>
    </p:spTree>
    <p:extLst>
      <p:ext uri="{BB962C8B-B14F-4D97-AF65-F5344CB8AC3E}">
        <p14:creationId xmlns:p14="http://schemas.microsoft.com/office/powerpoint/2010/main" val="84211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BF76F4A-5495-4CFB-B142-17C9429C81EB}"/>
              </a:ext>
            </a:extLst>
          </p:cNvPr>
          <p:cNvSpPr txBox="1"/>
          <p:nvPr/>
        </p:nvSpPr>
        <p:spPr>
          <a:xfrm>
            <a:off x="595957" y="1144115"/>
            <a:ext cx="11054937" cy="460375"/>
          </a:xfrm>
          <a:prstGeom prst="rect">
            <a:avLst/>
          </a:prstGeom>
          <a:noFill/>
        </p:spPr>
        <p:txBody>
          <a:bodyPr wrap="square">
            <a:spAutoFit/>
          </a:bodyPr>
          <a:lstStyle/>
          <a:p>
            <a:pPr marL="285750" indent="-28575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sym typeface="+mn-ea"/>
              </a:rPr>
              <a:t>广东电网仿真算例构建思路</a:t>
            </a:r>
          </a:p>
        </p:txBody>
      </p:sp>
      <p:sp>
        <p:nvSpPr>
          <p:cNvPr id="4" name="文本框 3">
            <a:extLst>
              <a:ext uri="{FF2B5EF4-FFF2-40B4-BE49-F238E27FC236}">
                <a16:creationId xmlns:a16="http://schemas.microsoft.com/office/drawing/2014/main" id="{4845D4B2-263C-4062-8317-35227CA96482}"/>
              </a:ext>
            </a:extLst>
          </p:cNvPr>
          <p:cNvSpPr txBox="1"/>
          <p:nvPr/>
        </p:nvSpPr>
        <p:spPr>
          <a:xfrm>
            <a:off x="1126159" y="1882513"/>
            <a:ext cx="10524735" cy="4135876"/>
          </a:xfrm>
          <a:prstGeom prst="rect">
            <a:avLst/>
          </a:prstGeom>
          <a:noFill/>
        </p:spPr>
        <p:txBody>
          <a:bodyPr wrap="square" rtlCol="0">
            <a:spAutoFit/>
          </a:bodyPr>
          <a:lstStyle/>
          <a:p>
            <a:pPr>
              <a:lnSpc>
                <a:spcPct val="120000"/>
              </a:lnSpc>
              <a:spcAft>
                <a:spcPts val="1200"/>
              </a:spcAft>
            </a:pPr>
            <a:r>
              <a:rPr lang="zh-CN" altLang="en-US" sz="2400" dirty="0">
                <a:latin typeface="微软雅黑" panose="020B0503020204020204" pitchFamily="34" charset="-122"/>
                <a:ea typeface="微软雅黑" panose="020B0503020204020204" pitchFamily="34" charset="-122"/>
              </a:rPr>
              <a:t>算例构建所需数据</a:t>
            </a:r>
            <a:endParaRPr lang="en-US" altLang="zh-CN" sz="2400" dirty="0">
              <a:latin typeface="微软雅黑" panose="020B0503020204020204" pitchFamily="34" charset="-122"/>
              <a:ea typeface="微软雅黑" panose="020B0503020204020204" pitchFamily="34" charset="-122"/>
            </a:endParaRPr>
          </a:p>
          <a:p>
            <a:pPr marL="342900" indent="-342900">
              <a:lnSpc>
                <a:spcPct val="120000"/>
              </a:lnSpc>
              <a:spcAft>
                <a:spcPts val="1200"/>
              </a:spcAft>
              <a:buFont typeface="+mj-lt"/>
              <a:buAutoNum type="arabicPeriod"/>
            </a:pPr>
            <a:r>
              <a:rPr lang="zh-CN" altLang="en-US" sz="2400" dirty="0">
                <a:latin typeface="微软雅黑" panose="020B0503020204020204" pitchFamily="34" charset="-122"/>
                <a:ea typeface="微软雅黑" panose="020B0503020204020204" pitchFamily="34" charset="-122"/>
              </a:rPr>
              <a:t>爬取数据：根据爬取信息恢复出广东电网拓扑</a:t>
            </a:r>
            <a:endParaRPr lang="en-US" altLang="zh-CN" sz="2400" dirty="0">
              <a:latin typeface="微软雅黑" panose="020B0503020204020204" pitchFamily="34" charset="-122"/>
              <a:ea typeface="微软雅黑" panose="020B0503020204020204" pitchFamily="34" charset="-122"/>
            </a:endParaRPr>
          </a:p>
          <a:p>
            <a:pPr marL="342900" indent="-342900">
              <a:lnSpc>
                <a:spcPct val="120000"/>
              </a:lnSpc>
              <a:buFont typeface="+mj-lt"/>
              <a:buAutoNum type="arabicPeriod"/>
            </a:pPr>
            <a:r>
              <a:rPr lang="zh-CN" altLang="en-US" sz="2400" dirty="0">
                <a:latin typeface="微软雅黑" panose="020B0503020204020204" pitchFamily="34" charset="-122"/>
                <a:ea typeface="微软雅黑" panose="020B0503020204020204" pitchFamily="34" charset="-122"/>
              </a:rPr>
              <a:t>估算数据：</a:t>
            </a:r>
            <a:endParaRPr lang="en-US" altLang="zh-CN" sz="24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根据线路真实长度估算线路阻抗</a:t>
            </a:r>
            <a:endParaRPr lang="en-US" altLang="zh-CN" sz="20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根据人口规模、人口密度计算节点负荷，并按比例缩放</a:t>
            </a:r>
            <a:endParaRPr lang="en-US" altLang="zh-CN" sz="20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根据广东省电源结构及电力供需平衡要求设定发电机出力限制</a:t>
            </a:r>
            <a:endParaRPr lang="en-US" altLang="zh-CN" sz="20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根据广东省燃煤标杆电价、新能源平价上网政策设定发电机报价</a:t>
            </a:r>
            <a:endParaRPr lang="en-US" altLang="zh-CN" sz="2000" dirty="0">
              <a:latin typeface="微软雅黑" panose="020B0503020204020204" pitchFamily="34" charset="-122"/>
              <a:ea typeface="微软雅黑" panose="020B0503020204020204" pitchFamily="34" charset="-122"/>
            </a:endParaRPr>
          </a:p>
          <a:p>
            <a:pPr marL="342900" indent="-342900">
              <a:lnSpc>
                <a:spcPct val="120000"/>
              </a:lnSpc>
              <a:spcAft>
                <a:spcPts val="12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电力系统安全稳定导则</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，结合线路型号及运行年限估计线路容量</a:t>
            </a:r>
            <a:endParaRPr lang="en-US" altLang="zh-CN" sz="2000" dirty="0">
              <a:latin typeface="微软雅黑" panose="020B0503020204020204" pitchFamily="34" charset="-122"/>
              <a:ea typeface="微软雅黑" panose="020B0503020204020204" pitchFamily="34" charset="-122"/>
            </a:endParaRPr>
          </a:p>
          <a:p>
            <a:pPr marL="457200" indent="-457200">
              <a:lnSpc>
                <a:spcPct val="120000"/>
              </a:lnSpc>
              <a:buFont typeface="+mj-lt"/>
              <a:buAutoNum type="arabicPeriod" startAt="3"/>
            </a:pPr>
            <a:r>
              <a:rPr lang="zh-CN" altLang="en-US" sz="2400" dirty="0">
                <a:latin typeface="微软雅黑" panose="020B0503020204020204" pitchFamily="34" charset="-122"/>
                <a:ea typeface="微软雅黑" panose="020B0503020204020204" pitchFamily="34" charset="-122"/>
              </a:rPr>
              <a:t>生成数据：节点边际电价、线路阻塞情况</a:t>
            </a:r>
            <a:endParaRPr lang="en-US" altLang="zh-CN" sz="24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E9BD9C9-6573-52DE-5977-2C80409D62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7248" y="1734820"/>
            <a:ext cx="2388235" cy="1694180"/>
          </a:xfrm>
          <a:prstGeom prst="rect">
            <a:avLst/>
          </a:prstGeom>
          <a:noFill/>
        </p:spPr>
      </p:pic>
      <p:sp>
        <p:nvSpPr>
          <p:cNvPr id="6" name="TextBox 8">
            <a:extLst>
              <a:ext uri="{FF2B5EF4-FFF2-40B4-BE49-F238E27FC236}">
                <a16:creationId xmlns:a16="http://schemas.microsoft.com/office/drawing/2014/main" id="{F6220360-CFC8-43BE-1825-EA11B9F94DF8}"/>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4085186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5AB069-FA9A-4F8A-913A-A95761E37189}"/>
              </a:ext>
            </a:extLst>
          </p:cNvPr>
          <p:cNvSpPr txBox="1"/>
          <p:nvPr/>
        </p:nvSpPr>
        <p:spPr>
          <a:xfrm>
            <a:off x="127629" y="863699"/>
            <a:ext cx="11956057" cy="1838861"/>
          </a:xfrm>
          <a:prstGeom prst="rect">
            <a:avLst/>
          </a:prstGeom>
          <a:noFill/>
        </p:spPr>
        <p:txBody>
          <a:bodyPr wrap="square">
            <a:noAutofit/>
          </a:bodyPr>
          <a:lstStyle/>
          <a:p>
            <a:pPr marL="285750" indent="-285750">
              <a:lnSpc>
                <a:spcPct val="150000"/>
              </a:lnSpc>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基于公开信息构建含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87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个节点、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163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条线路的广东</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500kV</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算例</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负荷节点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33</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个、发电节点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54</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发电容量、负荷等参数贴合实际情况（广东省总装机容量</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2.23</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亿千瓦、负荷</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1.6</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亿千瓦）</a:t>
            </a:r>
            <a:endParaRPr lang="zh-CN" altLang="en-US" sz="2400" dirty="0">
              <a:latin typeface="Arial" panose="020B0604020202020204" pitchFamily="34" charset="0"/>
              <a:ea typeface="微软雅黑" panose="020B0503020204020204" pitchFamily="34" charset="-122"/>
              <a:cs typeface="Arial" panose="020B0604020202020204" pitchFamily="34" charset="0"/>
            </a:endParaRPr>
          </a:p>
        </p:txBody>
      </p:sp>
      <p:pic>
        <p:nvPicPr>
          <p:cNvPr id="4" name="图片 3" descr="图片包含 文本&#10;&#10;AI 生成的内容可能不正确。">
            <a:extLst>
              <a:ext uri="{FF2B5EF4-FFF2-40B4-BE49-F238E27FC236}">
                <a16:creationId xmlns:a16="http://schemas.microsoft.com/office/drawing/2014/main" id="{E6E4300A-31A2-49A8-BE1D-A823EEDC2B21}"/>
              </a:ext>
            </a:extLst>
          </p:cNvPr>
          <p:cNvPicPr>
            <a:picLocks noChangeAspect="1"/>
          </p:cNvPicPr>
          <p:nvPr/>
        </p:nvPicPr>
        <p:blipFill>
          <a:blip r:embed="rId4"/>
          <a:srcRect b="27609"/>
          <a:stretch>
            <a:fillRect/>
          </a:stretch>
        </p:blipFill>
        <p:spPr>
          <a:xfrm>
            <a:off x="330359" y="2722163"/>
            <a:ext cx="4696011" cy="3451143"/>
          </a:xfrm>
          <a:prstGeom prst="rect">
            <a:avLst/>
          </a:prstGeom>
        </p:spPr>
      </p:pic>
      <p:sp>
        <p:nvSpPr>
          <p:cNvPr id="5" name="文本框 4">
            <a:extLst>
              <a:ext uri="{FF2B5EF4-FFF2-40B4-BE49-F238E27FC236}">
                <a16:creationId xmlns:a16="http://schemas.microsoft.com/office/drawing/2014/main" id="{E2D64EE8-06AA-498D-B967-5687E1D35F58}"/>
              </a:ext>
            </a:extLst>
          </p:cNvPr>
          <p:cNvSpPr txBox="1"/>
          <p:nvPr/>
        </p:nvSpPr>
        <p:spPr>
          <a:xfrm>
            <a:off x="4741069" y="6330541"/>
            <a:ext cx="2948762" cy="369332"/>
          </a:xfrm>
          <a:prstGeom prst="rect">
            <a:avLst/>
          </a:prstGeom>
          <a:noFill/>
        </p:spPr>
        <p:txBody>
          <a:bodyPr wrap="square">
            <a:spAutoFit/>
          </a:bodyPr>
          <a:lstStyle/>
          <a:p>
            <a:r>
              <a:rPr lang="zh-CN" altLang="en-US" b="1" dirty="0">
                <a:latin typeface="Arial" panose="020B0604020202020204" pitchFamily="34" charset="0"/>
                <a:ea typeface="微软雅黑" panose="020B0503020204020204" pitchFamily="34" charset="-122"/>
                <a:cs typeface="Arial" panose="020B0604020202020204" pitchFamily="34" charset="0"/>
              </a:rPr>
              <a:t>构建的广东</a:t>
            </a:r>
            <a:r>
              <a:rPr lang="en-US" altLang="zh-CN" b="1" dirty="0">
                <a:latin typeface="Arial" panose="020B0604020202020204" pitchFamily="34" charset="0"/>
                <a:ea typeface="微软雅黑" panose="020B0503020204020204" pitchFamily="34" charset="-122"/>
                <a:cs typeface="Arial" panose="020B0604020202020204" pitchFamily="34" charset="0"/>
              </a:rPr>
              <a:t>500kV</a:t>
            </a:r>
            <a:r>
              <a:rPr lang="zh-CN" altLang="en-US" b="1" dirty="0">
                <a:latin typeface="Arial" panose="020B0604020202020204" pitchFamily="34" charset="0"/>
                <a:ea typeface="微软雅黑" panose="020B0503020204020204" pitchFamily="34" charset="-122"/>
                <a:cs typeface="Arial" panose="020B0604020202020204" pitchFamily="34" charset="0"/>
              </a:rPr>
              <a:t>仿真算例</a:t>
            </a:r>
          </a:p>
        </p:txBody>
      </p:sp>
      <p:pic>
        <p:nvPicPr>
          <p:cNvPr id="6" name="图片 5" descr="文本&#10;&#10;AI 生成的内容可能不正确。">
            <a:extLst>
              <a:ext uri="{FF2B5EF4-FFF2-40B4-BE49-F238E27FC236}">
                <a16:creationId xmlns:a16="http://schemas.microsoft.com/office/drawing/2014/main" id="{2F504D0F-2C06-4965-9CD1-7CF6F4689FEF}"/>
              </a:ext>
            </a:extLst>
          </p:cNvPr>
          <p:cNvPicPr>
            <a:picLocks noChangeAspect="1"/>
          </p:cNvPicPr>
          <p:nvPr/>
        </p:nvPicPr>
        <p:blipFill>
          <a:blip r:embed="rId5"/>
          <a:stretch>
            <a:fillRect/>
          </a:stretch>
        </p:blipFill>
        <p:spPr>
          <a:xfrm>
            <a:off x="4290888" y="2761964"/>
            <a:ext cx="4488180" cy="3474720"/>
          </a:xfrm>
          <a:prstGeom prst="rect">
            <a:avLst/>
          </a:prstGeom>
        </p:spPr>
      </p:pic>
      <p:pic>
        <p:nvPicPr>
          <p:cNvPr id="2" name="图片 1">
            <a:extLst>
              <a:ext uri="{FF2B5EF4-FFF2-40B4-BE49-F238E27FC236}">
                <a16:creationId xmlns:a16="http://schemas.microsoft.com/office/drawing/2014/main" id="{808503E2-7CD1-336D-9D46-2EED47B9BB7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300528" y="2722163"/>
            <a:ext cx="2388235" cy="1694180"/>
          </a:xfrm>
          <a:prstGeom prst="rect">
            <a:avLst/>
          </a:prstGeom>
          <a:noFill/>
        </p:spPr>
      </p:pic>
      <p:pic>
        <p:nvPicPr>
          <p:cNvPr id="8" name="图片 7">
            <a:extLst>
              <a:ext uri="{FF2B5EF4-FFF2-40B4-BE49-F238E27FC236}">
                <a16:creationId xmlns:a16="http://schemas.microsoft.com/office/drawing/2014/main" id="{320CF69C-6424-3EE2-9A62-BC74AC3010A1}"/>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216072" y="4595721"/>
            <a:ext cx="2557145" cy="1704340"/>
          </a:xfrm>
          <a:prstGeom prst="rect">
            <a:avLst/>
          </a:prstGeom>
          <a:noFill/>
          <a:ln>
            <a:noFill/>
          </a:ln>
        </p:spPr>
      </p:pic>
      <p:sp>
        <p:nvSpPr>
          <p:cNvPr id="9" name="TextBox 8">
            <a:extLst>
              <a:ext uri="{FF2B5EF4-FFF2-40B4-BE49-F238E27FC236}">
                <a16:creationId xmlns:a16="http://schemas.microsoft.com/office/drawing/2014/main" id="{881FDE1B-B926-0BEE-E181-61767D461C2C}"/>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2241997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FC7B66-63EF-4CEA-9F4B-158F54EC6A1D}"/>
              </a:ext>
            </a:extLst>
          </p:cNvPr>
          <p:cNvSpPr txBox="1"/>
          <p:nvPr/>
        </p:nvSpPr>
        <p:spPr>
          <a:xfrm>
            <a:off x="480858" y="997163"/>
            <a:ext cx="11230283" cy="1997334"/>
          </a:xfrm>
          <a:prstGeom prst="rect">
            <a:avLst/>
          </a:prstGeom>
          <a:noFill/>
        </p:spPr>
        <p:txBody>
          <a:bodyPr wrap="square">
            <a:noAutofit/>
          </a:bodyPr>
          <a:lstStyle/>
          <a:p>
            <a:pPr marL="285750" indent="-285750">
              <a:lnSpc>
                <a:spcPct val="150000"/>
              </a:lnSpc>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如左图所示，导纳矩阵平均</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MAPE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6.15%</a:t>
            </a:r>
          </a:p>
          <a:p>
            <a:pPr marL="285750" indent="-285750">
              <a:lnSpc>
                <a:spcPct val="150000"/>
              </a:lnSpc>
              <a:buFont typeface="Wingdings" panose="05000000000000000000" charset="0"/>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基于推断导纳矩阵进行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次不同负荷场景下的潮流计算，结果如右图所示，平均</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MAPE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21.8%</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a:extLst>
              <a:ext uri="{FF2B5EF4-FFF2-40B4-BE49-F238E27FC236}">
                <a16:creationId xmlns:a16="http://schemas.microsoft.com/office/drawing/2014/main" id="{75E98DF1-3B30-4645-9BD4-BAC260FB82A0}"/>
              </a:ext>
            </a:extLst>
          </p:cNvPr>
          <p:cNvSpPr txBox="1"/>
          <p:nvPr/>
        </p:nvSpPr>
        <p:spPr>
          <a:xfrm>
            <a:off x="7206883" y="5727172"/>
            <a:ext cx="3253562" cy="369332"/>
          </a:xfrm>
          <a:prstGeom prst="rect">
            <a:avLst/>
          </a:prstGeom>
          <a:noFill/>
        </p:spPr>
        <p:txBody>
          <a:bodyPr wrap="square">
            <a:spAutoFit/>
          </a:bodyPr>
          <a:lstStyle/>
          <a:p>
            <a:r>
              <a:rPr lang="en-US" altLang="zh-CN" b="1" dirty="0">
                <a:latin typeface="Arial" panose="020B0604020202020204" pitchFamily="34" charset="0"/>
                <a:ea typeface="微软雅黑" panose="020B0503020204020204" pitchFamily="34" charset="-122"/>
                <a:cs typeface="Arial" panose="020B0604020202020204" pitchFamily="34" charset="0"/>
              </a:rPr>
              <a:t>100</a:t>
            </a:r>
            <a:r>
              <a:rPr lang="zh-CN" altLang="en-US" b="1" dirty="0">
                <a:latin typeface="Arial" panose="020B0604020202020204" pitchFamily="34" charset="0"/>
                <a:ea typeface="微软雅黑" panose="020B0503020204020204" pitchFamily="34" charset="-122"/>
                <a:cs typeface="Arial" panose="020B0604020202020204" pitchFamily="34" charset="0"/>
              </a:rPr>
              <a:t>次潮流计算平均推断误差</a:t>
            </a:r>
          </a:p>
        </p:txBody>
      </p:sp>
      <p:pic>
        <p:nvPicPr>
          <p:cNvPr id="6" name="图片 5">
            <a:extLst>
              <a:ext uri="{FF2B5EF4-FFF2-40B4-BE49-F238E27FC236}">
                <a16:creationId xmlns:a16="http://schemas.microsoft.com/office/drawing/2014/main" id="{64471453-F365-461C-9D43-B356BD93B46F}"/>
              </a:ext>
            </a:extLst>
          </p:cNvPr>
          <p:cNvPicPr>
            <a:picLocks noChangeAspect="1"/>
          </p:cNvPicPr>
          <p:nvPr/>
        </p:nvPicPr>
        <p:blipFill rotWithShape="1">
          <a:blip r:embed="rId4"/>
          <a:srcRect t="52083" b="1563"/>
          <a:stretch>
            <a:fillRect/>
          </a:stretch>
        </p:blipFill>
        <p:spPr bwMode="auto">
          <a:xfrm>
            <a:off x="6043418" y="3819167"/>
            <a:ext cx="5915204" cy="1827962"/>
          </a:xfrm>
          <a:prstGeom prst="rect">
            <a:avLst/>
          </a:prstGeom>
          <a:ln>
            <a:noFill/>
          </a:ln>
          <a:extLst>
            <a:ext uri="{53640926-AAD7-44D8-BBD7-CCE9431645EC}">
              <a14:shadowObscured xmlns:a14="http://schemas.microsoft.com/office/drawing/2010/main"/>
            </a:ext>
          </a:extLst>
        </p:spPr>
      </p:pic>
      <p:sp>
        <p:nvSpPr>
          <p:cNvPr id="7" name="文本框 6">
            <a:extLst>
              <a:ext uri="{FF2B5EF4-FFF2-40B4-BE49-F238E27FC236}">
                <a16:creationId xmlns:a16="http://schemas.microsoft.com/office/drawing/2014/main" id="{982D27EC-5684-4CC1-9985-D13180088C93}"/>
              </a:ext>
            </a:extLst>
          </p:cNvPr>
          <p:cNvSpPr txBox="1"/>
          <p:nvPr/>
        </p:nvSpPr>
        <p:spPr>
          <a:xfrm>
            <a:off x="2430142" y="5911838"/>
            <a:ext cx="2100923" cy="369332"/>
          </a:xfrm>
          <a:prstGeom prst="rect">
            <a:avLst/>
          </a:prstGeom>
          <a:noFill/>
        </p:spPr>
        <p:txBody>
          <a:bodyPr wrap="square">
            <a:spAutoFit/>
          </a:bodyPr>
          <a:lstStyle/>
          <a:p>
            <a:r>
              <a:rPr lang="zh-CN" altLang="en-US" b="1" dirty="0">
                <a:latin typeface="Arial" panose="020B0604020202020204" pitchFamily="34" charset="0"/>
                <a:ea typeface="微软雅黑" panose="020B0503020204020204" pitchFamily="34" charset="-122"/>
                <a:cs typeface="Arial" panose="020B0604020202020204" pitchFamily="34" charset="0"/>
              </a:rPr>
              <a:t>线路导纳推断结果</a:t>
            </a:r>
          </a:p>
        </p:txBody>
      </p:sp>
      <p:pic>
        <p:nvPicPr>
          <p:cNvPr id="8" name="图片 7">
            <a:extLst>
              <a:ext uri="{FF2B5EF4-FFF2-40B4-BE49-F238E27FC236}">
                <a16:creationId xmlns:a16="http://schemas.microsoft.com/office/drawing/2014/main" id="{D945068A-5653-454E-A8A0-03E0C4B95A2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6211"/>
          <a:stretch>
            <a:fillRect/>
          </a:stretch>
        </p:blipFill>
        <p:spPr bwMode="auto">
          <a:xfrm>
            <a:off x="557018" y="3521817"/>
            <a:ext cx="5486400" cy="2205355"/>
          </a:xfrm>
          <a:prstGeom prst="rect">
            <a:avLst/>
          </a:prstGeom>
          <a:noFill/>
          <a:ln>
            <a:noFill/>
          </a:ln>
          <a:extLst>
            <a:ext uri="{53640926-AAD7-44D8-BBD7-CCE9431645EC}">
              <a14:shadowObscured xmlns:a14="http://schemas.microsoft.com/office/drawing/2010/main"/>
            </a:ext>
          </a:extLst>
        </p:spPr>
      </p:pic>
      <p:sp>
        <p:nvSpPr>
          <p:cNvPr id="2" name="TextBox 8">
            <a:extLst>
              <a:ext uri="{FF2B5EF4-FFF2-40B4-BE49-F238E27FC236}">
                <a16:creationId xmlns:a16="http://schemas.microsoft.com/office/drawing/2014/main" id="{261D279A-3126-B3E4-05A6-01D2F40F8230}"/>
              </a:ext>
            </a:extLst>
          </p:cNvPr>
          <p:cNvSpPr>
            <a:spLocks noChangeArrowheads="1"/>
          </p:cNvSpPr>
          <p:nvPr>
            <p:custDataLst>
              <p:tags r:id="rId1"/>
            </p:custDataLst>
          </p:nvPr>
        </p:nvSpPr>
        <p:spPr bwMode="auto">
          <a:xfrm>
            <a:off x="171450" y="20034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：基于电力市场公开数据的电网线路参数推断</a:t>
            </a:r>
          </a:p>
        </p:txBody>
      </p:sp>
    </p:spTree>
    <p:extLst>
      <p:ext uri="{BB962C8B-B14F-4D97-AF65-F5344CB8AC3E}">
        <p14:creationId xmlns:p14="http://schemas.microsoft.com/office/powerpoint/2010/main" val="1172093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8"/>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40" name="文本框 39"/>
          <p:cNvSpPr txBox="1"/>
          <p:nvPr/>
        </p:nvSpPr>
        <p:spPr>
          <a:xfrm>
            <a:off x="858520" y="1501140"/>
            <a:ext cx="10890885" cy="1014730"/>
          </a:xfrm>
          <a:prstGeom prst="rect">
            <a:avLst/>
          </a:prstGeom>
          <a:noFill/>
        </p:spPr>
        <p:txBody>
          <a:bodyPr wrap="square">
            <a:spAutoFit/>
          </a:bodyPr>
          <a:lstStyle/>
          <a:p>
            <a:pPr eaLnBrk="1" fontAlgn="auto" hangingPunct="1">
              <a:spcBef>
                <a:spcPts val="0"/>
              </a:spcBef>
              <a:spcAft>
                <a:spcPts val="0"/>
              </a:spcAft>
            </a:pPr>
            <a:r>
              <a:rPr kumimoji="1" lang="zh-CN" altLang="en-US" sz="2000" dirty="0">
                <a:latin typeface="微软雅黑" panose="020B0503020204020204" pitchFamily="34" charset="-122"/>
                <a:ea typeface="微软雅黑" panose="020B0503020204020204" pitchFamily="34" charset="-122"/>
                <a:cs typeface="+mn-ea"/>
                <a:sym typeface="+mn-lt"/>
              </a:rPr>
              <a:t>本研究聚焦于敏感目标变量的隐式推断风险识别，</a:t>
            </a:r>
            <a:r>
              <a:rPr kumimoji="1" lang="zh-CN" altLang="en-US" sz="2000" dirty="0">
                <a:solidFill>
                  <a:prstClr val="black"/>
                </a:solidFill>
                <a:latin typeface="微软雅黑" panose="020B0503020204020204" pitchFamily="34" charset="-122"/>
                <a:ea typeface="微软雅黑" panose="020B0503020204020204" pitchFamily="34" charset="-122"/>
                <a:cs typeface="+mn-ea"/>
                <a:sym typeface="+mn-lt"/>
              </a:rPr>
              <a:t>目标不是仅判断目标是否可被推断，而是进一步识别出能够共同支撑敏感目标高精度推断的关键变量，并在保证推断能力的前提下，提取最小非冗余推断源变量集合。通过研究该集合中是否有较低敏感等级数据来进行风险评估。</a:t>
            </a:r>
          </a:p>
        </p:txBody>
      </p:sp>
      <p:sp>
        <p:nvSpPr>
          <p:cNvPr id="76" name="文本框 75"/>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研究目标</a:t>
            </a:r>
          </a:p>
        </p:txBody>
      </p:sp>
      <p:pic>
        <p:nvPicPr>
          <p:cNvPr id="5" name="图片 4" descr="Gemini_Generated_Image_m9v6tum9v6tum9v6"/>
          <p:cNvPicPr>
            <a:picLocks noChangeAspect="1"/>
          </p:cNvPicPr>
          <p:nvPr/>
        </p:nvPicPr>
        <p:blipFill>
          <a:blip r:embed="rId4"/>
          <a:stretch>
            <a:fillRect/>
          </a:stretch>
        </p:blipFill>
        <p:spPr>
          <a:xfrm>
            <a:off x="1127125" y="2470150"/>
            <a:ext cx="8984615" cy="4015740"/>
          </a:xfrm>
          <a:prstGeom prst="rect">
            <a:avLst/>
          </a:prstGeom>
        </p:spPr>
      </p:pic>
      <p:sp>
        <p:nvSpPr>
          <p:cNvPr id="6" name="文本框 5"/>
          <p:cNvSpPr txBox="1"/>
          <p:nvPr/>
        </p:nvSpPr>
        <p:spPr>
          <a:xfrm>
            <a:off x="5462270" y="2725420"/>
            <a:ext cx="1851025" cy="367665"/>
          </a:xfrm>
          <a:prstGeom prst="rect">
            <a:avLst/>
          </a:prstGeom>
          <a:solidFill>
            <a:srgbClr val="00B050"/>
          </a:solidFill>
        </p:spPr>
        <p:txBody>
          <a:bodyPr wrap="square" rtlCol="0">
            <a:noAutofit/>
          </a:bodyPr>
          <a:lstStyle/>
          <a:p>
            <a:r>
              <a:rPr lang="zh-CN" altLang="en-US" sz="1400" b="1">
                <a:solidFill>
                  <a:schemeClr val="bg1"/>
                </a:solidFill>
                <a:latin typeface="微软雅黑" panose="020B0503020204020204" pitchFamily="34" charset="-122"/>
                <a:ea typeface="微软雅黑" panose="020B0503020204020204" pitchFamily="34" charset="-122"/>
              </a:rPr>
              <a:t>变量属性分析与统计</a:t>
            </a:r>
          </a:p>
        </p:txBody>
      </p:sp>
      <p:sp>
        <p:nvSpPr>
          <p:cNvPr id="7" name="文本框 6"/>
          <p:cNvSpPr txBox="1"/>
          <p:nvPr/>
        </p:nvSpPr>
        <p:spPr>
          <a:xfrm>
            <a:off x="3855720" y="6322060"/>
            <a:ext cx="6986905" cy="368300"/>
          </a:xfrm>
          <a:prstGeom prst="rect">
            <a:avLst/>
          </a:prstGeom>
          <a:noFill/>
        </p:spPr>
        <p:txBody>
          <a:bodyPr wrap="square" rtlCol="0">
            <a:spAutoFit/>
          </a:bodyPr>
          <a:lstStyle/>
          <a:p>
            <a:r>
              <a:rPr lang="zh-CN" altLang="en-US" b="1" dirty="0">
                <a:solidFill>
                  <a:schemeClr val="accen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最小推断源变量集合识别用于风险评估</a:t>
            </a:r>
            <a:r>
              <a:rPr lang="en-US" altLang="zh-CN" b="1" dirty="0">
                <a:solidFill>
                  <a:schemeClr val="accen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a:t>
            </a:r>
            <a:r>
              <a:rPr lang="zh-CN" altLang="en-US" b="1" dirty="0">
                <a:solidFill>
                  <a:schemeClr val="accent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rPr>
              <a:t>电力数据发布前确认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箭头: 右 51"/>
          <p:cNvSpPr/>
          <p:nvPr/>
        </p:nvSpPr>
        <p:spPr>
          <a:xfrm>
            <a:off x="5269865" y="5175250"/>
            <a:ext cx="1321435"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3" name="箭头: 右 52"/>
          <p:cNvSpPr/>
          <p:nvPr/>
        </p:nvSpPr>
        <p:spPr>
          <a:xfrm>
            <a:off x="7916545" y="5175250"/>
            <a:ext cx="1164590"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4" name="文本框 53"/>
          <p:cNvSpPr txBox="1"/>
          <p:nvPr/>
        </p:nvSpPr>
        <p:spPr>
          <a:xfrm>
            <a:off x="3668395" y="6033770"/>
            <a:ext cx="1639570" cy="337185"/>
          </a:xfrm>
          <a:prstGeom prst="rect">
            <a:avLst/>
          </a:prstGeom>
          <a:noFill/>
        </p:spPr>
        <p:txBody>
          <a:bodyPr wrap="square">
            <a:spAutoFit/>
          </a:bodyPr>
          <a:lstStyle/>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候选推断变量集</a:t>
            </a:r>
            <a:endParaRPr lang="zh-CN" altLang="en-US" sz="1600" dirty="0">
              <a:solidFill>
                <a:prstClr val="black"/>
              </a:solidFill>
              <a:latin typeface="等线" panose="02010600030101010101" charset="-122"/>
              <a:ea typeface="等线" panose="02010600030101010101" charset="-122"/>
            </a:endParaRPr>
          </a:p>
        </p:txBody>
      </p:sp>
      <p:sp>
        <p:nvSpPr>
          <p:cNvPr id="56" name="文本框 55"/>
          <p:cNvSpPr txBox="1"/>
          <p:nvPr/>
        </p:nvSpPr>
        <p:spPr>
          <a:xfrm>
            <a:off x="9204125" y="5879402"/>
            <a:ext cx="1354690" cy="829945"/>
          </a:xfrm>
          <a:prstGeom prst="rect">
            <a:avLst/>
          </a:prstGeom>
          <a:noFill/>
        </p:spPr>
        <p:txBody>
          <a:bodyPr wrap="square">
            <a:spAutoFit/>
          </a:bodyPr>
          <a:lstStyle/>
          <a:p>
            <a:pPr marL="0" marR="0" lvl="0" indent="0" algn="ctr" defTabSz="913765" eaLnBrk="1" fontAlgn="auto" latinLnBrk="0" hangingPunct="1">
              <a:lnSpc>
                <a:spcPct val="100000"/>
              </a:lnSpc>
              <a:spcBef>
                <a:spcPts val="0"/>
              </a:spcBef>
              <a:spcAft>
                <a:spcPts val="0"/>
              </a:spcAft>
              <a:buClrTx/>
              <a:buSzPct val="25000"/>
              <a:buFontTx/>
              <a:buNone/>
              <a:defRPr/>
            </a:pPr>
            <a:r>
              <a:rPr lang="zh-CN" altLang="en-US" sz="1600" kern="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最小非冗余</a:t>
            </a:r>
            <a:endParaRPr kumimoji="0" lang="zh-CN" altLang="en-US" sz="160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0" marR="0" lvl="0" indent="0" algn="ctr" defTabSz="913765" eaLnBrk="1" fontAlgn="auto" latinLnBrk="0" hangingPunct="1">
              <a:lnSpc>
                <a:spcPct val="100000"/>
              </a:lnSpc>
              <a:spcBef>
                <a:spcPts val="0"/>
              </a:spcBef>
              <a:spcAft>
                <a:spcPts val="0"/>
              </a:spcAft>
              <a:buClrTx/>
              <a:buSzPct val="25000"/>
              <a:buFontTx/>
              <a:buNone/>
              <a:defRPr/>
            </a:pPr>
            <a:r>
              <a:rPr lang="zh-CN" altLang="en-US" sz="1600" kern="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推断源集</a:t>
            </a:r>
            <a:endParaRPr lang="en-US" altLang="zh-CN" sz="16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ctr"/>
            <a:endPar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57" name="文本框 56"/>
          <p:cNvSpPr txBox="1"/>
          <p:nvPr/>
        </p:nvSpPr>
        <p:spPr>
          <a:xfrm>
            <a:off x="5246370" y="5576570"/>
            <a:ext cx="1471930" cy="521970"/>
          </a:xfrm>
          <a:prstGeom prst="rect">
            <a:avLst/>
          </a:prstGeom>
          <a:noFill/>
        </p:spPr>
        <p:txBody>
          <a:bodyPr wrap="square">
            <a:spAutoFit/>
          </a:bodyPr>
          <a:lstStyle/>
          <a:p>
            <a:pPr algn="ctr"/>
            <a:r>
              <a:rPr lang="en-US" altLang="zh-CN" sz="1400" b="1" dirty="0">
                <a:solidFill>
                  <a:prstClr val="black"/>
                </a:solidFill>
                <a:latin typeface="微软雅黑" panose="020B0503020204020204" pitchFamily="34" charset="-122"/>
                <a:ea typeface="微软雅黑" panose="020B0503020204020204" pitchFamily="34" charset="-122"/>
              </a:rPr>
              <a:t>L1</a:t>
            </a:r>
            <a:r>
              <a:rPr lang="zh-CN" altLang="en-US" sz="1400" b="1" dirty="0">
                <a:solidFill>
                  <a:prstClr val="black"/>
                </a:solidFill>
                <a:latin typeface="微软雅黑" panose="020B0503020204020204" pitchFamily="34" charset="-122"/>
                <a:ea typeface="微软雅黑" panose="020B0503020204020204" pitchFamily="34" charset="-122"/>
              </a:rPr>
              <a:t>门控深度推断模型建模</a:t>
            </a:r>
          </a:p>
        </p:txBody>
      </p:sp>
      <p:sp>
        <p:nvSpPr>
          <p:cNvPr id="58" name="文本框 57"/>
          <p:cNvSpPr txBox="1"/>
          <p:nvPr/>
        </p:nvSpPr>
        <p:spPr>
          <a:xfrm>
            <a:off x="8079105" y="5702300"/>
            <a:ext cx="972820" cy="306705"/>
          </a:xfrm>
          <a:prstGeom prst="rect">
            <a:avLst/>
          </a:prstGeom>
          <a:noFill/>
        </p:spPr>
        <p:txBody>
          <a:bodyPr wrap="square">
            <a:spAutoFit/>
          </a:bodyPr>
          <a:lstStyle/>
          <a:p>
            <a:pPr algn="ctr"/>
            <a:r>
              <a:rPr lang="zh-CN" altLang="en-US" sz="1400" b="1" dirty="0">
                <a:solidFill>
                  <a:prstClr val="black"/>
                </a:solidFill>
                <a:latin typeface="微软雅黑" panose="020B0503020204020204" pitchFamily="34" charset="-122"/>
                <a:ea typeface="微软雅黑" panose="020B0503020204020204" pitchFamily="34" charset="-122"/>
              </a:rPr>
              <a:t>冗余验证</a:t>
            </a:r>
          </a:p>
        </p:txBody>
      </p:sp>
      <p:sp>
        <p:nvSpPr>
          <p:cNvPr id="59" name="文本框 58"/>
          <p:cNvSpPr txBox="1"/>
          <p:nvPr/>
        </p:nvSpPr>
        <p:spPr>
          <a:xfrm>
            <a:off x="6625590" y="6033770"/>
            <a:ext cx="1257300" cy="337185"/>
          </a:xfrm>
          <a:prstGeom prst="rect">
            <a:avLst/>
          </a:prstGeom>
          <a:noFill/>
        </p:spPr>
        <p:txBody>
          <a:bodyPr wrap="square">
            <a:spAutoFit/>
          </a:bodyPr>
          <a:lstStyle/>
          <a:p>
            <a:pPr algn="ctr"/>
            <a:r>
              <a:rPr lang="zh-CN" altLang="en-US" sz="1600" dirty="0">
                <a:solidFill>
                  <a:prstClr val="black"/>
                </a:solidFill>
                <a:latin typeface="微软雅黑" panose="020B0503020204020204" pitchFamily="34" charset="-122"/>
                <a:ea typeface="微软雅黑" panose="020B0503020204020204" pitchFamily="34" charset="-122"/>
              </a:rPr>
              <a:t>推断变量集</a:t>
            </a:r>
          </a:p>
        </p:txBody>
      </p:sp>
      <p:sp>
        <p:nvSpPr>
          <p:cNvPr id="65" name="箭头: 右 64"/>
          <p:cNvSpPr/>
          <p:nvPr/>
        </p:nvSpPr>
        <p:spPr>
          <a:xfrm>
            <a:off x="2463800" y="5161915"/>
            <a:ext cx="1519555"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6" name="文本框 65"/>
          <p:cNvSpPr txBox="1"/>
          <p:nvPr/>
        </p:nvSpPr>
        <p:spPr>
          <a:xfrm>
            <a:off x="2646680" y="5576570"/>
            <a:ext cx="1118870" cy="521970"/>
          </a:xfrm>
          <a:prstGeom prst="rect">
            <a:avLst/>
          </a:prstGeom>
          <a:noFill/>
        </p:spPr>
        <p:txBody>
          <a:bodyPr wrap="square">
            <a:spAutoFit/>
          </a:bodyPr>
          <a:lstStyle/>
          <a:p>
            <a:pPr marL="0" marR="0" lvl="0" indent="0" algn="ctr" defTabSz="913765" eaLnBrk="1" fontAlgn="auto" latinLnBrk="0" hangingPunct="1">
              <a:lnSpc>
                <a:spcPct val="100000"/>
              </a:lnSpc>
              <a:spcBef>
                <a:spcPts val="0"/>
              </a:spcBef>
              <a:spcAft>
                <a:spcPts val="0"/>
              </a:spcAft>
              <a:buClrTx/>
              <a:buSzPct val="25000"/>
              <a:buFontTx/>
              <a:buNone/>
              <a:defRPr/>
            </a:pPr>
            <a:r>
              <a:rPr lang="zh-CN" altLang="en-US" sz="1400" b="1" kern="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多相关系数统计筛选</a:t>
            </a:r>
            <a:endParaRPr lang="zh-CN" altLang="en-US" sz="1400" b="1" dirty="0">
              <a:solidFill>
                <a:prstClr val="black"/>
              </a:solidFill>
              <a:latin typeface="微软雅黑" panose="020B0503020204020204" pitchFamily="34" charset="-122"/>
              <a:ea typeface="微软雅黑" panose="020B0503020204020204" pitchFamily="34" charset="-122"/>
            </a:endParaRPr>
          </a:p>
        </p:txBody>
      </p:sp>
      <p:grpSp>
        <p:nvGrpSpPr>
          <p:cNvPr id="67" name="组合 66"/>
          <p:cNvGrpSpPr/>
          <p:nvPr/>
        </p:nvGrpSpPr>
        <p:grpSpPr>
          <a:xfrm>
            <a:off x="1026795" y="1743710"/>
            <a:ext cx="2506345" cy="2534920"/>
            <a:chOff x="441087" y="1752025"/>
            <a:chExt cx="2203450" cy="2534920"/>
          </a:xfrm>
        </p:grpSpPr>
        <p:sp>
          <p:nvSpPr>
            <p:cNvPr id="68" name="Number1"/>
            <p:cNvSpPr/>
            <p:nvPr/>
          </p:nvSpPr>
          <p:spPr>
            <a:xfrm>
              <a:off x="1001579" y="1752025"/>
              <a:ext cx="992027" cy="1010285"/>
            </a:xfrm>
            <a:prstGeom prst="rect">
              <a:avLst/>
            </a:prstGeom>
            <a:solidFill>
              <a:srgbClr val="5B9BD5"/>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1</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9" name="Bullet1"/>
            <p:cNvSpPr txBox="1"/>
            <p:nvPr/>
          </p:nvSpPr>
          <p:spPr>
            <a:xfrm>
              <a:off x="441087" y="2600633"/>
              <a:ext cx="2082800" cy="546752"/>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rm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25000"/>
                <a:buFontTx/>
                <a:buNone/>
                <a:defRPr/>
              </a:pPr>
              <a:r>
                <a:rPr kumimoji="0" lang="zh-CN" altLang="en-US" sz="18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多相关系数统计筛选</a:t>
              </a:r>
            </a:p>
          </p:txBody>
        </p:sp>
        <p:sp>
          <p:nvSpPr>
            <p:cNvPr id="70" name="Text1"/>
            <p:cNvSpPr txBox="1"/>
            <p:nvPr/>
          </p:nvSpPr>
          <p:spPr>
            <a:xfrm>
              <a:off x="441087" y="3098225"/>
              <a:ext cx="2203450" cy="118872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eaLnBrk="1" fontAlgn="auto" latinLnBrk="0" hangingPunct="1">
                <a:lnSpc>
                  <a:spcPct val="120000"/>
                </a:lnSpc>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针对每一个辅助特征向量</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xi</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，计算其与目标敏感数据向量</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Y</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之间的六种统计相关系数，根据六种相关系数大小进行初筛</a:t>
              </a:r>
            </a:p>
          </p:txBody>
        </p:sp>
      </p:grpSp>
      <p:grpSp>
        <p:nvGrpSpPr>
          <p:cNvPr id="71" name="组合 70"/>
          <p:cNvGrpSpPr/>
          <p:nvPr/>
        </p:nvGrpSpPr>
        <p:grpSpPr>
          <a:xfrm>
            <a:off x="4619609" y="1743170"/>
            <a:ext cx="2377440" cy="2501423"/>
            <a:chOff x="2514416" y="1707575"/>
            <a:chExt cx="2377440" cy="2501423"/>
          </a:xfrm>
        </p:grpSpPr>
        <p:sp>
          <p:nvSpPr>
            <p:cNvPr id="72" name="Number2"/>
            <p:cNvSpPr/>
            <p:nvPr/>
          </p:nvSpPr>
          <p:spPr>
            <a:xfrm>
              <a:off x="3202740" y="1707575"/>
              <a:ext cx="1068102" cy="1001797"/>
            </a:xfrm>
            <a:prstGeom prst="rect">
              <a:avLst/>
            </a:prstGeom>
            <a:solidFill>
              <a:srgbClr val="ED7D31"/>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2</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73" name="Bullet2"/>
            <p:cNvSpPr txBox="1"/>
            <p:nvPr/>
          </p:nvSpPr>
          <p:spPr>
            <a:xfrm>
              <a:off x="2514416" y="2579430"/>
              <a:ext cx="2377440" cy="546735"/>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25000"/>
                <a:buFontTx/>
                <a:buNone/>
                <a:defRPr/>
              </a:pP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L1</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门控深度推断建模</a:t>
              </a:r>
            </a:p>
          </p:txBody>
        </p:sp>
        <p:sp>
          <p:nvSpPr>
            <p:cNvPr id="74" name="Text2"/>
            <p:cNvSpPr txBox="1"/>
            <p:nvPr/>
          </p:nvSpPr>
          <p:spPr>
            <a:xfrm>
              <a:off x="2718251" y="3118810"/>
              <a:ext cx="2082800" cy="1090188"/>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eaLnBrk="1" fontAlgn="auto" latinLnBrk="0" hangingPunct="1">
                <a:lnSpc>
                  <a:spcPct val="120000"/>
                </a:lnSpc>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构建包含输入级门控层的深度神经网络推断模型，通过引入</a:t>
              </a: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L1</a:t>
              </a: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稀疏正则化进行特征筛选</a:t>
              </a:r>
            </a:p>
          </p:txBody>
        </p:sp>
      </p:grpSp>
      <p:grpSp>
        <p:nvGrpSpPr>
          <p:cNvPr id="75" name="组合 74"/>
          <p:cNvGrpSpPr/>
          <p:nvPr/>
        </p:nvGrpSpPr>
        <p:grpSpPr>
          <a:xfrm>
            <a:off x="7945907" y="1743170"/>
            <a:ext cx="2613025" cy="2482215"/>
            <a:chOff x="4843596" y="1715195"/>
            <a:chExt cx="2613025" cy="2482215"/>
          </a:xfrm>
        </p:grpSpPr>
        <p:grpSp>
          <p:nvGrpSpPr>
            <p:cNvPr id="76" name="组合 75"/>
            <p:cNvGrpSpPr/>
            <p:nvPr/>
          </p:nvGrpSpPr>
          <p:grpSpPr>
            <a:xfrm>
              <a:off x="4843596" y="1715195"/>
              <a:ext cx="2613025" cy="1584960"/>
              <a:chOff x="4843596" y="1715195"/>
              <a:chExt cx="2613025" cy="1584960"/>
            </a:xfrm>
          </p:grpSpPr>
          <p:sp>
            <p:nvSpPr>
              <p:cNvPr id="78" name="Number3"/>
              <p:cNvSpPr/>
              <p:nvPr/>
            </p:nvSpPr>
            <p:spPr>
              <a:xfrm>
                <a:off x="5609406" y="1715195"/>
                <a:ext cx="1109980" cy="973455"/>
              </a:xfrm>
              <a:prstGeom prst="rect">
                <a:avLst/>
              </a:prstGeom>
              <a:solidFill>
                <a:srgbClr val="A5A5A5"/>
              </a:solidFill>
              <a:ln w="38100" cap="flat" cmpd="sng" algn="ctr">
                <a:noFill/>
                <a:prstDash val="solid"/>
                <a:round/>
              </a:ln>
              <a:effectLst/>
            </p:spPr>
            <p:txBody>
              <a:bodyPr rot="0" spcFirstLastPara="0" vert="horz" wrap="non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3</a:t>
                </a:r>
                <a:endParaRPr kumimoji="0" lang="zh-CN" altLang="en-US" sz="2800" b="1" i="0" u="none" strike="noStrike" kern="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79" name="Bullet3"/>
              <p:cNvSpPr txBox="1"/>
              <p:nvPr/>
            </p:nvSpPr>
            <p:spPr>
              <a:xfrm>
                <a:off x="4843596" y="2753420"/>
                <a:ext cx="2613025" cy="546735"/>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b"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25000"/>
                  <a:buFontTx/>
                  <a:buNone/>
                  <a:defRPr/>
                </a:pPr>
                <a:r>
                  <a:rPr kumimoji="0" lang="zh-CN" altLang="en-US" sz="17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识别最小非冗余</a:t>
                </a:r>
              </a:p>
              <a:p>
                <a:pPr marL="0" marR="0" lvl="0" indent="0" algn="ctr" defTabSz="913765" eaLnBrk="1" fontAlgn="auto" latinLnBrk="0" hangingPunct="1">
                  <a:lnSpc>
                    <a:spcPct val="100000"/>
                  </a:lnSpc>
                  <a:spcBef>
                    <a:spcPts val="0"/>
                  </a:spcBef>
                  <a:spcAft>
                    <a:spcPts val="0"/>
                  </a:spcAft>
                  <a:buClrTx/>
                  <a:buSzPct val="25000"/>
                  <a:buFontTx/>
                  <a:buNone/>
                  <a:defRPr/>
                </a:pPr>
                <a:r>
                  <a:rPr kumimoji="0" lang="zh-CN" altLang="en-US" sz="17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推断源集</a:t>
                </a:r>
              </a:p>
            </p:txBody>
          </p:sp>
        </p:grpSp>
        <p:sp>
          <p:nvSpPr>
            <p:cNvPr id="77" name="Text3"/>
            <p:cNvSpPr txBox="1"/>
            <p:nvPr/>
          </p:nvSpPr>
          <p:spPr>
            <a:xfrm>
              <a:off x="4889316" y="3258880"/>
              <a:ext cx="2567305" cy="93853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3765" eaLnBrk="1" fontAlgn="auto" latinLnBrk="0" hangingPunct="1">
                <a:lnSpc>
                  <a:spcPct val="120000"/>
                </a:lnSpc>
                <a:spcBef>
                  <a:spcPts val="0"/>
                </a:spcBef>
                <a:spcAft>
                  <a:spcPts val="0"/>
                </a:spcAft>
                <a:buClrTx/>
                <a:buSzPct val="30000"/>
                <a:buFontTx/>
                <a:buNone/>
                <a:defRPr/>
              </a:pPr>
              <a:r>
                <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根据模型收敛后的门控参数绝对值大小，以及非冗余验证提取最小非冗余推断变量集合</a:t>
              </a:r>
            </a:p>
          </p:txBody>
        </p:sp>
      </p:grpSp>
      <mc:AlternateContent xmlns:mc="http://schemas.openxmlformats.org/markup-compatibility/2006" xmlns:a14="http://schemas.microsoft.com/office/drawing/2010/main">
        <mc:Choice Requires="a14">
          <p:sp>
            <p:nvSpPr>
              <p:cNvPr id="94" name="文本框 93"/>
              <p:cNvSpPr txBox="1"/>
              <p:nvPr/>
            </p:nvSpPr>
            <p:spPr>
              <a:xfrm>
                <a:off x="1168966" y="5894033"/>
                <a:ext cx="1665943" cy="584775"/>
              </a:xfrm>
              <a:prstGeom prst="rect">
                <a:avLst/>
              </a:prstGeom>
              <a:noFill/>
            </p:spPr>
            <p:txBody>
              <a:bodyPr wrap="square">
                <a:spAutoFit/>
              </a:bodyPr>
              <a:lstStyle/>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多维辅助数据</a:t>
                </a:r>
                <a14:m>
                  <m:oMath xmlns:m="http://schemas.openxmlformats.org/officeDocument/2006/math">
                    <m:sSub>
                      <m:sSubPr>
                        <m:ctrlPr>
                          <a:rPr lang="zh-CN" altLang="en-US" sz="1600" i="1" dirty="0">
                            <a:solidFill>
                              <a:prstClr val="black"/>
                            </a:solidFill>
                            <a:latin typeface="Cambria Math" panose="02040503050406030204" pitchFamily="18" charset="0"/>
                            <a:ea typeface="微软雅黑" panose="020B0503020204020204" pitchFamily="34" charset="-122"/>
                            <a:cs typeface="Arial" panose="020B0604020202020204" pitchFamily="34" charset="0"/>
                            <a:sym typeface="+mn-ea"/>
                          </a:rPr>
                        </m:ctrlPr>
                      </m:sSubPr>
                      <m:e>
                        <m:r>
                          <a:rPr lang="zh-CN" altLang="en-US" sz="1600" dirty="0">
                            <a:solidFill>
                              <a:prstClr val="black"/>
                            </a:solidFill>
                            <a:latin typeface="Cambria Math" panose="02040503050406030204" pitchFamily="18" charset="0"/>
                            <a:ea typeface="微软雅黑" panose="020B0503020204020204" pitchFamily="34" charset="-122"/>
                            <a:cs typeface="Arial" panose="020B0604020202020204" pitchFamily="34" charset="0"/>
                            <a:sym typeface="+mn-ea"/>
                          </a:rPr>
                          <m:t>𝑿</m:t>
                        </m:r>
                      </m:e>
                      <m:sub>
                        <m:r>
                          <a:rPr lang="zh-CN" altLang="en-US" sz="1600" dirty="0">
                            <a:solidFill>
                              <a:prstClr val="black"/>
                            </a:solidFill>
                            <a:latin typeface="Cambria Math" panose="02040503050406030204" pitchFamily="18" charset="0"/>
                            <a:ea typeface="微软雅黑" panose="020B0503020204020204" pitchFamily="34" charset="-122"/>
                            <a:cs typeface="Arial" panose="020B0604020202020204" pitchFamily="34" charset="0"/>
                            <a:sym typeface="+mn-ea"/>
                          </a:rPr>
                          <m:t>𝒊</m:t>
                        </m:r>
                      </m:sub>
                    </m:sSub>
                  </m:oMath>
                </a14:m>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sym typeface="+mn-ea"/>
                  </a:rPr>
                  <a:t>与敏感数据</a:t>
                </a:r>
                <a14:m>
                  <m:oMath xmlns:m="http://schemas.openxmlformats.org/officeDocument/2006/math">
                    <m:r>
                      <a:rPr lang="zh-CN" altLang="en-US" sz="1600" dirty="0">
                        <a:solidFill>
                          <a:prstClr val="black"/>
                        </a:solidFill>
                        <a:latin typeface="Cambria Math" panose="02040503050406030204" pitchFamily="18" charset="0"/>
                        <a:ea typeface="微软雅黑" panose="020B0503020204020204" pitchFamily="34" charset="-122"/>
                        <a:cs typeface="Arial" panose="020B0604020202020204" pitchFamily="34" charset="0"/>
                        <a:sym typeface="+mn-ea"/>
                      </a:rPr>
                      <m:t>𝒀</m:t>
                    </m:r>
                  </m:oMath>
                </a14:m>
                <a:endPar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94" name="文本框 93"/>
              <p:cNvSpPr txBox="1">
                <a:spLocks noRot="1" noChangeAspect="1" noMove="1" noResize="1" noEditPoints="1" noAdjustHandles="1" noChangeArrowheads="1" noChangeShapeType="1" noTextEdit="1"/>
              </p:cNvSpPr>
              <p:nvPr/>
            </p:nvSpPr>
            <p:spPr>
              <a:xfrm>
                <a:off x="1168966" y="5894033"/>
                <a:ext cx="1665943" cy="584775"/>
              </a:xfrm>
              <a:prstGeom prst="rect">
                <a:avLst/>
              </a:prstGeom>
              <a:blipFill>
                <a:blip r:embed="rId4"/>
                <a:stretch>
                  <a:fillRect l="-366" t="-3125" b="-12500"/>
                </a:stretch>
              </a:blipFill>
            </p:spPr>
            <p:txBody>
              <a:bodyPr/>
              <a:lstStyle/>
              <a:p>
                <a:r>
                  <a:rPr lang="zh-CN" altLang="en-US">
                    <a:noFill/>
                  </a:rPr>
                  <a:t> </a:t>
                </a:r>
              </a:p>
            </p:txBody>
          </p:sp>
        </mc:Fallback>
      </mc:AlternateContent>
      <p:sp>
        <p:nvSpPr>
          <p:cNvPr id="95" name="矩形: 圆角 94"/>
          <p:cNvSpPr/>
          <p:nvPr/>
        </p:nvSpPr>
        <p:spPr>
          <a:xfrm>
            <a:off x="998220" y="1711325"/>
            <a:ext cx="2535555" cy="2607945"/>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6" name="矩形: 圆角 95"/>
          <p:cNvSpPr/>
          <p:nvPr/>
        </p:nvSpPr>
        <p:spPr>
          <a:xfrm>
            <a:off x="4619625" y="1727200"/>
            <a:ext cx="2427605" cy="2607945"/>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97" name="矩形: 圆角 96"/>
          <p:cNvSpPr/>
          <p:nvPr/>
        </p:nvSpPr>
        <p:spPr>
          <a:xfrm>
            <a:off x="7959725" y="1708785"/>
            <a:ext cx="2599055" cy="2607945"/>
          </a:xfrm>
          <a:prstGeom prst="roundRect">
            <a:avLst>
              <a:gd name="adj" fmla="val 4343"/>
            </a:avLst>
          </a:prstGeom>
          <a:noFill/>
          <a:ln w="1905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00" name="文本框 99"/>
          <p:cNvSpPr txBox="1"/>
          <p:nvPr/>
        </p:nvSpPr>
        <p:spPr>
          <a:xfrm>
            <a:off x="437206" y="1029219"/>
            <a:ext cx="8274633" cy="492443"/>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研究方法框架</a:t>
            </a:r>
          </a:p>
        </p:txBody>
      </p:sp>
      <p:pic>
        <p:nvPicPr>
          <p:cNvPr id="7" name="图片 6"/>
          <p:cNvPicPr>
            <a:picLocks noChangeAspect="1"/>
          </p:cNvPicPr>
          <p:nvPr/>
        </p:nvPicPr>
        <p:blipFill>
          <a:blip r:embed="rId5"/>
          <a:stretch>
            <a:fillRect/>
          </a:stretch>
        </p:blipFill>
        <p:spPr>
          <a:xfrm>
            <a:off x="1591945" y="5038090"/>
            <a:ext cx="781050" cy="619125"/>
          </a:xfrm>
          <a:prstGeom prst="rect">
            <a:avLst/>
          </a:prstGeom>
        </p:spPr>
      </p:pic>
      <p:pic>
        <p:nvPicPr>
          <p:cNvPr id="8" name="图片 7"/>
          <p:cNvPicPr>
            <a:picLocks noChangeAspect="1"/>
          </p:cNvPicPr>
          <p:nvPr/>
        </p:nvPicPr>
        <p:blipFill>
          <a:blip r:embed="rId6"/>
          <a:stretch>
            <a:fillRect/>
          </a:stretch>
        </p:blipFill>
        <p:spPr>
          <a:xfrm>
            <a:off x="3980180" y="4992370"/>
            <a:ext cx="1104900" cy="790575"/>
          </a:xfrm>
          <a:prstGeom prst="rect">
            <a:avLst/>
          </a:prstGeom>
        </p:spPr>
      </p:pic>
      <p:pic>
        <p:nvPicPr>
          <p:cNvPr id="9" name="图片 8"/>
          <p:cNvPicPr>
            <a:picLocks noChangeAspect="1"/>
          </p:cNvPicPr>
          <p:nvPr/>
        </p:nvPicPr>
        <p:blipFill>
          <a:blip r:embed="rId7"/>
          <a:stretch>
            <a:fillRect/>
          </a:stretch>
        </p:blipFill>
        <p:spPr>
          <a:xfrm>
            <a:off x="5540375" y="4432935"/>
            <a:ext cx="819150" cy="781050"/>
          </a:xfrm>
          <a:prstGeom prst="rect">
            <a:avLst/>
          </a:prstGeom>
        </p:spPr>
      </p:pic>
      <p:pic>
        <p:nvPicPr>
          <p:cNvPr id="10" name="图片 9"/>
          <p:cNvPicPr>
            <a:picLocks noChangeAspect="1"/>
          </p:cNvPicPr>
          <p:nvPr/>
        </p:nvPicPr>
        <p:blipFill>
          <a:blip r:embed="rId8"/>
          <a:stretch>
            <a:fillRect/>
          </a:stretch>
        </p:blipFill>
        <p:spPr>
          <a:xfrm>
            <a:off x="2856865" y="4509135"/>
            <a:ext cx="533400" cy="704850"/>
          </a:xfrm>
          <a:prstGeom prst="rect">
            <a:avLst/>
          </a:prstGeom>
        </p:spPr>
      </p:pic>
      <p:pic>
        <p:nvPicPr>
          <p:cNvPr id="11" name="图片 10"/>
          <p:cNvPicPr>
            <a:picLocks noChangeAspect="1"/>
          </p:cNvPicPr>
          <p:nvPr/>
        </p:nvPicPr>
        <p:blipFill>
          <a:blip r:embed="rId9"/>
          <a:stretch>
            <a:fillRect/>
          </a:stretch>
        </p:blipFill>
        <p:spPr>
          <a:xfrm>
            <a:off x="8211820" y="4484370"/>
            <a:ext cx="579755" cy="688975"/>
          </a:xfrm>
          <a:prstGeom prst="rect">
            <a:avLst/>
          </a:prstGeom>
        </p:spPr>
      </p:pic>
      <p:pic>
        <p:nvPicPr>
          <p:cNvPr id="12" name="图片 11"/>
          <p:cNvPicPr>
            <a:picLocks noChangeAspect="1"/>
          </p:cNvPicPr>
          <p:nvPr/>
        </p:nvPicPr>
        <p:blipFill>
          <a:blip r:embed="rId10"/>
          <a:stretch>
            <a:fillRect/>
          </a:stretch>
        </p:blipFill>
        <p:spPr>
          <a:xfrm>
            <a:off x="6913880" y="4871720"/>
            <a:ext cx="680720" cy="911225"/>
          </a:xfrm>
          <a:prstGeom prst="rect">
            <a:avLst/>
          </a:prstGeom>
        </p:spPr>
      </p:pic>
      <p:pic>
        <p:nvPicPr>
          <p:cNvPr id="19" name="图片 18"/>
          <p:cNvPicPr>
            <a:picLocks noChangeAspect="1"/>
          </p:cNvPicPr>
          <p:nvPr/>
        </p:nvPicPr>
        <p:blipFill>
          <a:blip r:embed="rId11"/>
          <a:stretch>
            <a:fillRect/>
          </a:stretch>
        </p:blipFill>
        <p:spPr>
          <a:xfrm>
            <a:off x="9403080" y="4795520"/>
            <a:ext cx="930910" cy="987425"/>
          </a:xfrm>
          <a:prstGeom prst="rect">
            <a:avLst/>
          </a:prstGeom>
        </p:spPr>
      </p:pic>
      <p:sp>
        <p:nvSpPr>
          <p:cNvPr id="2" name="TextBox 8">
            <a:extLst>
              <a:ext uri="{FF2B5EF4-FFF2-40B4-BE49-F238E27FC236}">
                <a16:creationId xmlns:a16="http://schemas.microsoft.com/office/drawing/2014/main" id="{4FC9DE71-F81A-6807-037B-CE9129C1F7B9}"/>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37515" y="1029335"/>
            <a:ext cx="3671570" cy="491490"/>
          </a:xfrm>
          <a:prstGeom prst="rect">
            <a:avLst/>
          </a:prstGeom>
          <a:noFill/>
        </p:spPr>
        <p:txBody>
          <a:bodyPr wrap="square">
            <a:spAutoFit/>
          </a:bodyPr>
          <a:lstStyle/>
          <a:p>
            <a:pPr marL="457200" indent="-457200">
              <a:buFont typeface="Wingdings" panose="05000000000000000000" pitchFamily="2" charset="2"/>
              <a:buChar char="Ø"/>
            </a:pPr>
            <a:r>
              <a:rPr lang="zh-CN" altLang="en-US" sz="2600" b="1" dirty="0">
                <a:latin typeface="微软雅黑" panose="020B0503020204020204" pitchFamily="34" charset="-122"/>
                <a:ea typeface="微软雅黑" panose="020B0503020204020204" pitchFamily="34" charset="-122"/>
              </a:rPr>
              <a:t>多相关系数初筛方法</a:t>
            </a:r>
          </a:p>
        </p:txBody>
      </p:sp>
      <mc:AlternateContent xmlns:mc="http://schemas.openxmlformats.org/markup-compatibility/2006" xmlns:a14="http://schemas.microsoft.com/office/drawing/2010/main">
        <mc:Choice Requires="a14">
          <p:sp>
            <p:nvSpPr>
              <p:cNvPr id="11" name="文本框 10"/>
              <p:cNvSpPr txBox="1"/>
              <p:nvPr/>
            </p:nvSpPr>
            <p:spPr>
              <a:xfrm>
                <a:off x="365760" y="1514475"/>
                <a:ext cx="11236325" cy="2180590"/>
              </a:xfrm>
              <a:prstGeom prst="rect">
                <a:avLst/>
              </a:prstGeom>
              <a:noFill/>
            </p:spPr>
            <p:txBody>
              <a:bodyPr wrap="square">
                <a:noAutofit/>
              </a:bodyPr>
              <a:lstStyle/>
              <a:p>
                <a:pPr>
                  <a:lnSpc>
                    <a:spcPct val="150000"/>
                  </a:lnSpc>
                </a:pPr>
                <a:r>
                  <a:rPr lang="zh-CN" altLang="en-US" sz="2000" dirty="0">
                    <a:latin typeface="Arial" panose="020B0604020202020204" pitchFamily="34" charset="0"/>
                    <a:ea typeface="微软雅黑" panose="020B0503020204020204" pitchFamily="34" charset="-122"/>
                    <a:cs typeface="Arial" panose="020B0604020202020204" pitchFamily="34" charset="0"/>
                  </a:rPr>
                  <a:t>相关系数是衡量变量关联关系的常用方法，</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但不同相关系数通常只能反映某一类依赖关系，</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本研究同时采用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种相关性指标对候选变量与敏感目标之间的关联程度进行统计筛选。</a:t>
                </a:r>
              </a:p>
              <a:p>
                <a:pPr>
                  <a:lnSpc>
                    <a:spcPct val="150000"/>
                  </a:lnSpc>
                </a:pP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对每个候选变量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sSub>
                      <m:sSubPr>
                        <m:ctrlP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𝑿</m:t>
                        </m:r>
                      </m:e>
                      <m:sub>
                        <m: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𝒊</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，计算其相对于敏感目标</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𝒀</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的六维相关向量</a:t>
                </a:r>
                <a14:m>
                  <m:oMath xmlns:m="http://schemas.openxmlformats.org/officeDocument/2006/math">
                    <m:sSub>
                      <m:sSubPr>
                        <m:ctrlPr>
                          <a:rPr lang="en-US" altLang="zh-CN" sz="2000" i="1" dirty="0">
                            <a:solidFill>
                              <a:prstClr val="black"/>
                            </a:solidFill>
                            <a:latin typeface="Cambria Math" panose="02040503050406030204" pitchFamily="18" charset="0"/>
                            <a:ea typeface="等线" panose="02010600030101010101" charset="-122"/>
                            <a:cs typeface="Cambria Math" panose="02040503050406030204" pitchFamily="18" charset="0"/>
                          </a:rPr>
                        </m:ctrlPr>
                      </m:sSubPr>
                      <m:e>
                        <m:r>
                          <a:rPr lang="en-US" altLang="zh-CN" sz="2000" i="1" dirty="0">
                            <a:solidFill>
                              <a:prstClr val="black"/>
                            </a:solidFill>
                            <a:latin typeface="Cambria Math" panose="02040503050406030204" pitchFamily="18" charset="0"/>
                            <a:ea typeface="等线" panose="02010600030101010101" charset="-122"/>
                            <a:cs typeface="Cambria Math" panose="02040503050406030204" pitchFamily="18" charset="0"/>
                          </a:rPr>
                          <m:t>𝑅</m:t>
                        </m:r>
                      </m:e>
                      <m:sub>
                        <m:r>
                          <a:rPr lang="en-US" altLang="zh-CN" sz="2000" i="1" dirty="0">
                            <a:solidFill>
                              <a:prstClr val="black"/>
                            </a:solidFill>
                            <a:latin typeface="Cambria Math" panose="02040503050406030204" pitchFamily="18" charset="0"/>
                            <a:ea typeface="等线" panose="02010600030101010101" charset="-122"/>
                            <a:cs typeface="Cambria Math" panose="02040503050406030204" pitchFamily="18" charset="0"/>
                          </a:rPr>
                          <m:t>𝑖</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，设定一个较小的初筛阈值</a:t>
                </a:r>
                <a14:m>
                  <m:oMath xmlns:m="http://schemas.openxmlformats.org/officeDocument/2006/math">
                    <m:sSub>
                      <m:sSubPr>
                        <m:ctrlP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𝝁</m:t>
                        </m:r>
                      </m:e>
                      <m:sub>
                        <m:r>
                          <a:rPr lang="en-US" altLang="zh-CN" sz="20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𝟏</m:t>
                        </m:r>
                      </m:sub>
                    </m:sSub>
                  </m:oMath>
                </a14:m>
                <a:r>
                  <a:rPr lang="zh-CN" altLang="en-US" sz="2000"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a:t>，当任意一种相关系数达到该阈值时，即认为该变量具有潜在推断价值，将其保留到候选推断变量集中。</a:t>
                </a:r>
              </a:p>
            </p:txBody>
          </p:sp>
        </mc:Choice>
        <mc:Fallback xmlns="">
          <p:sp>
            <p:nvSpPr>
              <p:cNvPr id="11" name="文本框 10"/>
              <p:cNvSpPr txBox="1">
                <a:spLocks noRot="1" noChangeAspect="1" noMove="1" noResize="1" noEditPoints="1" noAdjustHandles="1" noChangeArrowheads="1" noChangeShapeType="1" noTextEdit="1"/>
              </p:cNvSpPr>
              <p:nvPr/>
            </p:nvSpPr>
            <p:spPr>
              <a:xfrm>
                <a:off x="365760" y="1514475"/>
                <a:ext cx="11236325" cy="2180590"/>
              </a:xfrm>
              <a:prstGeom prst="rect">
                <a:avLst/>
              </a:prstGeom>
              <a:blipFill rotWithShape="1">
                <a:blip r:embed="rId4"/>
                <a:stretch>
                  <a:fillRect r="-277"/>
                </a:stretch>
              </a:blipFill>
            </p:spPr>
            <p:txBody>
              <a:bodyPr/>
              <a:lstStyle/>
              <a:p>
                <a:r>
                  <a:rPr lang="zh-CN" altLang="en-US">
                    <a:noFill/>
                  </a:rPr>
                  <a:t> </a:t>
                </a:r>
              </a:p>
            </p:txBody>
          </p:sp>
        </mc:Fallback>
      </mc:AlternateContent>
      <p:graphicFrame>
        <p:nvGraphicFramePr>
          <p:cNvPr id="2" name="对象 1">
            <a:hlinkClick r:id="" action="ppaction://ole?verb=0"/>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r:id="rId5" imgW="114300" imgH="215900" progId="Equation.KSEE3">
                  <p:embed/>
                </p:oleObj>
              </mc:Choice>
              <mc:Fallback>
                <p:oleObj r:id="rId5" imgW="114300" imgH="215900" progId="Equation.KSEE3">
                  <p:embed/>
                  <p:pic>
                    <p:nvPicPr>
                      <p:cNvPr id="2" name="对象 1">
                        <a:hlinkClick r:id="" action="ppaction://ole?verb=0"/>
                      </p:cNvPr>
                      <p:cNvPicPr/>
                      <p:nvPr/>
                    </p:nvPicPr>
                    <p:blipFill>
                      <a:blip r:embed="rId6"/>
                      <a:stretch>
                        <a:fillRect/>
                      </a:stretch>
                    </p:blipFill>
                    <p:spPr>
                      <a:xfrm>
                        <a:off x="6038850" y="3321050"/>
                        <a:ext cx="114300" cy="215900"/>
                      </a:xfrm>
                      <a:prstGeom prst="rect">
                        <a:avLst/>
                      </a:prstGeom>
                    </p:spPr>
                  </p:pic>
                </p:oleObj>
              </mc:Fallback>
            </mc:AlternateContent>
          </a:graphicData>
        </a:graphic>
      </p:graphicFrame>
      <p:sp>
        <p:nvSpPr>
          <p:cNvPr id="53" name="箭头: 右 52"/>
          <p:cNvSpPr/>
          <p:nvPr/>
        </p:nvSpPr>
        <p:spPr>
          <a:xfrm>
            <a:off x="7823835" y="4942205"/>
            <a:ext cx="1560830"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5" name="箭头: 右 64"/>
          <p:cNvSpPr/>
          <p:nvPr/>
        </p:nvSpPr>
        <p:spPr>
          <a:xfrm>
            <a:off x="2131695" y="4940300"/>
            <a:ext cx="1525270"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mc:AlternateContent xmlns:mc="http://schemas.openxmlformats.org/markup-compatibility/2006" xmlns:a14="http://schemas.microsoft.com/office/drawing/2010/main">
        <mc:Choice Requires="a14">
          <p:sp>
            <p:nvSpPr>
              <p:cNvPr id="66" name="文本框 65"/>
              <p:cNvSpPr txBox="1"/>
              <p:nvPr/>
            </p:nvSpPr>
            <p:spPr>
              <a:xfrm>
                <a:off x="2296160" y="4334510"/>
                <a:ext cx="1184275" cy="600075"/>
              </a:xfrm>
              <a:prstGeom prst="rect">
                <a:avLst/>
              </a:prstGeom>
              <a:noFill/>
            </p:spPr>
            <p:txBody>
              <a:bodyPr wrap="square">
                <a:spAutoFit/>
              </a:bodyPr>
              <a:lstStyle/>
              <a:p>
                <a:pPr algn="ctr"/>
                <a:r>
                  <a:rPr lang="zh-CN" altLang="en-US"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计算</a:t>
                </a:r>
                <a14:m>
                  <m:oMath xmlns:m="http://schemas.openxmlformats.org/officeDocument/2006/math">
                    <m:r>
                      <a:rPr lang="en-US" altLang="zh-CN" sz="1400" b="1" dirty="0">
                        <a:solidFill>
                          <a:prstClr val="black"/>
                        </a:solidFill>
                        <a:latin typeface="Cambria Math" panose="02040503050406030204" pitchFamily="18" charset="0"/>
                        <a:ea typeface="微软雅黑" panose="020B0503020204020204" pitchFamily="34" charset="-122"/>
                        <a:cs typeface="Arial" panose="020B0604020202020204" pitchFamily="34" charset="0"/>
                      </a:rPr>
                      <m:t>(</m:t>
                    </m:r>
                    <m:sSub>
                      <m:sSubPr>
                        <m:ctrlP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𝑿</m:t>
                        </m:r>
                      </m:e>
                      <m:sub>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𝒊</m:t>
                        </m:r>
                      </m:sub>
                    </m:sSub>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𝒀</m:t>
                    </m:r>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m:t>
                    </m:r>
                  </m:oMath>
                </a14:m>
                <a:endPar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endParaRPr>
              </a:p>
              <a:p>
                <a:pPr algn="ctr"/>
                <a:r>
                  <a:rPr lang="en-US" altLang="zh-CN"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6</a:t>
                </a:r>
                <a:r>
                  <a:rPr lang="zh-CN" altLang="en-US"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种相关系数</a:t>
                </a:r>
              </a:p>
            </p:txBody>
          </p:sp>
        </mc:Choice>
        <mc:Fallback xmlns="">
          <p:sp>
            <p:nvSpPr>
              <p:cNvPr id="66" name="文本框 65"/>
              <p:cNvSpPr txBox="1">
                <a:spLocks noRot="1" noChangeAspect="1" noMove="1" noResize="1" noEditPoints="1" noAdjustHandles="1" noChangeArrowheads="1" noChangeShapeType="1" noTextEdit="1"/>
              </p:cNvSpPr>
              <p:nvPr/>
            </p:nvSpPr>
            <p:spPr>
              <a:xfrm>
                <a:off x="2296160" y="4334510"/>
                <a:ext cx="1184275" cy="600075"/>
              </a:xfrm>
              <a:prstGeom prst="rect">
                <a:avLst/>
              </a:prstGeom>
              <a:blipFill rotWithShape="1">
                <a:blip r:embed="rId7"/>
                <a:stretch>
                  <a:fillRect/>
                </a:stretch>
              </a:blipFill>
            </p:spPr>
            <p:txBody>
              <a:bodyPr/>
              <a:lstStyle/>
              <a:p>
                <a:r>
                  <a:rPr lang="zh-CN" altLang="en-US">
                    <a:noFill/>
                  </a:rPr>
                  <a:t> </a:t>
                </a:r>
              </a:p>
            </p:txBody>
          </p:sp>
        </mc:Fallback>
      </mc:AlternateContent>
      <p:pic>
        <p:nvPicPr>
          <p:cNvPr id="92" name="图片 9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770888" y="4609674"/>
            <a:ext cx="945987" cy="945987"/>
          </a:xfrm>
          <a:prstGeom prst="rect">
            <a:avLst/>
          </a:prstGeom>
        </p:spPr>
      </p:pic>
      <p:pic>
        <p:nvPicPr>
          <p:cNvPr id="4" name="图片 3"/>
          <p:cNvPicPr>
            <a:picLocks noChangeAspect="1"/>
          </p:cNvPicPr>
          <p:nvPr/>
        </p:nvPicPr>
        <p:blipFill>
          <a:blip r:embed="rId9"/>
          <a:stretch>
            <a:fillRect/>
          </a:stretch>
        </p:blipFill>
        <p:spPr>
          <a:xfrm>
            <a:off x="3776980" y="4431665"/>
            <a:ext cx="2270125" cy="1003935"/>
          </a:xfrm>
          <a:prstGeom prst="rect">
            <a:avLst/>
          </a:prstGeom>
        </p:spPr>
      </p:pic>
      <p:sp>
        <p:nvSpPr>
          <p:cNvPr id="5" name="圆角矩形 4"/>
          <p:cNvSpPr/>
          <p:nvPr/>
        </p:nvSpPr>
        <p:spPr>
          <a:xfrm>
            <a:off x="760095" y="4066540"/>
            <a:ext cx="1239520" cy="2032000"/>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0"/>
          <a:stretch>
            <a:fillRect/>
          </a:stretch>
        </p:blipFill>
        <p:spPr>
          <a:xfrm>
            <a:off x="1035050" y="4147820"/>
            <a:ext cx="701040" cy="674370"/>
          </a:xfrm>
          <a:prstGeom prst="rect">
            <a:avLst/>
          </a:prstGeom>
        </p:spPr>
      </p:pic>
      <p:pic>
        <p:nvPicPr>
          <p:cNvPr id="7" name="图片 6"/>
          <p:cNvPicPr>
            <a:picLocks noChangeAspect="1"/>
          </p:cNvPicPr>
          <p:nvPr/>
        </p:nvPicPr>
        <p:blipFill>
          <a:blip r:embed="rId11"/>
          <a:stretch>
            <a:fillRect/>
          </a:stretch>
        </p:blipFill>
        <p:spPr>
          <a:xfrm>
            <a:off x="1026795" y="5170805"/>
            <a:ext cx="673100" cy="579755"/>
          </a:xfrm>
          <a:prstGeom prst="rect">
            <a:avLst/>
          </a:prstGeom>
        </p:spPr>
      </p:pic>
      <mc:AlternateContent xmlns:mc="http://schemas.openxmlformats.org/markup-compatibility/2006" xmlns:a14="http://schemas.microsoft.com/office/drawing/2010/main">
        <mc:Choice Requires="a14">
          <p:sp>
            <p:nvSpPr>
              <p:cNvPr id="8" name="文本框 7"/>
              <p:cNvSpPr txBox="1"/>
              <p:nvPr/>
            </p:nvSpPr>
            <p:spPr>
              <a:xfrm>
                <a:off x="759460" y="4821555"/>
                <a:ext cx="1307465" cy="337185"/>
              </a:xfrm>
              <a:prstGeom prst="rect">
                <a:avLst/>
              </a:prstGeom>
              <a:noFill/>
            </p:spPr>
            <p:txBody>
              <a:bodyPr wrap="square" rtlCol="0">
                <a:spAutoFit/>
              </a:bodyPr>
              <a:lstStyle/>
              <a:p>
                <a14:m>
                  <m:oMath xmlns:m="http://schemas.openxmlformats.org/officeDocument/2006/math">
                    <m:sSub>
                      <m:sSubPr>
                        <m:ctrlP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𝑿</m:t>
                        </m:r>
                      </m:e>
                      <m:sub>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𝒊</m:t>
                        </m:r>
                      </m:sub>
                    </m:sSub>
                  </m:oMath>
                </a14:m>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候选变量</a:t>
                </a:r>
              </a:p>
            </p:txBody>
          </p:sp>
        </mc:Choice>
        <mc:Fallback xmlns="">
          <p:sp>
            <p:nvSpPr>
              <p:cNvPr id="8" name="文本框 7"/>
              <p:cNvSpPr txBox="1">
                <a:spLocks noRot="1" noChangeAspect="1" noMove="1" noResize="1" noEditPoints="1" noAdjustHandles="1" noChangeArrowheads="1" noChangeShapeType="1" noTextEdit="1"/>
              </p:cNvSpPr>
              <p:nvPr/>
            </p:nvSpPr>
            <p:spPr>
              <a:xfrm>
                <a:off x="759460" y="4821555"/>
                <a:ext cx="1307465" cy="337185"/>
              </a:xfrm>
              <a:prstGeom prst="rect">
                <a:avLst/>
              </a:prstGeom>
              <a:blipFill rotWithShape="1">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759460" y="5750560"/>
                <a:ext cx="1307465" cy="337185"/>
              </a:xfrm>
              <a:prstGeom prst="rect">
                <a:avLst/>
              </a:prstGeom>
              <a:noFill/>
            </p:spPr>
            <p:txBody>
              <a:bodyPr wrap="square" rtlCol="0">
                <a:spAutoFit/>
              </a:bodyPr>
              <a:lstStyle/>
              <a:p>
                <a14:m>
                  <m:oMath xmlns:m="http://schemas.openxmlformats.org/officeDocument/2006/math">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𝒀</m:t>
                    </m:r>
                  </m:oMath>
                </a14:m>
                <a:r>
                  <a:rPr lang="en-US" altLang="zh-CN" sz="1600"/>
                  <a:t>:</a:t>
                </a:r>
                <a:r>
                  <a:rPr lang="zh-CN" altLang="en-US" sz="1600">
                    <a:latin typeface="微软雅黑" panose="020B0503020204020204" pitchFamily="34" charset="-122"/>
                    <a:ea typeface="微软雅黑" panose="020B0503020204020204" pitchFamily="34" charset="-122"/>
                  </a:rPr>
                  <a:t>敏感变量</a:t>
                </a:r>
              </a:p>
            </p:txBody>
          </p:sp>
        </mc:Choice>
        <mc:Fallback xmlns="">
          <p:sp>
            <p:nvSpPr>
              <p:cNvPr id="9" name="文本框 8"/>
              <p:cNvSpPr txBox="1">
                <a:spLocks noRot="1" noChangeAspect="1" noMove="1" noResize="1" noEditPoints="1" noAdjustHandles="1" noChangeArrowheads="1" noChangeShapeType="1" noTextEdit="1"/>
              </p:cNvSpPr>
              <p:nvPr/>
            </p:nvSpPr>
            <p:spPr>
              <a:xfrm>
                <a:off x="759460" y="5750560"/>
                <a:ext cx="1307465" cy="337185"/>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p:cNvSpPr txBox="1"/>
              <p:nvPr/>
            </p:nvSpPr>
            <p:spPr>
              <a:xfrm>
                <a:off x="4103370" y="5563870"/>
                <a:ext cx="1617345" cy="673735"/>
              </a:xfrm>
              <a:prstGeom prst="rect">
                <a:avLst/>
              </a:prstGeom>
              <a:noFill/>
            </p:spPr>
            <p:txBody>
              <a:bodyPr wrap="square">
                <a:spAutoFit/>
              </a:bodyPr>
              <a:lstStyle/>
              <a:p>
                <a:pPr algn="ctr"/>
                <a14:m>
                  <m:oMath xmlns:m="http://schemas.openxmlformats.org/officeDocument/2006/math">
                    <m:r>
                      <a:rPr lang="en-US" altLang="zh-CN" sz="1600" b="1" dirty="0">
                        <a:solidFill>
                          <a:prstClr val="black"/>
                        </a:solidFill>
                        <a:latin typeface="Cambria Math" panose="02040503050406030204" pitchFamily="18" charset="0"/>
                        <a:ea typeface="微软雅黑" panose="020B0503020204020204" pitchFamily="34" charset="-122"/>
                        <a:cs typeface="Arial" panose="020B0604020202020204" pitchFamily="34" charset="0"/>
                      </a:rPr>
                      <m:t>(</m:t>
                    </m:r>
                    <m:sSub>
                      <m:sSubPr>
                        <m:ctrlP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𝑿</m:t>
                        </m:r>
                      </m:e>
                      <m:sub>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𝒊</m:t>
                        </m:r>
                      </m:sub>
                    </m:sSub>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m:t>
                    </m:r>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𝒀</m:t>
                    </m:r>
                    <m:r>
                      <a:rPr lang="en-US" altLang="zh-CN" sz="16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m:t>
                    </m:r>
                  </m:oMath>
                </a14:m>
                <a:r>
                  <a:rPr lang="en-US" altLang="zh-CN" sz="1600" dirty="0">
                    <a:solidFill>
                      <a:prstClr val="black"/>
                    </a:solidFill>
                    <a:latin typeface="等线" panose="02010600030101010101" charset="-122"/>
                    <a:ea typeface="等线" panose="02010600030101010101" charset="-122"/>
                  </a:rPr>
                  <a:t>6</a:t>
                </a:r>
                <a:r>
                  <a:rPr lang="zh-CN" altLang="en-US" sz="1600" dirty="0">
                    <a:solidFill>
                      <a:prstClr val="black"/>
                    </a:solidFill>
                    <a:latin typeface="等线" panose="02010600030101010101" charset="-122"/>
                    <a:ea typeface="等线" panose="02010600030101010101" charset="-122"/>
                  </a:rPr>
                  <a:t>维相关</a:t>
                </a:r>
              </a:p>
              <a:p>
                <a:pPr algn="ctr"/>
                <a:r>
                  <a:rPr lang="zh-CN" altLang="en-US" sz="1600" dirty="0">
                    <a:solidFill>
                      <a:prstClr val="black"/>
                    </a:solidFill>
                    <a:latin typeface="等线" panose="02010600030101010101" charset="-122"/>
                    <a:ea typeface="等线" panose="02010600030101010101" charset="-122"/>
                  </a:rPr>
                  <a:t>系数向量</a:t>
                </a:r>
                <a14:m>
                  <m:oMath xmlns:m="http://schemas.openxmlformats.org/officeDocument/2006/math">
                    <m:sSub>
                      <m:sSubPr>
                        <m:ctrlPr>
                          <a:rPr lang="en-US" altLang="zh-CN" sz="1600" i="1" dirty="0">
                            <a:solidFill>
                              <a:prstClr val="black"/>
                            </a:solidFill>
                            <a:latin typeface="Cambria Math" panose="02040503050406030204" pitchFamily="18" charset="0"/>
                            <a:ea typeface="等线" panose="02010600030101010101" charset="-122"/>
                            <a:cs typeface="Cambria Math" panose="02040503050406030204" pitchFamily="18" charset="0"/>
                          </a:rPr>
                        </m:ctrlPr>
                      </m:sSubPr>
                      <m:e>
                        <m:r>
                          <a:rPr lang="en-US" altLang="zh-CN" sz="1600" i="1" dirty="0">
                            <a:solidFill>
                              <a:prstClr val="black"/>
                            </a:solidFill>
                            <a:latin typeface="Cambria Math" panose="02040503050406030204" pitchFamily="18" charset="0"/>
                            <a:ea typeface="等线" panose="02010600030101010101" charset="-122"/>
                            <a:cs typeface="Cambria Math" panose="02040503050406030204" pitchFamily="18" charset="0"/>
                          </a:rPr>
                          <m:t>𝑅</m:t>
                        </m:r>
                      </m:e>
                      <m:sub>
                        <m:r>
                          <a:rPr lang="en-US" altLang="zh-CN" sz="1600" i="1" dirty="0">
                            <a:solidFill>
                              <a:prstClr val="black"/>
                            </a:solidFill>
                            <a:latin typeface="Cambria Math" panose="02040503050406030204" pitchFamily="18" charset="0"/>
                            <a:ea typeface="等线" panose="02010600030101010101" charset="-122"/>
                            <a:cs typeface="Cambria Math" panose="02040503050406030204" pitchFamily="18" charset="0"/>
                          </a:rPr>
                          <m:t>𝑖</m:t>
                        </m:r>
                      </m:sub>
                    </m:sSub>
                  </m:oMath>
                </a14:m>
                <a:endParaRPr lang="zh-CN" altLang="en-US" sz="1600" dirty="0">
                  <a:solidFill>
                    <a:prstClr val="black"/>
                  </a:solidFill>
                  <a:latin typeface="等线" panose="02010600030101010101" charset="-122"/>
                  <a:ea typeface="等线" panose="02010600030101010101" charset="-122"/>
                </a:endParaRPr>
              </a:p>
            </p:txBody>
          </p:sp>
        </mc:Choice>
        <mc:Fallback xmlns="">
          <p:sp>
            <p:nvSpPr>
              <p:cNvPr id="54" name="文本框 53"/>
              <p:cNvSpPr txBox="1">
                <a:spLocks noRot="1" noChangeAspect="1" noMove="1" noResize="1" noEditPoints="1" noAdjustHandles="1" noChangeArrowheads="1" noChangeShapeType="1" noTextEdit="1"/>
              </p:cNvSpPr>
              <p:nvPr/>
            </p:nvSpPr>
            <p:spPr>
              <a:xfrm>
                <a:off x="4103370" y="5563870"/>
                <a:ext cx="1617345" cy="673735"/>
              </a:xfrm>
              <a:prstGeom prst="rect">
                <a:avLst/>
              </a:prstGeom>
              <a:blipFill rotWithShape="1">
                <a:blip r:embed="rId14"/>
                <a:stretch>
                  <a:fillRect/>
                </a:stretch>
              </a:blipFill>
            </p:spPr>
            <p:txBody>
              <a:bodyPr/>
              <a:lstStyle/>
              <a:p>
                <a:r>
                  <a:rPr lang="zh-CN" altLang="en-US">
                    <a:noFill/>
                  </a:rPr>
                  <a:t> </a:t>
                </a:r>
              </a:p>
            </p:txBody>
          </p:sp>
        </mc:Fallback>
      </mc:AlternateContent>
      <p:sp>
        <p:nvSpPr>
          <p:cNvPr id="17" name="圆角矩形 16"/>
          <p:cNvSpPr/>
          <p:nvPr/>
        </p:nvSpPr>
        <p:spPr>
          <a:xfrm>
            <a:off x="6167120" y="4257040"/>
            <a:ext cx="1299210" cy="1805940"/>
          </a:xfrm>
          <a:prstGeom prst="roundRect">
            <a:avLst/>
          </a:prstGeom>
          <a:solidFill>
            <a:schemeClr val="bg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文本框 17"/>
          <p:cNvSpPr txBox="1"/>
          <p:nvPr/>
        </p:nvSpPr>
        <p:spPr>
          <a:xfrm>
            <a:off x="6180455" y="4334510"/>
            <a:ext cx="1313815" cy="1753235"/>
          </a:xfrm>
          <a:prstGeom prst="rect">
            <a:avLst/>
          </a:prstGeom>
          <a:noFill/>
          <a:ln>
            <a:noFill/>
          </a:ln>
        </p:spPr>
        <p:txBody>
          <a:bodyPr wrap="square" rtlCol="0">
            <a:spAutoFit/>
          </a:bodyPr>
          <a:lstStyle/>
          <a:p>
            <a:r>
              <a:rPr lang="en-US" altLang="zh-CN" dirty="0">
                <a:solidFill>
                  <a:schemeClr val="accent2"/>
                </a:solidFill>
              </a:rPr>
              <a:t>1.NMI</a:t>
            </a:r>
          </a:p>
          <a:p>
            <a:r>
              <a:rPr lang="en-US" altLang="zh-CN" dirty="0">
                <a:solidFill>
                  <a:schemeClr val="accent2"/>
                </a:solidFill>
              </a:rPr>
              <a:t>2.Pearson</a:t>
            </a:r>
          </a:p>
          <a:p>
            <a:r>
              <a:rPr lang="en-US" altLang="zh-CN" dirty="0">
                <a:solidFill>
                  <a:schemeClr val="accent2"/>
                </a:solidFill>
              </a:rPr>
              <a:t>3.Spearman</a:t>
            </a:r>
          </a:p>
          <a:p>
            <a:r>
              <a:rPr lang="en-US" altLang="zh-CN" dirty="0">
                <a:solidFill>
                  <a:schemeClr val="accent2"/>
                </a:solidFill>
              </a:rPr>
              <a:t>4.Kendall</a:t>
            </a:r>
          </a:p>
          <a:p>
            <a:r>
              <a:rPr lang="en-US" altLang="zh-CN" dirty="0">
                <a:solidFill>
                  <a:schemeClr val="accent2"/>
                </a:solidFill>
              </a:rPr>
              <a:t>5.dCor τ</a:t>
            </a:r>
          </a:p>
          <a:p>
            <a:r>
              <a:rPr lang="en-US" altLang="zh-CN" dirty="0">
                <a:solidFill>
                  <a:schemeClr val="accent2"/>
                </a:solidFill>
              </a:rPr>
              <a:t>6.HSIC</a:t>
            </a:r>
          </a:p>
        </p:txBody>
      </p:sp>
      <mc:AlternateContent xmlns:mc="http://schemas.openxmlformats.org/markup-compatibility/2006" xmlns:a14="http://schemas.microsoft.com/office/drawing/2010/main">
        <mc:Choice Requires="a14">
          <p:sp>
            <p:nvSpPr>
              <p:cNvPr id="19" name="文本框 18"/>
              <p:cNvSpPr txBox="1"/>
              <p:nvPr/>
            </p:nvSpPr>
            <p:spPr>
              <a:xfrm>
                <a:off x="7824470" y="4418330"/>
                <a:ext cx="1562735" cy="521970"/>
              </a:xfrm>
              <a:prstGeom prst="rect">
                <a:avLst/>
              </a:prstGeom>
              <a:noFill/>
            </p:spPr>
            <p:txBody>
              <a:bodyPr wrap="square">
                <a:spAutoFit/>
              </a:bodyPr>
              <a:lstStyle/>
              <a:p>
                <a:pPr algn="ctr"/>
                <a14:m>
                  <m:oMath xmlns:m="http://schemas.openxmlformats.org/officeDocument/2006/math">
                    <m:sSub>
                      <m:sSubPr>
                        <m:ctrlPr>
                          <a:rPr lang="en-US" altLang="zh-CN" sz="1400" b="1" i="1" dirty="0">
                            <a:solidFill>
                              <a:prstClr val="black"/>
                            </a:solidFill>
                            <a:latin typeface="Cambria Math" panose="02040503050406030204" pitchFamily="18" charset="0"/>
                            <a:ea typeface="等线" panose="02010600030101010101" charset="-122"/>
                            <a:cs typeface="Cambria Math" panose="02040503050406030204" pitchFamily="18" charset="0"/>
                          </a:rPr>
                        </m:ctrlPr>
                      </m:sSubPr>
                      <m:e>
                        <m:r>
                          <a:rPr lang="en-US" altLang="zh-CN" sz="1400" b="1" i="1" dirty="0">
                            <a:solidFill>
                              <a:prstClr val="black"/>
                            </a:solidFill>
                            <a:latin typeface="Cambria Math" panose="02040503050406030204" pitchFamily="18" charset="0"/>
                            <a:ea typeface="等线" panose="02010600030101010101" charset="-122"/>
                            <a:cs typeface="Cambria Math" panose="02040503050406030204" pitchFamily="18" charset="0"/>
                          </a:rPr>
                          <m:t>𝑹</m:t>
                        </m:r>
                      </m:e>
                      <m:sub>
                        <m:r>
                          <a:rPr lang="en-US" altLang="zh-CN" sz="1400" b="1" i="1" dirty="0">
                            <a:solidFill>
                              <a:prstClr val="black"/>
                            </a:solidFill>
                            <a:latin typeface="Cambria Math" panose="02040503050406030204" pitchFamily="18" charset="0"/>
                            <a:ea typeface="等线" panose="02010600030101010101" charset="-122"/>
                            <a:cs typeface="Cambria Math" panose="02040503050406030204" pitchFamily="18" charset="0"/>
                          </a:rPr>
                          <m:t>𝒊</m:t>
                        </m:r>
                      </m:sub>
                    </m:sSub>
                  </m:oMath>
                </a14:m>
                <a:r>
                  <a:rPr lang="zh-CN" altLang="en-US"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任一种相关系数大于阈值</a:t>
                </a:r>
                <a14:m>
                  <m:oMath xmlns:m="http://schemas.openxmlformats.org/officeDocument/2006/math">
                    <m:sSub>
                      <m:sSubPr>
                        <m:ctrlP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𝝁</m:t>
                        </m:r>
                      </m:e>
                      <m:sub>
                        <m:r>
                          <a:rPr lang="en-US" altLang="zh-CN" sz="1400"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𝟏</m:t>
                        </m:r>
                      </m:sub>
                    </m:sSub>
                  </m:oMath>
                </a14:m>
                <a:endParaRPr lang="zh-CN" altLang="en-US"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7824470" y="4418330"/>
                <a:ext cx="1562735" cy="521970"/>
              </a:xfrm>
              <a:prstGeom prst="rect">
                <a:avLst/>
              </a:prstGeom>
              <a:blipFill rotWithShape="1">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9445625" y="5690870"/>
                <a:ext cx="1617345" cy="42799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1600" b="1" dirty="0">
                          <a:solidFill>
                            <a:prstClr val="black"/>
                          </a:solidFill>
                          <a:latin typeface="Cambria Math" panose="02040503050406030204" pitchFamily="18" charset="0"/>
                          <a:ea typeface="微软雅黑" panose="020B0503020204020204" pitchFamily="34" charset="-122"/>
                          <a:cs typeface="Arial" panose="020B0604020202020204" pitchFamily="34" charset="0"/>
                        </a:rPr>
                        <m:t>候选推断变量集</m:t>
                      </m:r>
                    </m:oMath>
                  </m:oMathPara>
                </a14:m>
                <a:endParaRPr lang="zh-CN" altLang="en-US" sz="1600" dirty="0">
                  <a:solidFill>
                    <a:prstClr val="black"/>
                  </a:solidFill>
                  <a:latin typeface="等线" panose="02010600030101010101" charset="-122"/>
                  <a:ea typeface="等线" panose="02010600030101010101" charset="-122"/>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9445625" y="5690870"/>
                <a:ext cx="1617345" cy="427990"/>
              </a:xfrm>
              <a:prstGeom prst="rect">
                <a:avLst/>
              </a:prstGeom>
              <a:blipFill rotWithShape="1">
                <a:blip r:embed="rId16"/>
                <a:stretch>
                  <a:fillRect/>
                </a:stretch>
              </a:blipFill>
            </p:spPr>
            <p:txBody>
              <a:bodyPr/>
              <a:lstStyle/>
              <a:p>
                <a:r>
                  <a:rPr lang="zh-CN" altLang="en-US">
                    <a:noFill/>
                  </a:rPr>
                  <a:t> </a:t>
                </a:r>
              </a:p>
            </p:txBody>
          </p:sp>
        </mc:Fallback>
      </mc:AlternateContent>
      <p:sp>
        <p:nvSpPr>
          <p:cNvPr id="10" name="TextBox 8">
            <a:extLst>
              <a:ext uri="{FF2B5EF4-FFF2-40B4-BE49-F238E27FC236}">
                <a16:creationId xmlns:a16="http://schemas.microsoft.com/office/drawing/2014/main" id="{61480C1B-F972-D23F-9923-9E9A044CFBAA}"/>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文本框 14"/>
              <p:cNvSpPr txBox="1"/>
              <p:nvPr/>
            </p:nvSpPr>
            <p:spPr>
              <a:xfrm>
                <a:off x="437515" y="1731645"/>
                <a:ext cx="4889500" cy="4918075"/>
              </a:xfrm>
              <a:prstGeom prst="rect">
                <a:avLst/>
              </a:prstGeom>
              <a:noFill/>
            </p:spPr>
            <p:txBody>
              <a:bodyPr wrap="square">
                <a:noAutofit/>
              </a:bodyPr>
              <a:lstStyle/>
              <a:p>
                <a:pPr indent="0">
                  <a:lnSpc>
                    <a:spcPct val="150000"/>
                  </a:lnSpc>
                  <a:buFont typeface="Wingdings" panose="05000000000000000000" charset="0"/>
                  <a:buNone/>
                </a:pPr>
                <a:r>
                  <a:rPr lang="zh-CN" altLang="en-US" dirty="0">
                    <a:solidFill>
                      <a:schemeClr val="tx1"/>
                    </a:solidFill>
                    <a:latin typeface="Arial" panose="020B0604020202020204" pitchFamily="34" charset="0"/>
                    <a:ea typeface="微软雅黑" panose="020B0503020204020204" pitchFamily="34" charset="-122"/>
                    <a:cs typeface="Arial" panose="020B0604020202020204" pitchFamily="34" charset="0"/>
                  </a:rPr>
                  <a:t>在推断模型输入层与第一隐藏层之间引入可学习门控参数</a:t>
                </a:r>
                <a:r>
                  <a:rPr lang="en-US" altLang="zh-CN" dirty="0">
                    <a:solidFill>
                      <a:schemeClr val="tx1"/>
                    </a:solidFill>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sSub>
                      <m:sSubPr>
                        <m:ctrlP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𝑔</m:t>
                        </m:r>
                      </m:e>
                      <m:sub>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zh-CN" altLang="en-US" dirty="0">
                    <a:solidFill>
                      <a:schemeClr val="tx1"/>
                    </a:solidFill>
                    <a:latin typeface="Arial" panose="020B0604020202020204" pitchFamily="34" charset="0"/>
                    <a:ea typeface="微软雅黑" panose="020B0503020204020204" pitchFamily="34" charset="-122"/>
                    <a:cs typeface="Arial" panose="020B0604020202020204" pitchFamily="34" charset="0"/>
                  </a:rPr>
                  <a:t>，对每个输入变量进行加权调节：</a:t>
                </a:r>
                <a:endParaRPr lang="en-US" altLang="zh-CN"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indent="0" algn="ctr">
                  <a:lnSpc>
                    <a:spcPct val="150000"/>
                  </a:lnSpc>
                  <a:buFont typeface="Wingdings" panose="05000000000000000000" charset="0"/>
                  <a:buNone/>
                </a:pPr>
                <a14:m>
                  <m:oMath xmlns:m="http://schemas.openxmlformats.org/officeDocument/2006/math">
                    <m:sSubSup>
                      <m:sSubSupPr>
                        <m:ctrlP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sSubSupPr>
                      <m:e>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𝑋</m:t>
                        </m:r>
                      </m:e>
                      <m:sub>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𝑖</m:t>
                        </m:r>
                      </m:sub>
                      <m:sup>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m:t>
                        </m:r>
                      </m:sup>
                    </m:sSubSup>
                  </m:oMath>
                </a14:m>
                <a:r>
                  <a:rPr lang="en-US" altLang="zh-CN" dirty="0">
                    <a:solidFill>
                      <a:schemeClr val="tx1"/>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𝑔</m:t>
                        </m:r>
                      </m:e>
                      <m:sub>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𝑋</m:t>
                        </m:r>
                      </m:e>
                      <m:sub>
                        <m:r>
                          <a:rPr lang="en-US" altLang="zh-CN"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𝑖</m:t>
                        </m:r>
                      </m:sub>
                    </m:sSub>
                  </m:oMath>
                </a14:m>
                <a:endParaRPr lang="en-US" altLang="zh-CN"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indent="0">
                  <a:lnSpc>
                    <a:spcPct val="150000"/>
                  </a:lnSpc>
                  <a:buFont typeface="Wingdings" panose="05000000000000000000" charset="0"/>
                  <a:buNone/>
                </a:pPr>
                <a14:m>
                  <m:oMath xmlns:m="http://schemas.openxmlformats.org/officeDocument/2006/math">
                    <m:sSub>
                      <m:sSubPr>
                        <m:ctrlPr>
                          <a:rPr lang="en-US" altLang="zh-CN" sz="1400" i="1"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ctrlPr>
                      </m:sSubPr>
                      <m:e>
                        <m:r>
                          <m:rPr>
                            <m:sty m:val="p"/>
                          </m:rPr>
                          <a:rPr lang="en-US" altLang="zh-CN" sz="14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g</m:t>
                        </m:r>
                      </m:e>
                      <m:sub>
                        <m:r>
                          <m:rPr>
                            <m:sty m:val="p"/>
                          </m:rPr>
                          <a:rPr lang="en-US" altLang="zh-CN" sz="1400" dirty="0">
                            <a:solidFill>
                              <a:schemeClr val="tx1"/>
                            </a:solidFill>
                            <a:latin typeface="Cambria Math" panose="02040503050406030204" pitchFamily="18" charset="0"/>
                            <a:ea typeface="微软雅黑" panose="020B0503020204020204" pitchFamily="34" charset="-122"/>
                            <a:cs typeface="Cambria Math" panose="02040503050406030204" pitchFamily="18" charset="0"/>
                          </a:rPr>
                          <m:t>i</m:t>
                        </m:r>
                      </m:sub>
                    </m:sSub>
                  </m:oMath>
                </a14:m>
                <a:r>
                  <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rPr>
                  <a:t>表示第</a:t>
                </a:r>
                <a:r>
                  <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rPr>
                  <a:t> i </a:t>
                </a:r>
                <a:r>
                  <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rPr>
                  <a:t>个变量对敏感目标推断的重要程度。门控值越大，说明该变量对推断贡献越大；门控值越小，则说明其作用有限，更可能是冗余变量。</a:t>
                </a:r>
              </a:p>
              <a:p>
                <a:pPr indent="0">
                  <a:lnSpc>
                    <a:spcPct val="150000"/>
                  </a:lnSpc>
                  <a:buFont typeface="Wingdings" panose="05000000000000000000" charset="0"/>
                  <a:buNone/>
                </a:pPr>
                <a:r>
                  <a:rPr lang="zh-CN" altLang="en-US" dirty="0">
                    <a:solidFill>
                      <a:schemeClr val="tx1"/>
                    </a:solidFill>
                    <a:latin typeface="Arial" panose="020B0604020202020204" pitchFamily="34" charset="0"/>
                    <a:ea typeface="微软雅黑" panose="020B0503020204020204" pitchFamily="34" charset="-122"/>
                    <a:cs typeface="Arial" panose="020B0604020202020204" pitchFamily="34" charset="0"/>
                  </a:rPr>
                  <a:t>模型损失函数定义为：</a:t>
                </a:r>
              </a:p>
              <a:p>
                <a:pPr indent="0">
                  <a:lnSpc>
                    <a:spcPct val="150000"/>
                  </a:lnSpc>
                  <a:buFont typeface="Wingdings" panose="05000000000000000000" charset="0"/>
                  <a:buNone/>
                </a:pPr>
                <a:endPar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indent="0">
                  <a:lnSpc>
                    <a:spcPct val="150000"/>
                  </a:lnSpc>
                  <a:buFont typeface="Wingdings" panose="05000000000000000000" charset="0"/>
                  <a:buNone/>
                </a:pPr>
                <a:endPar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indent="0">
                  <a:lnSpc>
                    <a:spcPct val="150000"/>
                  </a:lnSpc>
                  <a:buFont typeface="Wingdings" panose="05000000000000000000" charset="0"/>
                  <a:buNone/>
                </a:pPr>
                <a:r>
                  <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rPr>
                  <a:t>其中，</a:t>
                </a:r>
                <a:r>
                  <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rPr>
                  <a:t>MSE</a:t>
                </a:r>
                <a:r>
                  <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rPr>
                  <a:t>项用于保证对敏感目标的推断精度，</a:t>
                </a:r>
                <a:r>
                  <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rPr>
                  <a:t>L1</a:t>
                </a:r>
                <a:r>
                  <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rPr>
                  <a:t>正则项用于推动门控参数稀疏化。在训练过程中，重要变量对应的门控参数会保持较大取值，而不重要变量的门控参数会逐渐趋近于</a:t>
                </a:r>
                <a:r>
                  <a:rPr lang="en-US" altLang="zh-CN" sz="1400" dirty="0">
                    <a:solidFill>
                      <a:schemeClr val="tx1"/>
                    </a:solidFill>
                    <a:latin typeface="Arial" panose="020B0604020202020204" pitchFamily="34" charset="0"/>
                    <a:ea typeface="微软雅黑" panose="020B0503020204020204" pitchFamily="34" charset="-122"/>
                    <a:cs typeface="Arial" panose="020B0604020202020204" pitchFamily="34" charset="0"/>
                  </a:rPr>
                  <a:t>0</a:t>
                </a:r>
                <a:r>
                  <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rPr>
                  <a:t>，从而实现嵌入式稀疏特征选择。</a:t>
                </a:r>
              </a:p>
            </p:txBody>
          </p:sp>
        </mc:Choice>
        <mc:Fallback xmlns="">
          <p:sp>
            <p:nvSpPr>
              <p:cNvPr id="15" name="文本框 14"/>
              <p:cNvSpPr txBox="1">
                <a:spLocks noRot="1" noChangeAspect="1" noMove="1" noResize="1" noEditPoints="1" noAdjustHandles="1" noChangeArrowheads="1" noChangeShapeType="1" noTextEdit="1"/>
              </p:cNvSpPr>
              <p:nvPr/>
            </p:nvSpPr>
            <p:spPr>
              <a:xfrm>
                <a:off x="437515" y="1731645"/>
                <a:ext cx="4889500" cy="4918075"/>
              </a:xfrm>
              <a:prstGeom prst="rect">
                <a:avLst/>
              </a:prstGeom>
              <a:blipFill>
                <a:blip r:embed="rId4"/>
                <a:stretch>
                  <a:fillRect l="-1122" r="-5611"/>
                </a:stretch>
              </a:blipFill>
            </p:spPr>
            <p:txBody>
              <a:bodyPr/>
              <a:lstStyle/>
              <a:p>
                <a:r>
                  <a:rPr lang="zh-CN" altLang="en-US">
                    <a:noFill/>
                  </a:rPr>
                  <a:t> </a:t>
                </a:r>
              </a:p>
            </p:txBody>
          </p:sp>
        </mc:Fallback>
      </mc:AlternateContent>
      <p:sp>
        <p:nvSpPr>
          <p:cNvPr id="3" name="文本框 2"/>
          <p:cNvSpPr txBox="1"/>
          <p:nvPr/>
        </p:nvSpPr>
        <p:spPr>
          <a:xfrm>
            <a:off x="437515" y="1029335"/>
            <a:ext cx="3671570" cy="491490"/>
          </a:xfrm>
          <a:prstGeom prst="rect">
            <a:avLst/>
          </a:prstGeom>
          <a:noFill/>
        </p:spPr>
        <p:txBody>
          <a:bodyPr wrap="square">
            <a:spAutoFit/>
          </a:bodyPr>
          <a:lstStyle/>
          <a:p>
            <a:pPr marL="457200" indent="-457200">
              <a:buFont typeface="Wingdings" panose="05000000000000000000" pitchFamily="2" charset="2"/>
              <a:buChar char="Ø"/>
            </a:pPr>
            <a:r>
              <a:rPr lang="en-US" altLang="zh-CN" sz="2600" b="1" dirty="0">
                <a:latin typeface="微软雅黑" panose="020B0503020204020204" pitchFamily="34" charset="-122"/>
                <a:ea typeface="微软雅黑" panose="020B0503020204020204" pitchFamily="34" charset="-122"/>
              </a:rPr>
              <a:t>L1</a:t>
            </a:r>
            <a:r>
              <a:rPr lang="zh-CN" altLang="en-US" sz="2600" b="1" dirty="0">
                <a:latin typeface="微软雅黑" panose="020B0503020204020204" pitchFamily="34" charset="-122"/>
                <a:ea typeface="微软雅黑" panose="020B0503020204020204" pitchFamily="34" charset="-122"/>
              </a:rPr>
              <a:t>门控深度推断模型</a:t>
            </a:r>
            <a:endParaRPr lang="en-US" altLang="zh-CN" sz="26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5"/>
          <a:stretch>
            <a:fillRect/>
          </a:stretch>
        </p:blipFill>
        <p:spPr>
          <a:xfrm>
            <a:off x="5638777" y="2128117"/>
            <a:ext cx="6048859" cy="3555710"/>
          </a:xfrm>
          <a:prstGeom prst="rect">
            <a:avLst/>
          </a:prstGeom>
        </p:spPr>
      </p:pic>
      <p:pic>
        <p:nvPicPr>
          <p:cNvPr id="4" name="图片 3"/>
          <p:cNvPicPr>
            <a:picLocks noChangeAspect="1"/>
          </p:cNvPicPr>
          <p:nvPr/>
        </p:nvPicPr>
        <p:blipFill>
          <a:blip r:embed="rId6"/>
          <a:stretch>
            <a:fillRect/>
          </a:stretch>
        </p:blipFill>
        <p:spPr>
          <a:xfrm>
            <a:off x="2151380" y="4445000"/>
            <a:ext cx="1766570" cy="566420"/>
          </a:xfrm>
          <a:prstGeom prst="rect">
            <a:avLst/>
          </a:prstGeom>
        </p:spPr>
      </p:pic>
      <p:sp>
        <p:nvSpPr>
          <p:cNvPr id="5" name="TextBox 8">
            <a:extLst>
              <a:ext uri="{FF2B5EF4-FFF2-40B4-BE49-F238E27FC236}">
                <a16:creationId xmlns:a16="http://schemas.microsoft.com/office/drawing/2014/main" id="{D165908D-B72E-9BE8-DC4B-FED16901B9CB}"/>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文本框 8"/>
              <p:cNvSpPr txBox="1"/>
              <p:nvPr/>
            </p:nvSpPr>
            <p:spPr>
              <a:xfrm>
                <a:off x="481330" y="1540510"/>
                <a:ext cx="10932160" cy="2437130"/>
              </a:xfrm>
              <a:prstGeom prst="rect">
                <a:avLst/>
              </a:prstGeom>
              <a:noFill/>
            </p:spPr>
            <p:txBody>
              <a:bodyPr wrap="square">
                <a:noAutofit/>
              </a:bodyPr>
              <a:lstStyle/>
              <a:p>
                <a:pPr indent="0">
                  <a:lnSpc>
                    <a:spcPct val="150000"/>
                  </a:lnSpc>
                  <a:buFont typeface="Wingdings" panose="05000000000000000000" charset="0"/>
                  <a:buNone/>
                </a:pPr>
                <a:r>
                  <a:rPr lang="zh-CN" altLang="en-US" b="1" dirty="0">
                    <a:latin typeface="Arial" panose="020B0604020202020204" pitchFamily="34" charset="0"/>
                    <a:ea typeface="微软雅黑" panose="020B0503020204020204" pitchFamily="34" charset="-122"/>
                    <a:cs typeface="Arial" panose="020B0604020202020204" pitchFamily="34" charset="0"/>
                  </a:rPr>
                  <a:t>在模型训练完成后，设定门控阈值</a:t>
                </a:r>
                <a:r>
                  <a:rPr lang="en-US" altLang="zh-CN" b="1" dirty="0">
                    <a:latin typeface="Arial" panose="020B0604020202020204" pitchFamily="34" charset="0"/>
                    <a:ea typeface="微软雅黑" panose="020B0503020204020204" pitchFamily="34" charset="-122"/>
                    <a:cs typeface="Arial" panose="020B0604020202020204" pitchFamily="34" charset="0"/>
                  </a:rPr>
                  <a:t> </a:t>
                </a:r>
                <a14:m>
                  <m:oMath xmlns:m="http://schemas.openxmlformats.org/officeDocument/2006/math">
                    <m:sSub>
                      <m:sSubPr>
                        <m:ctrlP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𝝁</m:t>
                        </m:r>
                      </m:e>
                      <m:sub>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𝟐</m:t>
                        </m:r>
                      </m:sub>
                    </m:sSub>
                  </m:oMath>
                </a14:m>
                <a:r>
                  <a:rPr lang="zh-CN" altLang="en-US" b="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a:t>，将满足</a:t>
                </a:r>
                <a14:m>
                  <m:oMath xmlns:m="http://schemas.openxmlformats.org/officeDocument/2006/math">
                    <m:sSub>
                      <m:sSubPr>
                        <m:ctrlP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𝒈</m:t>
                        </m:r>
                      </m:e>
                      <m:sub>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𝒊</m:t>
                        </m:r>
                      </m:sub>
                    </m:sSub>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𝝁</m:t>
                        </m:r>
                      </m:e>
                      <m:sub>
                        <m:r>
                          <a:rPr lang="en-US" altLang="zh-CN" b="1"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𝟐</m:t>
                        </m:r>
                      </m:sub>
                    </m:sSub>
                  </m:oMath>
                </a14:m>
                <a:r>
                  <a:rPr lang="zh-CN" altLang="en-US" b="1" dirty="0">
                    <a:latin typeface="Arial" panose="020B0604020202020204" pitchFamily="34" charset="0"/>
                    <a:ea typeface="微软雅黑" panose="020B0503020204020204" pitchFamily="34" charset="-122"/>
                    <a:cs typeface="Arial" panose="020B0604020202020204" pitchFamily="34" charset="0"/>
                  </a:rPr>
                  <a:t>的变量提取为推断变量集。</a:t>
                </a:r>
              </a:p>
              <a:p>
                <a:pPr indent="0">
                  <a:lnSpc>
                    <a:spcPct val="150000"/>
                  </a:lnSpc>
                  <a:buFont typeface="Wingdings" panose="05000000000000000000" charset="0"/>
                  <a:buNone/>
                </a:pPr>
                <a:r>
                  <a:rPr lang="zh-CN" altLang="en-US" sz="1600" dirty="0">
                    <a:latin typeface="Arial" panose="020B0604020202020204" pitchFamily="34" charset="0"/>
                    <a:ea typeface="微软雅黑" panose="020B0503020204020204" pitchFamily="34" charset="-122"/>
                    <a:cs typeface="Arial" panose="020B0604020202020204" pitchFamily="34" charset="0"/>
                  </a:rPr>
                  <a:t>（认为该集合中的变量在保持敏感目标推断精度的前提下，能够作为有效推断源参与联合推断。）</a:t>
                </a:r>
                <a:endParaRPr lang="en-US" altLang="zh-CN" sz="1600" dirty="0">
                  <a:latin typeface="Arial" panose="020B0604020202020204" pitchFamily="34" charset="0"/>
                  <a:ea typeface="微软雅黑" panose="020B0503020204020204" pitchFamily="34" charset="-122"/>
                  <a:cs typeface="Arial" panose="020B0604020202020204" pitchFamily="34" charset="0"/>
                </a:endParaRPr>
              </a:p>
              <a:p>
                <a:pPr indent="0">
                  <a:lnSpc>
                    <a:spcPct val="150000"/>
                  </a:lnSpc>
                  <a:buFont typeface="Wingdings" panose="05000000000000000000" charset="0"/>
                  <a:buNone/>
                </a:pPr>
                <a:r>
                  <a:rPr lang="zh-CN" altLang="en-US" b="1" dirty="0">
                    <a:latin typeface="Arial" panose="020B0604020202020204" pitchFamily="34" charset="0"/>
                    <a:ea typeface="微软雅黑" panose="020B0503020204020204" pitchFamily="34" charset="-122"/>
                    <a:cs typeface="Arial" panose="020B0604020202020204" pitchFamily="34" charset="0"/>
                  </a:rPr>
                  <a:t>随机</a:t>
                </a:r>
                <a:r>
                  <a:rPr lang="en-US" altLang="zh-CN" b="1" dirty="0">
                    <a:latin typeface="Arial" panose="020B0604020202020204" pitchFamily="34" charset="0"/>
                    <a:ea typeface="微软雅黑" panose="020B0503020204020204" pitchFamily="34" charset="-122"/>
                    <a:cs typeface="Arial" panose="020B0604020202020204" pitchFamily="34" charset="0"/>
                  </a:rPr>
                  <a:t> drop </a:t>
                </a:r>
                <a:r>
                  <a:rPr lang="zh-CN" altLang="en-US" b="1" dirty="0">
                    <a:latin typeface="Arial" panose="020B0604020202020204" pitchFamily="34" charset="0"/>
                    <a:ea typeface="微软雅黑" panose="020B0503020204020204" pitchFamily="34" charset="-122"/>
                    <a:cs typeface="Arial" panose="020B0604020202020204" pitchFamily="34" charset="0"/>
                  </a:rPr>
                  <a:t>实验：对提取出的变量逐个剔除并重新进行推断验证，</a:t>
                </a:r>
                <a:r>
                  <a:rPr lang="zh-CN" altLang="en-US" sz="1800" b="1" dirty="0">
                    <a:latin typeface="Arial" panose="020B0604020202020204" pitchFamily="34" charset="0"/>
                    <a:ea typeface="微软雅黑" panose="020B0503020204020204" pitchFamily="34" charset="-122"/>
                    <a:cs typeface="Arial" panose="020B0604020202020204" pitchFamily="34" charset="0"/>
                    <a:sym typeface="+mn-ea"/>
                  </a:rPr>
                  <a:t>最终得到最小非冗余推断变量集</a:t>
                </a:r>
                <a:endParaRPr lang="zh-CN" altLang="en-US" b="1" dirty="0">
                  <a:latin typeface="Arial" panose="020B0604020202020204" pitchFamily="34" charset="0"/>
                  <a:ea typeface="微软雅黑" panose="020B0503020204020204" pitchFamily="34" charset="-122"/>
                  <a:cs typeface="Arial" panose="020B0604020202020204" pitchFamily="34" charset="0"/>
                </a:endParaRPr>
              </a:p>
              <a:p>
                <a:pPr indent="0">
                  <a:lnSpc>
                    <a:spcPct val="150000"/>
                  </a:lnSpc>
                  <a:buFont typeface="Wingdings" panose="05000000000000000000" charset="0"/>
                  <a:buNone/>
                </a:pPr>
                <a:r>
                  <a:rPr lang="zh-CN" altLang="en-US" sz="1600" dirty="0">
                    <a:latin typeface="Arial" panose="020B0604020202020204" pitchFamily="34" charset="0"/>
                    <a:ea typeface="微软雅黑" panose="020B0503020204020204" pitchFamily="34" charset="-122"/>
                    <a:cs typeface="Arial" panose="020B0604020202020204" pitchFamily="34" charset="0"/>
                  </a:rPr>
                  <a:t>若去掉某一变量后：</a:t>
                </a:r>
              </a:p>
              <a:p>
                <a:pPr indent="0">
                  <a:lnSpc>
                    <a:spcPct val="150000"/>
                  </a:lnSpc>
                  <a:buFont typeface="Wingdings" panose="05000000000000000000" charset="0"/>
                  <a:buNone/>
                </a:pPr>
                <a:r>
                  <a:rPr lang="zh-CN" altLang="en-US" sz="1600" dirty="0">
                    <a:latin typeface="Arial" panose="020B0604020202020204" pitchFamily="34" charset="0"/>
                    <a:ea typeface="微软雅黑" panose="020B0503020204020204" pitchFamily="34" charset="-122"/>
                    <a:cs typeface="Arial" panose="020B0604020202020204" pitchFamily="34" charset="0"/>
                  </a:rPr>
                  <a:t>模型推断精度基本不受影响→认为该变量仍属于冗余变量，可继续删除；</a:t>
                </a:r>
              </a:p>
              <a:p>
                <a:pPr indent="0">
                  <a:lnSpc>
                    <a:spcPct val="150000"/>
                  </a:lnSpc>
                  <a:buFont typeface="Wingdings" panose="05000000000000000000" charset="0"/>
                  <a:buNone/>
                </a:pPr>
                <a:r>
                  <a:rPr lang="zh-CN" altLang="en-US" sz="1600" dirty="0">
                    <a:latin typeface="Arial" panose="020B0604020202020204" pitchFamily="34" charset="0"/>
                    <a:ea typeface="微软雅黑" panose="020B0503020204020204" pitchFamily="34" charset="-122"/>
                    <a:cs typeface="Arial" panose="020B0604020202020204" pitchFamily="34" charset="0"/>
                    <a:sym typeface="+mn-ea"/>
                  </a:rPr>
                  <a:t>模型推断精度</a:t>
                </a:r>
                <a:r>
                  <a:rPr lang="zh-CN" altLang="en-US" sz="1600" dirty="0">
                    <a:latin typeface="Arial" panose="020B0604020202020204" pitchFamily="34" charset="0"/>
                    <a:ea typeface="微软雅黑" panose="020B0503020204020204" pitchFamily="34" charset="-122"/>
                    <a:cs typeface="Arial" panose="020B0604020202020204" pitchFamily="34" charset="0"/>
                  </a:rPr>
                  <a:t>明显下降</a:t>
                </a:r>
                <a:r>
                  <a:rPr lang="zh-CN" altLang="en-US" sz="1600" dirty="0">
                    <a:latin typeface="Arial" panose="020B0604020202020204" pitchFamily="34" charset="0"/>
                    <a:ea typeface="微软雅黑" panose="020B0503020204020204" pitchFamily="34" charset="-122"/>
                    <a:cs typeface="Arial" panose="020B0604020202020204" pitchFamily="34" charset="0"/>
                    <a:sym typeface="+mn-ea"/>
                  </a:rPr>
                  <a:t>→认为</a:t>
                </a:r>
                <a:r>
                  <a:rPr lang="zh-CN" altLang="en-US" sz="1600" dirty="0">
                    <a:latin typeface="Arial" panose="020B0604020202020204" pitchFamily="34" charset="0"/>
                    <a:ea typeface="微软雅黑" panose="020B0503020204020204" pitchFamily="34" charset="-122"/>
                    <a:cs typeface="Arial" panose="020B0604020202020204" pitchFamily="34" charset="0"/>
                  </a:rPr>
                  <a:t>该变量是不可替代的关键推断源，应予保留。</a:t>
                </a:r>
              </a:p>
              <a:p>
                <a:pPr indent="0">
                  <a:lnSpc>
                    <a:spcPct val="150000"/>
                  </a:lnSpc>
                  <a:buFont typeface="Wingdings" panose="05000000000000000000" charset="0"/>
                  <a:buNone/>
                </a:pPr>
                <a:endParaRPr lang="zh-CN" altLang="en-US" sz="1600" dirty="0">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481330" y="1540510"/>
                <a:ext cx="10932160" cy="2437130"/>
              </a:xfrm>
              <a:prstGeom prst="rect">
                <a:avLst/>
              </a:prstGeom>
              <a:blipFill rotWithShape="1">
                <a:blip r:embed="rId4"/>
                <a:stretch>
                  <a:fillRect b="-10683"/>
                </a:stretch>
              </a:blipFill>
            </p:spPr>
            <p:txBody>
              <a:bodyPr/>
              <a:lstStyle/>
              <a:p>
                <a:r>
                  <a:rPr lang="zh-CN" altLang="en-US">
                    <a:noFill/>
                  </a:rPr>
                  <a:t> </a:t>
                </a:r>
              </a:p>
            </p:txBody>
          </p:sp>
        </mc:Fallback>
      </mc:AlternateContent>
      <p:sp>
        <p:nvSpPr>
          <p:cNvPr id="65" name="箭头: 右 64"/>
          <p:cNvSpPr/>
          <p:nvPr/>
        </p:nvSpPr>
        <p:spPr>
          <a:xfrm>
            <a:off x="2247265" y="4707255"/>
            <a:ext cx="910590"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pic>
        <p:nvPicPr>
          <p:cNvPr id="3" name="图片 2"/>
          <p:cNvPicPr>
            <a:picLocks noChangeAspect="1"/>
          </p:cNvPicPr>
          <p:nvPr/>
        </p:nvPicPr>
        <p:blipFill>
          <a:blip r:embed="rId5"/>
          <a:stretch>
            <a:fillRect/>
          </a:stretch>
        </p:blipFill>
        <p:spPr>
          <a:xfrm>
            <a:off x="3271520" y="4425315"/>
            <a:ext cx="771525" cy="923925"/>
          </a:xfrm>
          <a:prstGeom prst="rect">
            <a:avLst/>
          </a:prstGeom>
        </p:spPr>
      </p:pic>
      <p:sp>
        <p:nvSpPr>
          <p:cNvPr id="4" name="箭头: 右 64"/>
          <p:cNvSpPr/>
          <p:nvPr/>
        </p:nvSpPr>
        <p:spPr>
          <a:xfrm>
            <a:off x="4324985" y="4707255"/>
            <a:ext cx="832485"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pic>
        <p:nvPicPr>
          <p:cNvPr id="11" name="图片 10"/>
          <p:cNvPicPr>
            <a:picLocks noChangeAspect="1"/>
          </p:cNvPicPr>
          <p:nvPr/>
        </p:nvPicPr>
        <p:blipFill>
          <a:blip r:embed="rId6"/>
          <a:stretch>
            <a:fillRect/>
          </a:stretch>
        </p:blipFill>
        <p:spPr>
          <a:xfrm>
            <a:off x="5236210" y="4425950"/>
            <a:ext cx="1626235" cy="1010285"/>
          </a:xfrm>
          <a:prstGeom prst="rect">
            <a:avLst/>
          </a:prstGeom>
        </p:spPr>
      </p:pic>
      <p:cxnSp>
        <p:nvCxnSpPr>
          <p:cNvPr id="13" name="直接箭头连接符 12"/>
          <p:cNvCxnSpPr>
            <a:stCxn id="11" idx="3"/>
            <a:endCxn id="18" idx="1"/>
          </p:cNvCxnSpPr>
          <p:nvPr/>
        </p:nvCxnSpPr>
        <p:spPr>
          <a:xfrm flipV="1">
            <a:off x="6862445" y="4480560"/>
            <a:ext cx="1374140" cy="450850"/>
          </a:xfrm>
          <a:prstGeom prst="straightConnector1">
            <a:avLst/>
          </a:prstGeom>
          <a:ln>
            <a:solidFill>
              <a:srgbClr val="00B050"/>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11" idx="3"/>
            <a:endCxn id="16" idx="1"/>
          </p:cNvCxnSpPr>
          <p:nvPr/>
        </p:nvCxnSpPr>
        <p:spPr>
          <a:xfrm>
            <a:off x="6862445" y="4931410"/>
            <a:ext cx="1435735" cy="417830"/>
          </a:xfrm>
          <a:prstGeom prst="straightConnector1">
            <a:avLst/>
          </a:prstGeom>
          <a:ln>
            <a:solidFill>
              <a:srgbClr val="FF0000"/>
            </a:solidFill>
            <a:tailEnd type="triangle" w="lg" len="lg"/>
          </a:ln>
        </p:spPr>
        <p:style>
          <a:lnRef idx="2">
            <a:schemeClr val="accent1"/>
          </a:lnRef>
          <a:fillRef idx="0">
            <a:srgbClr val="FFFFFF"/>
          </a:fillRef>
          <a:effectRef idx="0">
            <a:srgbClr val="FFFFFF"/>
          </a:effectRef>
          <a:fontRef idx="minor">
            <a:schemeClr val="tx1"/>
          </a:fontRef>
        </p:style>
      </p:cxnSp>
      <p:pic>
        <p:nvPicPr>
          <p:cNvPr id="16" name="图片 15"/>
          <p:cNvPicPr>
            <a:picLocks noChangeAspect="1"/>
          </p:cNvPicPr>
          <p:nvPr/>
        </p:nvPicPr>
        <p:blipFill>
          <a:blip r:embed="rId7"/>
          <a:stretch>
            <a:fillRect/>
          </a:stretch>
        </p:blipFill>
        <p:spPr>
          <a:xfrm>
            <a:off x="8298180" y="5125085"/>
            <a:ext cx="419100" cy="447675"/>
          </a:xfrm>
          <a:prstGeom prst="rect">
            <a:avLst/>
          </a:prstGeom>
        </p:spPr>
      </p:pic>
      <p:sp>
        <p:nvSpPr>
          <p:cNvPr id="17" name="箭头: 右 64"/>
          <p:cNvSpPr/>
          <p:nvPr/>
        </p:nvSpPr>
        <p:spPr>
          <a:xfrm>
            <a:off x="9001125" y="4729480"/>
            <a:ext cx="876935" cy="369570"/>
          </a:xfrm>
          <a:prstGeom prst="rightArrow">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pic>
        <p:nvPicPr>
          <p:cNvPr id="18" name="图片 17"/>
          <p:cNvPicPr>
            <a:picLocks noChangeAspect="1"/>
          </p:cNvPicPr>
          <p:nvPr/>
        </p:nvPicPr>
        <p:blipFill>
          <a:blip r:embed="rId8"/>
          <a:stretch>
            <a:fillRect/>
          </a:stretch>
        </p:blipFill>
        <p:spPr>
          <a:xfrm>
            <a:off x="8236585" y="4189730"/>
            <a:ext cx="638175" cy="581025"/>
          </a:xfrm>
          <a:prstGeom prst="rect">
            <a:avLst/>
          </a:prstGeom>
        </p:spPr>
      </p:pic>
      <p:pic>
        <p:nvPicPr>
          <p:cNvPr id="19" name="图片 18"/>
          <p:cNvPicPr>
            <a:picLocks noChangeAspect="1"/>
          </p:cNvPicPr>
          <p:nvPr/>
        </p:nvPicPr>
        <p:blipFill>
          <a:blip r:embed="rId9"/>
          <a:stretch>
            <a:fillRect/>
          </a:stretch>
        </p:blipFill>
        <p:spPr>
          <a:xfrm>
            <a:off x="10003790" y="4333875"/>
            <a:ext cx="930910" cy="987425"/>
          </a:xfrm>
          <a:prstGeom prst="rect">
            <a:avLst/>
          </a:prstGeom>
        </p:spPr>
      </p:pic>
      <p:pic>
        <p:nvPicPr>
          <p:cNvPr id="20" name="图片 19"/>
          <p:cNvPicPr>
            <a:picLocks noChangeAspect="1"/>
          </p:cNvPicPr>
          <p:nvPr/>
        </p:nvPicPr>
        <p:blipFill>
          <a:blip r:embed="rId10"/>
          <a:stretch>
            <a:fillRect/>
          </a:stretch>
        </p:blipFill>
        <p:spPr>
          <a:xfrm>
            <a:off x="1266190" y="4413250"/>
            <a:ext cx="981075" cy="908685"/>
          </a:xfrm>
          <a:prstGeom prst="rect">
            <a:avLst/>
          </a:prstGeom>
        </p:spPr>
      </p:pic>
      <p:sp>
        <p:nvSpPr>
          <p:cNvPr id="54" name="文本框 53"/>
          <p:cNvSpPr txBox="1"/>
          <p:nvPr/>
        </p:nvSpPr>
        <p:spPr>
          <a:xfrm>
            <a:off x="1007878" y="5572687"/>
            <a:ext cx="1498614" cy="583565"/>
          </a:xfrm>
          <a:prstGeom prst="rect">
            <a:avLst/>
          </a:prstGeom>
          <a:noFill/>
        </p:spPr>
        <p:txBody>
          <a:bodyPr wrap="square">
            <a:spAutoFit/>
          </a:bodyPr>
          <a:lstStyle/>
          <a:p>
            <a:pPr algn="ctr"/>
            <a:r>
              <a:rPr lang="en-US" altLang="zh-CN" sz="1600" dirty="0">
                <a:solidFill>
                  <a:prstClr val="black"/>
                </a:solidFill>
                <a:latin typeface="Arial" panose="020B0604020202020204" pitchFamily="34" charset="0"/>
                <a:ea typeface="微软雅黑" panose="020B0503020204020204" pitchFamily="34" charset="-122"/>
                <a:cs typeface="Arial" panose="020B0604020202020204" pitchFamily="34" charset="0"/>
              </a:rPr>
              <a:t>L1</a:t>
            </a: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门控推断</a:t>
            </a:r>
          </a:p>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模型训练收敛</a:t>
            </a:r>
            <a:endParaRPr lang="zh-CN" altLang="en-US" sz="1600" dirty="0">
              <a:solidFill>
                <a:prstClr val="black"/>
              </a:solidFill>
              <a:latin typeface="等线" panose="02010600030101010101" charset="-122"/>
              <a:ea typeface="等线" panose="02010600030101010101" charset="-122"/>
            </a:endParaRPr>
          </a:p>
        </p:txBody>
      </p:sp>
      <mc:AlternateContent xmlns:mc="http://schemas.openxmlformats.org/markup-compatibility/2006" xmlns:a14="http://schemas.microsoft.com/office/drawing/2010/main">
        <mc:Choice Requires="a14">
          <p:sp>
            <p:nvSpPr>
              <p:cNvPr id="21" name="文本框 20"/>
              <p:cNvSpPr txBox="1"/>
              <p:nvPr/>
            </p:nvSpPr>
            <p:spPr>
              <a:xfrm>
                <a:off x="2826518" y="5572687"/>
                <a:ext cx="1498614" cy="583565"/>
              </a:xfrm>
              <a:prstGeom prst="rect">
                <a:avLst/>
              </a:prstGeom>
              <a:noFill/>
            </p:spPr>
            <p:txBody>
              <a:bodyPr wrap="square">
                <a:spAutoFit/>
              </a:bodyPr>
              <a:lstStyle/>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推断变量集</a:t>
                </a:r>
              </a:p>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𝑔</m:t>
                        </m:r>
                      </m:e>
                      <m:sub>
                        <m: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𝑖</m:t>
                        </m:r>
                      </m:sub>
                    </m:sSub>
                    <m: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m:t>
                    </m:r>
                    <m:sSub>
                      <m:sSubPr>
                        <m:ctrlP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𝜇</m:t>
                        </m:r>
                      </m:e>
                      <m:sub>
                        <m:r>
                          <a:rPr lang="en-US" altLang="zh-CN" sz="1600" i="1" dirty="0">
                            <a:solidFill>
                              <a:prstClr val="black"/>
                            </a:solidFill>
                            <a:latin typeface="Cambria Math" panose="02040503050406030204" pitchFamily="18" charset="0"/>
                            <a:ea typeface="微软雅黑" panose="020B0503020204020204" pitchFamily="34" charset="-122"/>
                            <a:cs typeface="Cambria Math" panose="02040503050406030204" pitchFamily="18" charset="0"/>
                          </a:rPr>
                          <m:t>2</m:t>
                        </m:r>
                      </m:sub>
                    </m:sSub>
                  </m:oMath>
                </a14:m>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a:t>
                </a:r>
                <a:endParaRPr lang="zh-CN" altLang="en-US" sz="1600" dirty="0">
                  <a:solidFill>
                    <a:prstClr val="black"/>
                  </a:solidFill>
                  <a:latin typeface="等线" panose="02010600030101010101" charset="-122"/>
                  <a:ea typeface="等线" panose="02010600030101010101" charset="-122"/>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2826518" y="5572687"/>
                <a:ext cx="1498614" cy="583565"/>
              </a:xfrm>
              <a:prstGeom prst="rect">
                <a:avLst/>
              </a:prstGeom>
              <a:blipFill rotWithShape="1">
                <a:blip r:embed="rId11"/>
                <a:stretch>
                  <a:fillRect l="-9" t="-96" r="10" b="96"/>
                </a:stretch>
              </a:blipFill>
            </p:spPr>
            <p:txBody>
              <a:bodyPr/>
              <a:lstStyle/>
              <a:p>
                <a:r>
                  <a:rPr lang="zh-CN" altLang="en-US">
                    <a:noFill/>
                  </a:rPr>
                  <a:t> </a:t>
                </a:r>
              </a:p>
            </p:txBody>
          </p:sp>
        </mc:Fallback>
      </mc:AlternateContent>
      <p:sp>
        <p:nvSpPr>
          <p:cNvPr id="22" name="文本框 21"/>
          <p:cNvSpPr txBox="1"/>
          <p:nvPr/>
        </p:nvSpPr>
        <p:spPr>
          <a:xfrm>
            <a:off x="5363978" y="5633647"/>
            <a:ext cx="1498614" cy="337185"/>
          </a:xfrm>
          <a:prstGeom prst="rect">
            <a:avLst/>
          </a:prstGeom>
          <a:noFill/>
        </p:spPr>
        <p:txBody>
          <a:bodyPr wrap="square">
            <a:spAutoFit/>
          </a:bodyPr>
          <a:lstStyle/>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随机</a:t>
            </a:r>
            <a:r>
              <a:rPr lang="en-US" altLang="zh-CN" sz="1600" dirty="0">
                <a:solidFill>
                  <a:prstClr val="black"/>
                </a:solidFill>
                <a:latin typeface="Arial" panose="020B0604020202020204" pitchFamily="34" charset="0"/>
                <a:ea typeface="微软雅黑" panose="020B0503020204020204" pitchFamily="34" charset="-122"/>
                <a:cs typeface="Arial" panose="020B0604020202020204" pitchFamily="34" charset="0"/>
              </a:rPr>
              <a:t>Drop</a:t>
            </a: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实验</a:t>
            </a:r>
          </a:p>
        </p:txBody>
      </p:sp>
      <p:sp>
        <p:nvSpPr>
          <p:cNvPr id="23" name="文本框 22"/>
          <p:cNvSpPr txBox="1"/>
          <p:nvPr/>
        </p:nvSpPr>
        <p:spPr>
          <a:xfrm>
            <a:off x="6942455" y="4316095"/>
            <a:ext cx="1104265" cy="275590"/>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rPr>
              <a:t>精度明显下降</a:t>
            </a:r>
          </a:p>
        </p:txBody>
      </p:sp>
      <p:sp>
        <p:nvSpPr>
          <p:cNvPr id="24" name="文本框 23"/>
          <p:cNvSpPr txBox="1"/>
          <p:nvPr/>
        </p:nvSpPr>
        <p:spPr>
          <a:xfrm>
            <a:off x="6979920" y="5211445"/>
            <a:ext cx="1139825" cy="275590"/>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rPr>
              <a:t>精度基本不变</a:t>
            </a:r>
          </a:p>
        </p:txBody>
      </p:sp>
      <p:sp>
        <p:nvSpPr>
          <p:cNvPr id="25" name="文本框 24"/>
          <p:cNvSpPr txBox="1"/>
          <p:nvPr/>
        </p:nvSpPr>
        <p:spPr>
          <a:xfrm>
            <a:off x="7758563" y="3863267"/>
            <a:ext cx="1498614" cy="306705"/>
          </a:xfrm>
          <a:prstGeom prst="rect">
            <a:avLst/>
          </a:prstGeom>
          <a:noFill/>
        </p:spPr>
        <p:txBody>
          <a:bodyPr wrap="square">
            <a:spAutoFit/>
          </a:bodyPr>
          <a:lstStyle/>
          <a:p>
            <a:pPr algn="ctr"/>
            <a:r>
              <a:rPr lang="zh-CN" altLang="en-US" sz="1400" b="1" dirty="0">
                <a:solidFill>
                  <a:prstClr val="black"/>
                </a:solidFill>
                <a:latin typeface="Arial" panose="020B0604020202020204" pitchFamily="34" charset="0"/>
                <a:ea typeface="微软雅黑" panose="020B0503020204020204" pitchFamily="34" charset="-122"/>
                <a:cs typeface="Arial" panose="020B0604020202020204" pitchFamily="34" charset="0"/>
              </a:rPr>
              <a:t>保留关键变量</a:t>
            </a:r>
          </a:p>
        </p:txBody>
      </p:sp>
      <p:sp>
        <p:nvSpPr>
          <p:cNvPr id="26" name="文本框 25"/>
          <p:cNvSpPr txBox="1"/>
          <p:nvPr/>
        </p:nvSpPr>
        <p:spPr>
          <a:xfrm>
            <a:off x="7901438" y="5658412"/>
            <a:ext cx="1498614" cy="306705"/>
          </a:xfrm>
          <a:prstGeom prst="rect">
            <a:avLst/>
          </a:prstGeom>
          <a:noFill/>
        </p:spPr>
        <p:txBody>
          <a:bodyPr wrap="square">
            <a:spAutoFit/>
          </a:bodyPr>
          <a:lstStyle/>
          <a:p>
            <a:pPr algn="ctr"/>
            <a:r>
              <a:rPr lang="zh-CN" altLang="en-US" sz="1400" b="1" dirty="0">
                <a:solidFill>
                  <a:prstClr val="black"/>
                </a:solidFill>
                <a:latin typeface="Arial" panose="020B0604020202020204" pitchFamily="34" charset="0"/>
                <a:ea typeface="微软雅黑" panose="020B0503020204020204" pitchFamily="34" charset="-122"/>
                <a:cs typeface="Arial" panose="020B0604020202020204" pitchFamily="34" charset="0"/>
              </a:rPr>
              <a:t>删除冗余变量</a:t>
            </a:r>
          </a:p>
        </p:txBody>
      </p:sp>
      <p:sp>
        <p:nvSpPr>
          <p:cNvPr id="27" name="文本框 26"/>
          <p:cNvSpPr txBox="1"/>
          <p:nvPr/>
        </p:nvSpPr>
        <p:spPr>
          <a:xfrm>
            <a:off x="9720078" y="5569512"/>
            <a:ext cx="1498614" cy="583565"/>
          </a:xfrm>
          <a:prstGeom prst="rect">
            <a:avLst/>
          </a:prstGeom>
          <a:noFill/>
        </p:spPr>
        <p:txBody>
          <a:bodyPr wrap="square">
            <a:spAutoFit/>
          </a:bodyPr>
          <a:lstStyle/>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最小非冗余</a:t>
            </a:r>
          </a:p>
          <a:p>
            <a:pPr algn="ctr"/>
            <a:r>
              <a:rPr lang="zh-CN" altLang="en-US" sz="1600" dirty="0">
                <a:solidFill>
                  <a:prstClr val="black"/>
                </a:solidFill>
                <a:latin typeface="Arial" panose="020B0604020202020204" pitchFamily="34" charset="0"/>
                <a:ea typeface="微软雅黑" panose="020B0503020204020204" pitchFamily="34" charset="-122"/>
                <a:cs typeface="Arial" panose="020B0604020202020204" pitchFamily="34" charset="0"/>
              </a:rPr>
              <a:t>推断变量集</a:t>
            </a:r>
          </a:p>
        </p:txBody>
      </p:sp>
      <p:sp>
        <p:nvSpPr>
          <p:cNvPr id="28" name="文本框 27"/>
          <p:cNvSpPr txBox="1"/>
          <p:nvPr/>
        </p:nvSpPr>
        <p:spPr>
          <a:xfrm>
            <a:off x="437515" y="983615"/>
            <a:ext cx="6505575" cy="491490"/>
          </a:xfrm>
          <a:prstGeom prst="rect">
            <a:avLst/>
          </a:prstGeom>
          <a:noFill/>
        </p:spPr>
        <p:txBody>
          <a:bodyPr wrap="square">
            <a:spAutoFit/>
          </a:bodyPr>
          <a:lstStyle/>
          <a:p>
            <a:pPr marL="457200" indent="-457200">
              <a:buFont typeface="Wingdings" panose="05000000000000000000" pitchFamily="2" charset="2"/>
              <a:buChar char="Ø"/>
            </a:pPr>
            <a:r>
              <a:rPr lang="en-US" altLang="zh-CN" sz="2600" b="1" dirty="0">
                <a:latin typeface="微软雅黑" panose="020B0503020204020204" pitchFamily="34" charset="-122"/>
                <a:ea typeface="微软雅黑" panose="020B0503020204020204" pitchFamily="34" charset="-122"/>
              </a:rPr>
              <a:t>L</a:t>
            </a:r>
            <a:r>
              <a:rPr lang="zh-CN" altLang="en-US" sz="2600" b="1" dirty="0">
                <a:latin typeface="微软雅黑" panose="020B0503020204020204" pitchFamily="34" charset="-122"/>
                <a:ea typeface="微软雅黑" panose="020B0503020204020204" pitchFamily="34" charset="-122"/>
              </a:rPr>
              <a:t>推断变量集的提取和非冗余验证试验</a:t>
            </a:r>
          </a:p>
        </p:txBody>
      </p:sp>
      <p:sp>
        <p:nvSpPr>
          <p:cNvPr id="2" name="TextBox 8">
            <a:extLst>
              <a:ext uri="{FF2B5EF4-FFF2-40B4-BE49-F238E27FC236}">
                <a16:creationId xmlns:a16="http://schemas.microsoft.com/office/drawing/2014/main" id="{7C0BA3DE-D48A-5B97-9B14-A66B4B5E8B86}"/>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7665" y="1382732"/>
            <a:ext cx="11679555" cy="1251585"/>
          </a:xfrm>
          <a:prstGeom prst="rect">
            <a:avLst/>
          </a:prstGeom>
          <a:noFill/>
        </p:spPr>
        <p:txBody>
          <a:bodyPr wrap="square">
            <a:noAutofit/>
          </a:bodyPr>
          <a:lstStyle/>
          <a:p>
            <a:pPr indent="0">
              <a:lnSpc>
                <a:spcPct val="150000"/>
              </a:lnSpc>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测试数据源自</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PJM</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能源市场（</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PJM Energy Market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）提供的中大西洋地区实时电力数据。数据集涵盖了从</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2023-2024</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年共一年的完整周期，包含</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8,762</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条记录。原始数据维度共</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39</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维，包括发电量（</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Generation</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）、系统负荷信息（</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Load</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）以及各类节点边际电价（</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LMP</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）分量等。目标设定：选取</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电压节点消耗功率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作为</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敏感数据</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），其余</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38</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维数据作为潜在的辅助推断源（</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363863" y="2623807"/>
            <a:ext cx="11238865" cy="645160"/>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Step1</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维相关系数初筛结果：</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38</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列数据有</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25</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列达到阈值，呈现层次性和一定一致性：</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25</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列达到阈值数据中，只有</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列数据只捕获到</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种依赖关系，</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列只捕获到</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种依赖关系，其余均捕获到</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种及以上依赖关系</a:t>
            </a:r>
          </a:p>
        </p:txBody>
      </p:sp>
      <p:pic>
        <p:nvPicPr>
          <p:cNvPr id="6" name="图片 5">
            <a:extLst>
              <a:ext uri="{FF2B5EF4-FFF2-40B4-BE49-F238E27FC236}">
                <a16:creationId xmlns:a16="http://schemas.microsoft.com/office/drawing/2014/main" id="{B43F4899-D70F-0303-41B2-390586822719}"/>
              </a:ext>
            </a:extLst>
          </p:cNvPr>
          <p:cNvPicPr>
            <a:picLocks noChangeAspect="1"/>
          </p:cNvPicPr>
          <p:nvPr/>
        </p:nvPicPr>
        <p:blipFill>
          <a:blip r:embed="rId4"/>
          <a:srcRect r="10892"/>
          <a:stretch>
            <a:fillRect/>
          </a:stretch>
        </p:blipFill>
        <p:spPr>
          <a:xfrm>
            <a:off x="1187668" y="3335871"/>
            <a:ext cx="9591257" cy="3172637"/>
          </a:xfrm>
          <a:prstGeom prst="rect">
            <a:avLst/>
          </a:prstGeom>
        </p:spPr>
      </p:pic>
      <p:sp>
        <p:nvSpPr>
          <p:cNvPr id="7" name="TextBox 8">
            <a:extLst>
              <a:ext uri="{FF2B5EF4-FFF2-40B4-BE49-F238E27FC236}">
                <a16:creationId xmlns:a16="http://schemas.microsoft.com/office/drawing/2014/main" id="{73E25AE4-E6D2-96FA-B592-EB48216F4919}"/>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8" name="文本框 7">
            <a:extLst>
              <a:ext uri="{FF2B5EF4-FFF2-40B4-BE49-F238E27FC236}">
                <a16:creationId xmlns:a16="http://schemas.microsoft.com/office/drawing/2014/main" id="{4031AF8E-5A3F-6E71-5058-D82DD4D0E074}"/>
              </a:ext>
            </a:extLst>
          </p:cNvPr>
          <p:cNvSpPr txBox="1"/>
          <p:nvPr/>
        </p:nvSpPr>
        <p:spPr>
          <a:xfrm>
            <a:off x="144780" y="921320"/>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PJM</a:t>
            </a:r>
            <a:r>
              <a:rPr lang="zh-CN" altLang="en-US" sz="2400" b="1" dirty="0">
                <a:latin typeface="微软雅黑" panose="020B0503020204020204" pitchFamily="34" charset="-122"/>
                <a:ea typeface="微软雅黑" panose="020B0503020204020204" pitchFamily="34" charset="-122"/>
                <a:sym typeface="+mn-ea"/>
              </a:rPr>
              <a:t>能源市场电力数据测试</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76250" y="1528620"/>
            <a:ext cx="11238865" cy="1198880"/>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Step2</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25</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列候选推断变量集作为带</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L1</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门控推断模型输入，模型训练至收敛过程中，推断结果与门控参数变化结果如下：在</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75 Epoch</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之后，系统达到稳定平衡，最终仅保留了</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个活跃特征，分别为地区节点边际电价（</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Feature_2</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）、地区系统电能价格（</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Feature_3</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）以及地区节点边际损失价格（</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Feature_7</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）。结合</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R</a:t>
            </a:r>
            <a:r>
              <a:rPr lang="en-US" altLang="zh-CN" b="1" baseline="30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曲线可知，在特征规模缩减了近</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90%</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的情况下，模型的联合推断性能并未下降。</a:t>
            </a:r>
          </a:p>
        </p:txBody>
      </p:sp>
      <p:pic>
        <p:nvPicPr>
          <p:cNvPr id="5" name="图片 4"/>
          <p:cNvPicPr>
            <a:picLocks noChangeAspect="1"/>
          </p:cNvPicPr>
          <p:nvPr/>
        </p:nvPicPr>
        <p:blipFill>
          <a:blip r:embed="rId4"/>
          <a:stretch>
            <a:fillRect/>
          </a:stretch>
        </p:blipFill>
        <p:spPr>
          <a:xfrm>
            <a:off x="6167755" y="2893455"/>
            <a:ext cx="5494020" cy="3264535"/>
          </a:xfrm>
          <a:prstGeom prst="rect">
            <a:avLst/>
          </a:prstGeom>
        </p:spPr>
      </p:pic>
      <p:pic>
        <p:nvPicPr>
          <p:cNvPr id="6" name="图片 5"/>
          <p:cNvPicPr>
            <a:picLocks noChangeAspect="1"/>
          </p:cNvPicPr>
          <p:nvPr/>
        </p:nvPicPr>
        <p:blipFill>
          <a:blip r:embed="rId5"/>
          <a:stretch>
            <a:fillRect/>
          </a:stretch>
        </p:blipFill>
        <p:spPr>
          <a:xfrm>
            <a:off x="360633" y="2997595"/>
            <a:ext cx="5525135" cy="3160395"/>
          </a:xfrm>
          <a:prstGeom prst="rect">
            <a:avLst/>
          </a:prstGeom>
        </p:spPr>
      </p:pic>
      <mc:AlternateContent xmlns:mc="http://schemas.openxmlformats.org/markup-compatibility/2006" xmlns:a14="http://schemas.microsoft.com/office/drawing/2010/main">
        <mc:Choice Requires="a14">
          <p:sp>
            <p:nvSpPr>
              <p:cNvPr id="8" name="文本框 7"/>
              <p:cNvSpPr txBox="1"/>
              <p:nvPr/>
            </p:nvSpPr>
            <p:spPr>
              <a:xfrm>
                <a:off x="2680288" y="6146560"/>
                <a:ext cx="1457960" cy="379730"/>
              </a:xfrm>
              <a:prstGeom prst="rect">
                <a:avLst/>
              </a:prstGeom>
              <a:noFill/>
            </p:spPr>
            <p:txBody>
              <a:bodyPr wrap="square" rtlCol="0">
                <a:spAutoFit/>
              </a:bodyPr>
              <a:lstStyle/>
              <a:p>
                <a14:m>
                  <m:oMath xmlns:m="http://schemas.openxmlformats.org/officeDocument/2006/math">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𝑹</m:t>
                        </m:r>
                      </m:e>
                      <m:sup>
                        <m:r>
                          <a:rPr lang="en-US" altLang="zh-CN" b="1" i="1">
                            <a:latin typeface="Cambria Math" panose="02040503050406030204" pitchFamily="18" charset="0"/>
                            <a:cs typeface="Cambria Math" panose="02040503050406030204" pitchFamily="18" charset="0"/>
                          </a:rPr>
                          <m:t>𝟐</m:t>
                        </m:r>
                      </m:sup>
                    </m:sSup>
                  </m:oMath>
                </a14:m>
                <a:r>
                  <a:rPr lang="zh-CN" altLang="en-US" b="1">
                    <a:latin typeface="微软雅黑" panose="020B0503020204020204" pitchFamily="34" charset="-122"/>
                    <a:ea typeface="微软雅黑" panose="020B0503020204020204" pitchFamily="34" charset="-122"/>
                    <a:cs typeface="Cambria Math" panose="02040503050406030204" pitchFamily="18" charset="0"/>
                  </a:rPr>
                  <a:t>变化过程</a:t>
                </a:r>
              </a:p>
            </p:txBody>
          </p:sp>
        </mc:Choice>
        <mc:Fallback xmlns="">
          <p:sp>
            <p:nvSpPr>
              <p:cNvPr id="8" name="文本框 7"/>
              <p:cNvSpPr txBox="1">
                <a:spLocks noRot="1" noChangeAspect="1" noMove="1" noResize="1" noEditPoints="1" noAdjustHandles="1" noChangeArrowheads="1" noChangeShapeType="1" noTextEdit="1"/>
              </p:cNvSpPr>
              <p:nvPr/>
            </p:nvSpPr>
            <p:spPr>
              <a:xfrm>
                <a:off x="2680288" y="6146560"/>
                <a:ext cx="1457960" cy="379730"/>
              </a:xfrm>
              <a:prstGeom prst="rect">
                <a:avLst/>
              </a:prstGeom>
              <a:blipFill>
                <a:blip r:embed="rId6"/>
                <a:stretch>
                  <a:fillRect t="-6349" b="-2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8279765" y="6157990"/>
                <a:ext cx="1457960" cy="368300"/>
              </a:xfrm>
              <a:prstGeom prst="rect">
                <a:avLst/>
              </a:prstGeom>
              <a:noFill/>
            </p:spPr>
            <p:txBody>
              <a:bodyPr wrap="square" rtlCol="0">
                <a:spAutoFit/>
              </a:bodyPr>
              <a:lstStyle/>
              <a:p>
                <a14:m>
                  <m:oMath xmlns:m="http://schemas.openxmlformats.org/officeDocument/2006/math">
                    <m:sSub>
                      <m:sSubPr>
                        <m:ctrlPr>
                          <a:rPr lang="en-US" altLang="zh-CN" b="1" i="1">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a:latin typeface="Cambria Math" panose="02040503050406030204" pitchFamily="18" charset="0"/>
                            <a:ea typeface="微软雅黑" panose="020B0503020204020204" pitchFamily="34" charset="-122"/>
                            <a:cs typeface="Cambria Math" panose="02040503050406030204" pitchFamily="18" charset="0"/>
                          </a:rPr>
                          <m:t>𝒈</m:t>
                        </m:r>
                      </m:e>
                      <m:sub>
                        <m:r>
                          <a:rPr lang="en-US" altLang="zh-CN" b="1" i="1">
                            <a:latin typeface="Cambria Math" panose="02040503050406030204" pitchFamily="18" charset="0"/>
                            <a:ea typeface="微软雅黑" panose="020B0503020204020204" pitchFamily="34" charset="-122"/>
                            <a:cs typeface="Cambria Math" panose="02040503050406030204" pitchFamily="18" charset="0"/>
                          </a:rPr>
                          <m:t>𝒊</m:t>
                        </m:r>
                      </m:sub>
                    </m:sSub>
                  </m:oMath>
                </a14:m>
                <a:r>
                  <a:rPr lang="zh-CN" altLang="en-US" b="1">
                    <a:latin typeface="微软雅黑" panose="020B0503020204020204" pitchFamily="34" charset="-122"/>
                    <a:ea typeface="微软雅黑" panose="020B0503020204020204" pitchFamily="34" charset="-122"/>
                    <a:cs typeface="Cambria Math" panose="02040503050406030204" pitchFamily="18" charset="0"/>
                  </a:rPr>
                  <a:t>变化过程</a:t>
                </a:r>
              </a:p>
            </p:txBody>
          </p:sp>
        </mc:Choice>
        <mc:Fallback xmlns="">
          <p:sp>
            <p:nvSpPr>
              <p:cNvPr id="10" name="文本框 9"/>
              <p:cNvSpPr txBox="1">
                <a:spLocks noRot="1" noChangeAspect="1" noMove="1" noResize="1" noEditPoints="1" noAdjustHandles="1" noChangeArrowheads="1" noChangeShapeType="1" noTextEdit="1"/>
              </p:cNvSpPr>
              <p:nvPr/>
            </p:nvSpPr>
            <p:spPr>
              <a:xfrm>
                <a:off x="8279765" y="6157990"/>
                <a:ext cx="1457960" cy="368300"/>
              </a:xfrm>
              <a:prstGeom prst="rect">
                <a:avLst/>
              </a:prstGeom>
              <a:blipFill>
                <a:blip r:embed="rId7"/>
                <a:stretch>
                  <a:fillRect t="-8197" b="-24590"/>
                </a:stretch>
              </a:blipFill>
            </p:spPr>
            <p:txBody>
              <a:bodyPr/>
              <a:lstStyle/>
              <a:p>
                <a:r>
                  <a:rPr lang="zh-CN" altLang="en-US">
                    <a:noFill/>
                  </a:rPr>
                  <a:t> </a:t>
                </a:r>
              </a:p>
            </p:txBody>
          </p:sp>
        </mc:Fallback>
      </mc:AlternateContent>
      <p:sp>
        <p:nvSpPr>
          <p:cNvPr id="3" name="TextBox 8">
            <a:extLst>
              <a:ext uri="{FF2B5EF4-FFF2-40B4-BE49-F238E27FC236}">
                <a16:creationId xmlns:a16="http://schemas.microsoft.com/office/drawing/2014/main" id="{539BD002-75F6-1C95-13B7-C76286A9275C}"/>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4" name="文本框 3">
            <a:extLst>
              <a:ext uri="{FF2B5EF4-FFF2-40B4-BE49-F238E27FC236}">
                <a16:creationId xmlns:a16="http://schemas.microsoft.com/office/drawing/2014/main" id="{A2D3DAA6-647A-36E0-8A73-67903666F3D9}"/>
              </a:ext>
            </a:extLst>
          </p:cNvPr>
          <p:cNvSpPr txBox="1"/>
          <p:nvPr/>
        </p:nvSpPr>
        <p:spPr>
          <a:xfrm>
            <a:off x="144780" y="97387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PJM</a:t>
            </a:r>
            <a:r>
              <a:rPr lang="zh-CN" altLang="en-US" sz="2400" b="1" dirty="0">
                <a:latin typeface="微软雅黑" panose="020B0503020204020204" pitchFamily="34" charset="-122"/>
                <a:ea typeface="微软雅黑" panose="020B0503020204020204" pitchFamily="34" charset="-122"/>
                <a:sym typeface="+mn-ea"/>
              </a:rPr>
              <a:t>能源市场电力数据测试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76250" y="1423512"/>
            <a:ext cx="11238865" cy="1198880"/>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Step3</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：随机</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Drop</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实验：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E10/20/50/100/200_full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分别表示基于第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10/20/50/100/200</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个训练周期提取的主动特征集（含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24/22/4/3/3</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个特征）重新训练的标准</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MLP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E200_drop1/2/3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为从第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200</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轮最终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变量集中逐次移除一个变量得到的消融模型。实验通过重训完整模型评估不同阶段主动集的联合推理能力，并对最终子集进行单变量移除测试，以验证该集合是否为最小非冗余源集。</a:t>
            </a:r>
          </a:p>
        </p:txBody>
      </p:sp>
      <p:pic>
        <p:nvPicPr>
          <p:cNvPr id="2" name="图片 1" descr="fig6 (1)"/>
          <p:cNvPicPr>
            <a:picLocks noChangeAspect="1"/>
          </p:cNvPicPr>
          <p:nvPr/>
        </p:nvPicPr>
        <p:blipFill>
          <a:blip r:embed="rId4"/>
          <a:stretch>
            <a:fillRect/>
          </a:stretch>
        </p:blipFill>
        <p:spPr>
          <a:xfrm>
            <a:off x="607892" y="2672633"/>
            <a:ext cx="6686287" cy="3977087"/>
          </a:xfrm>
          <a:prstGeom prst="rect">
            <a:avLst/>
          </a:prstGeom>
        </p:spPr>
      </p:pic>
      <p:sp>
        <p:nvSpPr>
          <p:cNvPr id="4" name="文本框 3"/>
          <p:cNvSpPr txBox="1"/>
          <p:nvPr/>
        </p:nvSpPr>
        <p:spPr>
          <a:xfrm>
            <a:off x="7538085" y="2849265"/>
            <a:ext cx="4177030" cy="3415030"/>
          </a:xfrm>
          <a:prstGeom prst="rect">
            <a:avLst/>
          </a:prstGeom>
          <a:noFill/>
        </p:spPr>
        <p:txBody>
          <a:bodyPr wrap="square" rtlCol="0">
            <a:spAutoFit/>
          </a:bodyPr>
          <a:lstStyle/>
          <a:p>
            <a:r>
              <a:rPr lang="zh-CN" altLang="en-US" dirty="0"/>
              <a:t>在针对最终源集的剔除实验中，移除区域节点边际价格</a:t>
            </a:r>
            <a:r>
              <a:rPr lang="en-US" altLang="zh-CN" dirty="0"/>
              <a:t> (E200_drop1) </a:t>
            </a:r>
            <a:r>
              <a:rPr lang="zh-CN" altLang="en-US" dirty="0"/>
              <a:t>或区域系统能量价格</a:t>
            </a:r>
            <a:r>
              <a:rPr lang="en-US" altLang="zh-CN" dirty="0"/>
              <a:t> (E200_drop2) </a:t>
            </a:r>
            <a:r>
              <a:rPr lang="zh-CN" altLang="en-US" dirty="0"/>
              <a:t>分别导致</a:t>
            </a:r>
            <a:r>
              <a:rPr lang="en-US" altLang="zh-CN" dirty="0"/>
              <a:t> R</a:t>
            </a:r>
            <a:r>
              <a:rPr lang="en-US" altLang="en-US" dirty="0"/>
              <a:t>²</a:t>
            </a:r>
            <a:r>
              <a:rPr lang="en-US" altLang="zh-CN" dirty="0"/>
              <a:t> </a:t>
            </a:r>
            <a:r>
              <a:rPr lang="zh-CN" altLang="en-US" dirty="0"/>
              <a:t>值骤降至</a:t>
            </a:r>
            <a:r>
              <a:rPr lang="en-US" altLang="zh-CN" dirty="0"/>
              <a:t> 0.4066 </a:t>
            </a:r>
            <a:r>
              <a:rPr lang="zh-CN" altLang="en-US" dirty="0"/>
              <a:t>和</a:t>
            </a:r>
            <a:r>
              <a:rPr lang="en-US" altLang="zh-CN" dirty="0"/>
              <a:t> 0.7153</a:t>
            </a:r>
            <a:r>
              <a:rPr lang="zh-CN" altLang="en-US" dirty="0"/>
              <a:t>。</a:t>
            </a:r>
          </a:p>
          <a:p>
            <a:endParaRPr lang="zh-CN" altLang="en-US" dirty="0"/>
          </a:p>
          <a:p>
            <a:r>
              <a:rPr lang="zh-CN" altLang="en-US" dirty="0"/>
              <a:t>移除第三个变量</a:t>
            </a:r>
            <a:r>
              <a:rPr lang="en-US" altLang="zh-CN" dirty="0"/>
              <a:t>——</a:t>
            </a:r>
            <a:r>
              <a:rPr lang="zh-CN" altLang="en-US" dirty="0"/>
              <a:t>区域节点边际损失价格</a:t>
            </a:r>
            <a:r>
              <a:rPr lang="en-US" altLang="zh-CN" dirty="0"/>
              <a:t> (E200_drop3) </a:t>
            </a:r>
            <a:r>
              <a:rPr lang="zh-CN" altLang="en-US" dirty="0"/>
              <a:t>后，</a:t>
            </a:r>
            <a:r>
              <a:rPr lang="en-US" altLang="zh-CN" dirty="0"/>
              <a:t>R</a:t>
            </a:r>
            <a:r>
              <a:rPr lang="en-US" altLang="en-US" dirty="0"/>
              <a:t>²</a:t>
            </a:r>
            <a:r>
              <a:rPr lang="en-US" altLang="zh-CN" dirty="0"/>
              <a:t> </a:t>
            </a:r>
            <a:r>
              <a:rPr lang="zh-CN" altLang="en-US" dirty="0"/>
              <a:t>值略微下降至</a:t>
            </a:r>
            <a:r>
              <a:rPr lang="en-US" altLang="zh-CN" dirty="0"/>
              <a:t> 0.9815</a:t>
            </a:r>
            <a:r>
              <a:rPr lang="zh-CN" altLang="en-US" dirty="0"/>
              <a:t>，这与其较小但仍有效的门控参数相符，表明其在源集中起辅助作用。在实践中，根据保守的非冗余准则可以保留该变量，或者根据更严格的部署准则将其排除，而精度损失有限。</a:t>
            </a:r>
          </a:p>
        </p:txBody>
      </p:sp>
      <p:sp>
        <p:nvSpPr>
          <p:cNvPr id="3" name="TextBox 8">
            <a:extLst>
              <a:ext uri="{FF2B5EF4-FFF2-40B4-BE49-F238E27FC236}">
                <a16:creationId xmlns:a16="http://schemas.microsoft.com/office/drawing/2014/main" id="{2C8662F9-D150-F33B-D99F-BE73531381CF}"/>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7" name="文本框 6">
            <a:extLst>
              <a:ext uri="{FF2B5EF4-FFF2-40B4-BE49-F238E27FC236}">
                <a16:creationId xmlns:a16="http://schemas.microsoft.com/office/drawing/2014/main" id="{59FDD78E-6F6E-C293-4639-F73D3D0431E0}"/>
              </a:ext>
            </a:extLst>
          </p:cNvPr>
          <p:cNvSpPr txBox="1"/>
          <p:nvPr/>
        </p:nvSpPr>
        <p:spPr>
          <a:xfrm>
            <a:off x="144780" y="91081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PJM</a:t>
            </a:r>
            <a:r>
              <a:rPr lang="zh-CN" altLang="en-US" sz="2400" b="1" dirty="0">
                <a:latin typeface="微软雅黑" panose="020B0503020204020204" pitchFamily="34" charset="-122"/>
                <a:ea typeface="微软雅黑" panose="020B0503020204020204" pitchFamily="34" charset="-122"/>
                <a:sym typeface="+mn-ea"/>
              </a:rPr>
              <a:t>能源市场电力数据测试</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68531" y="1434248"/>
            <a:ext cx="11054937" cy="1979930"/>
          </a:xfrm>
          <a:prstGeom prst="rect">
            <a:avLst/>
          </a:prstGeom>
          <a:noFill/>
        </p:spPr>
        <p:txBody>
          <a:bodyPr wrap="square">
            <a:noAutofit/>
          </a:bodyPr>
          <a:lstStyle/>
          <a:p>
            <a:pPr indent="0">
              <a:lnSpc>
                <a:spcPct val="150000"/>
              </a:lnSpc>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测试数据基于</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IEEE 30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节点标准测试系统，通过</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MATPOWER</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最优潮流（</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OPF</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）仿真生成，</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加入</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Correlated AR</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噪声模型</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，计算</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1500</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个时间步。原始数据维度共 232 维，根据字段敏感性和可观测性，数据进一步划分为三类：</a:t>
            </a:r>
          </a:p>
          <a:p>
            <a:pPr algn="l">
              <a:lnSpc>
                <a:spcPct val="150000"/>
              </a:lnSpc>
              <a:buClrTx/>
              <a:buSzTx/>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一般数据：</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56 个业务字段，主要表示较容易被外部观察或统计得到的公开侧运行信息；</a:t>
            </a:r>
          </a:p>
          <a:p>
            <a:pPr algn="l">
              <a:lnSpc>
                <a:spcPct val="150000"/>
              </a:lnSpc>
              <a:buClrTx/>
              <a:buSzTx/>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动态敏感数据：</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70 个业务字段，主要表示随时间变化的系统运行状态；</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静态敏感数据：</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104 个业务字段，主要表示系统结构参数、设备约束和线路参数；</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 typeface="Wingdings" panose="05000000000000000000"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 typeface="Wingdings" panose="05000000000000000000"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2237434" y="3406031"/>
            <a:ext cx="3236572" cy="3091397"/>
          </a:xfrm>
          <a:prstGeom prst="rect">
            <a:avLst/>
          </a:prstGeom>
        </p:spPr>
      </p:pic>
      <mc:AlternateContent xmlns:mc="http://schemas.openxmlformats.org/markup-compatibility/2006" xmlns:a14="http://schemas.microsoft.com/office/drawing/2010/main">
        <mc:Choice Requires="a14">
          <p:sp>
            <p:nvSpPr>
              <p:cNvPr id="8" name="文本框 7"/>
              <p:cNvSpPr txBox="1"/>
              <p:nvPr/>
            </p:nvSpPr>
            <p:spPr>
              <a:xfrm>
                <a:off x="144780" y="4224554"/>
                <a:ext cx="2161540" cy="923330"/>
              </a:xfrm>
              <a:prstGeom prst="rect">
                <a:avLst/>
              </a:prstGeom>
              <a:noFill/>
            </p:spPr>
            <p:txBody>
              <a:bodyPr wrap="square" rtlCol="0">
                <a:spAutoFit/>
              </a:bodyPr>
              <a:lstStyle/>
              <a:p>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举例：全部</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232</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个节点之间</a:t>
                </a:r>
                <a14:m>
                  <m:oMath xmlns:m="http://schemas.openxmlformats.org/officeDocument/2006/math">
                    <m:r>
                      <a:rPr lang="en-US" altLang="zh-CN" b="1" i="1">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𝒌𝒆𝒏𝒅𝒂𝒍𝒍</m:t>
                    </m:r>
                  </m:oMath>
                </a14:m>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大小热力图</a:t>
                </a:r>
              </a:p>
            </p:txBody>
          </p:sp>
        </mc:Choice>
        <mc:Fallback xmlns="">
          <p:sp>
            <p:nvSpPr>
              <p:cNvPr id="8" name="文本框 7"/>
              <p:cNvSpPr txBox="1">
                <a:spLocks noRot="1" noChangeAspect="1" noMove="1" noResize="1" noEditPoints="1" noAdjustHandles="1" noChangeArrowheads="1" noChangeShapeType="1" noTextEdit="1"/>
              </p:cNvSpPr>
              <p:nvPr/>
            </p:nvSpPr>
            <p:spPr>
              <a:xfrm>
                <a:off x="144780" y="4224554"/>
                <a:ext cx="2161540" cy="923330"/>
              </a:xfrm>
              <a:prstGeom prst="rect">
                <a:avLst/>
              </a:prstGeom>
              <a:blipFill>
                <a:blip r:embed="rId5"/>
                <a:stretch>
                  <a:fillRect l="-2542" t="-3311" b="-9934"/>
                </a:stretch>
              </a:blipFill>
            </p:spPr>
            <p:txBody>
              <a:bodyPr/>
              <a:lstStyle/>
              <a:p>
                <a:r>
                  <a:rPr lang="zh-CN" altLang="en-US">
                    <a:noFill/>
                  </a:rPr>
                  <a:t> </a:t>
                </a:r>
              </a:p>
            </p:txBody>
          </p:sp>
        </mc:Fallback>
      </mc:AlternateContent>
      <p:pic>
        <p:nvPicPr>
          <p:cNvPr id="6" name="图片 5"/>
          <p:cNvPicPr>
            <a:picLocks noChangeAspect="1"/>
          </p:cNvPicPr>
          <p:nvPr/>
        </p:nvPicPr>
        <p:blipFill>
          <a:blip r:embed="rId6"/>
          <a:stretch>
            <a:fillRect/>
          </a:stretch>
        </p:blipFill>
        <p:spPr>
          <a:xfrm>
            <a:off x="5883911" y="3404595"/>
            <a:ext cx="3236572" cy="3132730"/>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9221673" y="3947377"/>
                <a:ext cx="2300605" cy="1476375"/>
              </a:xfrm>
              <a:prstGeom prst="rect">
                <a:avLst/>
              </a:prstGeom>
              <a:noFill/>
            </p:spPr>
            <p:txBody>
              <a:bodyPr wrap="square" rtlCol="0">
                <a:spAutoFit/>
              </a:bodyPr>
              <a:lstStyle/>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举例：去除静态敏感数据，加上</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time</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b="1"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solve_sucess</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状态</a:t>
                </a:r>
              </a:p>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字段</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128</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个节点之间</a:t>
                </a:r>
                <a14:m>
                  <m:oMath xmlns:m="http://schemas.openxmlformats.org/officeDocument/2006/math">
                    <m:r>
                      <a:rPr lang="en-US" altLang="zh-CN" b="1" i="1">
                        <a:solidFill>
                          <a:schemeClr val="tx1"/>
                        </a:solidFill>
                        <a:latin typeface="Cambria Math" panose="02040503050406030204" pitchFamily="18" charset="0"/>
                        <a:ea typeface="微软雅黑" panose="020B0503020204020204" pitchFamily="34" charset="-122"/>
                        <a:cs typeface="Cambria Math" panose="02040503050406030204" pitchFamily="18" charset="0"/>
                      </a:rPr>
                      <m:t>𝒌𝒆𝒏𝒅𝒂𝒍𝒍</m:t>
                    </m:r>
                  </m:oMath>
                </a14:m>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大小热力图</a:t>
                </a:r>
              </a:p>
            </p:txBody>
          </p:sp>
        </mc:Choice>
        <mc:Fallback xmlns="">
          <p:sp>
            <p:nvSpPr>
              <p:cNvPr id="7" name="文本框 6"/>
              <p:cNvSpPr txBox="1">
                <a:spLocks noRot="1" noChangeAspect="1" noMove="1" noResize="1" noEditPoints="1" noAdjustHandles="1" noChangeArrowheads="1" noChangeShapeType="1" noTextEdit="1"/>
              </p:cNvSpPr>
              <p:nvPr/>
            </p:nvSpPr>
            <p:spPr>
              <a:xfrm>
                <a:off x="9221673" y="3947377"/>
                <a:ext cx="2300605" cy="1476375"/>
              </a:xfrm>
              <a:prstGeom prst="rect">
                <a:avLst/>
              </a:prstGeom>
              <a:blipFill>
                <a:blip r:embed="rId7"/>
                <a:stretch>
                  <a:fillRect l="-2387" t="-2479" r="-265" b="-5785"/>
                </a:stretch>
              </a:blipFill>
            </p:spPr>
            <p:txBody>
              <a:bodyPr/>
              <a:lstStyle/>
              <a:p>
                <a:r>
                  <a:rPr lang="zh-CN" altLang="en-US">
                    <a:noFill/>
                  </a:rPr>
                  <a:t> </a:t>
                </a:r>
              </a:p>
            </p:txBody>
          </p:sp>
        </mc:Fallback>
      </mc:AlternateContent>
      <p:sp>
        <p:nvSpPr>
          <p:cNvPr id="2" name="TextBox 8">
            <a:extLst>
              <a:ext uri="{FF2B5EF4-FFF2-40B4-BE49-F238E27FC236}">
                <a16:creationId xmlns:a16="http://schemas.microsoft.com/office/drawing/2014/main" id="{8C0502D8-15B5-38AD-BFB9-B3F628C64958}"/>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9" name="文本框 8">
            <a:extLst>
              <a:ext uri="{FF2B5EF4-FFF2-40B4-BE49-F238E27FC236}">
                <a16:creationId xmlns:a16="http://schemas.microsoft.com/office/drawing/2014/main" id="{78528401-C773-ADCA-1D56-951712E15DA3}"/>
              </a:ext>
            </a:extLst>
          </p:cNvPr>
          <p:cNvSpPr txBox="1"/>
          <p:nvPr/>
        </p:nvSpPr>
        <p:spPr>
          <a:xfrm>
            <a:off x="144780" y="97387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IEEE 30</a:t>
            </a:r>
            <a:r>
              <a:rPr lang="zh-CN" altLang="en-US" sz="2400" b="1" dirty="0">
                <a:latin typeface="微软雅黑" panose="020B0503020204020204" pitchFamily="34" charset="-122"/>
                <a:ea typeface="微软雅黑" panose="020B0503020204020204" pitchFamily="34" charset="-122"/>
                <a:sym typeface="+mn-ea"/>
              </a:rPr>
              <a:t>节点系统测试</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21990" y="1418590"/>
            <a:ext cx="4824095" cy="4827905"/>
          </a:xfrm>
          <a:prstGeom prst="rect">
            <a:avLst/>
          </a:prstGeom>
          <a:noFill/>
        </p:spPr>
        <p:txBody>
          <a:bodyPr wrap="square">
            <a:noAutofit/>
          </a:bodyPr>
          <a:lstStyle/>
          <a:p>
            <a:pPr algn="l">
              <a:lnSpc>
                <a:spcPct val="150000"/>
              </a:lnSpc>
              <a:buClrTx/>
              <a:buSzTx/>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目标设定：选取 Qt_br6_f4_t6 （表示</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bus4 到 bus6 线路在 to 端的无功潮流 Qt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）作为中心敏感数据。</a:t>
            </a:r>
          </a:p>
          <a:p>
            <a:pPr algn="l">
              <a:lnSpc>
                <a:spcPct val="150000"/>
              </a:lnSpc>
              <a:buClrTx/>
              <a:buSzTx/>
              <a:buFont typeface="Wingdings" panose="05000000000000000000"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设置两类候选数据集合。第一类为 AllData，由动态敏感数据和一般数据共同组成，</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共有 126 个字段</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；第二类为 GeneralData，仅由一般数据组成，共有 57 个字段。</a:t>
            </a:r>
          </a:p>
          <a:p>
            <a:pPr algn="l">
              <a:lnSpc>
                <a:spcPct val="150000"/>
              </a:lnSpc>
              <a:buClrTx/>
              <a:buSzTx/>
              <a:buFont typeface="Wingdings" panose="05000000000000000000" charset="0"/>
              <a:buNone/>
            </a:pPr>
            <a:endParaRPr lang="zh-CN" altLang="en-US" sz="800"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 typeface="Wingdings" panose="05000000000000000000" charset="0"/>
              <a:buNone/>
            </a:pP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Step1</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基于 6 种相关系数指标，对中心敏感数据 Qt_br6_f4_t6 与候选推断源字段进行初筛。结果表明，对于 AllData，126 个字段中有 108个字段达到至少一种相关性阈值；对于 GeneralData，57 个字段中有 49个字段达到至少一种相关性阈值。</a:t>
            </a:r>
          </a:p>
          <a:p>
            <a:pPr algn="l">
              <a:lnSpc>
                <a:spcPct val="150000"/>
              </a:lnSpc>
              <a:buClrTx/>
              <a:buSzTx/>
              <a:buFont typeface="Wingdings" panose="05000000000000000000"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4"/>
          <a:stretch>
            <a:fillRect/>
          </a:stretch>
        </p:blipFill>
        <p:spPr>
          <a:xfrm>
            <a:off x="890709" y="1648554"/>
            <a:ext cx="1978616" cy="4997356"/>
          </a:xfrm>
          <a:prstGeom prst="rect">
            <a:avLst/>
          </a:prstGeom>
        </p:spPr>
      </p:pic>
      <p:pic>
        <p:nvPicPr>
          <p:cNvPr id="7" name="图片 6"/>
          <p:cNvPicPr>
            <a:picLocks noChangeAspect="1"/>
          </p:cNvPicPr>
          <p:nvPr/>
        </p:nvPicPr>
        <p:blipFill>
          <a:blip r:embed="rId5"/>
          <a:stretch>
            <a:fillRect/>
          </a:stretch>
        </p:blipFill>
        <p:spPr>
          <a:xfrm>
            <a:off x="8168021" y="1418590"/>
            <a:ext cx="3491379" cy="5227320"/>
          </a:xfrm>
          <a:prstGeom prst="rect">
            <a:avLst/>
          </a:prstGeom>
        </p:spPr>
      </p:pic>
      <p:sp>
        <p:nvSpPr>
          <p:cNvPr id="2" name="TextBox 8">
            <a:extLst>
              <a:ext uri="{FF2B5EF4-FFF2-40B4-BE49-F238E27FC236}">
                <a16:creationId xmlns:a16="http://schemas.microsoft.com/office/drawing/2014/main" id="{5B9D1605-3037-5FB1-00A7-8097660228EB}"/>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5" name="文本框 4">
            <a:extLst>
              <a:ext uri="{FF2B5EF4-FFF2-40B4-BE49-F238E27FC236}">
                <a16:creationId xmlns:a16="http://schemas.microsoft.com/office/drawing/2014/main" id="{ACF8FA8B-E74A-3DC4-CAA1-AC3CF659F013}"/>
              </a:ext>
            </a:extLst>
          </p:cNvPr>
          <p:cNvSpPr txBox="1"/>
          <p:nvPr/>
        </p:nvSpPr>
        <p:spPr>
          <a:xfrm>
            <a:off x="144780" y="97387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IEEE 30</a:t>
            </a:r>
            <a:r>
              <a:rPr lang="zh-CN" altLang="en-US" sz="2400" b="1" dirty="0">
                <a:latin typeface="微软雅黑" panose="020B0503020204020204" pitchFamily="34" charset="-122"/>
                <a:ea typeface="微软雅黑" panose="020B0503020204020204" pitchFamily="34" charset="-122"/>
                <a:sym typeface="+mn-ea"/>
              </a:rPr>
              <a:t>节点系统测试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60333" y="1435211"/>
            <a:ext cx="11323955" cy="1324610"/>
          </a:xfrm>
          <a:prstGeom prst="rect">
            <a:avLst/>
          </a:prstGeom>
          <a:noFill/>
        </p:spPr>
        <p:txBody>
          <a:bodyPr wrap="square" rtlCol="0">
            <a:noAutofit/>
          </a:bodyPr>
          <a:lstStyle/>
          <a:p>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Step2</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：在完成相关性初筛后，分别使用</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AllData</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GeneralData</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两类候选数据集作为推断源，对中心敏感数据</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Qt_br6_f4_t6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使用普通</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DNN</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进行预测训练。</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从训练过程中的</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Loss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曲线和</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²</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曲线</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可以看出，</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Loss</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快速下降且</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²</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迅速升高，</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同时在测试数据上也保持了较强的泛化能力。</a:t>
            </a:r>
          </a:p>
        </p:txBody>
      </p:sp>
      <p:sp>
        <p:nvSpPr>
          <p:cNvPr id="10" name="文本框 9"/>
          <p:cNvSpPr txBox="1"/>
          <p:nvPr/>
        </p:nvSpPr>
        <p:spPr>
          <a:xfrm>
            <a:off x="736600" y="3313558"/>
            <a:ext cx="1144270" cy="368300"/>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AllData</a:t>
            </a:r>
            <a:endParaRPr lang="zh-CN" altLang="en-US" b="1">
              <a:latin typeface="微软雅黑" panose="020B0503020204020204" pitchFamily="34" charset="-122"/>
              <a:ea typeface="微软雅黑" panose="020B0503020204020204" pitchFamily="34" charset="-122"/>
              <a:cs typeface="Cambria Math" panose="02040503050406030204" pitchFamily="18" charset="0"/>
            </a:endParaRPr>
          </a:p>
        </p:txBody>
      </p:sp>
      <p:pic>
        <p:nvPicPr>
          <p:cNvPr id="2" name="图片 1"/>
          <p:cNvPicPr>
            <a:picLocks noChangeAspect="1"/>
          </p:cNvPicPr>
          <p:nvPr/>
        </p:nvPicPr>
        <p:blipFill>
          <a:blip r:embed="rId4"/>
          <a:stretch>
            <a:fillRect/>
          </a:stretch>
        </p:blipFill>
        <p:spPr>
          <a:xfrm>
            <a:off x="6409690" y="4577208"/>
            <a:ext cx="3958590" cy="2261870"/>
          </a:xfrm>
          <a:prstGeom prst="rect">
            <a:avLst/>
          </a:prstGeom>
        </p:spPr>
      </p:pic>
      <p:pic>
        <p:nvPicPr>
          <p:cNvPr id="7" name="图片 6"/>
          <p:cNvPicPr>
            <a:picLocks noChangeAspect="1"/>
          </p:cNvPicPr>
          <p:nvPr/>
        </p:nvPicPr>
        <p:blipFill>
          <a:blip r:embed="rId5"/>
          <a:stretch>
            <a:fillRect/>
          </a:stretch>
        </p:blipFill>
        <p:spPr>
          <a:xfrm>
            <a:off x="2039620" y="4654678"/>
            <a:ext cx="3822065" cy="2184400"/>
          </a:xfrm>
          <a:prstGeom prst="rect">
            <a:avLst/>
          </a:prstGeom>
        </p:spPr>
      </p:pic>
      <p:pic>
        <p:nvPicPr>
          <p:cNvPr id="11" name="图片 10"/>
          <p:cNvPicPr>
            <a:picLocks noChangeAspect="1"/>
          </p:cNvPicPr>
          <p:nvPr/>
        </p:nvPicPr>
        <p:blipFill>
          <a:blip r:embed="rId6"/>
          <a:stretch>
            <a:fillRect/>
          </a:stretch>
        </p:blipFill>
        <p:spPr>
          <a:xfrm>
            <a:off x="2105025" y="2507743"/>
            <a:ext cx="3756660" cy="2146935"/>
          </a:xfrm>
          <a:prstGeom prst="rect">
            <a:avLst/>
          </a:prstGeom>
        </p:spPr>
      </p:pic>
      <p:sp>
        <p:nvSpPr>
          <p:cNvPr id="12" name="文本框 11"/>
          <p:cNvSpPr txBox="1"/>
          <p:nvPr/>
        </p:nvSpPr>
        <p:spPr>
          <a:xfrm>
            <a:off x="391795" y="5354448"/>
            <a:ext cx="1647825" cy="368300"/>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GeneralData</a:t>
            </a:r>
            <a:endParaRPr lang="zh-CN" altLang="en-US" b="1">
              <a:latin typeface="微软雅黑" panose="020B0503020204020204" pitchFamily="34" charset="-122"/>
              <a:ea typeface="微软雅黑" panose="020B0503020204020204" pitchFamily="34" charset="-122"/>
              <a:cs typeface="Cambria Math" panose="02040503050406030204" pitchFamily="18" charset="0"/>
            </a:endParaRPr>
          </a:p>
        </p:txBody>
      </p:sp>
      <p:pic>
        <p:nvPicPr>
          <p:cNvPr id="13" name="图片 12"/>
          <p:cNvPicPr>
            <a:picLocks noChangeAspect="1"/>
          </p:cNvPicPr>
          <p:nvPr/>
        </p:nvPicPr>
        <p:blipFill>
          <a:blip r:embed="rId7"/>
          <a:stretch>
            <a:fillRect/>
          </a:stretch>
        </p:blipFill>
        <p:spPr>
          <a:xfrm>
            <a:off x="6346190" y="2356613"/>
            <a:ext cx="4022090" cy="2298065"/>
          </a:xfrm>
          <a:prstGeom prst="rect">
            <a:avLst/>
          </a:prstGeom>
        </p:spPr>
      </p:pic>
      <p:sp>
        <p:nvSpPr>
          <p:cNvPr id="4" name="TextBox 8">
            <a:extLst>
              <a:ext uri="{FF2B5EF4-FFF2-40B4-BE49-F238E27FC236}">
                <a16:creationId xmlns:a16="http://schemas.microsoft.com/office/drawing/2014/main" id="{783452FA-FBC8-92C7-5563-66E130E81432}"/>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5" name="文本框 4">
            <a:extLst>
              <a:ext uri="{FF2B5EF4-FFF2-40B4-BE49-F238E27FC236}">
                <a16:creationId xmlns:a16="http://schemas.microsoft.com/office/drawing/2014/main" id="{0E171232-121A-A947-D175-B144B7857B5C}"/>
              </a:ext>
            </a:extLst>
          </p:cNvPr>
          <p:cNvSpPr txBox="1"/>
          <p:nvPr/>
        </p:nvSpPr>
        <p:spPr>
          <a:xfrm>
            <a:off x="144780" y="90030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IEEE 30</a:t>
            </a:r>
            <a:r>
              <a:rPr lang="zh-CN" altLang="en-US" sz="2400" b="1" dirty="0">
                <a:latin typeface="微软雅黑" panose="020B0503020204020204" pitchFamily="34" charset="-122"/>
                <a:ea typeface="微软雅黑" panose="020B0503020204020204" pitchFamily="34" charset="-122"/>
                <a:sym typeface="+mn-ea"/>
              </a:rPr>
              <a:t>节点系统测试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11175" y="1427353"/>
            <a:ext cx="6391275" cy="2342515"/>
          </a:xfrm>
          <a:prstGeom prst="rect">
            <a:avLst/>
          </a:prstGeom>
          <a:noFill/>
        </p:spPr>
        <p:txBody>
          <a:bodyPr wrap="square" rtlCol="0">
            <a:noAutofit/>
          </a:bodyPr>
          <a:lstStyle/>
          <a:p>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Step3</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：由于仅使用</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GeneralData</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作为推断源时，模型已经能够对中心敏感数据实现较高精度预测，因此后续只利用一般数据通过</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L1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门控神经网络进行推断和特征选择。</a:t>
            </a:r>
          </a:p>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R</a:t>
            </a:r>
            <a:r>
              <a:rPr lang="en-US" altLang="en-US" b="1" dirty="0">
                <a:latin typeface="微软雅黑" panose="020B0503020204020204" pitchFamily="34" charset="-122"/>
                <a:ea typeface="微软雅黑" panose="020B0503020204020204" pitchFamily="34" charset="-122"/>
                <a:cs typeface="微软雅黑" panose="020B0503020204020204" pitchFamily="34" charset="-122"/>
              </a:rPr>
              <a:t>²</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变化曲线可以看出，</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L1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门控神经网络在训练过程中仍然能够保持较高的预测性能。</a:t>
            </a:r>
          </a:p>
          <a:p>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g_i</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变化图可以看出，不同候选特征的门控系数在训练过程中逐渐产生分化。一部分特征的</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g_i</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能够维持在较高水平；另一部分特征的</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rPr>
              <a:t>g_i</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则逐渐下降，表明它们对最终推断结果的贡献较弱，可以被压缩或剔除。</a:t>
            </a:r>
          </a:p>
        </p:txBody>
      </p:sp>
      <p:pic>
        <p:nvPicPr>
          <p:cNvPr id="4" name="图片 3"/>
          <p:cNvPicPr>
            <a:picLocks noChangeAspect="1"/>
          </p:cNvPicPr>
          <p:nvPr/>
        </p:nvPicPr>
        <p:blipFill>
          <a:blip r:embed="rId4"/>
          <a:stretch>
            <a:fillRect/>
          </a:stretch>
        </p:blipFill>
        <p:spPr>
          <a:xfrm>
            <a:off x="986286" y="4004440"/>
            <a:ext cx="4825935" cy="2757591"/>
          </a:xfrm>
          <a:prstGeom prst="rect">
            <a:avLst/>
          </a:prstGeom>
        </p:spPr>
      </p:pic>
      <p:pic>
        <p:nvPicPr>
          <p:cNvPr id="6" name="图片 5"/>
          <p:cNvPicPr>
            <a:picLocks noChangeAspect="1"/>
          </p:cNvPicPr>
          <p:nvPr/>
        </p:nvPicPr>
        <p:blipFill>
          <a:blip r:embed="rId5"/>
          <a:stretch>
            <a:fillRect/>
          </a:stretch>
        </p:blipFill>
        <p:spPr>
          <a:xfrm>
            <a:off x="6902450" y="900303"/>
            <a:ext cx="5169201" cy="5749417"/>
          </a:xfrm>
          <a:prstGeom prst="rect">
            <a:avLst/>
          </a:prstGeom>
        </p:spPr>
      </p:pic>
      <p:sp>
        <p:nvSpPr>
          <p:cNvPr id="2" name="TextBox 8">
            <a:extLst>
              <a:ext uri="{FF2B5EF4-FFF2-40B4-BE49-F238E27FC236}">
                <a16:creationId xmlns:a16="http://schemas.microsoft.com/office/drawing/2014/main" id="{5735F8B3-401B-662D-F3BA-929B51BB2ADE}"/>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5" name="文本框 4">
            <a:extLst>
              <a:ext uri="{FF2B5EF4-FFF2-40B4-BE49-F238E27FC236}">
                <a16:creationId xmlns:a16="http://schemas.microsoft.com/office/drawing/2014/main" id="{645C2C3F-FC9D-B1DF-49BA-635AF09FF53E}"/>
              </a:ext>
            </a:extLst>
          </p:cNvPr>
          <p:cNvSpPr txBox="1"/>
          <p:nvPr/>
        </p:nvSpPr>
        <p:spPr>
          <a:xfrm>
            <a:off x="144780" y="90030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IEEE 30</a:t>
            </a:r>
            <a:r>
              <a:rPr lang="zh-CN" altLang="en-US" sz="2400" b="1" dirty="0">
                <a:latin typeface="微软雅黑" panose="020B0503020204020204" pitchFamily="34" charset="-122"/>
                <a:ea typeface="微软雅黑" panose="020B0503020204020204" pitchFamily="34" charset="-122"/>
                <a:sym typeface="+mn-ea"/>
              </a:rPr>
              <a:t>节点系统测试</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80074" y="1488275"/>
            <a:ext cx="11238865" cy="646331"/>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Step4</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Drop Validation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实验：</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先按照最终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g_i</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值对活跃特征排序，然后从</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12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个活跃特征开始，逐步删除</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g_i</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较低的特征，只保留排名更靠前的特征重新训练普通</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DNN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，并观察测试集最佳</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R</a:t>
            </a:r>
            <a:r>
              <a:rPr lang="en-US" altLang="en-US" dirty="0">
                <a:latin typeface="微软雅黑" panose="020B0503020204020204" pitchFamily="34" charset="-122"/>
                <a:ea typeface="微软雅黑" panose="020B0503020204020204" pitchFamily="34" charset="-122"/>
                <a:cs typeface="微软雅黑" panose="020B0503020204020204" pitchFamily="34" charset="-122"/>
              </a:rPr>
              <a:t>²</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的变化。</a:t>
            </a:r>
          </a:p>
        </p:txBody>
      </p:sp>
      <p:pic>
        <p:nvPicPr>
          <p:cNvPr id="5" name="图片 4"/>
          <p:cNvPicPr>
            <a:picLocks noChangeAspect="1"/>
          </p:cNvPicPr>
          <p:nvPr/>
        </p:nvPicPr>
        <p:blipFill>
          <a:blip r:embed="rId4"/>
          <a:srcRect r="28495"/>
          <a:stretch>
            <a:fillRect/>
          </a:stretch>
        </p:blipFill>
        <p:spPr>
          <a:xfrm>
            <a:off x="444719" y="2277405"/>
            <a:ext cx="5320117" cy="4140835"/>
          </a:xfrm>
          <a:prstGeom prst="rect">
            <a:avLst/>
          </a:prstGeom>
        </p:spPr>
      </p:pic>
      <p:pic>
        <p:nvPicPr>
          <p:cNvPr id="6" name="图片 5"/>
          <p:cNvPicPr>
            <a:picLocks noChangeAspect="1"/>
          </p:cNvPicPr>
          <p:nvPr/>
        </p:nvPicPr>
        <p:blipFill>
          <a:blip r:embed="rId4"/>
          <a:srcRect l="71823" t="21937" r="583" b="22808"/>
          <a:stretch>
            <a:fillRect/>
          </a:stretch>
        </p:blipFill>
        <p:spPr>
          <a:xfrm>
            <a:off x="5847299" y="2646338"/>
            <a:ext cx="3053080" cy="3402965"/>
          </a:xfrm>
          <a:prstGeom prst="rect">
            <a:avLst/>
          </a:prstGeom>
        </p:spPr>
      </p:pic>
      <p:sp>
        <p:nvSpPr>
          <p:cNvPr id="7" name="文本框 6"/>
          <p:cNvSpPr txBox="1"/>
          <p:nvPr/>
        </p:nvSpPr>
        <p:spPr>
          <a:xfrm>
            <a:off x="9170605" y="2472347"/>
            <a:ext cx="2776220" cy="3750945"/>
          </a:xfrm>
          <a:prstGeom prst="rect">
            <a:avLst/>
          </a:prstGeom>
          <a:noFill/>
        </p:spPr>
        <p:txBody>
          <a:bodyPr wrap="square" rtlCol="0">
            <a:noAutofit/>
          </a:bodyPr>
          <a:lstStyle/>
          <a:p>
            <a:r>
              <a:rPr lang="zh-CN" altLang="en-US" dirty="0">
                <a:latin typeface="Arial" panose="020B0604020202020204" pitchFamily="34" charset="0"/>
                <a:ea typeface="微软雅黑" panose="020B0503020204020204" pitchFamily="34" charset="-122"/>
                <a:cs typeface="Arial" panose="020B0604020202020204" pitchFamily="34" charset="0"/>
              </a:rPr>
              <a:t>仅保留</a:t>
            </a:r>
            <a:r>
              <a:rPr lang="en-US" altLang="zh-CN" dirty="0">
                <a:latin typeface="Arial" panose="020B0604020202020204" pitchFamily="34" charset="0"/>
                <a:ea typeface="微软雅黑" panose="020B0503020204020204" pitchFamily="34" charset="-122"/>
                <a:cs typeface="Arial" panose="020B0604020202020204" pitchFamily="34" charset="0"/>
              </a:rPr>
              <a:t> </a:t>
            </a:r>
            <a:r>
              <a:rPr lang="en-US" altLang="zh-CN" dirty="0" err="1">
                <a:latin typeface="Arial" panose="020B0604020202020204" pitchFamily="34" charset="0"/>
                <a:ea typeface="微软雅黑" panose="020B0503020204020204" pitchFamily="34" charset="-122"/>
                <a:cs typeface="Arial" panose="020B0604020202020204" pitchFamily="34" charset="0"/>
              </a:rPr>
              <a:t>g_i</a:t>
            </a:r>
            <a:r>
              <a:rPr lang="en-US" altLang="zh-CN" dirty="0">
                <a:latin typeface="Arial" panose="020B0604020202020204" pitchFamily="34" charset="0"/>
                <a:ea typeface="微软雅黑" panose="020B0503020204020204" pitchFamily="34" charset="-122"/>
                <a:cs typeface="Arial" panose="020B0604020202020204" pitchFamily="34" charset="0"/>
              </a:rPr>
              <a:t> </a:t>
            </a:r>
            <a:r>
              <a:rPr lang="zh-CN" altLang="en-US" dirty="0">
                <a:latin typeface="Arial" panose="020B0604020202020204" pitchFamily="34" charset="0"/>
                <a:ea typeface="微软雅黑" panose="020B0503020204020204" pitchFamily="34" charset="-122"/>
                <a:cs typeface="Arial" panose="020B0604020202020204" pitchFamily="34" charset="0"/>
              </a:rPr>
              <a:t>最高的</a:t>
            </a:r>
            <a:r>
              <a:rPr lang="en-US" altLang="zh-CN" dirty="0">
                <a:latin typeface="Arial" panose="020B0604020202020204" pitchFamily="34" charset="0"/>
                <a:ea typeface="微软雅黑" panose="020B0503020204020204" pitchFamily="34" charset="-122"/>
                <a:cs typeface="Arial" panose="020B0604020202020204" pitchFamily="34" charset="0"/>
              </a:rPr>
              <a:t> 3 </a:t>
            </a:r>
            <a:r>
              <a:rPr lang="zh-CN" altLang="en-US" dirty="0">
                <a:latin typeface="Arial" panose="020B0604020202020204" pitchFamily="34" charset="0"/>
                <a:ea typeface="微软雅黑" panose="020B0503020204020204" pitchFamily="34" charset="-122"/>
                <a:cs typeface="Arial" panose="020B0604020202020204" pitchFamily="34" charset="0"/>
              </a:rPr>
              <a:t>个特征时，</a:t>
            </a:r>
            <a:r>
              <a:rPr lang="en-US" altLang="zh-CN" dirty="0">
                <a:latin typeface="Arial" panose="020B0604020202020204" pitchFamily="34" charset="0"/>
                <a:ea typeface="微软雅黑" panose="020B0503020204020204" pitchFamily="34" charset="-122"/>
                <a:cs typeface="Arial" panose="020B0604020202020204" pitchFamily="34" charset="0"/>
              </a:rPr>
              <a:t>R</a:t>
            </a:r>
            <a:r>
              <a:rPr lang="en-US" altLang="en-US" dirty="0">
                <a:latin typeface="Arial" panose="020B0604020202020204" pitchFamily="34" charset="0"/>
                <a:ea typeface="微软雅黑" panose="020B0503020204020204" pitchFamily="34" charset="-122"/>
                <a:cs typeface="Arial" panose="020B0604020202020204" pitchFamily="34" charset="0"/>
              </a:rPr>
              <a:t>²</a:t>
            </a:r>
            <a:r>
              <a:rPr lang="en-US" altLang="zh-CN" dirty="0">
                <a:latin typeface="Arial" panose="020B0604020202020204" pitchFamily="34" charset="0"/>
                <a:ea typeface="微软雅黑" panose="020B0503020204020204" pitchFamily="34" charset="-122"/>
                <a:cs typeface="Arial" panose="020B0604020202020204" pitchFamily="34" charset="0"/>
              </a:rPr>
              <a:t> </a:t>
            </a:r>
            <a:r>
              <a:rPr lang="zh-CN" altLang="en-US" dirty="0">
                <a:latin typeface="Arial" panose="020B0604020202020204" pitchFamily="34" charset="0"/>
                <a:ea typeface="微软雅黑" panose="020B0503020204020204" pitchFamily="34" charset="-122"/>
                <a:cs typeface="Arial" panose="020B0604020202020204" pitchFamily="34" charset="0"/>
              </a:rPr>
              <a:t>仍能达到</a:t>
            </a:r>
            <a:r>
              <a:rPr lang="en-US" altLang="zh-CN" dirty="0">
                <a:latin typeface="Arial" panose="020B0604020202020204" pitchFamily="34" charset="0"/>
                <a:ea typeface="微软雅黑" panose="020B0503020204020204" pitchFamily="34" charset="-122"/>
                <a:cs typeface="Arial" panose="020B0604020202020204" pitchFamily="34" charset="0"/>
              </a:rPr>
              <a:t> 0.9816</a:t>
            </a:r>
            <a:r>
              <a:rPr lang="zh-CN" altLang="en-US" dirty="0">
                <a:latin typeface="Arial" panose="020B0604020202020204" pitchFamily="34" charset="0"/>
                <a:ea typeface="微软雅黑" panose="020B0503020204020204" pitchFamily="34" charset="-122"/>
                <a:cs typeface="Arial" panose="020B0604020202020204" pitchFamily="34" charset="0"/>
              </a:rPr>
              <a:t>；保留</a:t>
            </a:r>
            <a:r>
              <a:rPr lang="en-US" altLang="zh-CN" dirty="0">
                <a:latin typeface="Arial" panose="020B0604020202020204" pitchFamily="34" charset="0"/>
                <a:ea typeface="微软雅黑" panose="020B0503020204020204" pitchFamily="34" charset="-122"/>
                <a:cs typeface="Arial" panose="020B0604020202020204" pitchFamily="34" charset="0"/>
              </a:rPr>
              <a:t> 4 </a:t>
            </a:r>
            <a:r>
              <a:rPr lang="zh-CN" altLang="en-US" dirty="0">
                <a:latin typeface="Arial" panose="020B0604020202020204" pitchFamily="34" charset="0"/>
                <a:ea typeface="微软雅黑" panose="020B0503020204020204" pitchFamily="34" charset="-122"/>
                <a:cs typeface="Arial" panose="020B0604020202020204" pitchFamily="34" charset="0"/>
              </a:rPr>
              <a:t>个特征时，</a:t>
            </a:r>
            <a:r>
              <a:rPr lang="en-US" altLang="zh-CN" dirty="0">
                <a:latin typeface="Arial" panose="020B0604020202020204" pitchFamily="34" charset="0"/>
                <a:ea typeface="微软雅黑" panose="020B0503020204020204" pitchFamily="34" charset="-122"/>
                <a:cs typeface="Arial" panose="020B0604020202020204" pitchFamily="34" charset="0"/>
              </a:rPr>
              <a:t>R</a:t>
            </a:r>
            <a:r>
              <a:rPr lang="en-US" altLang="en-US" dirty="0">
                <a:latin typeface="Arial" panose="020B0604020202020204" pitchFamily="34" charset="0"/>
                <a:ea typeface="微软雅黑" panose="020B0503020204020204" pitchFamily="34" charset="-122"/>
                <a:cs typeface="Arial" panose="020B0604020202020204" pitchFamily="34" charset="0"/>
              </a:rPr>
              <a:t>²</a:t>
            </a:r>
            <a:r>
              <a:rPr lang="en-US" altLang="zh-CN" dirty="0">
                <a:latin typeface="Arial" panose="020B0604020202020204" pitchFamily="34" charset="0"/>
                <a:ea typeface="微软雅黑" panose="020B0503020204020204" pitchFamily="34" charset="-122"/>
                <a:cs typeface="Arial" panose="020B0604020202020204" pitchFamily="34" charset="0"/>
              </a:rPr>
              <a:t> </a:t>
            </a:r>
            <a:r>
              <a:rPr lang="zh-CN" altLang="en-US" dirty="0">
                <a:latin typeface="Arial" panose="020B0604020202020204" pitchFamily="34" charset="0"/>
                <a:ea typeface="微软雅黑" panose="020B0503020204020204" pitchFamily="34" charset="-122"/>
                <a:cs typeface="Arial" panose="020B0604020202020204" pitchFamily="34" charset="0"/>
              </a:rPr>
              <a:t>已提升到</a:t>
            </a:r>
            <a:r>
              <a:rPr lang="en-US" altLang="zh-CN" dirty="0">
                <a:latin typeface="Arial" panose="020B0604020202020204" pitchFamily="34" charset="0"/>
                <a:ea typeface="微软雅黑" panose="020B0503020204020204" pitchFamily="34" charset="-122"/>
                <a:cs typeface="Arial" panose="020B0604020202020204" pitchFamily="34" charset="0"/>
              </a:rPr>
              <a:t> 0.9925</a:t>
            </a:r>
            <a:r>
              <a:rPr lang="zh-CN" altLang="en-US" dirty="0">
                <a:latin typeface="Arial" panose="020B0604020202020204" pitchFamily="34" charset="0"/>
                <a:ea typeface="微软雅黑" panose="020B0503020204020204" pitchFamily="34" charset="-122"/>
                <a:cs typeface="Arial" panose="020B0604020202020204" pitchFamily="34" charset="0"/>
              </a:rPr>
              <a:t>，基本接近更多特征下的预测效果。因此，可以认为</a:t>
            </a:r>
            <a:r>
              <a:rPr lang="en-US" altLang="zh-CN" dirty="0">
                <a:latin typeface="Arial" panose="020B0604020202020204" pitchFamily="34" charset="0"/>
                <a:ea typeface="微软雅黑" panose="020B0503020204020204" pitchFamily="34" charset="-122"/>
                <a:cs typeface="Arial" panose="020B0604020202020204" pitchFamily="34" charset="0"/>
              </a:rPr>
              <a:t>Qg_gen3_bus27 </a:t>
            </a:r>
            <a:r>
              <a:rPr lang="zh-CN" altLang="en-US" dirty="0">
                <a:latin typeface="Arial" panose="020B0604020202020204" pitchFamily="34" charset="0"/>
                <a:ea typeface="微软雅黑" panose="020B0503020204020204" pitchFamily="34" charset="-122"/>
                <a:cs typeface="Arial" panose="020B0604020202020204" pitchFamily="34" charset="0"/>
              </a:rPr>
              <a:t>，</a:t>
            </a:r>
            <a:r>
              <a:rPr lang="en-US" altLang="zh-CN" dirty="0">
                <a:latin typeface="Arial" panose="020B0604020202020204" pitchFamily="34" charset="0"/>
                <a:ea typeface="微软雅黑" panose="020B0503020204020204" pitchFamily="34" charset="-122"/>
                <a:cs typeface="Arial" panose="020B0604020202020204" pitchFamily="34" charset="0"/>
              </a:rPr>
              <a:t>Qg_gen0_bus1</a:t>
            </a:r>
            <a:r>
              <a:rPr lang="zh-CN" altLang="en-US" dirty="0">
                <a:latin typeface="Arial" panose="020B0604020202020204" pitchFamily="34" charset="0"/>
                <a:ea typeface="微软雅黑" panose="020B0503020204020204" pitchFamily="34" charset="-122"/>
                <a:cs typeface="Arial" panose="020B0604020202020204" pitchFamily="34" charset="0"/>
              </a:rPr>
              <a:t>，</a:t>
            </a:r>
            <a:r>
              <a:rPr lang="en-US" altLang="zh-CN" dirty="0">
                <a:latin typeface="Arial" panose="020B0604020202020204" pitchFamily="34" charset="0"/>
                <a:ea typeface="微软雅黑" panose="020B0503020204020204" pitchFamily="34" charset="-122"/>
                <a:cs typeface="Arial" panose="020B0604020202020204" pitchFamily="34" charset="0"/>
              </a:rPr>
              <a:t>Qg_gen2_bus22</a:t>
            </a:r>
            <a:r>
              <a:rPr lang="zh-CN" altLang="en-US" dirty="0">
                <a:latin typeface="Arial" panose="020B0604020202020204" pitchFamily="34" charset="0"/>
                <a:ea typeface="微软雅黑" panose="020B0503020204020204" pitchFamily="34" charset="-122"/>
                <a:cs typeface="Arial" panose="020B0604020202020204" pitchFamily="34" charset="0"/>
              </a:rPr>
              <a:t>（</a:t>
            </a:r>
            <a:r>
              <a:rPr lang="en-US" altLang="zh-CN" dirty="0">
                <a:latin typeface="Arial" panose="020B0604020202020204" pitchFamily="34" charset="0"/>
                <a:ea typeface="微软雅黑" panose="020B0503020204020204" pitchFamily="34" charset="-122"/>
                <a:cs typeface="Arial" panose="020B0604020202020204" pitchFamily="34" charset="0"/>
              </a:rPr>
              <a:t>Qg_gen5_bus13</a:t>
            </a:r>
            <a:r>
              <a:rPr lang="zh-CN" altLang="en-US" dirty="0">
                <a:latin typeface="Arial" panose="020B0604020202020204" pitchFamily="34" charset="0"/>
                <a:ea typeface="微软雅黑" panose="020B0503020204020204" pitchFamily="34" charset="-122"/>
                <a:cs typeface="Arial" panose="020B0604020202020204" pitchFamily="34" charset="0"/>
              </a:rPr>
              <a:t>）已承担了对</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Qt_br6_f4_t6</a:t>
            </a:r>
            <a:r>
              <a:rPr lang="zh-CN" altLang="en-US" dirty="0">
                <a:latin typeface="Arial" panose="020B0604020202020204" pitchFamily="34" charset="0"/>
                <a:ea typeface="微软雅黑" panose="020B0503020204020204" pitchFamily="34" charset="-122"/>
                <a:cs typeface="Arial" panose="020B0604020202020204" pitchFamily="34" charset="0"/>
              </a:rPr>
              <a:t>主要推断作用，更多特征主要提供冗余补充。</a:t>
            </a:r>
          </a:p>
        </p:txBody>
      </p:sp>
      <p:sp>
        <p:nvSpPr>
          <p:cNvPr id="2" name="TextBox 8">
            <a:extLst>
              <a:ext uri="{FF2B5EF4-FFF2-40B4-BE49-F238E27FC236}">
                <a16:creationId xmlns:a16="http://schemas.microsoft.com/office/drawing/2014/main" id="{5E6009F7-E512-4889-8D00-D75021BBF1CF}"/>
              </a:ext>
            </a:extLst>
          </p:cNvPr>
          <p:cNvSpPr>
            <a:spLocks noChangeArrowheads="1"/>
          </p:cNvSpPr>
          <p:nvPr>
            <p:custDataLst>
              <p:tags r:id="rId1"/>
            </p:custDataLst>
          </p:nvPr>
        </p:nvSpPr>
        <p:spPr bwMode="auto">
          <a:xfrm>
            <a:off x="10160" y="208280"/>
            <a:ext cx="9398635"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研究内容</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：基于</a:t>
            </a:r>
            <a:r>
              <a:rPr lang="en-US" altLang="zh-CN"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L1</a:t>
            </a: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门控神经网络的最小推断源变量集合识别</a:t>
            </a:r>
          </a:p>
        </p:txBody>
      </p:sp>
      <p:sp>
        <p:nvSpPr>
          <p:cNvPr id="4" name="文本框 3">
            <a:extLst>
              <a:ext uri="{FF2B5EF4-FFF2-40B4-BE49-F238E27FC236}">
                <a16:creationId xmlns:a16="http://schemas.microsoft.com/office/drawing/2014/main" id="{4A07523E-C8F0-D391-8350-25459FB8119F}"/>
              </a:ext>
            </a:extLst>
          </p:cNvPr>
          <p:cNvSpPr txBox="1"/>
          <p:nvPr/>
        </p:nvSpPr>
        <p:spPr>
          <a:xfrm>
            <a:off x="144780" y="900303"/>
            <a:ext cx="11054937" cy="460375"/>
          </a:xfrm>
          <a:prstGeom prst="rect">
            <a:avLst/>
          </a:prstGeom>
          <a:noFill/>
        </p:spPr>
        <p:txBody>
          <a:bodyPr wrap="square">
            <a:spAutoFit/>
          </a:bodyPr>
          <a:lstStyle/>
          <a:p>
            <a:pPr marL="285750" indent="-285750">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sym typeface="+mn-ea"/>
              </a:rPr>
              <a:t>IEEE 30</a:t>
            </a:r>
            <a:r>
              <a:rPr lang="zh-CN" altLang="en-US" sz="2400" b="1" dirty="0">
                <a:latin typeface="微软雅黑" panose="020B0503020204020204" pitchFamily="34" charset="-122"/>
                <a:ea typeface="微软雅黑" panose="020B0503020204020204" pitchFamily="34" charset="-122"/>
                <a:sym typeface="+mn-ea"/>
              </a:rPr>
              <a:t>节点系统测试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9" name="Picture 11" descr="11"/>
          <p:cNvPicPr>
            <a:picLocks noChangeAspect="1" noChangeArrowheads="1"/>
          </p:cNvPicPr>
          <p:nvPr/>
        </p:nvPicPr>
        <p:blipFill>
          <a:blip r:embed="rId18" cstate="email">
            <a:clrChange>
              <a:clrFrom>
                <a:srgbClr val="FFFFFF"/>
              </a:clrFrom>
              <a:clrTo>
                <a:srgbClr val="FFFFFF">
                  <a:alpha val="0"/>
                </a:srgbClr>
              </a:clrTo>
            </a:clrChange>
          </a:blip>
          <a:srcRect/>
          <a:stretch>
            <a:fillRect/>
          </a:stretch>
        </p:blipFill>
        <p:spPr bwMode="auto">
          <a:xfrm>
            <a:off x="2423160" y="2095500"/>
            <a:ext cx="7536815" cy="3631565"/>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组合 59"/>
          <p:cNvGrpSpPr/>
          <p:nvPr>
            <p:custDataLst>
              <p:tags r:id="rId1"/>
            </p:custDataLst>
          </p:nvPr>
        </p:nvGrpSpPr>
        <p:grpSpPr>
          <a:xfrm>
            <a:off x="3851275" y="2272705"/>
            <a:ext cx="4481144" cy="663133"/>
            <a:chOff x="2830" y="9269"/>
            <a:chExt cx="8789" cy="1375"/>
          </a:xfrm>
        </p:grpSpPr>
        <p:sp>
          <p:nvSpPr>
            <p:cNvPr id="56" name="Oval 53"/>
            <p:cNvSpPr>
              <a:spLocks noChangeArrowheads="1"/>
            </p:cNvSpPr>
            <p:nvPr>
              <p:custDataLst>
                <p:tags r:id="rId12"/>
              </p:custDataLst>
            </p:nvPr>
          </p:nvSpPr>
          <p:spPr bwMode="auto">
            <a:xfrm>
              <a:off x="2830" y="9473"/>
              <a:ext cx="1168" cy="1171"/>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latin typeface="Arial" panose="020B0604020202020204" pitchFamily="34" charset="0"/>
                <a:cs typeface="Arial" panose="020B0604020202020204" pitchFamily="34" charset="0"/>
              </a:endParaRPr>
            </a:p>
          </p:txBody>
        </p:sp>
        <p:sp>
          <p:nvSpPr>
            <p:cNvPr id="57" name="Line 548"/>
            <p:cNvSpPr>
              <a:spLocks noChangeShapeType="1"/>
            </p:cNvSpPr>
            <p:nvPr>
              <p:custDataLst>
                <p:tags r:id="rId13"/>
              </p:custDataLst>
            </p:nvPr>
          </p:nvSpPr>
          <p:spPr bwMode="auto">
            <a:xfrm flipH="1">
              <a:off x="4149" y="10073"/>
              <a:ext cx="1300"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58" name="Rectangle 67"/>
            <p:cNvSpPr>
              <a:spLocks noChangeArrowheads="1"/>
            </p:cNvSpPr>
            <p:nvPr>
              <p:custDataLst>
                <p:tags r:id="rId14"/>
              </p:custDataLst>
            </p:nvPr>
          </p:nvSpPr>
          <p:spPr bwMode="auto">
            <a:xfrm>
              <a:off x="3084" y="9593"/>
              <a:ext cx="942"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solidFill>
                    <a:srgbClr val="BFBFBF"/>
                  </a:solidFill>
                  <a:latin typeface="Arial" panose="020B0604020202020204" pitchFamily="34" charset="0"/>
                  <a:ea typeface="方正兰亭大黑_GBK" pitchFamily="2" charset="-122"/>
                  <a:cs typeface="Arial" panose="020B0604020202020204" pitchFamily="34" charset="0"/>
                </a:rPr>
                <a:t>1</a:t>
              </a:r>
            </a:p>
          </p:txBody>
        </p:sp>
        <p:sp>
          <p:nvSpPr>
            <p:cNvPr id="59" name="Rectangle 73"/>
            <p:cNvSpPr>
              <a:spLocks noChangeArrowheads="1"/>
            </p:cNvSpPr>
            <p:nvPr>
              <p:custDataLst>
                <p:tags r:id="rId15"/>
              </p:custDataLst>
            </p:nvPr>
          </p:nvSpPr>
          <p:spPr bwMode="auto">
            <a:xfrm>
              <a:off x="5626" y="9269"/>
              <a:ext cx="5993" cy="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rgbClr val="BFBFBF"/>
                  </a:solidFill>
                  <a:latin typeface="Arial" panose="020B0604020202020204" pitchFamily="34" charset="0"/>
                  <a:ea typeface="微软雅黑" panose="020B0503020204020204" pitchFamily="34" charset="-122"/>
                  <a:cs typeface="Arial" panose="020B0604020202020204" pitchFamily="34" charset="0"/>
                  <a:sym typeface="+mn-ea"/>
                </a:rPr>
                <a:t>指标完成情况</a:t>
              </a:r>
            </a:p>
          </p:txBody>
        </p:sp>
      </p:grpSp>
      <p:grpSp>
        <p:nvGrpSpPr>
          <p:cNvPr id="97" name="组合 96"/>
          <p:cNvGrpSpPr/>
          <p:nvPr>
            <p:custDataLst>
              <p:tags r:id="rId2"/>
            </p:custDataLst>
          </p:nvPr>
        </p:nvGrpSpPr>
        <p:grpSpPr>
          <a:xfrm>
            <a:off x="3851275" y="3104130"/>
            <a:ext cx="4976726" cy="680068"/>
            <a:chOff x="2830" y="9233"/>
            <a:chExt cx="9761" cy="1411"/>
          </a:xfrm>
        </p:grpSpPr>
        <p:sp>
          <p:nvSpPr>
            <p:cNvPr id="98" name="Oval 53"/>
            <p:cNvSpPr>
              <a:spLocks noChangeArrowheads="1"/>
            </p:cNvSpPr>
            <p:nvPr>
              <p:custDataLst>
                <p:tags r:id="rId8"/>
              </p:custDataLst>
            </p:nvPr>
          </p:nvSpPr>
          <p:spPr bwMode="auto">
            <a:xfrm>
              <a:off x="2830" y="9473"/>
              <a:ext cx="1168" cy="1171"/>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latin typeface="Arial" panose="020B0604020202020204" pitchFamily="34" charset="0"/>
                <a:cs typeface="Arial" panose="020B0604020202020204" pitchFamily="34" charset="0"/>
              </a:endParaRPr>
            </a:p>
          </p:txBody>
        </p:sp>
        <p:sp>
          <p:nvSpPr>
            <p:cNvPr id="99" name="Line 548"/>
            <p:cNvSpPr>
              <a:spLocks noChangeShapeType="1"/>
            </p:cNvSpPr>
            <p:nvPr>
              <p:custDataLst>
                <p:tags r:id="rId9"/>
              </p:custDataLst>
            </p:nvPr>
          </p:nvSpPr>
          <p:spPr bwMode="auto">
            <a:xfrm flipH="1">
              <a:off x="4094" y="10074"/>
              <a:ext cx="1355"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100" name="Rectangle 67"/>
            <p:cNvSpPr>
              <a:spLocks noChangeArrowheads="1"/>
            </p:cNvSpPr>
            <p:nvPr>
              <p:custDataLst>
                <p:tags r:id="rId10"/>
              </p:custDataLst>
            </p:nvPr>
          </p:nvSpPr>
          <p:spPr bwMode="auto">
            <a:xfrm>
              <a:off x="3084" y="9593"/>
              <a:ext cx="942" cy="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solidFill>
                    <a:srgbClr val="BFBFBF"/>
                  </a:solidFill>
                  <a:latin typeface="Arial" panose="020B0604020202020204" pitchFamily="34" charset="0"/>
                  <a:ea typeface="方正兰亭大黑_GBK" pitchFamily="2" charset="-122"/>
                  <a:cs typeface="Arial" panose="020B0604020202020204" pitchFamily="34" charset="0"/>
                </a:rPr>
                <a:t>2</a:t>
              </a:r>
            </a:p>
          </p:txBody>
        </p:sp>
        <p:sp>
          <p:nvSpPr>
            <p:cNvPr id="101" name="Rectangle 73"/>
            <p:cNvSpPr>
              <a:spLocks noChangeArrowheads="1"/>
            </p:cNvSpPr>
            <p:nvPr>
              <p:custDataLst>
                <p:tags r:id="rId11"/>
              </p:custDataLst>
            </p:nvPr>
          </p:nvSpPr>
          <p:spPr bwMode="auto">
            <a:xfrm>
              <a:off x="5626" y="9233"/>
              <a:ext cx="6965" cy="1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rgbClr val="BFBFBF"/>
                  </a:solidFill>
                  <a:latin typeface="Arial" panose="020B0604020202020204" pitchFamily="34" charset="0"/>
                  <a:ea typeface="微软雅黑" panose="020B0503020204020204" pitchFamily="34" charset="-122"/>
                  <a:cs typeface="Arial" panose="020B0604020202020204" pitchFamily="34" charset="0"/>
                  <a:sym typeface="+mn-ea"/>
                </a:rPr>
                <a:t>近期工作进展</a:t>
              </a:r>
            </a:p>
          </p:txBody>
        </p:sp>
      </p:grpSp>
      <p:grpSp>
        <p:nvGrpSpPr>
          <p:cNvPr id="102" name="组合 101"/>
          <p:cNvGrpSpPr/>
          <p:nvPr>
            <p:custDataLst>
              <p:tags r:id="rId3"/>
            </p:custDataLst>
          </p:nvPr>
        </p:nvGrpSpPr>
        <p:grpSpPr>
          <a:xfrm>
            <a:off x="4487578" y="3943812"/>
            <a:ext cx="4488793" cy="581263"/>
            <a:chOff x="4078" y="9215"/>
            <a:chExt cx="8804" cy="1206"/>
          </a:xfrm>
        </p:grpSpPr>
        <p:sp>
          <p:nvSpPr>
            <p:cNvPr id="104" name="Line 548"/>
            <p:cNvSpPr>
              <a:spLocks noChangeShapeType="1"/>
            </p:cNvSpPr>
            <p:nvPr>
              <p:custDataLst>
                <p:tags r:id="rId6"/>
              </p:custDataLst>
            </p:nvPr>
          </p:nvSpPr>
          <p:spPr bwMode="auto">
            <a:xfrm flipH="1">
              <a:off x="4078" y="10073"/>
              <a:ext cx="1371" cy="1"/>
            </a:xfrm>
            <a:prstGeom prst="line">
              <a:avLst/>
            </a:prstGeom>
            <a:noFill/>
            <a:ln w="19050">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00">
                <a:latin typeface="Arial" panose="020B0604020202020204" pitchFamily="34" charset="0"/>
                <a:cs typeface="Arial" panose="020B0604020202020204" pitchFamily="34" charset="0"/>
              </a:endParaRPr>
            </a:p>
          </p:txBody>
        </p:sp>
        <p:sp>
          <p:nvSpPr>
            <p:cNvPr id="106" name="Rectangle 73"/>
            <p:cNvSpPr>
              <a:spLocks noChangeArrowheads="1"/>
            </p:cNvSpPr>
            <p:nvPr>
              <p:custDataLst>
                <p:tags r:id="rId7"/>
              </p:custDataLst>
            </p:nvPr>
          </p:nvSpPr>
          <p:spPr bwMode="auto">
            <a:xfrm>
              <a:off x="5626" y="9215"/>
              <a:ext cx="7256"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latin typeface="Arial" panose="020B0604020202020204" pitchFamily="34" charset="0"/>
                  <a:ea typeface="微软雅黑" panose="020B0503020204020204" pitchFamily="34" charset="-122"/>
                  <a:cs typeface="Arial" panose="020B0604020202020204" pitchFamily="34" charset="0"/>
                  <a:sym typeface="+mn-ea"/>
                </a:rPr>
                <a:t>下一步工作计划</a:t>
              </a:r>
            </a:p>
          </p:txBody>
        </p:sp>
      </p:grpSp>
      <p:sp>
        <p:nvSpPr>
          <p:cNvPr id="3" name="文本框 2"/>
          <p:cNvSpPr txBox="1"/>
          <p:nvPr/>
        </p:nvSpPr>
        <p:spPr>
          <a:xfrm>
            <a:off x="30480" y="37465"/>
            <a:ext cx="8301990" cy="743152"/>
          </a:xfrm>
          <a:prstGeom prst="rect">
            <a:avLst/>
          </a:prstGeom>
          <a:noFill/>
        </p:spPr>
        <p:txBody>
          <a:bodyPr wrap="square" rtlCol="0">
            <a:spAutoFit/>
          </a:bodyPr>
          <a:lstStyle/>
          <a:p>
            <a:pPr>
              <a:lnSpc>
                <a:spcPct val="150000"/>
              </a:lnSpc>
            </a:pPr>
            <a:r>
              <a:rPr lang="zh-CN" altLang="en-US" sz="3200" b="1" dirty="0">
                <a:solidFill>
                  <a:schemeClr val="accent1"/>
                </a:solidFill>
                <a:effectLst>
                  <a:outerShdw blurRad="38100" dist="19050" dir="2700000" algn="tl" rotWithShape="0">
                    <a:schemeClr val="dk1">
                      <a:alpha val="40000"/>
                    </a:schemeClr>
                  </a:outerShdw>
                </a:effectLst>
                <a:latin typeface="Arial" panose="020B0604020202020204" pitchFamily="34" charset="0"/>
                <a:ea typeface="微软雅黑" panose="020B0503020204020204" pitchFamily="34" charset="-122"/>
                <a:cs typeface="Arial" panose="020B0604020202020204" pitchFamily="34" charset="0"/>
                <a:sym typeface="+mn-ea"/>
              </a:rPr>
              <a:t>汇报提纲</a:t>
            </a:r>
          </a:p>
        </p:txBody>
      </p:sp>
      <p:sp>
        <p:nvSpPr>
          <p:cNvPr id="2" name="Oval 53"/>
          <p:cNvSpPr>
            <a:spLocks noChangeArrowheads="1"/>
          </p:cNvSpPr>
          <p:nvPr>
            <p:custDataLst>
              <p:tags r:id="rId4"/>
            </p:custDataLst>
          </p:nvPr>
        </p:nvSpPr>
        <p:spPr bwMode="auto">
          <a:xfrm>
            <a:off x="3851428" y="4075149"/>
            <a:ext cx="595514" cy="564394"/>
          </a:xfrm>
          <a:prstGeom prst="ellipse">
            <a:avLst/>
          </a:prstGeom>
          <a:gradFill flip="none" rotWithShape="1">
            <a:gsLst>
              <a:gs pos="100000">
                <a:srgbClr val="FFFFFF"/>
              </a:gs>
              <a:gs pos="0">
                <a:srgbClr val="D9DEDF"/>
              </a:gs>
            </a:gsLst>
            <a:lin ang="2700000" scaled="0"/>
            <a:tileRect/>
          </a:gradFill>
          <a:ln w="28575">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dirty="0">
              <a:latin typeface="Arial" panose="020B0604020202020204" pitchFamily="34" charset="0"/>
              <a:cs typeface="Arial" panose="020B0604020202020204" pitchFamily="34" charset="0"/>
            </a:endParaRPr>
          </a:p>
        </p:txBody>
      </p:sp>
      <p:sp>
        <p:nvSpPr>
          <p:cNvPr id="4" name="Rectangle 67"/>
          <p:cNvSpPr>
            <a:spLocks noChangeArrowheads="1"/>
          </p:cNvSpPr>
          <p:nvPr>
            <p:custDataLst>
              <p:tags r:id="rId5"/>
            </p:custDataLst>
          </p:nvPr>
        </p:nvSpPr>
        <p:spPr bwMode="auto">
          <a:xfrm>
            <a:off x="3909042" y="4157956"/>
            <a:ext cx="480286"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dirty="0">
                <a:latin typeface="Arial" panose="020B0604020202020204" pitchFamily="34" charset="0"/>
                <a:ea typeface="方正兰亭大黑_GBK" pitchFamily="2" charset="-122"/>
                <a:cs typeface="Arial" panose="020B0604020202020204" pitchFamily="34" charset="0"/>
              </a:rPr>
              <a:t>3</a:t>
            </a:r>
          </a:p>
        </p:txBody>
      </p:sp>
    </p:spTree>
    <p:extLst>
      <p:ext uri="{BB962C8B-B14F-4D97-AF65-F5344CB8AC3E}">
        <p14:creationId xmlns:p14="http://schemas.microsoft.com/office/powerpoint/2010/main" val="3502113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1894189D-AB75-B13A-F6A0-786BBA9FE826}"/>
              </a:ext>
            </a:extLst>
          </p:cNvPr>
          <p:cNvSpPr>
            <a:spLocks noChangeArrowheads="1"/>
          </p:cNvSpPr>
          <p:nvPr>
            <p:custDataLst>
              <p:tags r:id="rId1"/>
            </p:custDataLst>
          </p:nvPr>
        </p:nvSpPr>
        <p:spPr bwMode="auto">
          <a:xfrm>
            <a:off x="720090" y="271463"/>
            <a:ext cx="91392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alibri" panose="020F0502020204030204" charset="0"/>
                <a:ea typeface="宋体" panose="02010600030101010101" pitchFamily="2" charset="-122"/>
                <a:sym typeface="Calibri" panose="020F0502020204030204" charset="0"/>
              </a:defRPr>
            </a:lvl1pPr>
            <a:lvl2pPr marL="742950" indent="-285750" eaLnBrk="0" hangingPunct="0">
              <a:spcBef>
                <a:spcPct val="20000"/>
              </a:spcBef>
              <a:buChar char="–"/>
              <a:defRPr sz="28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eaLnBrk="0" hangingPunct="0">
              <a:spcBef>
                <a:spcPct val="20000"/>
              </a:spcBef>
              <a:buChar char="•"/>
              <a:defRPr sz="24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eaLnBrk="0" hangingPunct="0">
              <a:spcBef>
                <a:spcPct val="20000"/>
              </a:spcBef>
              <a:buChar char="»"/>
              <a:defRPr sz="20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9pPr>
          </a:lstStyle>
          <a:p>
            <a:pPr eaLnBrk="1" hangingPunct="1">
              <a:spcBef>
                <a:spcPct val="0"/>
              </a:spcBef>
              <a:buFont typeface="Arial" panose="020B0604020202020204" pitchFamily="34" charset="0"/>
              <a:buNone/>
            </a:pPr>
            <a:r>
              <a:rPr lang="zh-CN" altLang="en-US" sz="2600" b="1" dirty="0">
                <a:solidFill>
                  <a:srgbClr val="1F497D"/>
                </a:solidFill>
                <a:latin typeface="微软雅黑" panose="020B0503020204020204" pitchFamily="34" charset="-122"/>
                <a:ea typeface="微软雅黑" panose="020B0503020204020204" pitchFamily="34" charset="-122"/>
                <a:sym typeface="微软雅黑" panose="020B0503020204020204" pitchFamily="34" charset="-122"/>
              </a:rPr>
              <a:t>下一步工作计划</a:t>
            </a:r>
          </a:p>
        </p:txBody>
      </p:sp>
      <p:sp>
        <p:nvSpPr>
          <p:cNvPr id="6" name="object 11">
            <a:extLst>
              <a:ext uri="{FF2B5EF4-FFF2-40B4-BE49-F238E27FC236}">
                <a16:creationId xmlns:a16="http://schemas.microsoft.com/office/drawing/2014/main" id="{FB2025F3-1EC3-9A5B-4F76-04C153F11266}"/>
              </a:ext>
            </a:extLst>
          </p:cNvPr>
          <p:cNvSpPr txBox="1"/>
          <p:nvPr>
            <p:custDataLst>
              <p:tags r:id="rId2"/>
            </p:custDataLst>
          </p:nvPr>
        </p:nvSpPr>
        <p:spPr>
          <a:xfrm>
            <a:off x="360044" y="962917"/>
            <a:ext cx="11540407" cy="5795754"/>
          </a:xfrm>
          <a:prstGeom prst="rect">
            <a:avLst/>
          </a:prstGeom>
          <a:solidFill>
            <a:schemeClr val="bg1"/>
          </a:solidFill>
        </p:spPr>
        <p:txBody>
          <a:bodyPr vert="horz" wrap="square" lIns="0" tIns="13335" rIns="0" bIns="0" rtlCol="0">
            <a:spAutoFit/>
          </a:bodyPr>
          <a:lstStyle>
            <a:lvl1pPr marL="0">
              <a:defRPr>
                <a:latin typeface="微软雅黑" panose="020B0503020204020204" pitchFamily="34" charset="-122"/>
                <a:ea typeface="微软雅黑" panose="020B0503020204020204" pitchFamily="34" charset="-122"/>
                <a:cs typeface="+mn-ea"/>
              </a:defRPr>
            </a:lvl1pPr>
            <a:lvl2pPr marL="457200">
              <a:defRPr>
                <a:latin typeface="微软雅黑" panose="020B0503020204020204" pitchFamily="34" charset="-122"/>
                <a:ea typeface="微软雅黑" panose="020B0503020204020204" pitchFamily="34" charset="-122"/>
                <a:cs typeface="+mn-ea"/>
              </a:defRPr>
            </a:lvl2pPr>
            <a:lvl3pPr marL="914400">
              <a:defRPr>
                <a:latin typeface="微软雅黑" panose="020B0503020204020204" pitchFamily="34" charset="-122"/>
                <a:ea typeface="微软雅黑" panose="020B0503020204020204" pitchFamily="34" charset="-122"/>
                <a:cs typeface="+mn-ea"/>
              </a:defRPr>
            </a:lvl3pPr>
            <a:lvl4pPr marL="1371600">
              <a:defRPr>
                <a:latin typeface="微软雅黑" panose="020B0503020204020204" pitchFamily="34" charset="-122"/>
                <a:ea typeface="微软雅黑" panose="020B0503020204020204" pitchFamily="34" charset="-122"/>
                <a:cs typeface="+mn-ea"/>
              </a:defRPr>
            </a:lvl4pPr>
            <a:lvl5pPr marL="1828800">
              <a:defRPr>
                <a:latin typeface="微软雅黑" panose="020B0503020204020204" pitchFamily="34" charset="-122"/>
                <a:ea typeface="微软雅黑" panose="020B0503020204020204" pitchFamily="34" charset="-122"/>
                <a:cs typeface="+mn-ea"/>
              </a:defRPr>
            </a:lvl5pPr>
            <a:lvl6pPr marL="2286000">
              <a:defRPr>
                <a:latin typeface="微软雅黑" panose="020B0503020204020204" pitchFamily="34" charset="-122"/>
                <a:ea typeface="微软雅黑" panose="020B0503020204020204" pitchFamily="34" charset="-122"/>
                <a:cs typeface="+mn-ea"/>
              </a:defRPr>
            </a:lvl6pPr>
            <a:lvl7pPr marL="2743200">
              <a:defRPr>
                <a:latin typeface="微软雅黑" panose="020B0503020204020204" pitchFamily="34" charset="-122"/>
                <a:ea typeface="微软雅黑" panose="020B0503020204020204" pitchFamily="34" charset="-122"/>
                <a:cs typeface="+mn-ea"/>
              </a:defRPr>
            </a:lvl7pPr>
            <a:lvl8pPr marL="3200400">
              <a:defRPr>
                <a:latin typeface="微软雅黑" panose="020B0503020204020204" pitchFamily="34" charset="-122"/>
                <a:ea typeface="微软雅黑" panose="020B0503020204020204" pitchFamily="34" charset="-122"/>
                <a:cs typeface="+mn-ea"/>
              </a:defRPr>
            </a:lvl8pPr>
            <a:lvl9pPr marL="3657600">
              <a:defRPr>
                <a:latin typeface="微软雅黑" panose="020B0503020204020204" pitchFamily="34" charset="-122"/>
                <a:ea typeface="微软雅黑" panose="020B0503020204020204" pitchFamily="34" charset="-122"/>
                <a:cs typeface="+mn-ea"/>
              </a:defRPr>
            </a:lvl9pPr>
          </a:lstStyle>
          <a:p>
            <a:pPr>
              <a:lnSpc>
                <a:spcPct val="150000"/>
              </a:lnSpc>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、推进中期考核前交付指标落实</a:t>
            </a:r>
            <a:endParaRPr lang="en-US" altLang="zh-CN" sz="2400" b="1" dirty="0">
              <a:latin typeface="Times New Roman" panose="02020603050405020304" pitchFamily="18" charset="0"/>
              <a:cs typeface="Times New Roman" panose="02020603050405020304" pitchFamily="18" charset="0"/>
            </a:endParaRPr>
          </a:p>
          <a:p>
            <a:pPr indent="457200">
              <a:lnSpc>
                <a:spcPct val="150000"/>
              </a:lnSpc>
              <a:spcAft>
                <a:spcPts val="1200"/>
              </a:spcAft>
            </a:pPr>
            <a:r>
              <a:rPr lang="zh-CN" altLang="en-US" sz="2400" dirty="0">
                <a:latin typeface="Times New Roman" panose="02020603050405020304" pitchFamily="18" charset="0"/>
                <a:cs typeface="Times New Roman" panose="02020603050405020304" pitchFamily="18" charset="0"/>
              </a:rPr>
              <a:t>按要求完成论文、发明专利等中期考核指标任务，</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篇论文预计</a:t>
            </a:r>
            <a:r>
              <a:rPr lang="en-US" altLang="zh-CN" sz="2400" dirty="0">
                <a:latin typeface="Times New Roman" panose="02020603050405020304" pitchFamily="18" charset="0"/>
                <a:cs typeface="Times New Roman" panose="02020603050405020304" pitchFamily="18" charset="0"/>
              </a:rPr>
              <a:t>6</a:t>
            </a:r>
            <a:r>
              <a:rPr lang="zh-CN" altLang="en-US" sz="2400" dirty="0">
                <a:latin typeface="Times New Roman" panose="02020603050405020304" pitchFamily="18" charset="0"/>
                <a:cs typeface="Times New Roman" panose="02020603050405020304" pitchFamily="18" charset="0"/>
              </a:rPr>
              <a:t>月完成投稿，</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项专利待提交事务所</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、持续推进任务</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中的数据分类分级、数据泄露风险评估等研究工作</a:t>
            </a:r>
            <a:endParaRPr lang="en-US" altLang="zh-CN" sz="2400" b="1" dirty="0">
              <a:latin typeface="Times New Roman" panose="02020603050405020304" pitchFamily="18" charset="0"/>
              <a:cs typeface="Times New Roman" panose="02020603050405020304" pitchFamily="18" charset="0"/>
            </a:endParaRPr>
          </a:p>
          <a:p>
            <a:pPr indent="457200">
              <a:lnSpc>
                <a:spcPct val="150000"/>
              </a:lnSpc>
              <a:spcAft>
                <a:spcPts val="1200"/>
              </a:spcAft>
            </a:pPr>
            <a:r>
              <a:rPr lang="zh-CN" altLang="en-US" sz="2400" dirty="0">
                <a:latin typeface="Times New Roman" panose="02020603050405020304" pitchFamily="18" charset="0"/>
                <a:cs typeface="Times New Roman" panose="02020603050405020304" pitchFamily="18" charset="0"/>
              </a:rPr>
              <a:t>在分类分级方面，基于反向逆推关系，识别已公开但存在推断威胁的数据项，研究多源关联推断导致的敏感度等级提升机制。在风险评估方面，识别哪些数据泄露后可能被用于推断敏感信息，并评估其对电网安全运行和精准攻击支撑等方面的潜在影响</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3</a:t>
            </a:r>
            <a:r>
              <a:rPr lang="zh-CN" altLang="en-US" sz="2400" b="1" dirty="0">
                <a:latin typeface="Times New Roman" panose="02020603050405020304" pitchFamily="18" charset="0"/>
                <a:cs typeface="Times New Roman" panose="02020603050405020304" pitchFamily="18" charset="0"/>
              </a:rPr>
              <a:t>、</a:t>
            </a:r>
            <a:r>
              <a:rPr lang="zh-CN" altLang="en-US" sz="2400" b="1" dirty="0"/>
              <a:t>提前规划中期考核后的交付成果</a:t>
            </a:r>
            <a:endParaRPr lang="en-US" altLang="zh-CN" sz="2400" b="1" dirty="0"/>
          </a:p>
          <a:p>
            <a:pPr indent="457200">
              <a:lnSpc>
                <a:spcPct val="150000"/>
              </a:lnSpc>
            </a:pPr>
            <a:r>
              <a:rPr lang="zh-CN" altLang="en-US" sz="2400" dirty="0">
                <a:latin typeface="Times New Roman" panose="02020603050405020304" pitchFamily="18" charset="0"/>
                <a:cs typeface="Times New Roman" panose="02020603050405020304" pitchFamily="18" charset="0"/>
              </a:rPr>
              <a:t>面向中期考核后的研究报告、论文、专利、技术标准等交付任务，提前梳理阶段性研究结论和可量化成果</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904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351584" y="1988840"/>
            <a:ext cx="4464496"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2B4663"/>
                </a:solidFill>
                <a:effectLst/>
                <a:uLnTx/>
                <a:uFillTx/>
                <a:latin typeface="微软雅黑" panose="020B0503020204020204" pitchFamily="34" charset="-122"/>
                <a:ea typeface="微软雅黑" panose="020B0503020204020204" pitchFamily="34" charset="-122"/>
                <a:cs typeface="+mn-cs"/>
              </a:rPr>
              <a:t>谢 谢！</a:t>
            </a:r>
          </a:p>
        </p:txBody>
      </p:sp>
      <p:sp>
        <p:nvSpPr>
          <p:cNvPr id="7" name="TextBox 6"/>
          <p:cNvSpPr txBox="1"/>
          <p:nvPr>
            <p:custDataLst>
              <p:tags r:id="rId1"/>
            </p:custDataLst>
          </p:nvPr>
        </p:nvSpPr>
        <p:spPr>
          <a:xfrm>
            <a:off x="2351584" y="2636912"/>
            <a:ext cx="4824536"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000000"/>
                </a:solidFill>
                <a:effectLst/>
                <a:uLnTx/>
                <a:uFillTx/>
                <a:latin typeface="Arial" panose="020B0604020202020204" pitchFamily="34" charset="0"/>
                <a:ea typeface="Arial Unicode MS" panose="020B0604020202020204" charset="-122"/>
                <a:cs typeface="Arial" panose="020B0604020202020204" pitchFamily="34" charset="0"/>
              </a:rPr>
              <a:t>THANK YOU</a:t>
            </a:r>
            <a:r>
              <a:rPr kumimoji="0" lang="zh-CN" altLang="en-US" sz="3600" b="1" i="0" u="none" strike="noStrike" kern="1200" cap="none" spc="0" normalizeH="0" baseline="0" noProof="0" dirty="0">
                <a:ln>
                  <a:noFill/>
                </a:ln>
                <a:solidFill>
                  <a:srgbClr val="000000"/>
                </a:solidFill>
                <a:effectLst/>
                <a:uLnTx/>
                <a:uFillTx/>
                <a:latin typeface="Arial" panose="020B0604020202020204" pitchFamily="34" charset="0"/>
                <a:ea typeface="Arial Unicode MS" panose="020B0604020202020204" charset="-122"/>
                <a:cs typeface="Arial" panose="020B0604020202020204" pitchFamily="34" charset="0"/>
              </a:rPr>
              <a:t>！</a:t>
            </a:r>
          </a:p>
        </p:txBody>
      </p:sp>
    </p:spTree>
    <p:extLst>
      <p:ext uri="{BB962C8B-B14F-4D97-AF65-F5344CB8AC3E}">
        <p14:creationId xmlns:p14="http://schemas.microsoft.com/office/powerpoint/2010/main" val="38904475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48.5651968503937,&quot;left&quot;:303.25,&quot;top&quot;:150.9531496062992,&quot;width&quot;:403.55086614173234}"/>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4_Office 主题">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Office 主题">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8236</TotalTime>
  <Words>7555</Words>
  <Application>Microsoft Office PowerPoint</Application>
  <PresentationFormat>宽屏</PresentationFormat>
  <Paragraphs>502</Paragraphs>
  <Slides>46</Slides>
  <Notes>40</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3</vt:i4>
      </vt:variant>
      <vt:variant>
        <vt:lpstr>幻灯片标题</vt:lpstr>
      </vt:variant>
      <vt:variant>
        <vt:i4>46</vt:i4>
      </vt:variant>
    </vt:vector>
  </HeadingPairs>
  <TitlesOfParts>
    <vt:vector size="61" baseType="lpstr">
      <vt:lpstr>等线</vt:lpstr>
      <vt:lpstr>黑体</vt:lpstr>
      <vt:lpstr>微软雅黑</vt:lpstr>
      <vt:lpstr>Arial</vt:lpstr>
      <vt:lpstr>Calibri</vt:lpstr>
      <vt:lpstr>Cambria Math</vt:lpstr>
      <vt:lpstr>Segoe UI</vt:lpstr>
      <vt:lpstr>Times New Roman</vt:lpstr>
      <vt:lpstr>Wingdings</vt:lpstr>
      <vt:lpstr>4_Office 主题</vt:lpstr>
      <vt:lpstr>5_Office 主题</vt:lpstr>
      <vt:lpstr>6_Office 主题</vt:lpstr>
      <vt:lpstr>Equation</vt:lpstr>
      <vt:lpstr>Visio</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王齐</dc:creator>
  <cp:lastModifiedBy>AMD</cp:lastModifiedBy>
  <cp:revision>4732</cp:revision>
  <cp:lastPrinted>2020-05-02T23:08:00Z</cp:lastPrinted>
  <dcterms:created xsi:type="dcterms:W3CDTF">2019-06-26T12:35:00Z</dcterms:created>
  <dcterms:modified xsi:type="dcterms:W3CDTF">2026-05-13T01:19:25Z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5B1FAF4BEA234F2287EC78607FDDF8B0_13</vt:lpwstr>
  </property>
</Properties>
</file>