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背景与问题" id="{09e5e60a-01e5-1759-b36f-433af13565f6}">
          <p14:sldIdLst>
            <p14:sldId id="256"/>
            <p14:sldId id="257"/>
            <p14:sldId id="258"/>
          </p14:sldIdLst>
        </p14:section>
        <p14:section name="体系总览" id="{b6dcec9e-7583-10c6-25d4-5f2f56f69ab8}">
          <p14:sldIdLst>
            <p14:sldId id="259"/>
            <p14:sldId id="260"/>
            <p14:sldId id="261"/>
          </p14:sldIdLst>
        </p14:section>
        <p14:section name="四个阶段" id="{cf15a777-23ec-882b-9078-c9c76a888dac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对应与下一步" id="{3082058c-bcbe-1709-cbdf-70374d2578f4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本汇报介绍针对南网项目的数据分类分级体系框架。三种颜色贯穿全文：蓝色是南网已有规则，橙色是师兄论文的方法，绿色是近期研究新增的内容。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南网现行分级按影响对象和影响程度定级，回答的是数据本身泄露的后果。推断风险是另一个问题：数据发出去以后和接收方已有的数据组合起来能推出什么。南网的分级手册和风险评估手册在四处提到了这一要求，但都没有给出具体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论文中的受控市场算例（RTS-GMLC，目标为机组的私有报价加成，属披露细则中的特定信息）。电价是法定公开信息不能收回，需要管住的是补上最后一步的那个字段。四个电价与报价的相关性都接近零，机组出力单独也只有0.065，但出力和电价合起来就能反推报价。在四个电力数据集上的统计表明，只看单字段只能找出13%到17%的风险字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三条原则：第一，一切以南网文件为基准，不出现冲突；第二，师兄的体系框架保留，在其上升级；第三，近期研究负责把推断风险量化，并让每次上调都有可复核的证据。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体系分四个阶段。第一和第四阶段是南网已有流程；第二阶段是推断风险识别，主要是近期研究；第三阶段用师兄的GRPO做等级优化。底部是贯穿全程的四条硬约束。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这张表说明哪些没变、哪些被替换。师兄的规则抽取、关联图、攻击验证都保留；初始定级按南网矩阵替换；风险量由最大MIC换成集合推断风险；GRPO保留，但决策的问题改为求上调最少的一致等级。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阶段一完全按南网手册执行。师兄的大模型加检索增强用于解析南网规则；定级使用南网的影响对象乘影响程度矩阵，替换原来的支持度定级。多做的一步是给每个字段标注披露层级和时点，为下一阶段准备。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推断风险评估的第一步是确定场景。南网分级手册规定了每一级数据可以给谁，披露细则规定了市场信息的三层级和三个披露时点。由此可以得到每类接收方默认已知什么、还可能拿到什么。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量化的核心是集合推断能力V，即只用某个字段集合能把目标推到多准。在此基础上得到三个字段级的量：单独风险、最坏背景下的风险、背景放大量。计算上用一个通用模型快速扫描所有组合，再对高风险项重训认证。师兄的关联图并联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体系的关键。南网每一级都绑定了共享开放口径，字段被上调后，更宽的角色就拿不到它，其他字段的风险随之下降。所以上调谁、调几级是相互牵制的。优化目标来自南网的两条分级原则：从严性要求消除所有越线组合，合理性要求避免过度定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用一个示意例子说明。四个字段都参与了越线组合，如果全部上调到目标级别要调7级次；按最小口径，先调风险最大的A，重算后只需再调D，一共3级次，B和C保持不变。注意表中是示意数字。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求解沿用师兄的GRPO算法。状态里的风险量换成了近期研究的M，动作是把某个字段上调一级，环境会重算风险，所以状态随动作变化。南网规则全部作为硬约束。对比基线是贪心算法。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算法输出的是建议等级和证据，定级仍走南网审批并固化到数据目录。动态更新是事件触发的，不随运行工况逐时变化。除了分级手册附录E的场景，新增了公开范围变化和披露时点到达两类触发。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这张表逐步列出体系与南网条款的对应关系。下方列出了已经处理的潜在冲突点。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框架设计已完成，推断风险量化方法已在四个公开电力数据集上验证。等级优化是本框架新提出的做法，验证实验正在进行。需要南网确认四件事：敏感目标与泄露线、角色与可见层级、法定公开字段清单、试点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南网项目 · 数据分类分级体系框架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6CC"/>
                </a:solidFill>
              </a:rPr>
              <a:t>南网项目 · 数据分类分级体系框架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面向推断风险的电力数据分类分级体系框架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以南网分类分级规则为基线，融合关联推断风险识别与动态定级</a:t>
            </a:r>
            <a:endParaRPr lang="en-US" sz="2000" dirty="0"/>
          </a:p>
        </p:txBody>
      </p:sp>
      <p:sp>
        <p:nvSpPr>
          <p:cNvPr id="4" name="text-1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6CC"/>
                </a:solidFill>
              </a:rPr>
              <a:t>南网项目 · 数据分类分级　|　2026 年 10 月</a:t>
            </a:r>
            <a:endParaRPr lang="en-US" sz="1400" dirty="0"/>
          </a:p>
        </p:txBody>
      </p:sp>
      <p:sp>
        <p:nvSpPr>
          <p:cNvPr id="5" name="chip-2"/>
          <p:cNvSpPr/>
          <p:nvPr/>
        </p:nvSpPr>
        <p:spPr>
          <a:xfrm>
            <a:off x="731520" y="5257800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南网规则</a:t>
            </a:r>
            <a:endParaRPr lang="en-US" sz="1200" dirty="0"/>
          </a:p>
        </p:txBody>
      </p:sp>
      <p:sp>
        <p:nvSpPr>
          <p:cNvPr id="6" name="chip-3"/>
          <p:cNvSpPr/>
          <p:nvPr/>
        </p:nvSpPr>
        <p:spPr>
          <a:xfrm>
            <a:off x="1965960" y="52578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师兄论文方法</a:t>
            </a:r>
            <a:endParaRPr lang="en-US" sz="1200" dirty="0"/>
          </a:p>
        </p:txBody>
      </p:sp>
      <p:sp>
        <p:nvSpPr>
          <p:cNvPr id="7" name="chip-4"/>
          <p:cNvSpPr/>
          <p:nvPr/>
        </p:nvSpPr>
        <p:spPr>
          <a:xfrm>
            <a:off x="3566160" y="5257800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近期研究</a:t>
            </a:r>
            <a:endParaRPr lang="en-US" sz="1200" dirty="0"/>
          </a:p>
        </p:txBody>
      </p:sp>
      <p:sp>
        <p:nvSpPr>
          <p:cNvPr id="8" name="text-5"/>
          <p:cNvSpPr txBox="1"/>
          <p:nvPr/>
        </p:nvSpPr>
        <p:spPr>
          <a:xfrm>
            <a:off x="4846320" y="5285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6CC"/>
                </a:solidFill>
              </a:rPr>
              <a:t>全文用这三种颜色标注每个环节的来源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现行分级看的是数据本身，还没有看“合起来能推出什么”</a:t>
            </a:r>
            <a:endParaRPr lang="en-US" sz="2800" dirty="0"/>
          </a:p>
        </p:txBody>
      </p:sp>
      <p:sp>
        <p:nvSpPr>
          <p:cNvPr id="3" name="card-6"/>
          <p:cNvSpPr/>
          <p:nvPr/>
        </p:nvSpPr>
        <p:spPr>
          <a:xfrm>
            <a:off x="548640" y="1417320"/>
            <a:ext cx="5394960" cy="2606040"/>
          </a:xfrm>
          <a:prstGeom prst="roundRect">
            <a:avLst>
              <a:gd name="adj" fmla="val 280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chip-7"/>
          <p:cNvSpPr/>
          <p:nvPr/>
        </p:nvSpPr>
        <p:spPr>
          <a:xfrm>
            <a:off x="822960" y="1645920"/>
            <a:ext cx="21031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现行分级回答的问题</a:t>
            </a:r>
            <a:endParaRPr lang="en-US" sz="1200" dirty="0"/>
          </a:p>
        </p:txBody>
      </p:sp>
      <p:sp>
        <p:nvSpPr>
          <p:cNvPr id="5" name="text-8"/>
          <p:cNvSpPr txBox="1"/>
          <p:nvPr/>
        </p:nvSpPr>
        <p:spPr>
          <a:xfrm>
            <a:off x="822960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这份数据本身泄露了，后果有多严重？</a:t>
            </a:r>
            <a:endParaRPr lang="en-US" sz="2200" dirty="0"/>
          </a:p>
        </p:txBody>
      </p:sp>
      <p:sp>
        <p:nvSpPr>
          <p:cNvPr id="6" name="text-9"/>
          <p:cNvSpPr txBox="1"/>
          <p:nvPr/>
        </p:nvSpPr>
        <p:spPr>
          <a:xfrm>
            <a:off x="822960" y="3154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个分级要素 → 影响对象 × 影响程度 → 1~5 级，就高不就低</a:t>
            </a:r>
            <a:endParaRPr lang="en-US" sz="1400" dirty="0"/>
          </a:p>
        </p:txBody>
      </p:sp>
      <p:sp>
        <p:nvSpPr>
          <p:cNvPr id="7" name="card-10"/>
          <p:cNvSpPr/>
          <p:nvPr/>
        </p:nvSpPr>
        <p:spPr>
          <a:xfrm>
            <a:off x="6245352" y="1417320"/>
            <a:ext cx="5394960" cy="2606040"/>
          </a:xfrm>
          <a:prstGeom prst="roundRect">
            <a:avLst>
              <a:gd name="adj" fmla="val 280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hip-11"/>
          <p:cNvSpPr/>
          <p:nvPr/>
        </p:nvSpPr>
        <p:spPr>
          <a:xfrm>
            <a:off x="6519672" y="164592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还没有回答的问题</a:t>
            </a:r>
            <a:endParaRPr lang="en-US" sz="1200" dirty="0"/>
          </a:p>
        </p:txBody>
      </p:sp>
      <p:sp>
        <p:nvSpPr>
          <p:cNvPr id="9" name="text-12"/>
          <p:cNvSpPr txBox="1"/>
          <p:nvPr/>
        </p:nvSpPr>
        <p:spPr>
          <a:xfrm>
            <a:off x="6519672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它和接收方已有的数据放在一起，能推出什么？</a:t>
            </a:r>
            <a:endParaRPr lang="en-US" sz="2200" dirty="0"/>
          </a:p>
        </p:txBody>
      </p:sp>
      <p:sp>
        <p:nvSpPr>
          <p:cNvPr id="10" name="text-13"/>
          <p:cNvSpPr txBox="1"/>
          <p:nvPr/>
        </p:nvSpPr>
        <p:spPr>
          <a:xfrm>
            <a:off x="6519672" y="3154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两个单看都是 1 级的字段，合起来可能把一份 3 级数据还原出来</a:t>
            </a:r>
            <a:endParaRPr lang="en-US" sz="1400" dirty="0"/>
          </a:p>
        </p:txBody>
      </p:sp>
      <p:sp>
        <p:nvSpPr>
          <p:cNvPr id="11" name="text-14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南网文件已经提出这个要求，但没有给出方法和判定标准</a:t>
            </a:r>
            <a:endParaRPr lang="en-US" sz="1600" dirty="0"/>
          </a:p>
        </p:txBody>
      </p:sp>
      <p:sp>
        <p:nvSpPr>
          <p:cNvPr id="12" name="card-15"/>
          <p:cNvSpPr/>
          <p:nvPr/>
        </p:nvSpPr>
        <p:spPr>
          <a:xfrm>
            <a:off x="548640" y="4846320"/>
            <a:ext cx="2633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16"/>
          <p:cNvSpPr txBox="1"/>
          <p:nvPr/>
        </p:nvSpPr>
        <p:spPr>
          <a:xfrm>
            <a:off x="731520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分级原则“从严性”</a:t>
            </a:r>
            <a:endParaRPr lang="en-US" sz="1400" dirty="0"/>
          </a:p>
        </p:txBody>
      </p:sp>
      <p:sp>
        <p:nvSpPr>
          <p:cNvPr id="14" name="text-17"/>
          <p:cNvSpPr txBox="1"/>
          <p:nvPr/>
        </p:nvSpPr>
        <p:spPr>
          <a:xfrm>
            <a:off x="731520" y="5303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多因素时按可能造成的最高影响定级</a:t>
            </a:r>
            <a:endParaRPr lang="en-US" sz="1200" dirty="0"/>
          </a:p>
        </p:txBody>
      </p:sp>
      <p:sp>
        <p:nvSpPr>
          <p:cNvPr id="15" name="card-18"/>
          <p:cNvSpPr/>
          <p:nvPr/>
        </p:nvSpPr>
        <p:spPr>
          <a:xfrm>
            <a:off x="3364992" y="4846320"/>
            <a:ext cx="2633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9"/>
          <p:cNvSpPr txBox="1"/>
          <p:nvPr/>
        </p:nvSpPr>
        <p:spPr>
          <a:xfrm>
            <a:off x="3547872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分级要素“深度”</a:t>
            </a:r>
            <a:endParaRPr lang="en-US" sz="1400" dirty="0"/>
          </a:p>
        </p:txBody>
      </p:sp>
      <p:sp>
        <p:nvSpPr>
          <p:cNvPr id="17" name="text-20"/>
          <p:cNvSpPr txBox="1"/>
          <p:nvPr/>
        </p:nvSpPr>
        <p:spPr>
          <a:xfrm>
            <a:off x="3547872" y="5303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关联、挖掘、融合对隐含信息的刻画</a:t>
            </a:r>
            <a:endParaRPr lang="en-US" sz="1200" dirty="0"/>
          </a:p>
        </p:txBody>
      </p:sp>
      <p:sp>
        <p:nvSpPr>
          <p:cNvPr id="18" name="card-21"/>
          <p:cNvSpPr/>
          <p:nvPr/>
        </p:nvSpPr>
        <p:spPr>
          <a:xfrm>
            <a:off x="6181344" y="4846320"/>
            <a:ext cx="2633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22"/>
          <p:cNvSpPr txBox="1"/>
          <p:nvPr/>
        </p:nvSpPr>
        <p:spPr>
          <a:xfrm>
            <a:off x="6364224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附录 D、E</a:t>
            </a:r>
            <a:endParaRPr lang="en-US" sz="1400" dirty="0"/>
          </a:p>
        </p:txBody>
      </p:sp>
      <p:sp>
        <p:nvSpPr>
          <p:cNvPr id="20" name="text-23"/>
          <p:cNvSpPr txBox="1"/>
          <p:nvPr/>
        </p:nvSpPr>
        <p:spPr>
          <a:xfrm>
            <a:off x="6364224" y="5303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挖掘出更敏感的数据应提级；汇聚后须分析能否获得更多信息</a:t>
            </a:r>
            <a:endParaRPr lang="en-US" sz="1200" dirty="0"/>
          </a:p>
        </p:txBody>
      </p:sp>
      <p:sp>
        <p:nvSpPr>
          <p:cNvPr id="21" name="card-24"/>
          <p:cNvSpPr/>
          <p:nvPr/>
        </p:nvSpPr>
        <p:spPr>
          <a:xfrm>
            <a:off x="8997696" y="4846320"/>
            <a:ext cx="26334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-25"/>
          <p:cNvSpPr txBox="1"/>
          <p:nvPr/>
        </p:nvSpPr>
        <p:spPr>
          <a:xfrm>
            <a:off x="9180576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风险评估第 382 项</a:t>
            </a:r>
            <a:endParaRPr lang="en-US" sz="1400" dirty="0"/>
          </a:p>
        </p:txBody>
      </p:sp>
      <p:sp>
        <p:nvSpPr>
          <p:cNvPr id="23" name="text-26"/>
          <p:cNvSpPr txBox="1"/>
          <p:nvPr/>
        </p:nvSpPr>
        <p:spPr>
          <a:xfrm>
            <a:off x="9180576" y="5303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基于已公开数据，尝试能否推断出未公开的关联信息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一个例子：单看每个字段都安全，合起来能反推机组报价</a:t>
            </a:r>
            <a:endParaRPr lang="en-US" sz="2800" dirty="0"/>
          </a:p>
        </p:txBody>
      </p:sp>
      <p:pic>
        <p:nvPicPr>
          <p:cNvPr id="3" name="img-27" descr="两两关联图与组合推断的对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1672" cy="3398425"/>
          </a:xfrm>
          <a:prstGeom prst="rect">
            <a:avLst/>
          </a:prstGeom>
        </p:spPr>
      </p:pic>
      <p:sp>
        <p:nvSpPr>
          <p:cNvPr id="4" name="card-28"/>
          <p:cNvSpPr/>
          <p:nvPr/>
        </p:nvSpPr>
        <p:spPr>
          <a:xfrm>
            <a:off x="548640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9"/>
          <p:cNvSpPr txBox="1"/>
          <p:nvPr/>
        </p:nvSpPr>
        <p:spPr>
          <a:xfrm>
            <a:off x="731520" y="49377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≈ 0</a:t>
            </a:r>
            <a:endParaRPr lang="en-US" sz="2200" dirty="0"/>
          </a:p>
        </p:txBody>
      </p:sp>
      <p:sp>
        <p:nvSpPr>
          <p:cNvPr id="6" name="text-30"/>
          <p:cNvSpPr txBox="1"/>
          <p:nvPr/>
        </p:nvSpPr>
        <p:spPr>
          <a:xfrm>
            <a:off x="1874520" y="49377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每个电价单独对目标的推断能力</a:t>
            </a:r>
            <a:endParaRPr lang="en-US" sz="1200" dirty="0"/>
          </a:p>
        </p:txBody>
      </p:sp>
      <p:sp>
        <p:nvSpPr>
          <p:cNvPr id="7" name="card-31"/>
          <p:cNvSpPr/>
          <p:nvPr/>
        </p:nvSpPr>
        <p:spPr>
          <a:xfrm>
            <a:off x="4306824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32"/>
          <p:cNvSpPr txBox="1"/>
          <p:nvPr/>
        </p:nvSpPr>
        <p:spPr>
          <a:xfrm>
            <a:off x="4489704" y="49377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0.065 → 0.215</a:t>
            </a:r>
            <a:endParaRPr lang="en-US" sz="2200" dirty="0"/>
          </a:p>
        </p:txBody>
      </p:sp>
      <p:sp>
        <p:nvSpPr>
          <p:cNvPr id="9" name="text-33"/>
          <p:cNvSpPr txBox="1"/>
          <p:nvPr/>
        </p:nvSpPr>
        <p:spPr>
          <a:xfrm>
            <a:off x="6684264" y="493776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机组出力的推断增益：单独 → 已知本节点电价时</a:t>
            </a:r>
            <a:endParaRPr lang="en-US" sz="1200" dirty="0"/>
          </a:p>
        </p:txBody>
      </p:sp>
      <p:sp>
        <p:nvSpPr>
          <p:cNvPr id="10" name="card-34"/>
          <p:cNvSpPr/>
          <p:nvPr/>
        </p:nvSpPr>
        <p:spPr>
          <a:xfrm>
            <a:off x="8065008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35"/>
          <p:cNvSpPr txBox="1"/>
          <p:nvPr/>
        </p:nvSpPr>
        <p:spPr>
          <a:xfrm>
            <a:off x="8247888" y="49377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13% ~ 17%</a:t>
            </a:r>
            <a:endParaRPr lang="en-US" sz="2200" dirty="0"/>
          </a:p>
        </p:txBody>
      </p:sp>
      <p:sp>
        <p:nvSpPr>
          <p:cNvPr id="12" name="text-36"/>
          <p:cNvSpPr txBox="1"/>
          <p:nvPr/>
        </p:nvSpPr>
        <p:spPr>
          <a:xfrm>
            <a:off x="10076688" y="493776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只看单字段时能找出的风险字段比例（四个电力数据集）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三条设计原则</a:t>
            </a:r>
            <a:endParaRPr lang="en-US" sz="2800" dirty="0"/>
          </a:p>
        </p:txBody>
      </p:sp>
      <p:sp>
        <p:nvSpPr>
          <p:cNvPr id="3" name="card-37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38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39"/>
          <p:cNvSpPr txBox="1"/>
          <p:nvPr/>
        </p:nvSpPr>
        <p:spPr>
          <a:xfrm>
            <a:off x="82296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南网规则是硬约束</a:t>
            </a:r>
            <a:endParaRPr lang="en-US" sz="1900" dirty="0"/>
          </a:p>
        </p:txBody>
      </p:sp>
      <p:sp>
        <p:nvSpPr>
          <p:cNvPr id="6" name="text-40"/>
          <p:cNvSpPr txBox="1"/>
          <p:nvPr/>
        </p:nvSpPr>
        <p:spPr>
          <a:xfrm>
            <a:off x="822960" y="34747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等级表、判定矩阵、审批与固化流程原样使用。算法给出的等级不得低于规则等级；法定公开字段不调整；重要、核心数据只出申报建议。</a:t>
            </a:r>
            <a:endParaRPr lang="en-US" sz="1400" dirty="0"/>
          </a:p>
        </p:txBody>
      </p:sp>
      <p:sp>
        <p:nvSpPr>
          <p:cNvPr id="7" name="card-41"/>
          <p:cNvSpPr/>
          <p:nvPr/>
        </p:nvSpPr>
        <p:spPr>
          <a:xfrm>
            <a:off x="4306824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-42"/>
          <p:cNvSpPr/>
          <p:nvPr/>
        </p:nvSpPr>
        <p:spPr>
          <a:xfrm>
            <a:off x="4581144" y="1737360"/>
            <a:ext cx="548640" cy="5486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43"/>
          <p:cNvSpPr txBox="1"/>
          <p:nvPr/>
        </p:nvSpPr>
        <p:spPr>
          <a:xfrm>
            <a:off x="4581144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在师兄体系上升级</a:t>
            </a:r>
            <a:endParaRPr lang="en-US" sz="1900" dirty="0"/>
          </a:p>
        </p:txBody>
      </p:sp>
      <p:sp>
        <p:nvSpPr>
          <p:cNvPr id="10" name="text-44"/>
          <p:cNvSpPr txBox="1"/>
          <p:nvPr/>
        </p:nvSpPr>
        <p:spPr>
          <a:xfrm>
            <a:off x="4581144" y="34747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保留“规则初始分级 → 关联风险识别 → 风险驱动动态定级”的框架，以及规则抽取、关联图、攻击验证和 GRPO。</a:t>
            </a:r>
            <a:endParaRPr lang="en-US" sz="1400" dirty="0"/>
          </a:p>
        </p:txBody>
      </p:sp>
      <p:sp>
        <p:nvSpPr>
          <p:cNvPr id="11" name="card-45"/>
          <p:cNvSpPr/>
          <p:nvPr/>
        </p:nvSpPr>
        <p:spPr>
          <a:xfrm>
            <a:off x="8065008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-46"/>
          <p:cNvSpPr/>
          <p:nvPr/>
        </p:nvSpPr>
        <p:spPr>
          <a:xfrm>
            <a:off x="8339328" y="1737360"/>
            <a:ext cx="548640" cy="5486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-47"/>
          <p:cNvSpPr txBox="1"/>
          <p:nvPr/>
        </p:nvSpPr>
        <p:spPr>
          <a:xfrm>
            <a:off x="8339328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风险算准并带证据</a:t>
            </a:r>
            <a:endParaRPr lang="en-US" sz="1900" dirty="0"/>
          </a:p>
        </p:txBody>
      </p:sp>
      <p:sp>
        <p:nvSpPr>
          <p:cNvPr id="14" name="text-48"/>
          <p:cNvSpPr txBox="1"/>
          <p:nvPr/>
        </p:nvSpPr>
        <p:spPr>
          <a:xfrm>
            <a:off x="8339328" y="34747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风险量由“两两相关”升级为“字段在已有数据背景下的最坏推断增益”。每一次建议上调都说明：对哪个目标、和谁一起、能推到多准。</a:t>
            </a:r>
            <a:endParaRPr lang="en-US" sz="1400" dirty="0"/>
          </a:p>
        </p:txBody>
      </p:sp>
      <p:sp>
        <p:nvSpPr>
          <p:cNvPr id="15" name="chip-49"/>
          <p:cNvSpPr/>
          <p:nvPr/>
        </p:nvSpPr>
        <p:spPr>
          <a:xfrm>
            <a:off x="548640" y="5989320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南网规则</a:t>
            </a:r>
            <a:endParaRPr lang="en-US" sz="1200" dirty="0"/>
          </a:p>
        </p:txBody>
      </p:sp>
      <p:sp>
        <p:nvSpPr>
          <p:cNvPr id="16" name="chip-50"/>
          <p:cNvSpPr/>
          <p:nvPr/>
        </p:nvSpPr>
        <p:spPr>
          <a:xfrm>
            <a:off x="1783080" y="598932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师兄论文方法</a:t>
            </a:r>
            <a:endParaRPr lang="en-US" sz="1200" dirty="0"/>
          </a:p>
        </p:txBody>
      </p:sp>
      <p:sp>
        <p:nvSpPr>
          <p:cNvPr id="17" name="chip-51"/>
          <p:cNvSpPr/>
          <p:nvPr/>
        </p:nvSpPr>
        <p:spPr>
          <a:xfrm>
            <a:off x="3383280" y="5989320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近期研究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体系总览：四个阶段</a:t>
            </a:r>
            <a:endParaRPr lang="en-US" sz="2800" dirty="0"/>
          </a:p>
        </p:txBody>
      </p:sp>
      <p:sp>
        <p:nvSpPr>
          <p:cNvPr id="3" name="card-52"/>
          <p:cNvSpPr/>
          <p:nvPr/>
        </p:nvSpPr>
        <p:spPr>
          <a:xfrm>
            <a:off x="548640" y="1463040"/>
            <a:ext cx="2587752" cy="3703320"/>
          </a:xfrm>
          <a:prstGeom prst="roundRect">
            <a:avLst>
              <a:gd name="adj" fmla="val 28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53"/>
          <p:cNvSpPr/>
          <p:nvPr/>
        </p:nvSpPr>
        <p:spPr>
          <a:xfrm>
            <a:off x="777240" y="16642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54"/>
          <p:cNvSpPr txBox="1"/>
          <p:nvPr/>
        </p:nvSpPr>
        <p:spPr>
          <a:xfrm>
            <a:off x="1417320" y="16642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基础分类分级</a:t>
            </a:r>
            <a:endParaRPr lang="en-US" sz="1700" dirty="0"/>
          </a:p>
        </p:txBody>
      </p:sp>
      <p:sp>
        <p:nvSpPr>
          <p:cNvPr id="6" name="text-55"/>
          <p:cNvSpPr txBox="1"/>
          <p:nvPr/>
        </p:nvSpPr>
        <p:spPr>
          <a:xfrm>
            <a:off x="77724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解析南网规则，建规则库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按业务架构分类到字段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矩阵判定规则等级（1~5 级）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标注披露层级与时点</a:t>
            </a:r>
            <a:endParaRPr lang="en-US" sz="1400" dirty="0"/>
          </a:p>
        </p:txBody>
      </p:sp>
      <p:sp>
        <p:nvSpPr>
          <p:cNvPr id="7" name="chip-56"/>
          <p:cNvSpPr/>
          <p:nvPr/>
        </p:nvSpPr>
        <p:spPr>
          <a:xfrm>
            <a:off x="777240" y="466344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南网规则</a:t>
            </a:r>
            <a:endParaRPr lang="en-US" sz="1200" dirty="0"/>
          </a:p>
        </p:txBody>
      </p:sp>
      <p:sp>
        <p:nvSpPr>
          <p:cNvPr id="8" name="chip-57"/>
          <p:cNvSpPr/>
          <p:nvPr/>
        </p:nvSpPr>
        <p:spPr>
          <a:xfrm>
            <a:off x="1892808" y="4663440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师兄</a:t>
            </a:r>
            <a:endParaRPr lang="en-US" sz="1200" dirty="0"/>
          </a:p>
        </p:txBody>
      </p:sp>
      <p:sp>
        <p:nvSpPr>
          <p:cNvPr id="9" name="arrow-58"/>
          <p:cNvSpPr/>
          <p:nvPr/>
        </p:nvSpPr>
        <p:spPr>
          <a:xfrm>
            <a:off x="3163824" y="3291840"/>
            <a:ext cx="192024" cy="0"/>
          </a:xfrm>
          <a:prstGeom prst="line">
            <a:avLst/>
          </a:prstGeom>
          <a:noFill/>
          <a:ln w="22225">
            <a:solidFill>
              <a:srgbClr val="12284C"/>
            </a:solidFill>
            <a:prstDash val="solid"/>
            <a:tailEnd type="triangle"/>
          </a:ln>
        </p:spPr>
      </p:sp>
      <p:sp>
        <p:nvSpPr>
          <p:cNvPr id="10" name="card-59"/>
          <p:cNvSpPr/>
          <p:nvPr/>
        </p:nvSpPr>
        <p:spPr>
          <a:xfrm>
            <a:off x="3383280" y="1463040"/>
            <a:ext cx="2587752" cy="3703320"/>
          </a:xfrm>
          <a:prstGeom prst="roundRect">
            <a:avLst>
              <a:gd name="adj" fmla="val 28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-60"/>
          <p:cNvSpPr/>
          <p:nvPr/>
        </p:nvSpPr>
        <p:spPr>
          <a:xfrm>
            <a:off x="3611880" y="16642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61"/>
          <p:cNvSpPr txBox="1"/>
          <p:nvPr/>
        </p:nvSpPr>
        <p:spPr>
          <a:xfrm>
            <a:off x="4251960" y="16642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推断风险识别</a:t>
            </a:r>
            <a:endParaRPr lang="en-US" sz="1700" dirty="0"/>
          </a:p>
        </p:txBody>
      </p:sp>
      <p:sp>
        <p:nvSpPr>
          <p:cNvPr id="13" name="text-62"/>
          <p:cNvSpPr txBox="1"/>
          <p:nvPr/>
        </p:nvSpPr>
        <p:spPr>
          <a:xfrm>
            <a:off x="361188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确定各类接收方已知什么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计算字段集合的推断能力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得到字段级风险与见证背景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对高风险项重训认证</a:t>
            </a:r>
            <a:endParaRPr lang="en-US" sz="1400" dirty="0"/>
          </a:p>
        </p:txBody>
      </p:sp>
      <p:sp>
        <p:nvSpPr>
          <p:cNvPr id="14" name="chip-63"/>
          <p:cNvSpPr/>
          <p:nvPr/>
        </p:nvSpPr>
        <p:spPr>
          <a:xfrm>
            <a:off x="3611880" y="466344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近期研究</a:t>
            </a:r>
            <a:endParaRPr lang="en-US" sz="1200" dirty="0"/>
          </a:p>
        </p:txBody>
      </p:sp>
      <p:sp>
        <p:nvSpPr>
          <p:cNvPr id="15" name="chip-64"/>
          <p:cNvSpPr/>
          <p:nvPr/>
        </p:nvSpPr>
        <p:spPr>
          <a:xfrm>
            <a:off x="4727448" y="4663440"/>
            <a:ext cx="7315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师兄</a:t>
            </a:r>
            <a:endParaRPr lang="en-US" sz="1200" dirty="0"/>
          </a:p>
        </p:txBody>
      </p:sp>
      <p:sp>
        <p:nvSpPr>
          <p:cNvPr id="16" name="arrow-65"/>
          <p:cNvSpPr/>
          <p:nvPr/>
        </p:nvSpPr>
        <p:spPr>
          <a:xfrm>
            <a:off x="5998464" y="3291840"/>
            <a:ext cx="192024" cy="0"/>
          </a:xfrm>
          <a:prstGeom prst="line">
            <a:avLst/>
          </a:prstGeom>
          <a:noFill/>
          <a:ln w="22225">
            <a:solidFill>
              <a:srgbClr val="12284C"/>
            </a:solidFill>
            <a:prstDash val="solid"/>
            <a:tailEnd type="triangle"/>
          </a:ln>
        </p:spPr>
      </p:sp>
      <p:sp>
        <p:nvSpPr>
          <p:cNvPr id="17" name="card-66"/>
          <p:cNvSpPr/>
          <p:nvPr/>
        </p:nvSpPr>
        <p:spPr>
          <a:xfrm>
            <a:off x="6217920" y="1463040"/>
            <a:ext cx="2587752" cy="3703320"/>
          </a:xfrm>
          <a:prstGeom prst="roundRect">
            <a:avLst>
              <a:gd name="adj" fmla="val 28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-67"/>
          <p:cNvSpPr/>
          <p:nvPr/>
        </p:nvSpPr>
        <p:spPr>
          <a:xfrm>
            <a:off x="6446520" y="16642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-68"/>
          <p:cNvSpPr txBox="1"/>
          <p:nvPr/>
        </p:nvSpPr>
        <p:spPr>
          <a:xfrm>
            <a:off x="7086600" y="16642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等级复核与优化</a:t>
            </a:r>
            <a:endParaRPr lang="en-US" sz="1700" dirty="0"/>
          </a:p>
        </p:txBody>
      </p:sp>
      <p:sp>
        <p:nvSpPr>
          <p:cNvPr id="20" name="text-69"/>
          <p:cNvSpPr txBox="1"/>
          <p:nvPr/>
        </p:nvSpPr>
        <p:spPr>
          <a:xfrm>
            <a:off x="64465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检查等级是否一致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GRPO 求上调最少的方案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输出建议等级和推断证据</a:t>
            </a:r>
            <a:endParaRPr lang="en-US" sz="1400" dirty="0"/>
          </a:p>
        </p:txBody>
      </p:sp>
      <p:sp>
        <p:nvSpPr>
          <p:cNvPr id="21" name="chip-70"/>
          <p:cNvSpPr/>
          <p:nvPr/>
        </p:nvSpPr>
        <p:spPr>
          <a:xfrm>
            <a:off x="6446520" y="466344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师兄 GRPO</a:t>
            </a:r>
            <a:endParaRPr lang="en-US" sz="1200" dirty="0"/>
          </a:p>
        </p:txBody>
      </p:sp>
      <p:sp>
        <p:nvSpPr>
          <p:cNvPr id="22" name="chip-71"/>
          <p:cNvSpPr/>
          <p:nvPr/>
        </p:nvSpPr>
        <p:spPr>
          <a:xfrm>
            <a:off x="7699248" y="466344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近期研究</a:t>
            </a:r>
            <a:endParaRPr lang="en-US" sz="1200" dirty="0"/>
          </a:p>
        </p:txBody>
      </p:sp>
      <p:sp>
        <p:nvSpPr>
          <p:cNvPr id="23" name="arrow-72"/>
          <p:cNvSpPr/>
          <p:nvPr/>
        </p:nvSpPr>
        <p:spPr>
          <a:xfrm>
            <a:off x="8833104" y="3291840"/>
            <a:ext cx="192024" cy="0"/>
          </a:xfrm>
          <a:prstGeom prst="line">
            <a:avLst/>
          </a:prstGeom>
          <a:noFill/>
          <a:ln w="22225">
            <a:solidFill>
              <a:srgbClr val="12284C"/>
            </a:solidFill>
            <a:prstDash val="solid"/>
            <a:tailEnd type="triangle"/>
          </a:ln>
        </p:spPr>
      </p:sp>
      <p:sp>
        <p:nvSpPr>
          <p:cNvPr id="24" name="card-73"/>
          <p:cNvSpPr/>
          <p:nvPr/>
        </p:nvSpPr>
        <p:spPr>
          <a:xfrm>
            <a:off x="9052560" y="1463040"/>
            <a:ext cx="2587752" cy="3703320"/>
          </a:xfrm>
          <a:prstGeom prst="roundRect">
            <a:avLst>
              <a:gd name="adj" fmla="val 28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-74"/>
          <p:cNvSpPr/>
          <p:nvPr/>
        </p:nvSpPr>
        <p:spPr>
          <a:xfrm>
            <a:off x="9281160" y="1664208"/>
            <a:ext cx="502920" cy="50292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-75"/>
          <p:cNvSpPr txBox="1"/>
          <p:nvPr/>
        </p:nvSpPr>
        <p:spPr>
          <a:xfrm>
            <a:off x="9921240" y="16642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审批与复评</a:t>
            </a:r>
            <a:endParaRPr lang="en-US" sz="1700" dirty="0"/>
          </a:p>
        </p:txBody>
      </p:sp>
      <p:sp>
        <p:nvSpPr>
          <p:cNvPr id="27" name="text-76"/>
          <p:cNvSpPr txBox="1"/>
          <p:nvPr/>
        </p:nvSpPr>
        <p:spPr>
          <a:xfrm>
            <a:off x="928116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走南网审批流程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结果固化到数据目录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事件触发的增量复评</a:t>
            </a:r>
            <a:endParaRPr lang="en-US" sz="1400" dirty="0"/>
          </a:p>
        </p:txBody>
      </p:sp>
      <p:sp>
        <p:nvSpPr>
          <p:cNvPr id="28" name="chip-77"/>
          <p:cNvSpPr/>
          <p:nvPr/>
        </p:nvSpPr>
        <p:spPr>
          <a:xfrm>
            <a:off x="9281160" y="466344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南网规则</a:t>
            </a:r>
            <a:endParaRPr lang="en-US" sz="1200" dirty="0"/>
          </a:p>
        </p:txBody>
      </p:sp>
      <p:sp>
        <p:nvSpPr>
          <p:cNvPr id="29" name="card-78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-79"/>
          <p:cNvSpPr txBox="1"/>
          <p:nvPr/>
        </p:nvSpPr>
        <p:spPr>
          <a:xfrm>
            <a:off x="77724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硬约束　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不低于规则等级　·　法定公开字段不调整　·　4、5 级只出申报建议　·　算法输出为建议，定级权在审批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与师兄原体系的对应：框架保留，两处替换，一处改造</a:t>
            </a:r>
            <a:endParaRPr lang="en-US" sz="2800" dirty="0"/>
          </a:p>
        </p:txBody>
      </p:sp>
      <p:graphicFrame>
        <p:nvGraphicFramePr>
          <p:cNvPr id="7" name="table-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4416552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环节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师兄原体系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本体系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改动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规则理解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大模型 + 检索增强抽取规则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语料换为南网手册与细则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保留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初始定级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FP-Growth 支持度 → 四级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南网影响矩阵 → 五级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按南网替换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关系发现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Pearson / Spearman / MIC 风险关联图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保留，用于解释和先验，不做硬筛选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保留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推断验证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DNN；GAT + 物理约束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保留，作为单字段、结构目标的特例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保留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风险量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max MIC（字段两两相关）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V(S) → M</a:t>
                      </a:r>
                      <a:pPr indent="0" marL="0">
                        <a:buNone/>
                      </a:pPr>
                      <a:r>
                        <a:rPr lang="en-US" sz="1300" baseline="30000" dirty="0">
                          <a:solidFill>
                            <a:schemeClr val="tx1"/>
                          </a:solidFill>
                        </a:rPr>
                        <a:t>(0)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、M</a:t>
                      </a:r>
                      <a:pPr indent="0" marL="0">
                        <a:buNone/>
                      </a:pPr>
                      <a:r>
                        <a:rPr lang="en-US" sz="1300" baseline="30000" dirty="0">
                          <a:solidFill>
                            <a:schemeClr val="tx1"/>
                          </a:solidFill>
                        </a:rPr>
                        <a:t>(K)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、Γ</a:t>
                      </a:r>
                      <a:pPr indent="0" marL="0">
                        <a:buNone/>
                      </a:pPr>
                      <a:r>
                        <a:rPr lang="en-US" sz="1300" baseline="30000" dirty="0">
                          <a:solidFill>
                            <a:schemeClr val="tx1"/>
                          </a:solidFill>
                        </a:rPr>
                        <a:t>(K)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（组合与背景）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近期研究替换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等级决策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GRPO 逐字段选等级，合规为罚项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GRPO 求上调最少的一致等级，合规为硬约束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保留并改造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输出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算法直接给出等级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建议等级 + 推断证据 → 审批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按南网对齐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4" name="text-81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师兄已建立“规则初始分级 → 关联风险识别 → 风险驱动动态定级”的完整框架；本体系把初始定级换成南网矩阵，把风险量换成集合推断风险。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阶段一：按南网规则完成基础分类分级</a:t>
            </a:r>
            <a:endParaRPr lang="en-US" sz="2800" dirty="0"/>
          </a:p>
        </p:txBody>
      </p:sp>
      <p:sp>
        <p:nvSpPr>
          <p:cNvPr id="3" name="num-8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-83"/>
          <p:cNvSpPr txBox="1"/>
          <p:nvPr/>
        </p:nvSpPr>
        <p:spPr>
          <a:xfrm>
            <a:off x="1188720" y="1444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建规则库</a:t>
            </a:r>
            <a:endParaRPr lang="en-US" sz="1700" dirty="0"/>
          </a:p>
        </p:txBody>
      </p:sp>
      <p:sp>
        <p:nvSpPr>
          <p:cNvPr id="5" name="text-84"/>
          <p:cNvSpPr txBox="1"/>
          <p:nvPr/>
        </p:nvSpPr>
        <p:spPr>
          <a:xfrm>
            <a:off x="1188720" y="1828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大模型 + 检索增强解析分级手册、披露细则等，输出结构化规则</a:t>
            </a:r>
            <a:endParaRPr lang="en-US" sz="1300" dirty="0"/>
          </a:p>
        </p:txBody>
      </p:sp>
      <p:sp>
        <p:nvSpPr>
          <p:cNvPr id="6" name="num-85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-86"/>
          <p:cNvSpPr txBox="1"/>
          <p:nvPr/>
        </p:nvSpPr>
        <p:spPr>
          <a:xfrm>
            <a:off x="118872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分类到字段</a:t>
            </a:r>
            <a:endParaRPr lang="en-US" sz="1700" dirty="0"/>
          </a:p>
        </p:txBody>
      </p:sp>
      <p:sp>
        <p:nvSpPr>
          <p:cNvPr id="8" name="text-87"/>
          <p:cNvSpPr txBox="1"/>
          <p:nvPr/>
        </p:nvSpPr>
        <p:spPr>
          <a:xfrm>
            <a:off x="1188720" y="29443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专业域 → 流程组 → 操作级流程 → 业务对象 → 字段；合并副本字段</a:t>
            </a:r>
            <a:endParaRPr lang="en-US" sz="1300" dirty="0"/>
          </a:p>
        </p:txBody>
      </p:sp>
      <p:sp>
        <p:nvSpPr>
          <p:cNvPr id="9" name="num-88"/>
          <p:cNvSpPr/>
          <p:nvPr/>
        </p:nvSpPr>
        <p:spPr>
          <a:xfrm>
            <a:off x="548640" y="3694176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-89"/>
          <p:cNvSpPr txBox="1"/>
          <p:nvPr/>
        </p:nvSpPr>
        <p:spPr>
          <a:xfrm>
            <a:off x="1188720" y="3675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规则定级</a:t>
            </a:r>
            <a:endParaRPr lang="en-US" sz="1700" dirty="0"/>
          </a:p>
        </p:txBody>
      </p:sp>
      <p:sp>
        <p:nvSpPr>
          <p:cNvPr id="11" name="text-90"/>
          <p:cNvSpPr txBox="1"/>
          <p:nvPr/>
        </p:nvSpPr>
        <p:spPr>
          <a:xfrm>
            <a:off x="1188720" y="40599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 要素 → 影响对象 → 影响程度 → 右侧矩阵，三个维度就高不就低</a:t>
            </a:r>
            <a:endParaRPr lang="en-US" sz="1300" dirty="0"/>
          </a:p>
        </p:txBody>
      </p:sp>
      <p:sp>
        <p:nvSpPr>
          <p:cNvPr id="12" name="num-91"/>
          <p:cNvSpPr/>
          <p:nvPr/>
        </p:nvSpPr>
        <p:spPr>
          <a:xfrm>
            <a:off x="548640" y="4809744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text-92"/>
          <p:cNvSpPr txBox="1"/>
          <p:nvPr/>
        </p:nvSpPr>
        <p:spPr>
          <a:xfrm>
            <a:off x="1188720" y="4791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场景标注</a:t>
            </a:r>
            <a:endParaRPr lang="en-US" sz="1700" dirty="0"/>
          </a:p>
        </p:txBody>
      </p:sp>
      <p:sp>
        <p:nvSpPr>
          <p:cNvPr id="14" name="text-93"/>
          <p:cNvSpPr txBox="1"/>
          <p:nvPr/>
        </p:nvSpPr>
        <p:spPr>
          <a:xfrm>
            <a:off x="1188720" y="51755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披露层级、披露时点、是否法定公开、是否敏感目标</a:t>
            </a:r>
            <a:endParaRPr lang="en-US" sz="1300" dirty="0"/>
          </a:p>
        </p:txBody>
      </p:sp>
      <p:graphicFrame>
        <p:nvGraphicFramePr>
          <p:cNvPr id="8" name="table-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63040"/>
          <a:ext cx="5788152" cy="914400"/>
        </p:xfrm>
        <a:graphic>
          <a:graphicData uri="http://schemas.openxmlformats.org/drawingml/2006/table">
            <a:tbl>
              <a:tblPr/>
              <a:tblGrid>
                <a:gridCol w="1764792"/>
                <a:gridCol w="731520"/>
                <a:gridCol w="777240"/>
                <a:gridCol w="777240"/>
                <a:gridCol w="777240"/>
                <a:gridCol w="9601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影响对象 ＼ 影响程度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轻微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一般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严重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特别严重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国家安全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公共利益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经济运行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社会秩序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其他组织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公民个人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单位自身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</a:tbl>
          </a:graphicData>
        </a:graphic>
      </p:graphicFrame>
      <p:sp>
        <p:nvSpPr>
          <p:cNvPr id="16" name="text-95"/>
          <p:cNvSpPr txBox="1"/>
          <p:nvPr/>
        </p:nvSpPr>
        <p:spPr>
          <a:xfrm>
            <a:off x="5852160" y="4983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分级手册表 4.4：一般数据 1~3 级，重要数据 4 级，核心数据 5 级</a:t>
            </a:r>
            <a:endParaRPr lang="en-US" sz="1200" dirty="0"/>
          </a:p>
        </p:txBody>
      </p:sp>
      <p:sp>
        <p:nvSpPr>
          <p:cNvPr id="17" name="card-96"/>
          <p:cNvSpPr/>
          <p:nvPr/>
        </p:nvSpPr>
        <p:spPr>
          <a:xfrm>
            <a:off x="5852160" y="5349240"/>
            <a:ext cx="5788152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-97"/>
          <p:cNvSpPr txBox="1"/>
          <p:nvPr/>
        </p:nvSpPr>
        <p:spPr>
          <a:xfrm>
            <a:off x="6035040" y="534924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替换师兄原来的“FP-Growth 支持度 → 四级”定级方式；规则库只给建议，结果需人工确认。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阶段二 ①：先确定“谁、已经知道什么”</a:t>
            </a:r>
            <a:endParaRPr lang="en-US" sz="2800" dirty="0"/>
          </a:p>
        </p:txBody>
      </p:sp>
      <p:sp>
        <p:nvSpPr>
          <p:cNvPr id="3" name="text-98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推断风险取决于接收方手里已有的数据。这一点南网文件已经规定：</a:t>
            </a:r>
            <a:endParaRPr lang="en-US" sz="1500" dirty="0"/>
          </a:p>
        </p:txBody>
      </p:sp>
      <p:graphicFrame>
        <p:nvGraphicFramePr>
          <p:cNvPr id="9" name="table-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457200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接收方角色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可见层级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默认已知（公开基底）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还可能拿到（背景池）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社会公众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公众信息、无条件开放目录、外部公开数据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其他 1 级字段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协议接收方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≤ 2 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同上 + 向市场成员披露的公开信息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其他 ≤2 级字段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特定对象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≤ 3 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同上 + 获准的特定信息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其他 ≤3 级字段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100"/>
          <p:cNvSpPr txBox="1"/>
          <p:nvPr/>
        </p:nvSpPr>
        <p:spPr>
          <a:xfrm>
            <a:off x="548640" y="3977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依据：分级手册各级的共享开放口径；披露细则“公众 / 公开 / 特定”三层级。可见层级的划分需南网确认。</a:t>
            </a:r>
            <a:endParaRPr lang="en-US" sz="1200" dirty="0"/>
          </a:p>
        </p:txBody>
      </p:sp>
      <p:sp>
        <p:nvSpPr>
          <p:cNvPr id="6" name="text-101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披露时点决定“什么时候已知”</a:t>
            </a:r>
            <a:endParaRPr lang="en-US" sz="1600" dirty="0"/>
          </a:p>
        </p:txBody>
      </p:sp>
      <p:sp>
        <p:nvSpPr>
          <p:cNvPr id="7" name="card-102"/>
          <p:cNvSpPr/>
          <p:nvPr/>
        </p:nvSpPr>
        <p:spPr>
          <a:xfrm>
            <a:off x="548640" y="498348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-103"/>
          <p:cNvSpPr txBox="1"/>
          <p:nvPr/>
        </p:nvSpPr>
        <p:spPr>
          <a:xfrm>
            <a:off x="68580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D-1 申报前</a:t>
            </a:r>
            <a:endParaRPr lang="en-US" sz="1500" dirty="0"/>
          </a:p>
        </p:txBody>
      </p:sp>
      <p:sp>
        <p:nvSpPr>
          <p:cNvPr id="9" name="text-104"/>
          <p:cNvSpPr txBox="1"/>
          <p:nvPr/>
        </p:nvSpPr>
        <p:spPr>
          <a:xfrm>
            <a:off x="685800" y="5486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预测类信息公开</a:t>
            </a:r>
            <a:endParaRPr lang="en-US" sz="1300" dirty="0"/>
          </a:p>
        </p:txBody>
      </p:sp>
      <p:sp>
        <p:nvSpPr>
          <p:cNvPr id="10" name="arrow-105"/>
          <p:cNvSpPr/>
          <p:nvPr/>
        </p:nvSpPr>
        <p:spPr>
          <a:xfrm>
            <a:off x="2770632" y="5532120"/>
            <a:ext cx="265176" cy="0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11" name="card-106"/>
          <p:cNvSpPr/>
          <p:nvPr/>
        </p:nvSpPr>
        <p:spPr>
          <a:xfrm>
            <a:off x="3063240" y="498348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-107"/>
          <p:cNvSpPr txBox="1"/>
          <p:nvPr/>
        </p:nvSpPr>
        <p:spPr>
          <a:xfrm>
            <a:off x="320040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 日 交易日</a:t>
            </a:r>
            <a:endParaRPr lang="en-US" sz="1500" dirty="0"/>
          </a:p>
        </p:txBody>
      </p:sp>
      <p:sp>
        <p:nvSpPr>
          <p:cNvPr id="13" name="text-108"/>
          <p:cNvSpPr txBox="1"/>
          <p:nvPr/>
        </p:nvSpPr>
        <p:spPr>
          <a:xfrm>
            <a:off x="3200400" y="5486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出清类信息公开</a:t>
            </a:r>
            <a:endParaRPr lang="en-US" sz="1300" dirty="0"/>
          </a:p>
        </p:txBody>
      </p:sp>
      <p:sp>
        <p:nvSpPr>
          <p:cNvPr id="14" name="arrow-109"/>
          <p:cNvSpPr/>
          <p:nvPr/>
        </p:nvSpPr>
        <p:spPr>
          <a:xfrm>
            <a:off x="5285232" y="5532120"/>
            <a:ext cx="265176" cy="0"/>
          </a:xfrm>
          <a:prstGeom prst="line">
            <a:avLst/>
          </a:prstGeom>
          <a:noFill/>
          <a:ln w="22225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15" name="card-110"/>
          <p:cNvSpPr/>
          <p:nvPr/>
        </p:nvSpPr>
        <p:spPr>
          <a:xfrm>
            <a:off x="5577840" y="498348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-111"/>
          <p:cNvSpPr txBox="1"/>
          <p:nvPr/>
        </p:nvSpPr>
        <p:spPr>
          <a:xfrm>
            <a:off x="571500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D+1 运行日次日</a:t>
            </a:r>
            <a:endParaRPr lang="en-US" sz="1500" dirty="0"/>
          </a:p>
        </p:txBody>
      </p:sp>
      <p:sp>
        <p:nvSpPr>
          <p:cNvPr id="17" name="text-112"/>
          <p:cNvSpPr txBox="1"/>
          <p:nvPr/>
        </p:nvSpPr>
        <p:spPr>
          <a:xfrm>
            <a:off x="5715000" y="5486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运行类信息公开</a:t>
            </a:r>
            <a:endParaRPr lang="en-US" sz="1300" dirty="0"/>
          </a:p>
        </p:txBody>
      </p:sp>
      <p:sp>
        <p:nvSpPr>
          <p:cNvPr id="18" name="card-113"/>
          <p:cNvSpPr/>
          <p:nvPr/>
        </p:nvSpPr>
        <p:spPr>
          <a:xfrm>
            <a:off x="8183880" y="4983480"/>
            <a:ext cx="345643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114"/>
          <p:cNvSpPr txBox="1"/>
          <p:nvPr/>
        </p:nvSpPr>
        <p:spPr>
          <a:xfrm>
            <a:off x="8321040" y="5029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同一字段的风险随时点变化：运行信息在 D+1 公开后，针对它的推断不再构成风险（分级手册附录 E“时效性”）。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阶段二 ②：把推断风险量化到字段</a:t>
            </a:r>
            <a:endParaRPr lang="en-US" sz="2800" dirty="0"/>
          </a:p>
        </p:txBody>
      </p:sp>
      <p:sp>
        <p:nvSpPr>
          <p:cNvPr id="3" name="card-115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-116"/>
          <p:cNvSpPr txBox="1"/>
          <p:nvPr/>
        </p:nvSpPr>
        <p:spPr>
          <a:xfrm>
            <a:off x="777240" y="14173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集合推断能力 V(S)　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只用字段集合 S 训练的最强攻击模型，对敏感目标的推断精度（R²）。师兄的 DNN 验证是它在单字段时的特例。</a:t>
            </a:r>
            <a:endParaRPr lang="en-US" sz="1500" dirty="0"/>
          </a:p>
        </p:txBody>
      </p:sp>
      <p:sp>
        <p:nvSpPr>
          <p:cNvPr id="5" name="card-117"/>
          <p:cNvSpPr/>
          <p:nvPr/>
        </p:nvSpPr>
        <p:spPr>
          <a:xfrm>
            <a:off x="548640" y="2514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18"/>
          <p:cNvSpPr txBox="1"/>
          <p:nvPr/>
        </p:nvSpPr>
        <p:spPr>
          <a:xfrm>
            <a:off x="777240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M</a:t>
            </a:r>
            <a:pPr algn="l" indent="0" marL="0">
              <a:buNone/>
            </a:pPr>
            <a:r>
              <a:rPr lang="en-US" sz="3000" b="1" baseline="30000" dirty="0">
                <a:solidFill>
                  <a:schemeClr val="accent3"/>
                </a:solidFill>
              </a:rPr>
              <a:t>(0)</a:t>
            </a:r>
            <a:endParaRPr lang="en-US" sz="3000" dirty="0"/>
          </a:p>
        </p:txBody>
      </p:sp>
      <p:sp>
        <p:nvSpPr>
          <p:cNvPr id="7" name="text-119"/>
          <p:cNvSpPr txBox="1"/>
          <p:nvPr/>
        </p:nvSpPr>
        <p:spPr>
          <a:xfrm>
            <a:off x="2148840" y="2761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单独风险</a:t>
            </a:r>
            <a:endParaRPr lang="en-US" sz="1500" dirty="0"/>
          </a:p>
        </p:txBody>
      </p:sp>
      <p:sp>
        <p:nvSpPr>
          <p:cNvPr id="8" name="text-120"/>
          <p:cNvSpPr txBox="1"/>
          <p:nvPr/>
        </p:nvSpPr>
        <p:spPr>
          <a:xfrm>
            <a:off x="77724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这个字段自己能让目标多被推出多少？</a:t>
            </a:r>
            <a:endParaRPr lang="en-US" sz="1400" dirty="0"/>
          </a:p>
        </p:txBody>
      </p:sp>
      <p:sp>
        <p:nvSpPr>
          <p:cNvPr id="9" name="text-121"/>
          <p:cNvSpPr txBox="1"/>
          <p:nvPr/>
        </p:nvSpPr>
        <p:spPr>
          <a:xfrm>
            <a:off x="7772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对应师兄原来的单字段口径</a:t>
            </a:r>
            <a:endParaRPr lang="en-US" sz="1200" dirty="0"/>
          </a:p>
        </p:txBody>
      </p:sp>
      <p:sp>
        <p:nvSpPr>
          <p:cNvPr id="10" name="card-122"/>
          <p:cNvSpPr/>
          <p:nvPr/>
        </p:nvSpPr>
        <p:spPr>
          <a:xfrm>
            <a:off x="4306824" y="2514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23"/>
          <p:cNvSpPr txBox="1"/>
          <p:nvPr/>
        </p:nvSpPr>
        <p:spPr>
          <a:xfrm>
            <a:off x="4535424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M</a:t>
            </a:r>
            <a:pPr algn="l" indent="0" marL="0">
              <a:buNone/>
            </a:pPr>
            <a:r>
              <a:rPr lang="en-US" sz="3000" b="1" baseline="30000" dirty="0">
                <a:solidFill>
                  <a:schemeClr val="accent3"/>
                </a:solidFill>
              </a:rPr>
              <a:t>(K)</a:t>
            </a:r>
            <a:endParaRPr lang="en-US" sz="3000" dirty="0"/>
          </a:p>
        </p:txBody>
      </p:sp>
      <p:sp>
        <p:nvSpPr>
          <p:cNvPr id="12" name="text-124"/>
          <p:cNvSpPr txBox="1"/>
          <p:nvPr/>
        </p:nvSpPr>
        <p:spPr>
          <a:xfrm>
            <a:off x="5907024" y="2761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最坏背景下的风险</a:t>
            </a:r>
            <a:endParaRPr lang="en-US" sz="1500" dirty="0"/>
          </a:p>
        </p:txBody>
      </p:sp>
      <p:sp>
        <p:nvSpPr>
          <p:cNvPr id="13" name="text-125"/>
          <p:cNvSpPr txBox="1"/>
          <p:nvPr/>
        </p:nvSpPr>
        <p:spPr>
          <a:xfrm>
            <a:off x="4535424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在别人已有的数据背景下，它最多能多推出多少？</a:t>
            </a:r>
            <a:endParaRPr lang="en-US" sz="1400" dirty="0"/>
          </a:p>
        </p:txBody>
      </p:sp>
      <p:sp>
        <p:nvSpPr>
          <p:cNvPr id="14" name="text-126"/>
          <p:cNvSpPr txBox="1"/>
          <p:nvPr/>
        </p:nvSpPr>
        <p:spPr>
          <a:xfrm>
            <a:off x="4535424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取最大值，对应“从严性”</a:t>
            </a:r>
            <a:endParaRPr lang="en-US" sz="1200" dirty="0"/>
          </a:p>
        </p:txBody>
      </p:sp>
      <p:sp>
        <p:nvSpPr>
          <p:cNvPr id="15" name="card-127"/>
          <p:cNvSpPr/>
          <p:nvPr/>
        </p:nvSpPr>
        <p:spPr>
          <a:xfrm>
            <a:off x="8065008" y="2514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28"/>
          <p:cNvSpPr txBox="1"/>
          <p:nvPr/>
        </p:nvSpPr>
        <p:spPr>
          <a:xfrm>
            <a:off x="8293608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Γ</a:t>
            </a:r>
            <a:pPr algn="l" indent="0" marL="0">
              <a:buNone/>
            </a:pPr>
            <a:r>
              <a:rPr lang="en-US" sz="3000" b="1" baseline="30000" dirty="0">
                <a:solidFill>
                  <a:schemeClr val="accent3"/>
                </a:solidFill>
              </a:rPr>
              <a:t>(K)</a:t>
            </a:r>
            <a:endParaRPr lang="en-US" sz="3000" dirty="0"/>
          </a:p>
        </p:txBody>
      </p:sp>
      <p:sp>
        <p:nvSpPr>
          <p:cNvPr id="17" name="text-129"/>
          <p:cNvSpPr txBox="1"/>
          <p:nvPr/>
        </p:nvSpPr>
        <p:spPr>
          <a:xfrm>
            <a:off x="9665208" y="2761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背景放大量</a:t>
            </a:r>
            <a:endParaRPr lang="en-US" sz="1500" dirty="0"/>
          </a:p>
        </p:txBody>
      </p:sp>
      <p:sp>
        <p:nvSpPr>
          <p:cNvPr id="18" name="text-130"/>
          <p:cNvSpPr txBox="1"/>
          <p:nvPr/>
        </p:nvSpPr>
        <p:spPr>
          <a:xfrm>
            <a:off x="8293608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它的风险有多少是被背景放大的？</a:t>
            </a:r>
            <a:endParaRPr lang="en-US" sz="1400" dirty="0"/>
          </a:p>
        </p:txBody>
      </p:sp>
      <p:sp>
        <p:nvSpPr>
          <p:cNvPr id="19" name="text-131"/>
          <p:cNvSpPr txBox="1"/>
          <p:nvPr/>
        </p:nvSpPr>
        <p:spPr>
          <a:xfrm>
            <a:off x="8293608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等于 M</a:t>
            </a:r>
            <a:pPr algn="l" indent="0" marL="0">
              <a:buNone/>
            </a:pPr>
            <a:r>
              <a:rPr lang="en-US" sz="1200" baseline="30000" dirty="0">
                <a:solidFill>
                  <a:srgbClr val="5B6577"/>
                </a:solidFill>
              </a:rPr>
              <a:t>(K)</a:t>
            </a:r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 − M</a:t>
            </a:r>
            <a:pPr algn="l" indent="0" marL="0">
              <a:buNone/>
            </a:pPr>
            <a:r>
              <a:rPr lang="en-US" sz="1200" baseline="30000" dirty="0">
                <a:solidFill>
                  <a:srgbClr val="5B6577"/>
                </a:solidFill>
              </a:rPr>
              <a:t>(0)</a:t>
            </a:r>
            <a:endParaRPr lang="en-US" sz="1200" dirty="0"/>
          </a:p>
        </p:txBody>
      </p:sp>
      <p:sp>
        <p:nvSpPr>
          <p:cNvPr id="20" name="text-132"/>
          <p:cNvSpPr txBox="1"/>
          <p:nvPr/>
        </p:nvSpPr>
        <p:spPr>
          <a:xfrm>
            <a:off x="548640" y="4956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同时记录见证背景（和哪几个字段一起）和可达精度（加上它以后目标能被推到多准）。</a:t>
            </a:r>
            <a:endParaRPr lang="en-US" sz="1300" dirty="0"/>
          </a:p>
        </p:txBody>
      </p:sp>
      <p:sp>
        <p:nvSpPr>
          <p:cNvPr id="21" name="chip-133"/>
          <p:cNvSpPr/>
          <p:nvPr/>
        </p:nvSpPr>
        <p:spPr>
          <a:xfrm>
            <a:off x="548640" y="54864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通用模型扫描</a:t>
            </a:r>
            <a:endParaRPr lang="en-US" sz="1200" dirty="0"/>
          </a:p>
        </p:txBody>
      </p:sp>
      <p:sp>
        <p:nvSpPr>
          <p:cNvPr id="22" name="text-134"/>
          <p:cNvSpPr txBox="1"/>
          <p:nvPr/>
        </p:nvSpPr>
        <p:spPr>
          <a:xfrm>
            <a:off x="2121408" y="5367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48~64 毫秒/组合；逐个重训需 14~56 秒</a:t>
            </a:r>
            <a:endParaRPr lang="en-US" sz="1200" dirty="0"/>
          </a:p>
        </p:txBody>
      </p:sp>
      <p:sp>
        <p:nvSpPr>
          <p:cNvPr id="23" name="chip-135"/>
          <p:cNvSpPr/>
          <p:nvPr/>
        </p:nvSpPr>
        <p:spPr>
          <a:xfrm>
            <a:off x="4306824" y="54864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重训认证</a:t>
            </a:r>
            <a:endParaRPr lang="en-US" sz="1200" dirty="0"/>
          </a:p>
        </p:txBody>
      </p:sp>
      <p:sp>
        <p:nvSpPr>
          <p:cNvPr id="24" name="text-136"/>
          <p:cNvSpPr txBox="1"/>
          <p:nvPr/>
        </p:nvSpPr>
        <p:spPr>
          <a:xfrm>
            <a:off x="5879592" y="5367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最强攻击模型、全量数据重训确认</a:t>
            </a:r>
            <a:endParaRPr lang="en-US" sz="1200" dirty="0"/>
          </a:p>
        </p:txBody>
      </p:sp>
      <p:sp>
        <p:nvSpPr>
          <p:cNvPr id="25" name="chip-137"/>
          <p:cNvSpPr/>
          <p:nvPr/>
        </p:nvSpPr>
        <p:spPr>
          <a:xfrm>
            <a:off x="8065008" y="54864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风险关联图</a:t>
            </a:r>
            <a:endParaRPr lang="en-US" sz="1200" dirty="0"/>
          </a:p>
        </p:txBody>
      </p:sp>
      <p:sp>
        <p:nvSpPr>
          <p:cNvPr id="26" name="text-138"/>
          <p:cNvSpPr txBox="1"/>
          <p:nvPr/>
        </p:nvSpPr>
        <p:spPr>
          <a:xfrm>
            <a:off x="9637776" y="5367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师兄方法并联：解释、先验、副本提示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阶段三 ①：等级要一起定，因为等级决定谁能拿到数据</a:t>
            </a:r>
            <a:endParaRPr lang="en-US" sz="2800" dirty="0"/>
          </a:p>
        </p:txBody>
      </p:sp>
      <p:sp>
        <p:nvSpPr>
          <p:cNvPr id="3" name="loop-139"/>
          <p:cNvSpPr/>
          <p:nvPr/>
        </p:nvSpPr>
        <p:spPr>
          <a:xfrm>
            <a:off x="822960" y="1737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字段等级</a:t>
            </a:r>
            <a:endParaRPr lang="en-US" sz="1500" dirty="0"/>
          </a:p>
        </p:txBody>
      </p:sp>
      <p:sp>
        <p:nvSpPr>
          <p:cNvPr id="4" name="loop-140"/>
          <p:cNvSpPr/>
          <p:nvPr/>
        </p:nvSpPr>
        <p:spPr>
          <a:xfrm>
            <a:off x="3840480" y="173736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可见范围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哪些角色拿得到</a:t>
            </a:r>
            <a:endParaRPr lang="en-US" sz="1500" dirty="0"/>
          </a:p>
        </p:txBody>
      </p:sp>
      <p:sp>
        <p:nvSpPr>
          <p:cNvPr id="5" name="loop-141"/>
          <p:cNvSpPr/>
          <p:nvPr/>
        </p:nvSpPr>
        <p:spPr>
          <a:xfrm>
            <a:off x="3840480" y="420624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各角色的背景池</a:t>
            </a:r>
            <a:endParaRPr lang="en-US" sz="1500" dirty="0"/>
          </a:p>
        </p:txBody>
      </p:sp>
      <p:sp>
        <p:nvSpPr>
          <p:cNvPr id="6" name="loop-142"/>
          <p:cNvSpPr/>
          <p:nvPr/>
        </p:nvSpPr>
        <p:spPr>
          <a:xfrm>
            <a:off x="822960" y="420624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其余字段的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推断风险</a:t>
            </a:r>
            <a:endParaRPr lang="en-US" sz="1500" dirty="0"/>
          </a:p>
        </p:txBody>
      </p:sp>
      <p:sp>
        <p:nvSpPr>
          <p:cNvPr id="7" name="arrow-143"/>
          <p:cNvSpPr/>
          <p:nvPr/>
        </p:nvSpPr>
        <p:spPr>
          <a:xfrm>
            <a:off x="3063240" y="2240280"/>
            <a:ext cx="7315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8" name="arrow-144"/>
          <p:cNvSpPr/>
          <p:nvPr/>
        </p:nvSpPr>
        <p:spPr>
          <a:xfrm>
            <a:off x="4937760" y="2788920"/>
            <a:ext cx="0" cy="137160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9" name="arrow-145"/>
          <p:cNvSpPr/>
          <p:nvPr/>
        </p:nvSpPr>
        <p:spPr>
          <a:xfrm flipH="1">
            <a:off x="3063240" y="4709160"/>
            <a:ext cx="7315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arrow-146"/>
          <p:cNvSpPr/>
          <p:nvPr/>
        </p:nvSpPr>
        <p:spPr>
          <a:xfrm flipV="1">
            <a:off x="1920240" y="2788920"/>
            <a:ext cx="0" cy="137160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1" name="text-147"/>
          <p:cNvSpPr txBox="1"/>
          <p:nvPr/>
        </p:nvSpPr>
        <p:spPr>
          <a:xfrm>
            <a:off x="27432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各级的共享开放口径</a:t>
            </a:r>
            <a:endParaRPr lang="en-US" sz="1100" dirty="0"/>
          </a:p>
        </p:txBody>
      </p:sp>
      <p:sp>
        <p:nvSpPr>
          <p:cNvPr id="12" name="text-148"/>
          <p:cNvSpPr txBox="1"/>
          <p:nvPr/>
        </p:nvSpPr>
        <p:spPr>
          <a:xfrm>
            <a:off x="5074920" y="3200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上调的字段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退出更宽的池</a:t>
            </a:r>
            <a:endParaRPr lang="en-US" sz="1100" dirty="0"/>
          </a:p>
        </p:txBody>
      </p:sp>
      <p:sp>
        <p:nvSpPr>
          <p:cNvPr id="13" name="text-149"/>
          <p:cNvSpPr txBox="1"/>
          <p:nvPr/>
        </p:nvSpPr>
        <p:spPr>
          <a:xfrm>
            <a:off x="310896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重算</a:t>
            </a:r>
            <a:endParaRPr lang="en-US" sz="1100" dirty="0"/>
          </a:p>
        </p:txBody>
      </p:sp>
      <p:sp>
        <p:nvSpPr>
          <p:cNvPr id="14" name="text-150"/>
          <p:cNvSpPr txBox="1"/>
          <p:nvPr/>
        </p:nvSpPr>
        <p:spPr>
          <a:xfrm>
            <a:off x="68580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是否仍需上调</a:t>
            </a:r>
            <a:endParaRPr lang="en-US" sz="1100" dirty="0"/>
          </a:p>
        </p:txBody>
      </p:sp>
      <p:sp>
        <p:nvSpPr>
          <p:cNvPr id="15" name="card-151"/>
          <p:cNvSpPr/>
          <p:nvPr/>
        </p:nvSpPr>
        <p:spPr>
          <a:xfrm>
            <a:off x="6583680" y="1417320"/>
            <a:ext cx="505663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52"/>
          <p:cNvSpPr txBox="1"/>
          <p:nvPr/>
        </p:nvSpPr>
        <p:spPr>
          <a:xfrm>
            <a:off x="68122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一致性条件</a:t>
            </a:r>
            <a:endParaRPr lang="en-US" sz="1700" dirty="0"/>
          </a:p>
        </p:txBody>
      </p:sp>
      <p:sp>
        <p:nvSpPr>
          <p:cNvPr id="17" name="text-153"/>
          <p:cNvSpPr txBox="1"/>
          <p:nvPr/>
        </p:nvSpPr>
        <p:spPr>
          <a:xfrm>
            <a:off x="6812280" y="196596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任何角色凭已知数据，再加上自己可见字段中的少数几个（不超过 3 个），都不能把高于其权限的敏感目标推断到泄露线以上。</a:t>
            </a:r>
            <a:endParaRPr lang="en-US" sz="1400" dirty="0"/>
          </a:p>
        </p:txBody>
      </p:sp>
      <p:sp>
        <p:nvSpPr>
          <p:cNvPr id="18" name="text-154"/>
          <p:cNvSpPr txBox="1"/>
          <p:nvPr/>
        </p:nvSpPr>
        <p:spPr>
          <a:xfrm>
            <a:off x="6812280" y="3108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泄露线由该目标的数据主管部门给出，建议初值 0.7</a:t>
            </a:r>
            <a:endParaRPr lang="en-US" sz="1200" dirty="0"/>
          </a:p>
        </p:txBody>
      </p:sp>
      <p:sp>
        <p:nvSpPr>
          <p:cNvPr id="19" name="card-155"/>
          <p:cNvSpPr/>
          <p:nvPr/>
        </p:nvSpPr>
        <p:spPr>
          <a:xfrm>
            <a:off x="6583680" y="3749040"/>
            <a:ext cx="5056632" cy="23774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-156"/>
          <p:cNvSpPr txBox="1"/>
          <p:nvPr/>
        </p:nvSpPr>
        <p:spPr>
          <a:xfrm>
            <a:off x="68122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优化目标（最小口径）</a:t>
            </a:r>
            <a:endParaRPr lang="en-US" sz="1700" dirty="0"/>
          </a:p>
        </p:txBody>
      </p:sp>
      <p:sp>
        <p:nvSpPr>
          <p:cNvPr id="21" name="text-157"/>
          <p:cNvSpPr txBox="1"/>
          <p:nvPr/>
        </p:nvSpPr>
        <p:spPr>
          <a:xfrm>
            <a:off x="6812280" y="4315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在满足一致性的前提下，使上调的总量最少。</a:t>
            </a:r>
            <a:endParaRPr lang="en-US" sz="1400" dirty="0"/>
          </a:p>
        </p:txBody>
      </p:sp>
      <p:sp>
        <p:nvSpPr>
          <p:cNvPr id="22" name="chip-158"/>
          <p:cNvSpPr/>
          <p:nvPr/>
        </p:nvSpPr>
        <p:spPr>
          <a:xfrm>
            <a:off x="6812280" y="493776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从严性</a:t>
            </a:r>
            <a:endParaRPr lang="en-US" sz="1200" dirty="0"/>
          </a:p>
        </p:txBody>
      </p:sp>
      <p:sp>
        <p:nvSpPr>
          <p:cNvPr id="23" name="text-159"/>
          <p:cNvSpPr txBox="1"/>
          <p:nvPr/>
        </p:nvSpPr>
        <p:spPr>
          <a:xfrm>
            <a:off x="7863840" y="49377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所有越线的组合都要消除</a:t>
            </a:r>
            <a:endParaRPr lang="en-US" sz="1300" dirty="0"/>
          </a:p>
        </p:txBody>
      </p:sp>
      <p:sp>
        <p:nvSpPr>
          <p:cNvPr id="24" name="chip-160"/>
          <p:cNvSpPr/>
          <p:nvPr/>
        </p:nvSpPr>
        <p:spPr>
          <a:xfrm>
            <a:off x="6812280" y="539496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合理性</a:t>
            </a:r>
            <a:endParaRPr lang="en-US" sz="1200" dirty="0"/>
          </a:p>
        </p:txBody>
      </p:sp>
      <p:sp>
        <p:nvSpPr>
          <p:cNvPr id="25" name="text-161"/>
          <p:cNvSpPr txBox="1"/>
          <p:nvPr/>
        </p:nvSpPr>
        <p:spPr>
          <a:xfrm>
            <a:off x="7863840" y="5394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结合保护成本，避免过度定级</a:t>
            </a:r>
            <a:endParaRPr lang="en-US" sz="1300" dirty="0"/>
          </a:p>
        </p:txBody>
      </p:sp>
      <p:sp>
        <p:nvSpPr>
          <p:cNvPr id="26" name="text-162"/>
          <p:cNvSpPr txBox="1"/>
          <p:nvPr/>
        </p:nvSpPr>
        <p:spPr>
          <a:xfrm>
            <a:off x="6812280" y="5779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两条都来自分级手册的分级原则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阶段三 ②：示例——只调必要的字段</a:t>
            </a:r>
            <a:endParaRPr lang="en-US" sz="2800" dirty="0"/>
          </a:p>
        </p:txBody>
      </p:sp>
      <p:sp>
        <p:nvSpPr>
          <p:cNvPr id="3" name="text-163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示意数字，非实测。目标 y 为 3 级，泄露线 0.7；公众可见 1 级字段，协议接收方可见 ≤2 级字段；P 为法定公开的出清电价。</a:t>
            </a:r>
            <a:endParaRPr lang="en-US" sz="1200" dirty="0"/>
          </a:p>
        </p:txBody>
      </p:sp>
      <p:graphicFrame>
        <p:nvGraphicFramePr>
          <p:cNvPr id="12" name="table-1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223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1280160"/>
                <a:gridCol w="274320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字段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规则等级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</a:t>
                      </a:r>
                      <a:pPr algn="ctr" indent="0" marL="0">
                        <a:buNone/>
                      </a:pPr>
                      <a:r>
                        <a:rPr lang="en-US" sz="1300" b="1" baseline="30000" dirty="0">
                          <a:solidFill>
                            <a:schemeClr val="bg1"/>
                          </a:solidFill>
                        </a:rPr>
                        <a:t>(0)</a:t>
                      </a:r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 → M</a:t>
                      </a:r>
                      <a:pPr algn="ctr" indent="0" marL="0">
                        <a:buNone/>
                      </a:pPr>
                      <a:r>
                        <a:rPr lang="en-US" sz="1300" b="1" baseline="30000" dirty="0">
                          <a:solidFill>
                            <a:schemeClr val="bg1"/>
                          </a:solidFill>
                        </a:rPr>
                        <a:t>(2)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参与的越线组合及其推断精度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建议等级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 出清电价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在公开基底内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1（锁定）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0.35 → 0.68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{A,B} 0.78  {A,C} 0.74  {A,D} 0.80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 → 0.42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{A,B} 0.78  {B,C,D} 0.72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0.04 → 0.42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{A,C} 0.74  {B,C,D} 0.72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0.02 → 0.37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{A,D} 0.80  {B,C,D} 0.72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5" name="num-165"/>
          <p:cNvSpPr/>
          <p:nvPr/>
        </p:nvSpPr>
        <p:spPr>
          <a:xfrm>
            <a:off x="8092440" y="1783080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166"/>
          <p:cNvSpPr txBox="1"/>
          <p:nvPr/>
        </p:nvSpPr>
        <p:spPr>
          <a:xfrm>
            <a:off x="8641080" y="1764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先调风险最大的 A</a:t>
            </a:r>
            <a:endParaRPr lang="en-US" sz="1400" dirty="0"/>
          </a:p>
        </p:txBody>
      </p:sp>
      <p:sp>
        <p:nvSpPr>
          <p:cNvPr id="7" name="text-167"/>
          <p:cNvSpPr txBox="1"/>
          <p:nvPr/>
        </p:nvSpPr>
        <p:spPr>
          <a:xfrm>
            <a:off x="8641080" y="20848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到 2 级后公众已拿不到，但协议接收方仍可用 {A,B}，继续调到 3 级</a:t>
            </a:r>
            <a:endParaRPr lang="en-US" sz="1200" dirty="0"/>
          </a:p>
        </p:txBody>
      </p:sp>
      <p:sp>
        <p:nvSpPr>
          <p:cNvPr id="8" name="num-168"/>
          <p:cNvSpPr/>
          <p:nvPr/>
        </p:nvSpPr>
        <p:spPr>
          <a:xfrm>
            <a:off x="8092440" y="2770632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169"/>
          <p:cNvSpPr txBox="1"/>
          <p:nvPr/>
        </p:nvSpPr>
        <p:spPr>
          <a:xfrm>
            <a:off x="8641080" y="27523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重算</a:t>
            </a:r>
            <a:endParaRPr lang="en-US" sz="1400" dirty="0"/>
          </a:p>
        </p:txBody>
      </p:sp>
      <p:sp>
        <p:nvSpPr>
          <p:cNvPr id="10" name="text-170"/>
          <p:cNvSpPr txBox="1"/>
          <p:nvPr/>
        </p:nvSpPr>
        <p:spPr>
          <a:xfrm>
            <a:off x="8641080" y="30723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协议接收方手里还剩 {B,C,D} 越线；调 D 一级即可，比调 B 或 C 两级代价小</a:t>
            </a:r>
            <a:endParaRPr lang="en-US" sz="1200" dirty="0"/>
          </a:p>
        </p:txBody>
      </p:sp>
      <p:sp>
        <p:nvSpPr>
          <p:cNvPr id="11" name="num-171"/>
          <p:cNvSpPr/>
          <p:nvPr/>
        </p:nvSpPr>
        <p:spPr>
          <a:xfrm>
            <a:off x="8092440" y="3758184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-172"/>
          <p:cNvSpPr txBox="1"/>
          <p:nvPr/>
        </p:nvSpPr>
        <p:spPr>
          <a:xfrm>
            <a:off x="8641080" y="37398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再重算</a:t>
            </a:r>
            <a:endParaRPr lang="en-US" sz="1400" dirty="0"/>
          </a:p>
        </p:txBody>
      </p:sp>
      <p:sp>
        <p:nvSpPr>
          <p:cNvPr id="13" name="text-173"/>
          <p:cNvSpPr txBox="1"/>
          <p:nvPr/>
        </p:nvSpPr>
        <p:spPr>
          <a:xfrm>
            <a:off x="8641080" y="40599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各角色可见范围内已无越线组合，结束</a:t>
            </a:r>
            <a:endParaRPr lang="en-US" sz="1200" dirty="0"/>
          </a:p>
        </p:txBody>
      </p:sp>
      <p:sp>
        <p:nvSpPr>
          <p:cNvPr id="14" name="card-174"/>
          <p:cNvSpPr/>
          <p:nvPr/>
        </p:nvSpPr>
        <p:spPr>
          <a:xfrm>
            <a:off x="548640" y="4846320"/>
            <a:ext cx="5394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-175"/>
          <p:cNvSpPr txBox="1"/>
          <p:nvPr/>
        </p:nvSpPr>
        <p:spPr>
          <a:xfrm>
            <a:off x="777240" y="48463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B6577"/>
                </a:solidFill>
              </a:rPr>
              <a:t>7 级次</a:t>
            </a:r>
            <a:endParaRPr lang="en-US" sz="3200" dirty="0"/>
          </a:p>
        </p:txBody>
      </p:sp>
      <p:sp>
        <p:nvSpPr>
          <p:cNvPr id="16" name="text-176"/>
          <p:cNvSpPr txBox="1"/>
          <p:nvPr/>
        </p:nvSpPr>
        <p:spPr>
          <a:xfrm>
            <a:off x="2743200" y="4846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若凡参与越线组合的字段都取目标级别：A、B、C、D 全部上调</a:t>
            </a:r>
            <a:endParaRPr lang="en-US" sz="1300" dirty="0"/>
          </a:p>
        </p:txBody>
      </p:sp>
      <p:sp>
        <p:nvSpPr>
          <p:cNvPr id="17" name="card-177"/>
          <p:cNvSpPr/>
          <p:nvPr/>
        </p:nvSpPr>
        <p:spPr>
          <a:xfrm>
            <a:off x="6245352" y="4846320"/>
            <a:ext cx="5394960" cy="1325880"/>
          </a:xfrm>
          <a:prstGeom prst="roundRect">
            <a:avLst>
              <a:gd name="adj" fmla="val 55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-178"/>
          <p:cNvSpPr txBox="1"/>
          <p:nvPr/>
        </p:nvSpPr>
        <p:spPr>
          <a:xfrm>
            <a:off x="6473952" y="48463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 级次</a:t>
            </a:r>
            <a:endParaRPr lang="en-US" sz="3200" dirty="0"/>
          </a:p>
        </p:txBody>
      </p:sp>
      <p:sp>
        <p:nvSpPr>
          <p:cNvPr id="19" name="text-179"/>
          <p:cNvSpPr txBox="1"/>
          <p:nvPr/>
        </p:nvSpPr>
        <p:spPr>
          <a:xfrm>
            <a:off x="8439912" y="48463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最小口径：只上调 A、D，其余组合自然失效，B、C 保持 1 级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阶段三 ③：用师兄的 GRPO 求解，南网规则作硬约束</a:t>
            </a:r>
            <a:endParaRPr lang="en-US" sz="2800" dirty="0"/>
          </a:p>
        </p:txBody>
      </p:sp>
      <p:sp>
        <p:nvSpPr>
          <p:cNvPr id="3" name="card-180"/>
          <p:cNvSpPr/>
          <p:nvPr/>
        </p:nvSpPr>
        <p:spPr>
          <a:xfrm>
            <a:off x="548640" y="1463040"/>
            <a:ext cx="2587752" cy="201168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-181"/>
          <p:cNvSpPr txBox="1"/>
          <p:nvPr/>
        </p:nvSpPr>
        <p:spPr>
          <a:xfrm>
            <a:off x="73152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状态</a:t>
            </a:r>
            <a:endParaRPr lang="en-US" sz="1700" dirty="0"/>
          </a:p>
        </p:txBody>
      </p:sp>
      <p:sp>
        <p:nvSpPr>
          <p:cNvPr id="5" name="text-182"/>
          <p:cNvSpPr txBox="1"/>
          <p:nvPr/>
        </p:nvSpPr>
        <p:spPr>
          <a:xfrm>
            <a:off x="731520" y="2011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每个字段的当前等级、规则等级、M</a:t>
            </a:r>
            <a:pPr algn="l" indent="0" marL="0">
              <a:buNone/>
            </a:pPr>
            <a:r>
              <a:rPr lang="en-US" sz="1300" baseline="30000" dirty="0">
                <a:solidFill>
                  <a:schemeClr val="tx1"/>
                </a:solidFill>
              </a:rPr>
              <a:t>(0)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、M</a:t>
            </a:r>
            <a:pPr algn="l" indent="0" marL="0">
              <a:buNone/>
            </a:pPr>
            <a:r>
              <a:rPr lang="en-US" sz="1300" baseline="30000" dirty="0">
                <a:solidFill>
                  <a:schemeClr val="tx1"/>
                </a:solidFill>
              </a:rPr>
              <a:t>(K)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、Γ</a:t>
            </a:r>
            <a:pPr algn="l" indent="0" marL="0">
              <a:buNone/>
            </a:pPr>
            <a:r>
              <a:rPr lang="en-US" sz="1300" baseline="30000" dirty="0">
                <a:solidFill>
                  <a:schemeClr val="tx1"/>
                </a:solidFill>
              </a:rPr>
              <a:t>(K)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、上调代价；剩余越线数</a:t>
            </a:r>
            <a:endParaRPr lang="en-US" sz="1300" dirty="0"/>
          </a:p>
        </p:txBody>
      </p:sp>
      <p:sp>
        <p:nvSpPr>
          <p:cNvPr id="6" name="arrow-183"/>
          <p:cNvSpPr/>
          <p:nvPr/>
        </p:nvSpPr>
        <p:spPr>
          <a:xfrm>
            <a:off x="3163824" y="2468880"/>
            <a:ext cx="192024" cy="0"/>
          </a:xfrm>
          <a:prstGeom prst="line">
            <a:avLst/>
          </a:prstGeom>
          <a:noFill/>
          <a:ln w="22225">
            <a:solidFill>
              <a:srgbClr val="12284C"/>
            </a:solidFill>
            <a:prstDash val="solid"/>
            <a:tailEnd type="triangle"/>
          </a:ln>
        </p:spPr>
      </p:sp>
      <p:sp>
        <p:nvSpPr>
          <p:cNvPr id="7" name="card-184"/>
          <p:cNvSpPr/>
          <p:nvPr/>
        </p:nvSpPr>
        <p:spPr>
          <a:xfrm>
            <a:off x="3383280" y="1463040"/>
            <a:ext cx="2587752" cy="2011680"/>
          </a:xfrm>
          <a:prstGeom prst="roundRect">
            <a:avLst>
              <a:gd name="adj" fmla="val 363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185"/>
          <p:cNvSpPr txBox="1"/>
          <p:nvPr/>
        </p:nvSpPr>
        <p:spPr>
          <a:xfrm>
            <a:off x="356616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动作</a:t>
            </a:r>
            <a:endParaRPr lang="en-US" sz="1700" dirty="0"/>
          </a:p>
        </p:txBody>
      </p:sp>
      <p:sp>
        <p:nvSpPr>
          <p:cNvPr id="9" name="text-186"/>
          <p:cNvSpPr txBox="1"/>
          <p:nvPr/>
        </p:nvSpPr>
        <p:spPr>
          <a:xfrm>
            <a:off x="3566160" y="2011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把某个字段上调一级，或结束</a:t>
            </a:r>
            <a:endParaRPr lang="en-US" sz="1300" dirty="0"/>
          </a:p>
        </p:txBody>
      </p:sp>
      <p:sp>
        <p:nvSpPr>
          <p:cNvPr id="10" name="arrow-187"/>
          <p:cNvSpPr/>
          <p:nvPr/>
        </p:nvSpPr>
        <p:spPr>
          <a:xfrm>
            <a:off x="5998464" y="2468880"/>
            <a:ext cx="192024" cy="0"/>
          </a:xfrm>
          <a:prstGeom prst="line">
            <a:avLst/>
          </a:prstGeom>
          <a:noFill/>
          <a:ln w="22225">
            <a:solidFill>
              <a:srgbClr val="12284C"/>
            </a:solidFill>
            <a:prstDash val="solid"/>
            <a:tailEnd type="triangle"/>
          </a:ln>
        </p:spPr>
      </p:sp>
      <p:sp>
        <p:nvSpPr>
          <p:cNvPr id="11" name="card-188"/>
          <p:cNvSpPr/>
          <p:nvPr/>
        </p:nvSpPr>
        <p:spPr>
          <a:xfrm>
            <a:off x="6217920" y="1463040"/>
            <a:ext cx="2587752" cy="201168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-189"/>
          <p:cNvSpPr txBox="1"/>
          <p:nvPr/>
        </p:nvSpPr>
        <p:spPr>
          <a:xfrm>
            <a:off x="640080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环境</a:t>
            </a:r>
            <a:endParaRPr lang="en-US" sz="1700" dirty="0"/>
          </a:p>
        </p:txBody>
      </p:sp>
      <p:sp>
        <p:nvSpPr>
          <p:cNvPr id="13" name="text-190"/>
          <p:cNvSpPr txBox="1"/>
          <p:nvPr/>
        </p:nvSpPr>
        <p:spPr>
          <a:xfrm>
            <a:off x="6400800" y="2011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更新可见范围与背景池，重算受影响组合的风险</a:t>
            </a:r>
            <a:endParaRPr lang="en-US" sz="1300" dirty="0"/>
          </a:p>
        </p:txBody>
      </p:sp>
      <p:sp>
        <p:nvSpPr>
          <p:cNvPr id="14" name="arrow-191"/>
          <p:cNvSpPr/>
          <p:nvPr/>
        </p:nvSpPr>
        <p:spPr>
          <a:xfrm>
            <a:off x="8833104" y="2468880"/>
            <a:ext cx="192024" cy="0"/>
          </a:xfrm>
          <a:prstGeom prst="line">
            <a:avLst/>
          </a:prstGeom>
          <a:noFill/>
          <a:ln w="22225">
            <a:solidFill>
              <a:srgbClr val="12284C"/>
            </a:solidFill>
            <a:prstDash val="solid"/>
            <a:tailEnd type="triangle"/>
          </a:ln>
        </p:spPr>
      </p:sp>
      <p:sp>
        <p:nvSpPr>
          <p:cNvPr id="15" name="card-192"/>
          <p:cNvSpPr/>
          <p:nvPr/>
        </p:nvSpPr>
        <p:spPr>
          <a:xfrm>
            <a:off x="9052560" y="1463040"/>
            <a:ext cx="2587752" cy="2011680"/>
          </a:xfrm>
          <a:prstGeom prst="roundRect">
            <a:avLst>
              <a:gd name="adj" fmla="val 363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-193"/>
          <p:cNvSpPr txBox="1"/>
          <p:nvPr/>
        </p:nvSpPr>
        <p:spPr>
          <a:xfrm>
            <a:off x="923544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奖励</a:t>
            </a:r>
            <a:endParaRPr lang="en-US" sz="1700" dirty="0"/>
          </a:p>
        </p:txBody>
      </p:sp>
      <p:sp>
        <p:nvSpPr>
          <p:cNvPr id="17" name="text-194"/>
          <p:cNvSpPr txBox="1"/>
          <p:nvPr/>
        </p:nvSpPr>
        <p:spPr>
          <a:xfrm>
            <a:off x="9235440" y="2011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越线风险的减少 − 上调代价；达到一致时给终止奖励</a:t>
            </a:r>
            <a:endParaRPr lang="en-US" sz="1300" dirty="0"/>
          </a:p>
        </p:txBody>
      </p:sp>
      <p:sp>
        <p:nvSpPr>
          <p:cNvPr id="18" name="card-195"/>
          <p:cNvSpPr/>
          <p:nvPr/>
        </p:nvSpPr>
        <p:spPr>
          <a:xfrm>
            <a:off x="548640" y="3703320"/>
            <a:ext cx="5394960" cy="2468880"/>
          </a:xfrm>
          <a:prstGeom prst="roundRect">
            <a:avLst>
              <a:gd name="adj" fmla="val 296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-196"/>
          <p:cNvSpPr txBox="1"/>
          <p:nvPr/>
        </p:nvSpPr>
        <p:spPr>
          <a:xfrm>
            <a:off x="77724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硬约束（不进奖励，直接限制可选动作）</a:t>
            </a:r>
            <a:endParaRPr lang="en-US" sz="1500" dirty="0"/>
          </a:p>
        </p:txBody>
      </p:sp>
      <p:sp>
        <p:nvSpPr>
          <p:cNvPr id="20" name="text-197"/>
          <p:cNvSpPr txBox="1"/>
          <p:nvPr/>
        </p:nvSpPr>
        <p:spPr>
          <a:xfrm>
            <a:off x="777240" y="4251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等级不低于南网规则等级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法定公开字段不可调整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算法最高给到 3 级；涉及重要、核心数据只出申报建议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上调不超过所涉目标的级别</a:t>
            </a:r>
            <a:endParaRPr lang="en-US" sz="1300" dirty="0"/>
          </a:p>
        </p:txBody>
      </p:sp>
      <p:sp>
        <p:nvSpPr>
          <p:cNvPr id="21" name="card-198"/>
          <p:cNvSpPr/>
          <p:nvPr/>
        </p:nvSpPr>
        <p:spPr>
          <a:xfrm>
            <a:off x="6245352" y="3703320"/>
            <a:ext cx="53949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-199"/>
          <p:cNvSpPr txBox="1"/>
          <p:nvPr/>
        </p:nvSpPr>
        <p:spPr>
          <a:xfrm>
            <a:off x="6473952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相对师兄原设定的变化</a:t>
            </a:r>
            <a:endParaRPr lang="en-US" sz="1500" dirty="0"/>
          </a:p>
        </p:txBody>
      </p:sp>
      <p:sp>
        <p:nvSpPr>
          <p:cNvPr id="23" name="text-200"/>
          <p:cNvSpPr txBox="1"/>
          <p:nvPr/>
        </p:nvSpPr>
        <p:spPr>
          <a:xfrm>
            <a:off x="6473952" y="42519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风险输入：max MIC 换成 M(K)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状态会随动作变化，成为真正的序列决策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合规由罚项改为硬约束；四级改为五级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算法本身（组内相对优势、KL 约束、熵正则）不变</a:t>
            </a:r>
            <a:endParaRPr lang="en-US" sz="1300" dirty="0"/>
          </a:p>
        </p:txBody>
      </p:sp>
      <p:sp>
        <p:nvSpPr>
          <p:cNvPr id="24" name="text-201"/>
          <p:cNvSpPr txBox="1"/>
          <p:nvPr/>
        </p:nvSpPr>
        <p:spPr>
          <a:xfrm>
            <a:off x="6473952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对比基线：贪心（每次上调“消除风险 ÷ 代价”最大的字段）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阶段四：审批固化，事件触发复评</a:t>
            </a:r>
            <a:endParaRPr lang="en-US" sz="2800" dirty="0"/>
          </a:p>
        </p:txBody>
      </p:sp>
      <p:sp>
        <p:nvSpPr>
          <p:cNvPr id="3" name="card-202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03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输出进入南网流程</a:t>
            </a:r>
            <a:endParaRPr lang="en-US" sz="1700" dirty="0"/>
          </a:p>
        </p:txBody>
      </p:sp>
      <p:sp>
        <p:nvSpPr>
          <p:cNvPr id="5" name="text-204"/>
          <p:cNvSpPr txBox="1"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建议等级 + 推断证据 → 审批 → 固化到数据目录</a:t>
            </a:r>
            <a:endParaRPr lang="en-US" sz="1400" dirty="0"/>
          </a:p>
        </p:txBody>
      </p:sp>
      <p:sp>
        <p:nvSpPr>
          <p:cNvPr id="6" name="text-205"/>
          <p:cNvSpPr txBox="1"/>
          <p:nvPr/>
        </p:nvSpPr>
        <p:spPr>
          <a:xfrm>
            <a:off x="77724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数据目录建议新增的列</a:t>
            </a:r>
            <a:endParaRPr lang="en-US" sz="1400" dirty="0"/>
          </a:p>
        </p:txBody>
      </p:sp>
      <p:sp>
        <p:nvSpPr>
          <p:cNvPr id="7" name="chip-206"/>
          <p:cNvSpPr/>
          <p:nvPr/>
        </p:nvSpPr>
        <p:spPr>
          <a:xfrm>
            <a:off x="777240" y="30175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规则等级</a:t>
            </a:r>
            <a:endParaRPr lang="en-US" sz="1200" dirty="0"/>
          </a:p>
        </p:txBody>
      </p:sp>
      <p:sp>
        <p:nvSpPr>
          <p:cNvPr id="8" name="chip-207"/>
          <p:cNvSpPr/>
          <p:nvPr/>
        </p:nvSpPr>
        <p:spPr>
          <a:xfrm>
            <a:off x="3291840" y="30175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建议等级</a:t>
            </a:r>
            <a:endParaRPr lang="en-US" sz="1200" dirty="0"/>
          </a:p>
        </p:txBody>
      </p:sp>
      <p:sp>
        <p:nvSpPr>
          <p:cNvPr id="9" name="chip-208"/>
          <p:cNvSpPr/>
          <p:nvPr/>
        </p:nvSpPr>
        <p:spPr>
          <a:xfrm>
            <a:off x="777240" y="34747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上调原因</a:t>
            </a:r>
            <a:endParaRPr lang="en-US" sz="1200" dirty="0"/>
          </a:p>
        </p:txBody>
      </p:sp>
      <p:sp>
        <p:nvSpPr>
          <p:cNvPr id="10" name="chip-209"/>
          <p:cNvSpPr/>
          <p:nvPr/>
        </p:nvSpPr>
        <p:spPr>
          <a:xfrm>
            <a:off x="3291840" y="34747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见证背景</a:t>
            </a:r>
            <a:endParaRPr lang="en-US" sz="1200" dirty="0"/>
          </a:p>
        </p:txBody>
      </p:sp>
      <p:sp>
        <p:nvSpPr>
          <p:cNvPr id="11" name="chip-210"/>
          <p:cNvSpPr/>
          <p:nvPr/>
        </p:nvSpPr>
        <p:spPr>
          <a:xfrm>
            <a:off x="777240" y="39319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可达精度</a:t>
            </a:r>
            <a:endParaRPr lang="en-US" sz="1200" dirty="0"/>
          </a:p>
        </p:txBody>
      </p:sp>
      <p:sp>
        <p:nvSpPr>
          <p:cNvPr id="12" name="chip-211"/>
          <p:cNvSpPr/>
          <p:nvPr/>
        </p:nvSpPr>
        <p:spPr>
          <a:xfrm>
            <a:off x="3291840" y="39319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适用角色与时点</a:t>
            </a:r>
            <a:endParaRPr lang="en-US" sz="1200" dirty="0"/>
          </a:p>
        </p:txBody>
      </p:sp>
      <p:sp>
        <p:nvSpPr>
          <p:cNvPr id="13" name="chip-212"/>
          <p:cNvSpPr/>
          <p:nvPr/>
        </p:nvSpPr>
        <p:spPr>
          <a:xfrm>
            <a:off x="777240" y="43891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复评条件</a:t>
            </a:r>
            <a:endParaRPr lang="en-US" sz="1200" dirty="0"/>
          </a:p>
        </p:txBody>
      </p:sp>
      <p:sp>
        <p:nvSpPr>
          <p:cNvPr id="14" name="chip-213"/>
          <p:cNvSpPr/>
          <p:nvPr/>
        </p:nvSpPr>
        <p:spPr>
          <a:xfrm>
            <a:off x="3291840" y="4389120"/>
            <a:ext cx="2331720" cy="347472"/>
          </a:xfrm>
          <a:prstGeom prst="roundRect">
            <a:avLst>
              <a:gd name="adj" fmla="val 4473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审批结论</a:t>
            </a:r>
            <a:endParaRPr lang="en-US" sz="1200" dirty="0"/>
          </a:p>
        </p:txBody>
      </p:sp>
      <p:sp>
        <p:nvSpPr>
          <p:cNvPr id="15" name="text-214"/>
          <p:cNvSpPr txBox="1"/>
          <p:nvPr/>
        </p:nvSpPr>
        <p:spPr>
          <a:xfrm>
            <a:off x="77724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证据同时可用于风险评估手册第 382、330、351、239 项的评估意见</a:t>
            </a:r>
            <a:endParaRPr lang="en-US" sz="1200" dirty="0"/>
          </a:p>
        </p:txBody>
      </p:sp>
      <p:sp>
        <p:nvSpPr>
          <p:cNvPr id="16" name="text-215"/>
          <p:cNvSpPr txBox="1"/>
          <p:nvPr/>
        </p:nvSpPr>
        <p:spPr>
          <a:xfrm>
            <a:off x="6245352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什么时候复评</a:t>
            </a:r>
            <a:endParaRPr lang="en-US" sz="1700" dirty="0"/>
          </a:p>
        </p:txBody>
      </p:sp>
      <p:sp>
        <p:nvSpPr>
          <p:cNvPr id="17" name="num-216"/>
          <p:cNvSpPr/>
          <p:nvPr/>
        </p:nvSpPr>
        <p:spPr>
          <a:xfrm>
            <a:off x="6245352" y="2011680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-217"/>
          <p:cNvSpPr txBox="1"/>
          <p:nvPr/>
        </p:nvSpPr>
        <p:spPr>
          <a:xfrm>
            <a:off x="6812280" y="1984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分级手册附录 E 的场景</a:t>
            </a:r>
            <a:endParaRPr lang="en-US" sz="1400" dirty="0"/>
          </a:p>
        </p:txBody>
      </p:sp>
      <p:sp>
        <p:nvSpPr>
          <p:cNvPr id="19" name="text-218"/>
          <p:cNvSpPr txBox="1"/>
          <p:nvPr/>
        </p:nvSpPr>
        <p:spPr>
          <a:xfrm>
            <a:off x="6812280" y="23134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体量变化、聚合合并、时效变化、脱敏、加工、安全事件</a:t>
            </a:r>
            <a:endParaRPr lang="en-US" sz="1200" dirty="0"/>
          </a:p>
        </p:txBody>
      </p:sp>
      <p:sp>
        <p:nvSpPr>
          <p:cNvPr id="20" name="num-219"/>
          <p:cNvSpPr/>
          <p:nvPr/>
        </p:nvSpPr>
        <p:spPr>
          <a:xfrm>
            <a:off x="6245352" y="2944368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-220"/>
          <p:cNvSpPr txBox="1"/>
          <p:nvPr/>
        </p:nvSpPr>
        <p:spPr>
          <a:xfrm>
            <a:off x="6812280" y="2916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新批次开放或字段转为公开</a:t>
            </a:r>
            <a:endParaRPr lang="en-US" sz="1400" dirty="0"/>
          </a:p>
        </p:txBody>
      </p:sp>
      <p:sp>
        <p:nvSpPr>
          <p:cNvPr id="22" name="text-221"/>
          <p:cNvSpPr txBox="1"/>
          <p:nvPr/>
        </p:nvSpPr>
        <p:spPr>
          <a:xfrm>
            <a:off x="681228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已知数据变多，其余字段的风险可能上升</a:t>
            </a:r>
            <a:endParaRPr lang="en-US" sz="1200" dirty="0"/>
          </a:p>
        </p:txBody>
      </p:sp>
      <p:sp>
        <p:nvSpPr>
          <p:cNvPr id="23" name="num-222"/>
          <p:cNvSpPr/>
          <p:nvPr/>
        </p:nvSpPr>
        <p:spPr>
          <a:xfrm>
            <a:off x="6245352" y="3877056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-223"/>
          <p:cNvSpPr txBox="1"/>
          <p:nvPr/>
        </p:nvSpPr>
        <p:spPr>
          <a:xfrm>
            <a:off x="6812280" y="38496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披露时点到达</a:t>
            </a:r>
            <a:endParaRPr lang="en-US" sz="1400" dirty="0"/>
          </a:p>
        </p:txBody>
      </p:sp>
      <p:sp>
        <p:nvSpPr>
          <p:cNvPr id="25" name="text-224"/>
          <p:cNvSpPr txBox="1"/>
          <p:nvPr/>
        </p:nvSpPr>
        <p:spPr>
          <a:xfrm>
            <a:off x="6812280" y="4178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目标本身已公开，相应的上调可以解除</a:t>
            </a:r>
            <a:endParaRPr lang="en-US" sz="1200" dirty="0"/>
          </a:p>
        </p:txBody>
      </p:sp>
      <p:sp>
        <p:nvSpPr>
          <p:cNvPr id="26" name="num-225"/>
          <p:cNvSpPr/>
          <p:nvPr/>
        </p:nvSpPr>
        <p:spPr>
          <a:xfrm>
            <a:off x="6245352" y="4809744"/>
            <a:ext cx="411480" cy="4114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-226"/>
          <p:cNvSpPr txBox="1"/>
          <p:nvPr/>
        </p:nvSpPr>
        <p:spPr>
          <a:xfrm>
            <a:off x="6812280" y="4782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细则修订、历史数据累积</a:t>
            </a:r>
            <a:endParaRPr lang="en-US" sz="1400" dirty="0"/>
          </a:p>
        </p:txBody>
      </p:sp>
      <p:sp>
        <p:nvSpPr>
          <p:cNvPr id="28" name="text-227"/>
          <p:cNvSpPr txBox="1"/>
          <p:nvPr/>
        </p:nvSpPr>
        <p:spPr>
          <a:xfrm>
            <a:off x="6812280" y="51114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规则库、角色划分和推断能力都要更新</a:t>
            </a:r>
            <a:endParaRPr lang="en-US" sz="1200" dirty="0"/>
          </a:p>
        </p:txBody>
      </p:sp>
      <p:sp>
        <p:nvSpPr>
          <p:cNvPr id="29" name="card-228"/>
          <p:cNvSpPr/>
          <p:nvPr/>
        </p:nvSpPr>
        <p:spPr>
          <a:xfrm>
            <a:off x="6245352" y="5715000"/>
            <a:ext cx="53949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-229"/>
          <p:cNvSpPr txBox="1"/>
          <p:nvPr/>
        </p:nvSpPr>
        <p:spPr>
          <a:xfrm>
            <a:off x="6400800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复评从当前已审批的等级出发增量重算；算法不主动降级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每一步都对应南网条款</a:t>
            </a:r>
            <a:endParaRPr lang="en-US" sz="2800" dirty="0"/>
          </a:p>
        </p:txBody>
      </p:sp>
      <p:graphicFrame>
        <p:nvGraphicFramePr>
          <p:cNvPr id="15" name="table-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  <a:gridCol w="24963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体系步骤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南网条款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关系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分类、规则定级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分级手册 四(一)~(三)，表 4.1~4.4，附录 A~C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执行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场景标注（角色、时点）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披露细则 2.7、5.1~5.7；开放目录说明；注册细则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引用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推断风险识别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分级要素“深度”；附录 D、E；风险评估第 382、330、351、239 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把原则变成可计算的方法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取最坏背景 / 上调最少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分级原则“从严性” / “合理性”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执行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等级与可见范围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表 4.1~4.3 各级共享开放口径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引用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4、5 级只出申报建议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重要数据、核心数据须按主管部门要求识别申报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执行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审批、固化、复评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分级手册 四(四)(五)(七)，附录 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执行并具体化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-231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已处理的潜在冲突：四级改五级；算法不直接定级；不降低规则等级；不上调法定公开字段；等级不随运行工况逐时变化；泄露线由主管部门定。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现状与下一步</a:t>
            </a:r>
            <a:endParaRPr lang="en-US" sz="2800" dirty="0"/>
          </a:p>
        </p:txBody>
      </p:sp>
      <p:sp>
        <p:nvSpPr>
          <p:cNvPr id="3" name="card-232"/>
          <p:cNvSpPr/>
          <p:nvPr/>
        </p:nvSpPr>
        <p:spPr>
          <a:xfrm>
            <a:off x="548640" y="14630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D3763"/>
          </a:solidFill>
          <a:ln w="12700">
            <a:solidFill>
              <a:srgbClr val="1D3763"/>
            </a:solidFill>
            <a:prstDash val="solid"/>
          </a:ln>
        </p:spPr>
      </p:sp>
      <p:sp>
        <p:nvSpPr>
          <p:cNvPr id="4" name="chip-233"/>
          <p:cNvSpPr/>
          <p:nvPr/>
        </p:nvSpPr>
        <p:spPr>
          <a:xfrm>
            <a:off x="822960" y="1737360"/>
            <a:ext cx="1371600" cy="365760"/>
          </a:xfrm>
          <a:prstGeom prst="roundRect">
            <a:avLst>
              <a:gd name="adj" fmla="val 425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已完成</a:t>
            </a:r>
            <a:endParaRPr lang="en-US" sz="1200" dirty="0"/>
          </a:p>
        </p:txBody>
      </p:sp>
      <p:sp>
        <p:nvSpPr>
          <p:cNvPr id="5" name="text-234"/>
          <p:cNvSpPr txBox="1"/>
          <p:nvPr/>
        </p:nvSpPr>
        <p:spPr>
          <a:xfrm>
            <a:off x="822960" y="23774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南网 5 组文件梳理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师兄论文体系梳理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体系框架设计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推断风险量化方法（已在四个公开电力数据集验证）</a:t>
            </a:r>
            <a:endParaRPr lang="en-US" sz="1600" dirty="0"/>
          </a:p>
        </p:txBody>
      </p:sp>
      <p:sp>
        <p:nvSpPr>
          <p:cNvPr id="6" name="card-235"/>
          <p:cNvSpPr/>
          <p:nvPr/>
        </p:nvSpPr>
        <p:spPr>
          <a:xfrm>
            <a:off x="4306824" y="14630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D3763"/>
          </a:solidFill>
          <a:ln w="12700">
            <a:solidFill>
              <a:srgbClr val="1D3763"/>
            </a:solidFill>
            <a:prstDash val="solid"/>
          </a:ln>
        </p:spPr>
      </p:sp>
      <p:sp>
        <p:nvSpPr>
          <p:cNvPr id="7" name="chip-236"/>
          <p:cNvSpPr/>
          <p:nvPr/>
        </p:nvSpPr>
        <p:spPr>
          <a:xfrm>
            <a:off x="4581144" y="1737360"/>
            <a:ext cx="1371600" cy="365760"/>
          </a:xfrm>
          <a:prstGeom prst="roundRect">
            <a:avLst>
              <a:gd name="adj" fmla="val 425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8" name="text-237"/>
          <p:cNvSpPr txBox="1"/>
          <p:nvPr/>
        </p:nvSpPr>
        <p:spPr>
          <a:xfrm>
            <a:off x="4581144" y="23774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等级优化的验证实验：最小口径与全部上调的对比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贪心与 GRPO 的对比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用估计值做优化后的残余风险检查</a:t>
            </a:r>
            <a:endParaRPr lang="en-US" sz="1600" dirty="0"/>
          </a:p>
        </p:txBody>
      </p:sp>
      <p:sp>
        <p:nvSpPr>
          <p:cNvPr id="9" name="card-238"/>
          <p:cNvSpPr/>
          <p:nvPr/>
        </p:nvSpPr>
        <p:spPr>
          <a:xfrm>
            <a:off x="8065008" y="14630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D3763"/>
          </a:solidFill>
          <a:ln w="12700">
            <a:solidFill>
              <a:srgbClr val="1D3763"/>
            </a:solidFill>
            <a:prstDash val="solid"/>
          </a:ln>
        </p:spPr>
      </p:sp>
      <p:sp>
        <p:nvSpPr>
          <p:cNvPr id="10" name="chip-239"/>
          <p:cNvSpPr/>
          <p:nvPr/>
        </p:nvSpPr>
        <p:spPr>
          <a:xfrm>
            <a:off x="8339328" y="1737360"/>
            <a:ext cx="1371600" cy="365760"/>
          </a:xfrm>
          <a:prstGeom prst="roundRect">
            <a:avLst>
              <a:gd name="adj" fmla="val 42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需南网确认</a:t>
            </a:r>
            <a:endParaRPr lang="en-US" sz="1200" dirty="0"/>
          </a:p>
        </p:txBody>
      </p:sp>
      <p:sp>
        <p:nvSpPr>
          <p:cNvPr id="11" name="text-240"/>
          <p:cNvSpPr txBox="1"/>
          <p:nvPr/>
        </p:nvSpPr>
        <p:spPr>
          <a:xfrm>
            <a:off x="8339328" y="23774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敏感目标清单与各自的泄露线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接收方角色与可见层级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法定公开字段清单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试点范围与样本数据</a:t>
            </a:r>
            <a:endParaRPr lang="en-US" sz="1600" dirty="0"/>
          </a:p>
        </p:txBody>
      </p:sp>
      <p:sp>
        <p:nvSpPr>
          <p:cNvPr id="12" name="text-24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6CC"/>
                </a:solidFill>
              </a:rPr>
              <a:t>说明：研究数字来自公开或合成电力数据，尚未在南网数据上测试；等级优化为本框架新提出的做法，验证实验正在进行。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G-Grading">
  <a:themeElements>
    <a:clrScheme name="CSG-Grading">
      <a:dk1>
        <a:srgbClr val="1A2238"/>
      </a:dk1>
      <a:lt1>
        <a:srgbClr val="FFFFFF"/>
      </a:lt1>
      <a:dk2>
        <a:srgbClr val="12284C"/>
      </a:dk2>
      <a:lt2>
        <a:srgbClr val="F1F4F8"/>
      </a:lt2>
      <a:accent1>
        <a:srgbClr val="2A78D6"/>
      </a:accent1>
      <a:accent2>
        <a:srgbClr val="EB6834"/>
      </a:accent2>
      <a:accent3>
        <a:srgbClr val="1BAF7A"/>
      </a:accent3>
      <a:accent4>
        <a:srgbClr val="DBE8F9"/>
      </a:accent4>
      <a:accent5>
        <a:srgbClr val="FBE1D6"/>
      </a:accent5>
      <a:accent6>
        <a:srgbClr val="D3F0E4"/>
      </a:accent6>
      <a:hlink>
        <a:srgbClr val="2A78D6"/>
      </a:hlink>
      <a:folHlink>
        <a:srgbClr val="4A3AA7"/>
      </a:folHlink>
    </a:clrScheme>
    <a:fontScheme name="CSG-Grading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面向推断风险的电力数据分类分级体系框架</dc:title>
  <dc:subject>PptxGenJS Presentation</dc:subject>
  <dc:creator>项目组</dc:creator>
  <cp:lastModifiedBy>项目组</cp:lastModifiedBy>
  <cp:revision>1</cp:revision>
  <dcterms:created xsi:type="dcterms:W3CDTF">2026-10-07T13:12:31Z</dcterms:created>
  <dcterms:modified xsi:type="dcterms:W3CDTF">2026-10-07T13:12:31Z</dcterms:modified>
</cp:coreProperties>
</file>