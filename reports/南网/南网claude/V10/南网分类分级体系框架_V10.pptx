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南网的分类分级工作手册是本体系的基线。它规定了七步工作流程、八个分级要素，以及按影响对象和影响程度判定一到五级的方法。每一级数据还对应着共享开放的要求，后面的等级优化会用到这一点。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这一页列出体系依据的五份南网文件和各自的作用。后面的每一页都会用这里的简称标注对应条款。需要说明的是，这些文件目前是征求意见稿或审议稿。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行分级看的是数据本身泄露后的影响。但在开放共享场景下，几个等级不高的字段组合起来，可能推断出更高等级的数据。南网文件在五处提出了相关要求，但没有配套的计算方法和判定标准，这是本体系要补充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体系按课题任务书分为三部分：信息类型归纳与结构化处理、一次标定、二次标定，最后接南网的审批固化流程。中间一列是每一部分的产出，右侧是对应的南网依据。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这一页说明体系的输入、输出和约束。输入是南网规则文件、数据资产清单、样本数据和由主管部门确定的敏感目标。输出是分类分级清单、字段推断敏感度表、复核意见和更新记录。底部是四条约束。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对应任务书里的信息类型归纳和结构化处理。从业务流角度，按企业级业务架构分类到字段；从数据流角度，标注每个字段的披露层级和披露时点；规则文件和字段说明用大语言模型加检索增强解析成结构化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一次标定面向本体安全威胁，也就是数据本身泄露的后果。按影响对象、影响范围、影响程度做分析，查南网的判定矩阵得到一次等级。这一步完全执行南网现行规则。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次标定面向多源跨域融合推断威胁。分四步：先确定各类接收方已经掌握什么；再定义字段推断敏感度；然后计算并验证；最后按敏感度折算影响程度，查南网判定矩阵得到二次等级。每一步下面的灰框是它的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推断风险取决于接收方已经掌握的信息，所以先要构建推断场景。第一步按披露细则划分信息层级；第二步为每类接收方确定公开基底、背景池和背景预算；第三步按披露时点更新公开基底。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出字段推断敏感度的定义。左边是示意：用接收方已掌握的信息和若干背景字段训练推断模型，得到对敏感数据的推断精度；再加上待评估的字段，得到新的精度；两者之差就是这个字段在该背景下的推断增益。右边是定义：对所有不超过K个背景字段的组合取最大值，就是字段推断敏感度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字段推断敏感度可以作为字段级的度量，有三点依据：它衡量的是敏感数据实际能被推断到什么程度；它计入了接收方已有的信息；它对各种背景取最大值并落到单个字段上，得到一个可比较、可复核的数值。右边是一个实测算例：南澳的风电出力预测单独对某燃气机组出力的推断精度只有0.19，但在已掌握可用发电容量和光伏出力预测的情况下，可以把推断精度从0.20提高到0.80，推断敏感度为0.60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计算分三步。关联分析用来解释字段关系和排优先级。集合扫描用一个通用推断模型估计各字段组合的推断能力，得到每个字段的推断敏感度。对敏感度较高的字段再重训验证。产出是字段推断敏感度表。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二次标定的规则。把被推断数据的影响程度按字段推断敏感度折算：敏感度在0.7以上，影响程度与被推断数据相同；0.4到0.7降一档；0.1到0.4降两档；0.1以下不调整。然后用被推断数据的影响对象和折算后的影响程度查判定矩阵，与一次等级取高，得到二次等级。等级仍由南网的矩阵给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驱动模式用强化学习GRPO来确定影响程度折算几档。状态包括字段的一次等级、推断敏感度、被推断数据的影响对象和影响程度，以及字段的使用代价。动作是折算档位。折算后查判定矩阵得到候选等级。效用是安全收益减可用性成本：等级越高，剩余的推断风险越小，但使用代价越大。约束通过限制可选动作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连续的推断敏感度怎样经过GRPO变成等级。先由折算档位查判定矩阵得到几个候选等级，再对每个候选等级计算效用，取效用最大的。灰色部分是示例：字段A的敏感度是0.68，升到3级的效用最高；字段B是0.55，2级的效用最高；字段C只有0.08，保持1级。系数是示意取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示例。两个敏感数据都是3级。字段A对y1的推断敏感度是0.68，影响程度由一般降为轻微，公共利益乘轻微查表是3级，所以A的二次等级是3级。字段B对y2的敏感度是0.55，严重降为一般，其他组织乘一般是2级。字段C的敏感度都低于0.1，不调整。下面是据此生成的复核意见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第四部分执行南网的审批和固化流程。方法给出的是二次等级，定级结论以审批为准。数据目录增加八列，记录标定依据和证据。动态更新由事件触发，表中列出了四类触发事件及其依据。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最后用一张表小结：左边是课题任务书的要求，中间是体系里对应的部分，右边是南网依据。下方是与现行规定保持一致的几项处理。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10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10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1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2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3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4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5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6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南网电力数据分类分级体系框架</a:t>
            </a:r>
            <a:endParaRPr lang="en-US" sz="3400" dirty="0"/>
          </a:p>
        </p:txBody>
      </p:sp>
      <p:sp>
        <p:nvSpPr>
          <p:cNvPr id="8" name="text-7"/>
          <p:cNvSpPr txBox="1"/>
          <p:nvPr/>
        </p:nvSpPr>
        <p:spPr>
          <a:xfrm>
            <a:off x="1097280" y="3611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数据分类分级专题汇报</a:t>
            </a:r>
            <a:endParaRPr lang="en-US" sz="2200" dirty="0"/>
          </a:p>
        </p:txBody>
      </p:sp>
      <p:sp>
        <p:nvSpPr>
          <p:cNvPr id="9" name="text-8"/>
          <p:cNvSpPr txBox="1"/>
          <p:nvPr/>
        </p:nvSpPr>
        <p:spPr>
          <a:xfrm>
            <a:off x="1371600" y="470916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西安交通大学 网络空间学院</a:t>
            </a:r>
            <a:endParaRPr lang="en-US" sz="2400" dirty="0"/>
          </a:p>
        </p:txBody>
      </p:sp>
      <p:sp>
        <p:nvSpPr>
          <p:cNvPr id="10" name="text-9"/>
          <p:cNvSpPr txBox="1"/>
          <p:nvPr/>
        </p:nvSpPr>
        <p:spPr>
          <a:xfrm>
            <a:off x="1371600" y="525780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11" descr="/data1/duhaocun/projects/GNN_Aggresvation/reports/南网/南网claude/V10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12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3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6" name="text-14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15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6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17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8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9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20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21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22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23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4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5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南网数据分类分级要求</a:t>
            </a:r>
            <a:endParaRPr lang="en-US" sz="2400" dirty="0"/>
          </a:p>
        </p:txBody>
      </p:sp>
      <p:sp>
        <p:nvSpPr>
          <p:cNvPr id="5" name="box-26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27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《分类分级手册》按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将数据划分为 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1~5 级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，多因素时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就高不就低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；分类细化至数据字段，分级结果经审批后固化到数据目录，并随业务与数据变化动态更新。</a:t>
            </a:r>
            <a:endParaRPr lang="en-US" sz="1650" dirty="0"/>
          </a:p>
        </p:txBody>
      </p:sp>
      <p:sp>
        <p:nvSpPr>
          <p:cNvPr id="7" name="text-28"/>
          <p:cNvSpPr txBox="1"/>
          <p:nvPr/>
        </p:nvSpPr>
        <p:spPr>
          <a:xfrm>
            <a:off x="694944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工作流程（《分类分级手册》第四部分）</a:t>
            </a:r>
            <a:endParaRPr lang="en-US" sz="1400" dirty="0"/>
          </a:p>
        </p:txBody>
      </p:sp>
      <p:sp>
        <p:nvSpPr>
          <p:cNvPr id="8" name="chev-29"/>
          <p:cNvSpPr/>
          <p:nvPr/>
        </p:nvSpPr>
        <p:spPr>
          <a:xfrm>
            <a:off x="694944" y="2560320"/>
            <a:ext cx="1627632" cy="475488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数据资产梳理</a:t>
            </a:r>
            <a:endParaRPr lang="en-US" sz="1200" dirty="0"/>
          </a:p>
        </p:txBody>
      </p:sp>
      <p:sp>
        <p:nvSpPr>
          <p:cNvPr id="9" name="chev-30"/>
          <p:cNvSpPr/>
          <p:nvPr/>
        </p:nvSpPr>
        <p:spPr>
          <a:xfrm>
            <a:off x="224028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</a:t>
            </a:r>
            <a:endParaRPr lang="en-US" sz="1200" dirty="0"/>
          </a:p>
        </p:txBody>
      </p:sp>
      <p:sp>
        <p:nvSpPr>
          <p:cNvPr id="10" name="chev-31"/>
          <p:cNvSpPr/>
          <p:nvPr/>
        </p:nvSpPr>
        <p:spPr>
          <a:xfrm>
            <a:off x="3785616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数据分级</a:t>
            </a:r>
            <a:endParaRPr lang="en-US" sz="1200" dirty="0"/>
          </a:p>
        </p:txBody>
      </p:sp>
      <p:sp>
        <p:nvSpPr>
          <p:cNvPr id="11" name="chev-32"/>
          <p:cNvSpPr/>
          <p:nvPr/>
        </p:nvSpPr>
        <p:spPr>
          <a:xfrm>
            <a:off x="5330952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200" dirty="0"/>
          </a:p>
        </p:txBody>
      </p:sp>
      <p:sp>
        <p:nvSpPr>
          <p:cNvPr id="12" name="chev-33"/>
          <p:cNvSpPr/>
          <p:nvPr/>
        </p:nvSpPr>
        <p:spPr>
          <a:xfrm>
            <a:off x="6876288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结果固化</a:t>
            </a:r>
            <a:endParaRPr lang="en-US" sz="1200" dirty="0"/>
          </a:p>
        </p:txBody>
      </p:sp>
      <p:sp>
        <p:nvSpPr>
          <p:cNvPr id="13" name="chev-34"/>
          <p:cNvSpPr/>
          <p:nvPr/>
        </p:nvSpPr>
        <p:spPr>
          <a:xfrm>
            <a:off x="8421624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200" dirty="0"/>
          </a:p>
        </p:txBody>
      </p:sp>
      <p:sp>
        <p:nvSpPr>
          <p:cNvPr id="14" name="chev-35"/>
          <p:cNvSpPr/>
          <p:nvPr/>
        </p:nvSpPr>
        <p:spPr>
          <a:xfrm>
            <a:off x="996696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动态更新</a:t>
            </a:r>
            <a:endParaRPr lang="en-US" sz="1200" dirty="0"/>
          </a:p>
        </p:txBody>
      </p:sp>
      <p:sp>
        <p:nvSpPr>
          <p:cNvPr id="15" name="text-36"/>
          <p:cNvSpPr txBox="1"/>
          <p:nvPr/>
        </p:nvSpPr>
        <p:spPr>
          <a:xfrm>
            <a:off x="694944" y="3246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分级判定方法（《分类分级手册》四(三)、表 4.4）</a:t>
            </a:r>
            <a:endParaRPr lang="en-US" sz="1400" dirty="0"/>
          </a:p>
        </p:txBody>
      </p:sp>
      <p:sp>
        <p:nvSpPr>
          <p:cNvPr id="16" name="box-37"/>
          <p:cNvSpPr/>
          <p:nvPr/>
        </p:nvSpPr>
        <p:spPr>
          <a:xfrm>
            <a:off x="694944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分级要素（8 个）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领域、群体、区域、重要性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精度、规模、覆盖度、</a:t>
            </a:r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</a:t>
            </a:r>
            <a:endParaRPr lang="en-US" sz="1200" dirty="0"/>
          </a:p>
        </p:txBody>
      </p:sp>
      <p:sp>
        <p:nvSpPr>
          <p:cNvPr id="17" name="arr-38"/>
          <p:cNvSpPr/>
          <p:nvPr/>
        </p:nvSpPr>
        <p:spPr>
          <a:xfrm>
            <a:off x="3218688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8" name="box-39"/>
          <p:cNvSpPr/>
          <p:nvPr/>
        </p:nvSpPr>
        <p:spPr>
          <a:xfrm>
            <a:off x="3685032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经济运行、社会秩序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单位自身</a:t>
            </a:r>
            <a:endParaRPr lang="en-US" sz="1100" dirty="0"/>
          </a:p>
        </p:txBody>
      </p:sp>
      <p:sp>
        <p:nvSpPr>
          <p:cNvPr id="19" name="text-40"/>
          <p:cNvSpPr txBox="1"/>
          <p:nvPr/>
        </p:nvSpPr>
        <p:spPr>
          <a:xfrm>
            <a:off x="6172200" y="3977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box-41"/>
          <p:cNvSpPr/>
          <p:nvPr/>
        </p:nvSpPr>
        <p:spPr>
          <a:xfrm>
            <a:off x="6510528" y="3593592"/>
            <a:ext cx="182880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严重 / 特别严重</a:t>
            </a:r>
            <a:endParaRPr lang="en-US" sz="1200" dirty="0"/>
          </a:p>
        </p:txBody>
      </p:sp>
      <p:sp>
        <p:nvSpPr>
          <p:cNvPr id="21" name="arr-42"/>
          <p:cNvSpPr/>
          <p:nvPr/>
        </p:nvSpPr>
        <p:spPr>
          <a:xfrm>
            <a:off x="8394192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43"/>
          <p:cNvSpPr/>
          <p:nvPr/>
        </p:nvSpPr>
        <p:spPr>
          <a:xfrm>
            <a:off x="8869680" y="3593592"/>
            <a:ext cx="52578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23" name="box-44"/>
          <p:cNvSpPr/>
          <p:nvPr/>
        </p:nvSpPr>
        <p:spPr>
          <a:xfrm>
            <a:off x="9395460" y="3593592"/>
            <a:ext cx="52578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</a:t>
            </a:r>
            <a:endParaRPr lang="en-US" sz="1200" dirty="0"/>
          </a:p>
        </p:txBody>
      </p:sp>
      <p:sp>
        <p:nvSpPr>
          <p:cNvPr id="24" name="box-45"/>
          <p:cNvSpPr/>
          <p:nvPr/>
        </p:nvSpPr>
        <p:spPr>
          <a:xfrm>
            <a:off x="9921240" y="3593592"/>
            <a:ext cx="52578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</a:t>
            </a:r>
            <a:endParaRPr lang="en-US" sz="1200" dirty="0"/>
          </a:p>
        </p:txBody>
      </p:sp>
      <p:sp>
        <p:nvSpPr>
          <p:cNvPr id="25" name="box-46"/>
          <p:cNvSpPr/>
          <p:nvPr/>
        </p:nvSpPr>
        <p:spPr>
          <a:xfrm>
            <a:off x="10447020" y="3593592"/>
            <a:ext cx="5257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级</a:t>
            </a:r>
            <a:endParaRPr lang="en-US" sz="1200" dirty="0"/>
          </a:p>
        </p:txBody>
      </p:sp>
      <p:sp>
        <p:nvSpPr>
          <p:cNvPr id="26" name="box-47"/>
          <p:cNvSpPr/>
          <p:nvPr/>
        </p:nvSpPr>
        <p:spPr>
          <a:xfrm>
            <a:off x="10972800" y="3593592"/>
            <a:ext cx="5257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级</a:t>
            </a:r>
            <a:endParaRPr lang="en-US" sz="1200" dirty="0"/>
          </a:p>
        </p:txBody>
      </p:sp>
      <p:sp>
        <p:nvSpPr>
          <p:cNvPr id="27" name="box-48"/>
          <p:cNvSpPr/>
          <p:nvPr/>
        </p:nvSpPr>
        <p:spPr>
          <a:xfrm>
            <a:off x="8869680" y="4187952"/>
            <a:ext cx="15773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一般数据</a:t>
            </a:r>
            <a:endParaRPr lang="en-US" sz="1200" dirty="0"/>
          </a:p>
        </p:txBody>
      </p:sp>
      <p:sp>
        <p:nvSpPr>
          <p:cNvPr id="28" name="box-49"/>
          <p:cNvSpPr/>
          <p:nvPr/>
        </p:nvSpPr>
        <p:spPr>
          <a:xfrm>
            <a:off x="1044702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</a:t>
            </a:r>
            <a:endParaRPr lang="en-US" sz="1100" dirty="0"/>
          </a:p>
        </p:txBody>
      </p:sp>
      <p:sp>
        <p:nvSpPr>
          <p:cNvPr id="29" name="box-50"/>
          <p:cNvSpPr/>
          <p:nvPr/>
        </p:nvSpPr>
        <p:spPr>
          <a:xfrm>
            <a:off x="1097280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30" name="text-51"/>
          <p:cNvSpPr txBox="1"/>
          <p:nvPr/>
        </p:nvSpPr>
        <p:spPr>
          <a:xfrm>
            <a:off x="694944" y="4937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各级数据的共享开放要求（《分类分级手册》表 4.1~4.3）</a:t>
            </a:r>
            <a:endParaRPr lang="en-US" sz="1400" dirty="0"/>
          </a:p>
        </p:txBody>
      </p:sp>
      <p:graphicFrame>
        <p:nvGraphicFramePr>
          <p:cNvPr id="4" name="table-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303520"/>
          <a:ext cx="10799064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1737360"/>
                <a:gridCol w="2651760"/>
                <a:gridCol w="247802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4、5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共享开放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一般对象无条件共享、开放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有条件开放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仅特定对象有条件共享、开放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原则上不共享、不开放；须由主管部门认定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编制依据</a:t>
            </a:r>
            <a:endParaRPr lang="en-US" sz="2400" dirty="0"/>
          </a:p>
        </p:txBody>
      </p:sp>
      <p:sp>
        <p:nvSpPr>
          <p:cNvPr id="5" name="text-55"/>
          <p:cNvSpPr txBox="1"/>
          <p:nvPr/>
        </p:nvSpPr>
        <p:spPr>
          <a:xfrm>
            <a:off x="694944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本体系依据的南网文件及其作用（后文按简称标注对应条款）</a:t>
            </a:r>
            <a:endParaRPr lang="en-US" sz="1800" dirty="0"/>
          </a:p>
        </p:txBody>
      </p:sp>
      <p:graphicFrame>
        <p:nvGraphicFramePr>
          <p:cNvPr id="5" name="table-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990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1463040"/>
                <a:gridCol w="458114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在本体系中的作用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数据分类分级工作手册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分类方法、分级要素、等级判定矩阵、各级共享开放要求、审批固化与动态更新流程；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体系基线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数据安全风险评估工作手册（2026 年修订版）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数据公开、汇聚、加工环节的风险评估项，其中第 382 项要求开展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聚合性推断测试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数据开放目录（第二批）及目录说明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年 11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开放策略与等级的对应关系、开放对象、561 项开放数据资源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南方区域电力市场信息披露实施细则（2026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公众信息、公开信息、特定信息三类及其披露时点；用于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确定各类接收方已掌握的信息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《注册细则》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南方区域电力市场注册实施细则（2026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市场成员登记和持有的信息范围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57"/>
          <p:cNvSpPr/>
          <p:nvPr/>
        </p:nvSpPr>
        <p:spPr>
          <a:xfrm>
            <a:off x="694944" y="548640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58"/>
          <p:cNvSpPr txBox="1"/>
          <p:nvPr/>
        </p:nvSpPr>
        <p:spPr>
          <a:xfrm>
            <a:off x="868680" y="5513832"/>
            <a:ext cx="10469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上位依据：《数据安全法》《网络数据安全管理条例》《能源行业数据分类分级指南（2026 年版）》、GB/T 43697-2024《数据安全技术 数据分类分级规则》。上述南网文件为征求意见稿或审议稿，正式印发后条款编号以正式版为准。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9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60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问题分析：数据关联带来的推断风险</a:t>
            </a:r>
            <a:endParaRPr lang="en-US" sz="2400" dirty="0"/>
          </a:p>
        </p:txBody>
      </p:sp>
      <p:sp>
        <p:nvSpPr>
          <p:cNvPr id="5" name="box-61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62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现行分级依据的是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数据本身泄露后的影响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。在数据开放和共享场景下，接收方可以把新获得的数据与已掌握的数据关联起来：若干等级不高的字段组合后，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可能推断出更高等级的数据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50" dirty="0"/>
          </a:p>
        </p:txBody>
      </p:sp>
      <p:sp>
        <p:nvSpPr>
          <p:cNvPr id="7" name="text-63"/>
          <p:cNvSpPr txBox="1"/>
          <p:nvPr/>
        </p:nvSpPr>
        <p:spPr>
          <a:xfrm>
            <a:off x="694944" y="22402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组合推断算例（实测）</a:t>
            </a:r>
            <a:endParaRPr lang="en-US" sz="1400" dirty="0"/>
          </a:p>
        </p:txBody>
      </p:sp>
      <p:sp>
        <p:nvSpPr>
          <p:cNvPr id="8" name="box-64"/>
          <p:cNvSpPr/>
          <p:nvPr/>
        </p:nvSpPr>
        <p:spPr>
          <a:xfrm>
            <a:off x="694944" y="2651760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风电出力预测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</a:t>
            </a:r>
            <a:endParaRPr lang="en-US" sz="1200" dirty="0"/>
          </a:p>
        </p:txBody>
      </p:sp>
      <p:sp>
        <p:nvSpPr>
          <p:cNvPr id="9" name="text-65"/>
          <p:cNvSpPr txBox="1"/>
          <p:nvPr/>
        </p:nvSpPr>
        <p:spPr>
          <a:xfrm>
            <a:off x="2487168" y="2651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0.19</a:t>
            </a:r>
            <a:endParaRPr lang="en-US" sz="1600" dirty="0"/>
          </a:p>
        </p:txBody>
      </p:sp>
      <p:sp>
        <p:nvSpPr>
          <p:cNvPr id="10" name="ln-66"/>
          <p:cNvSpPr/>
          <p:nvPr/>
        </p:nvSpPr>
        <p:spPr>
          <a:xfrm>
            <a:off x="2432304" y="2990088"/>
            <a:ext cx="1271016" cy="84124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1" name="box-67"/>
          <p:cNvSpPr/>
          <p:nvPr/>
        </p:nvSpPr>
        <p:spPr>
          <a:xfrm>
            <a:off x="694944" y="3493008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可用发电容量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</a:t>
            </a:r>
            <a:endParaRPr lang="en-US" sz="1200" dirty="0"/>
          </a:p>
        </p:txBody>
      </p:sp>
      <p:sp>
        <p:nvSpPr>
          <p:cNvPr id="12" name="text-68"/>
          <p:cNvSpPr txBox="1"/>
          <p:nvPr/>
        </p:nvSpPr>
        <p:spPr>
          <a:xfrm>
            <a:off x="2487168" y="3493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0.02</a:t>
            </a:r>
            <a:endParaRPr lang="en-US" sz="1600" dirty="0"/>
          </a:p>
        </p:txBody>
      </p:sp>
      <p:sp>
        <p:nvSpPr>
          <p:cNvPr id="13" name="ln-69"/>
          <p:cNvSpPr/>
          <p:nvPr/>
        </p:nvSpPr>
        <p:spPr>
          <a:xfrm>
            <a:off x="2432304" y="3831336"/>
            <a:ext cx="1271016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4" name="box-70"/>
          <p:cNvSpPr/>
          <p:nvPr/>
        </p:nvSpPr>
        <p:spPr>
          <a:xfrm>
            <a:off x="694944" y="4334256"/>
            <a:ext cx="1737360" cy="676656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光伏出力预测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</a:t>
            </a:r>
            <a:endParaRPr lang="en-US" sz="1200" dirty="0"/>
          </a:p>
        </p:txBody>
      </p:sp>
      <p:sp>
        <p:nvSpPr>
          <p:cNvPr id="15" name="text-71"/>
          <p:cNvSpPr txBox="1"/>
          <p:nvPr/>
        </p:nvSpPr>
        <p:spPr>
          <a:xfrm>
            <a:off x="2487168" y="4334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单独推断精度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0.17</a:t>
            </a:r>
            <a:endParaRPr lang="en-US" sz="1600" dirty="0"/>
          </a:p>
        </p:txBody>
      </p:sp>
      <p:sp>
        <p:nvSpPr>
          <p:cNvPr id="16" name="ln-72"/>
          <p:cNvSpPr/>
          <p:nvPr/>
        </p:nvSpPr>
        <p:spPr>
          <a:xfrm flipV="1">
            <a:off x="2432304" y="3831336"/>
            <a:ext cx="1271016" cy="84124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7" name="box-73"/>
          <p:cNvSpPr/>
          <p:nvPr/>
        </p:nvSpPr>
        <p:spPr>
          <a:xfrm>
            <a:off x="3703320" y="3465576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400" dirty="0"/>
          </a:p>
        </p:txBody>
      </p:sp>
      <p:sp>
        <p:nvSpPr>
          <p:cNvPr id="18" name="arr-74"/>
          <p:cNvSpPr/>
          <p:nvPr/>
        </p:nvSpPr>
        <p:spPr>
          <a:xfrm>
            <a:off x="4517136" y="3694176"/>
            <a:ext cx="329184" cy="27432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box-75"/>
          <p:cNvSpPr/>
          <p:nvPr/>
        </p:nvSpPr>
        <p:spPr>
          <a:xfrm>
            <a:off x="4882896" y="3328416"/>
            <a:ext cx="132588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机组实际出力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特定信息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推断精度 0.80</a:t>
            </a:r>
            <a:endParaRPr lang="en-US" sz="1200" dirty="0"/>
          </a:p>
        </p:txBody>
      </p:sp>
      <p:sp>
        <p:nvSpPr>
          <p:cNvPr id="20" name="text-76"/>
          <p:cNvSpPr txBox="1"/>
          <p:nvPr/>
        </p:nvSpPr>
        <p:spPr>
          <a:xfrm>
            <a:off x="694944" y="519379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三项公开信息单独的推断精度均不超过 0.19，融合后达到 0.80</a:t>
            </a:r>
            <a:endParaRPr lang="en-US" sz="1250" dirty="0"/>
          </a:p>
        </p:txBody>
      </p:sp>
      <p:sp>
        <p:nvSpPr>
          <p:cNvPr id="21" name="text-77"/>
          <p:cNvSpPr txBox="1"/>
          <p:nvPr/>
        </p:nvSpPr>
        <p:spPr>
          <a:xfrm>
            <a:off x="694944" y="550468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数据：澳大利亚国家电力市场（NEM）2024 年公开数据，目标为南澳一台燃气机组的小时出力；信息类别按《披露细则》5.7.2、5.2.3 对应。</a:t>
            </a:r>
            <a:endParaRPr lang="en-US" sz="950" dirty="0"/>
          </a:p>
        </p:txBody>
      </p:sp>
      <p:sp>
        <p:nvSpPr>
          <p:cNvPr id="22" name="text-78"/>
          <p:cNvSpPr txBox="1"/>
          <p:nvPr/>
        </p:nvSpPr>
        <p:spPr>
          <a:xfrm>
            <a:off x="6355080" y="224028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南网文件中的相关要求</a:t>
            </a:r>
            <a:endParaRPr lang="en-US" sz="1400" dirty="0"/>
          </a:p>
        </p:txBody>
      </p:sp>
      <p:graphicFrame>
        <p:nvGraphicFramePr>
          <p:cNvPr id="6" name="table-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651760"/>
          <a:ext cx="513892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3580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《分类分级手册》分级原则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从严性：多因素时按可能造成的最高影响定级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《分类分级手册》分级要素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深度：关联、挖掘、融合对隐含信息的刻画程度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分析挖掘出更敏感、更深度的衍生数据应提高级别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应分析数据汇聚后是否可获得更多信息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《风险评估手册》第 382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基于已公开数据，尝试能否推断出未公开的关联信息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-80"/>
          <p:cNvSpPr txBox="1"/>
          <p:nvPr/>
        </p:nvSpPr>
        <p:spPr>
          <a:xfrm>
            <a:off x="6355080" y="5596128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上述要求尚无配套的计算方法与判定标准，本体系在此处给出</a:t>
            </a:r>
            <a:pPr algn="l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可计算、可复核</a:t>
            </a:r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的做法。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1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82" descr="/data1/duhaocun/projects/GNN_Aggresvation/reports/南网/南网claude/V10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83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84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85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86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87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9" name="text-88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89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90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91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92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93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94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95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96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体系框架：总体结构</a:t>
            </a:r>
            <a:endParaRPr lang="en-US" sz="2400" dirty="0"/>
          </a:p>
        </p:txBody>
      </p:sp>
      <p:sp>
        <p:nvSpPr>
          <p:cNvPr id="5" name="text-97"/>
          <p:cNvSpPr txBox="1"/>
          <p:nvPr/>
        </p:nvSpPr>
        <p:spPr>
          <a:xfrm>
            <a:off x="694944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体系组成与各步骤</a:t>
            </a:r>
            <a:endParaRPr lang="en-US" sz="1300" dirty="0"/>
          </a:p>
        </p:txBody>
      </p:sp>
      <p:sp>
        <p:nvSpPr>
          <p:cNvPr id="6" name="text-98"/>
          <p:cNvSpPr txBox="1"/>
          <p:nvPr/>
        </p:nvSpPr>
        <p:spPr>
          <a:xfrm>
            <a:off x="8174736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</a:t>
            </a:r>
            <a:endParaRPr lang="en-US" sz="1300" dirty="0"/>
          </a:p>
        </p:txBody>
      </p:sp>
      <p:sp>
        <p:nvSpPr>
          <p:cNvPr id="7" name="text-99"/>
          <p:cNvSpPr txBox="1"/>
          <p:nvPr/>
        </p:nvSpPr>
        <p:spPr>
          <a:xfrm>
            <a:off x="9564624" y="109728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300" dirty="0"/>
          </a:p>
        </p:txBody>
      </p:sp>
      <p:sp>
        <p:nvSpPr>
          <p:cNvPr id="8" name="box-100"/>
          <p:cNvSpPr/>
          <p:nvPr/>
        </p:nvSpPr>
        <p:spPr>
          <a:xfrm>
            <a:off x="694944" y="1444752"/>
            <a:ext cx="201168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101"/>
          <p:cNvSpPr txBox="1"/>
          <p:nvPr/>
        </p:nvSpPr>
        <p:spPr>
          <a:xfrm>
            <a:off x="768096" y="149961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信息归纳与结构化</a:t>
            </a:r>
            <a:endParaRPr lang="en-US" sz="1600" dirty="0"/>
          </a:p>
        </p:txBody>
      </p:sp>
      <p:sp>
        <p:nvSpPr>
          <p:cNvPr id="10" name="text-102"/>
          <p:cNvSpPr txBox="1"/>
          <p:nvPr/>
        </p:nvSpPr>
        <p:spPr>
          <a:xfrm>
            <a:off x="768096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从业务流、数据流归纳信息类型</a:t>
            </a:r>
            <a:endParaRPr lang="en-US" sz="1000" dirty="0"/>
          </a:p>
        </p:txBody>
      </p:sp>
      <p:sp>
        <p:nvSpPr>
          <p:cNvPr id="11" name="box-103"/>
          <p:cNvSpPr/>
          <p:nvPr/>
        </p:nvSpPr>
        <p:spPr>
          <a:xfrm>
            <a:off x="2706624" y="1444752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box-104"/>
          <p:cNvSpPr/>
          <p:nvPr/>
        </p:nvSpPr>
        <p:spPr>
          <a:xfrm>
            <a:off x="2798064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分类到字段</a:t>
            </a:r>
            <a:endParaRPr lang="en-US" sz="1050" dirty="0"/>
          </a:p>
        </p:txBody>
      </p:sp>
      <p:sp>
        <p:nvSpPr>
          <p:cNvPr id="13" name="arr-105"/>
          <p:cNvSpPr/>
          <p:nvPr/>
        </p:nvSpPr>
        <p:spPr>
          <a:xfrm>
            <a:off x="4358640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box-106"/>
          <p:cNvSpPr/>
          <p:nvPr/>
        </p:nvSpPr>
        <p:spPr>
          <a:xfrm>
            <a:off x="4541520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披露层级与时点</a:t>
            </a:r>
            <a:endParaRPr lang="en-US" sz="1050" dirty="0"/>
          </a:p>
        </p:txBody>
      </p:sp>
      <p:sp>
        <p:nvSpPr>
          <p:cNvPr id="15" name="arr-107"/>
          <p:cNvSpPr/>
          <p:nvPr/>
        </p:nvSpPr>
        <p:spPr>
          <a:xfrm>
            <a:off x="6102096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box-108"/>
          <p:cNvSpPr/>
          <p:nvPr/>
        </p:nvSpPr>
        <p:spPr>
          <a:xfrm>
            <a:off x="6284976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异构信息结构化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endParaRPr lang="en-US" sz="1050" dirty="0"/>
          </a:p>
        </p:txBody>
      </p:sp>
      <p:sp>
        <p:nvSpPr>
          <p:cNvPr id="17" name="arr-109"/>
          <p:cNvSpPr/>
          <p:nvPr/>
        </p:nvSpPr>
        <p:spPr>
          <a:xfrm>
            <a:off x="7955280" y="1792224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box-110"/>
          <p:cNvSpPr/>
          <p:nvPr/>
        </p:nvSpPr>
        <p:spPr>
          <a:xfrm>
            <a:off x="8174736" y="1444752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字段清单</a:t>
            </a:r>
            <a:endParaRPr lang="en-US" sz="1050" dirty="0"/>
          </a:p>
        </p:txBody>
      </p:sp>
      <p:sp>
        <p:nvSpPr>
          <p:cNvPr id="19" name="box-111"/>
          <p:cNvSpPr/>
          <p:nvPr/>
        </p:nvSpPr>
        <p:spPr>
          <a:xfrm>
            <a:off x="9564624" y="1444752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-112"/>
          <p:cNvSpPr txBox="1"/>
          <p:nvPr/>
        </p:nvSpPr>
        <p:spPr>
          <a:xfrm>
            <a:off x="9619488" y="147218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《披露细则》2.7、5.1</a:t>
            </a:r>
            <a:endParaRPr lang="en-US" sz="850" dirty="0"/>
          </a:p>
        </p:txBody>
      </p:sp>
      <p:sp>
        <p:nvSpPr>
          <p:cNvPr id="21" name="arr-113"/>
          <p:cNvSpPr/>
          <p:nvPr/>
        </p:nvSpPr>
        <p:spPr>
          <a:xfrm>
            <a:off x="1517904" y="2368296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box-114"/>
          <p:cNvSpPr/>
          <p:nvPr/>
        </p:nvSpPr>
        <p:spPr>
          <a:xfrm>
            <a:off x="694944" y="2532888"/>
            <a:ext cx="201168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-115"/>
          <p:cNvSpPr txBox="1"/>
          <p:nvPr/>
        </p:nvSpPr>
        <p:spPr>
          <a:xfrm>
            <a:off x="768096" y="258775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600" dirty="0"/>
          </a:p>
        </p:txBody>
      </p:sp>
      <p:sp>
        <p:nvSpPr>
          <p:cNvPr id="24" name="text-116"/>
          <p:cNvSpPr txBox="1"/>
          <p:nvPr/>
        </p:nvSpPr>
        <p:spPr>
          <a:xfrm>
            <a:off x="768096" y="306324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面向本体安全威胁</a:t>
            </a:r>
            <a:endParaRPr lang="en-US" sz="1000" dirty="0"/>
          </a:p>
        </p:txBody>
      </p:sp>
      <p:sp>
        <p:nvSpPr>
          <p:cNvPr id="25" name="box-117"/>
          <p:cNvSpPr/>
          <p:nvPr/>
        </p:nvSpPr>
        <p:spPr>
          <a:xfrm>
            <a:off x="2706624" y="2532888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box-118"/>
          <p:cNvSpPr/>
          <p:nvPr/>
        </p:nvSpPr>
        <p:spPr>
          <a:xfrm>
            <a:off x="2798064" y="2642616"/>
            <a:ext cx="2414016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影响分析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影响对象、范围、程度</a:t>
            </a:r>
            <a:endParaRPr lang="en-US" sz="1050" dirty="0"/>
          </a:p>
        </p:txBody>
      </p:sp>
      <p:sp>
        <p:nvSpPr>
          <p:cNvPr id="27" name="arr-119"/>
          <p:cNvSpPr/>
          <p:nvPr/>
        </p:nvSpPr>
        <p:spPr>
          <a:xfrm>
            <a:off x="5230368" y="2898648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box-120"/>
          <p:cNvSpPr/>
          <p:nvPr/>
        </p:nvSpPr>
        <p:spPr>
          <a:xfrm>
            <a:off x="5413248" y="2642616"/>
            <a:ext cx="2414016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等级判定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判定矩阵，就高不就低</a:t>
            </a:r>
            <a:endParaRPr lang="en-US" sz="1050" dirty="0"/>
          </a:p>
        </p:txBody>
      </p:sp>
      <p:sp>
        <p:nvSpPr>
          <p:cNvPr id="29" name="arr-121"/>
          <p:cNvSpPr/>
          <p:nvPr/>
        </p:nvSpPr>
        <p:spPr>
          <a:xfrm>
            <a:off x="7955280" y="2880360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box-122"/>
          <p:cNvSpPr/>
          <p:nvPr/>
        </p:nvSpPr>
        <p:spPr>
          <a:xfrm>
            <a:off x="8174736" y="2532888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050" dirty="0"/>
          </a:p>
        </p:txBody>
      </p:sp>
      <p:sp>
        <p:nvSpPr>
          <p:cNvPr id="31" name="box-123"/>
          <p:cNvSpPr/>
          <p:nvPr/>
        </p:nvSpPr>
        <p:spPr>
          <a:xfrm>
            <a:off x="9564624" y="2532888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-124"/>
          <p:cNvSpPr txBox="1"/>
          <p:nvPr/>
        </p:nvSpPr>
        <p:spPr>
          <a:xfrm>
            <a:off x="9619488" y="256032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 4.1~4.4</a:t>
            </a:r>
            <a:endParaRPr lang="en-US" sz="850" dirty="0"/>
          </a:p>
        </p:txBody>
      </p:sp>
      <p:sp>
        <p:nvSpPr>
          <p:cNvPr id="33" name="arr-125"/>
          <p:cNvSpPr/>
          <p:nvPr/>
        </p:nvSpPr>
        <p:spPr>
          <a:xfrm>
            <a:off x="1517904" y="3456432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4" name="box-126"/>
          <p:cNvSpPr/>
          <p:nvPr/>
        </p:nvSpPr>
        <p:spPr>
          <a:xfrm>
            <a:off x="694944" y="3621024"/>
            <a:ext cx="2011680" cy="13258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5" name="text-127"/>
          <p:cNvSpPr txBox="1"/>
          <p:nvPr/>
        </p:nvSpPr>
        <p:spPr>
          <a:xfrm>
            <a:off x="768096" y="367588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600" dirty="0"/>
          </a:p>
        </p:txBody>
      </p:sp>
      <p:sp>
        <p:nvSpPr>
          <p:cNvPr id="36" name="text-128"/>
          <p:cNvSpPr txBox="1"/>
          <p:nvPr/>
        </p:nvSpPr>
        <p:spPr>
          <a:xfrm>
            <a:off x="768096" y="41513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面向多源跨域融合推断威胁</a:t>
            </a:r>
            <a:endParaRPr lang="en-US" sz="1000" dirty="0"/>
          </a:p>
        </p:txBody>
      </p:sp>
      <p:sp>
        <p:nvSpPr>
          <p:cNvPr id="37" name="box-129"/>
          <p:cNvSpPr/>
          <p:nvPr/>
        </p:nvSpPr>
        <p:spPr>
          <a:xfrm>
            <a:off x="2706624" y="3621024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8" name="box-130"/>
          <p:cNvSpPr/>
          <p:nvPr/>
        </p:nvSpPr>
        <p:spPr>
          <a:xfrm>
            <a:off x="2798064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接收方已掌握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的信息</a:t>
            </a:r>
            <a:endParaRPr lang="en-US" sz="1000" dirty="0"/>
          </a:p>
        </p:txBody>
      </p:sp>
      <p:sp>
        <p:nvSpPr>
          <p:cNvPr id="39" name="arr-131"/>
          <p:cNvSpPr/>
          <p:nvPr/>
        </p:nvSpPr>
        <p:spPr>
          <a:xfrm>
            <a:off x="3922776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0" name="box-132"/>
          <p:cNvSpPr/>
          <p:nvPr/>
        </p:nvSpPr>
        <p:spPr>
          <a:xfrm>
            <a:off x="4105656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推断敏感度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字段对推断的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最大贡献</a:t>
            </a:r>
            <a:endParaRPr lang="en-US" sz="1000" dirty="0"/>
          </a:p>
        </p:txBody>
      </p:sp>
      <p:sp>
        <p:nvSpPr>
          <p:cNvPr id="41" name="arr-133"/>
          <p:cNvSpPr/>
          <p:nvPr/>
        </p:nvSpPr>
        <p:spPr>
          <a:xfrm>
            <a:off x="5230368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2" name="box-134"/>
          <p:cNvSpPr/>
          <p:nvPr/>
        </p:nvSpPr>
        <p:spPr>
          <a:xfrm>
            <a:off x="5413248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计算与验证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扫描、重训验证</a:t>
            </a:r>
            <a:endParaRPr lang="en-US" sz="1000" dirty="0"/>
          </a:p>
        </p:txBody>
      </p:sp>
      <p:sp>
        <p:nvSpPr>
          <p:cNvPr id="43" name="arr-135"/>
          <p:cNvSpPr/>
          <p:nvPr/>
        </p:nvSpPr>
        <p:spPr>
          <a:xfrm>
            <a:off x="6537960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4" name="box-136"/>
          <p:cNvSpPr/>
          <p:nvPr/>
        </p:nvSpPr>
        <p:spPr>
          <a:xfrm>
            <a:off x="6720840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二次标定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模型驱动（GRPO）</a:t>
            </a:r>
            <a:endParaRPr lang="en-US" sz="1000" dirty="0"/>
          </a:p>
        </p:txBody>
      </p:sp>
      <p:sp>
        <p:nvSpPr>
          <p:cNvPr id="45" name="arr-137"/>
          <p:cNvSpPr/>
          <p:nvPr/>
        </p:nvSpPr>
        <p:spPr>
          <a:xfrm>
            <a:off x="7955280" y="4174236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6" name="box-138"/>
          <p:cNvSpPr/>
          <p:nvPr/>
        </p:nvSpPr>
        <p:spPr>
          <a:xfrm>
            <a:off x="8174736" y="3621024"/>
            <a:ext cx="1280160" cy="13258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050" dirty="0"/>
          </a:p>
        </p:txBody>
      </p:sp>
      <p:sp>
        <p:nvSpPr>
          <p:cNvPr id="47" name="box-139"/>
          <p:cNvSpPr/>
          <p:nvPr/>
        </p:nvSpPr>
        <p:spPr>
          <a:xfrm>
            <a:off x="9564624" y="3621024"/>
            <a:ext cx="1929384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8" name="text-140"/>
          <p:cNvSpPr txBox="1"/>
          <p:nvPr/>
        </p:nvSpPr>
        <p:spPr>
          <a:xfrm>
            <a:off x="9619488" y="3648456"/>
            <a:ext cx="1828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《分类分级手册》要素“深度”、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“从严性”、附录 D、E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《披露细则》5.2~5.7</a:t>
            </a:r>
            <a:endParaRPr lang="en-US" sz="850" dirty="0"/>
          </a:p>
        </p:txBody>
      </p:sp>
      <p:sp>
        <p:nvSpPr>
          <p:cNvPr id="49" name="arr-141"/>
          <p:cNvSpPr/>
          <p:nvPr/>
        </p:nvSpPr>
        <p:spPr>
          <a:xfrm>
            <a:off x="1517904" y="4956048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0" name="box-142"/>
          <p:cNvSpPr/>
          <p:nvPr/>
        </p:nvSpPr>
        <p:spPr>
          <a:xfrm>
            <a:off x="694944" y="5120640"/>
            <a:ext cx="2011680" cy="8686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1" name="text-143"/>
          <p:cNvSpPr txBox="1"/>
          <p:nvPr/>
        </p:nvSpPr>
        <p:spPr>
          <a:xfrm>
            <a:off x="768096" y="51755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审批固化与更新</a:t>
            </a:r>
            <a:endParaRPr lang="en-US" sz="1600" dirty="0"/>
          </a:p>
        </p:txBody>
      </p:sp>
      <p:sp>
        <p:nvSpPr>
          <p:cNvPr id="52" name="text-144"/>
          <p:cNvSpPr txBox="1"/>
          <p:nvPr/>
        </p:nvSpPr>
        <p:spPr>
          <a:xfrm>
            <a:off x="768096" y="565099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南网既有流程</a:t>
            </a:r>
            <a:endParaRPr lang="en-US" sz="1000" dirty="0"/>
          </a:p>
        </p:txBody>
      </p:sp>
      <p:sp>
        <p:nvSpPr>
          <p:cNvPr id="53" name="box-145"/>
          <p:cNvSpPr/>
          <p:nvPr/>
        </p:nvSpPr>
        <p:spPr>
          <a:xfrm>
            <a:off x="2706624" y="512064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4" name="box-146"/>
          <p:cNvSpPr/>
          <p:nvPr/>
        </p:nvSpPr>
        <p:spPr>
          <a:xfrm>
            <a:off x="2798064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050" dirty="0"/>
          </a:p>
        </p:txBody>
      </p:sp>
      <p:sp>
        <p:nvSpPr>
          <p:cNvPr id="55" name="arr-147"/>
          <p:cNvSpPr/>
          <p:nvPr/>
        </p:nvSpPr>
        <p:spPr>
          <a:xfrm>
            <a:off x="4358640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6" name="box-148"/>
          <p:cNvSpPr/>
          <p:nvPr/>
        </p:nvSpPr>
        <p:spPr>
          <a:xfrm>
            <a:off x="4541520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写入数据目录</a:t>
            </a:r>
            <a:endParaRPr lang="en-US" sz="1050" dirty="0"/>
          </a:p>
        </p:txBody>
      </p:sp>
      <p:sp>
        <p:nvSpPr>
          <p:cNvPr id="57" name="arr-149"/>
          <p:cNvSpPr/>
          <p:nvPr/>
        </p:nvSpPr>
        <p:spPr>
          <a:xfrm>
            <a:off x="6102096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8" name="box-150"/>
          <p:cNvSpPr/>
          <p:nvPr/>
        </p:nvSpPr>
        <p:spPr>
          <a:xfrm>
            <a:off x="6284976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</a:t>
            </a:r>
            <a:endParaRPr lang="en-US" sz="1050" dirty="0"/>
          </a:p>
        </p:txBody>
      </p:sp>
      <p:sp>
        <p:nvSpPr>
          <p:cNvPr id="59" name="arr-151"/>
          <p:cNvSpPr/>
          <p:nvPr/>
        </p:nvSpPr>
        <p:spPr>
          <a:xfrm>
            <a:off x="7955280" y="5445252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0" name="box-152"/>
          <p:cNvSpPr/>
          <p:nvPr/>
        </p:nvSpPr>
        <p:spPr>
          <a:xfrm>
            <a:off x="8174736" y="5120640"/>
            <a:ext cx="1280160" cy="8686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050" dirty="0"/>
          </a:p>
        </p:txBody>
      </p:sp>
      <p:sp>
        <p:nvSpPr>
          <p:cNvPr id="61" name="box-153"/>
          <p:cNvSpPr/>
          <p:nvPr/>
        </p:nvSpPr>
        <p:spPr>
          <a:xfrm>
            <a:off x="9564624" y="5120640"/>
            <a:ext cx="1929384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2" name="text-154"/>
          <p:cNvSpPr txBox="1"/>
          <p:nvPr/>
        </p:nvSpPr>
        <p:spPr>
          <a:xfrm>
            <a:off x="9619488" y="5148072"/>
            <a:ext cx="1828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E</a:t>
            </a:r>
            <a:endParaRPr lang="en-US" sz="850" dirty="0"/>
          </a:p>
        </p:txBody>
      </p:sp>
      <p:sp>
        <p:nvSpPr>
          <p:cNvPr id="63" name="text-155"/>
          <p:cNvSpPr txBox="1"/>
          <p:nvPr/>
        </p:nvSpPr>
        <p:spPr>
          <a:xfrm>
            <a:off x="694944" y="6172200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一次标定执行南网现行规则；二次标定在一次等级的基础上，针对融合推断威胁对等级进行复核。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15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15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体系框架：输入、输出与约束</a:t>
            </a:r>
            <a:endParaRPr lang="en-US" sz="2400" dirty="0"/>
          </a:p>
        </p:txBody>
      </p:sp>
      <p:sp>
        <p:nvSpPr>
          <p:cNvPr id="5" name="text-158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体系的输入、输出与约束条件</a:t>
            </a:r>
            <a:endParaRPr lang="en-US" sz="1800" dirty="0"/>
          </a:p>
        </p:txBody>
      </p:sp>
      <p:sp>
        <p:nvSpPr>
          <p:cNvPr id="6" name="box-159"/>
          <p:cNvSpPr/>
          <p:nvPr/>
        </p:nvSpPr>
        <p:spPr>
          <a:xfrm>
            <a:off x="694944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300" dirty="0"/>
          </a:p>
        </p:txBody>
      </p:sp>
      <p:sp>
        <p:nvSpPr>
          <p:cNvPr id="7" name="box-160"/>
          <p:cNvSpPr/>
          <p:nvPr/>
        </p:nvSpPr>
        <p:spPr>
          <a:xfrm>
            <a:off x="694944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五份文件的条款、表格与示例</a:t>
            </a:r>
            <a:endParaRPr lang="en-US" sz="1200" dirty="0"/>
          </a:p>
        </p:txBody>
      </p:sp>
      <p:sp>
        <p:nvSpPr>
          <p:cNvPr id="8" name="box-161"/>
          <p:cNvSpPr/>
          <p:nvPr/>
        </p:nvSpPr>
        <p:spPr>
          <a:xfrm>
            <a:off x="694944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字段的业务归属、名称与描述</a:t>
            </a:r>
            <a:endParaRPr lang="en-US" sz="1200" dirty="0"/>
          </a:p>
        </p:txBody>
      </p:sp>
      <p:sp>
        <p:nvSpPr>
          <p:cNvPr id="9" name="box-162"/>
          <p:cNvSpPr/>
          <p:nvPr/>
        </p:nvSpPr>
        <p:spPr>
          <a:xfrm>
            <a:off x="694944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字段级历史样本</a:t>
            </a:r>
            <a:endParaRPr lang="en-US" sz="1200" dirty="0"/>
          </a:p>
        </p:txBody>
      </p:sp>
      <p:sp>
        <p:nvSpPr>
          <p:cNvPr id="10" name="box-163"/>
          <p:cNvSpPr/>
          <p:nvPr/>
        </p:nvSpPr>
        <p:spPr>
          <a:xfrm>
            <a:off x="694944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由数据主管部门确定</a:t>
            </a:r>
            <a:endParaRPr lang="en-US" sz="1200" dirty="0"/>
          </a:p>
        </p:txBody>
      </p:sp>
      <p:sp>
        <p:nvSpPr>
          <p:cNvPr id="11" name="arr-164"/>
          <p:cNvSpPr/>
          <p:nvPr/>
        </p:nvSpPr>
        <p:spPr>
          <a:xfrm>
            <a:off x="3611880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165"/>
          <p:cNvSpPr/>
          <p:nvPr/>
        </p:nvSpPr>
        <p:spPr>
          <a:xfrm>
            <a:off x="4114800" y="1783080"/>
            <a:ext cx="3959352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</a:t>
            </a:r>
            <a:endParaRPr lang="en-US" sz="1300" dirty="0"/>
          </a:p>
        </p:txBody>
      </p:sp>
      <p:sp>
        <p:nvSpPr>
          <p:cNvPr id="13" name="box-166"/>
          <p:cNvSpPr/>
          <p:nvPr/>
        </p:nvSpPr>
        <p:spPr>
          <a:xfrm>
            <a:off x="4114800" y="2240280"/>
            <a:ext cx="731520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400" dirty="0"/>
          </a:p>
        </p:txBody>
      </p:sp>
      <p:sp>
        <p:nvSpPr>
          <p:cNvPr id="14" name="box-167"/>
          <p:cNvSpPr/>
          <p:nvPr/>
        </p:nvSpPr>
        <p:spPr>
          <a:xfrm>
            <a:off x="4846320" y="2240280"/>
            <a:ext cx="3227832" cy="65836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信息类型归纳与结构化处理</a:t>
            </a:r>
            <a:endParaRPr lang="en-US" sz="1300" dirty="0"/>
          </a:p>
        </p:txBody>
      </p:sp>
      <p:sp>
        <p:nvSpPr>
          <p:cNvPr id="15" name="box-168"/>
          <p:cNvSpPr/>
          <p:nvPr/>
        </p:nvSpPr>
        <p:spPr>
          <a:xfrm>
            <a:off x="4114800" y="2990088"/>
            <a:ext cx="731520" cy="6583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400" dirty="0"/>
          </a:p>
        </p:txBody>
      </p:sp>
      <p:sp>
        <p:nvSpPr>
          <p:cNvPr id="16" name="box-169"/>
          <p:cNvSpPr/>
          <p:nvPr/>
        </p:nvSpPr>
        <p:spPr>
          <a:xfrm>
            <a:off x="4846320" y="2990088"/>
            <a:ext cx="3227832" cy="658368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300" dirty="0"/>
          </a:p>
        </p:txBody>
      </p:sp>
      <p:sp>
        <p:nvSpPr>
          <p:cNvPr id="17" name="box-170"/>
          <p:cNvSpPr/>
          <p:nvPr/>
        </p:nvSpPr>
        <p:spPr>
          <a:xfrm>
            <a:off x="4114800" y="3739896"/>
            <a:ext cx="731520" cy="65836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400" dirty="0"/>
          </a:p>
        </p:txBody>
      </p:sp>
      <p:sp>
        <p:nvSpPr>
          <p:cNvPr id="18" name="box-171"/>
          <p:cNvSpPr/>
          <p:nvPr/>
        </p:nvSpPr>
        <p:spPr>
          <a:xfrm>
            <a:off x="4846320" y="3739896"/>
            <a:ext cx="3227832" cy="6583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300" dirty="0"/>
          </a:p>
        </p:txBody>
      </p:sp>
      <p:sp>
        <p:nvSpPr>
          <p:cNvPr id="19" name="box-172"/>
          <p:cNvSpPr/>
          <p:nvPr/>
        </p:nvSpPr>
        <p:spPr>
          <a:xfrm>
            <a:off x="4114800" y="4489704"/>
            <a:ext cx="731520" cy="65836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400" dirty="0"/>
          </a:p>
        </p:txBody>
      </p:sp>
      <p:sp>
        <p:nvSpPr>
          <p:cNvPr id="20" name="box-173"/>
          <p:cNvSpPr/>
          <p:nvPr/>
        </p:nvSpPr>
        <p:spPr>
          <a:xfrm>
            <a:off x="4846320" y="4489704"/>
            <a:ext cx="3227832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审批固化与动态更新</a:t>
            </a:r>
            <a:endParaRPr lang="en-US" sz="1300" dirty="0"/>
          </a:p>
        </p:txBody>
      </p:sp>
      <p:sp>
        <p:nvSpPr>
          <p:cNvPr id="21" name="arr-174"/>
          <p:cNvSpPr/>
          <p:nvPr/>
        </p:nvSpPr>
        <p:spPr>
          <a:xfrm>
            <a:off x="8156448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175"/>
          <p:cNvSpPr/>
          <p:nvPr/>
        </p:nvSpPr>
        <p:spPr>
          <a:xfrm>
            <a:off x="8659368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300" dirty="0"/>
          </a:p>
        </p:txBody>
      </p:sp>
      <p:sp>
        <p:nvSpPr>
          <p:cNvPr id="23" name="box-176"/>
          <p:cNvSpPr/>
          <p:nvPr/>
        </p:nvSpPr>
        <p:spPr>
          <a:xfrm>
            <a:off x="8659368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分类路径、一次等级、二次等级</a:t>
            </a:r>
            <a:endParaRPr lang="en-US" sz="1200" dirty="0"/>
          </a:p>
        </p:txBody>
      </p:sp>
      <p:sp>
        <p:nvSpPr>
          <p:cNvPr id="24" name="box-177"/>
          <p:cNvSpPr/>
          <p:nvPr/>
        </p:nvSpPr>
        <p:spPr>
          <a:xfrm>
            <a:off x="8659368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被推断的数据、背景、敏感度</a:t>
            </a:r>
            <a:endParaRPr lang="en-US" sz="1200" dirty="0"/>
          </a:p>
        </p:txBody>
      </p:sp>
      <p:sp>
        <p:nvSpPr>
          <p:cNvPr id="25" name="box-178"/>
          <p:cNvSpPr/>
          <p:nvPr/>
        </p:nvSpPr>
        <p:spPr>
          <a:xfrm>
            <a:off x="8659368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等级复核意见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二次标定的依据说明</a:t>
            </a:r>
            <a:endParaRPr lang="en-US" sz="1200" dirty="0"/>
          </a:p>
        </p:txBody>
      </p:sp>
      <p:sp>
        <p:nvSpPr>
          <p:cNvPr id="26" name="box-179"/>
          <p:cNvSpPr/>
          <p:nvPr/>
        </p:nvSpPr>
        <p:spPr>
          <a:xfrm>
            <a:off x="8659368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触发事件、等级变动及原因</a:t>
            </a:r>
            <a:endParaRPr lang="en-US" sz="1200" dirty="0"/>
          </a:p>
        </p:txBody>
      </p:sp>
      <p:sp>
        <p:nvSpPr>
          <p:cNvPr id="27" name="box-180"/>
          <p:cNvSpPr/>
          <p:nvPr/>
        </p:nvSpPr>
        <p:spPr>
          <a:xfrm>
            <a:off x="694944" y="5394960"/>
            <a:ext cx="10799064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-181"/>
          <p:cNvSpPr txBox="1"/>
          <p:nvPr/>
        </p:nvSpPr>
        <p:spPr>
          <a:xfrm>
            <a:off x="82296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1400" dirty="0"/>
          </a:p>
        </p:txBody>
      </p:sp>
      <p:sp>
        <p:nvSpPr>
          <p:cNvPr id="29" name="text-182"/>
          <p:cNvSpPr txBox="1"/>
          <p:nvPr/>
        </p:nvSpPr>
        <p:spPr>
          <a:xfrm>
            <a:off x="1554480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二次等级不低于一次等级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《分类分级手册》“从严性”</a:t>
            </a:r>
            <a:endParaRPr lang="en-US" sz="1600" dirty="0"/>
          </a:p>
        </p:txBody>
      </p:sp>
      <p:sp>
        <p:nvSpPr>
          <p:cNvPr id="30" name="text-183"/>
          <p:cNvSpPr txBox="1"/>
          <p:nvPr/>
        </p:nvSpPr>
        <p:spPr>
          <a:xfrm>
            <a:off x="4041648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法定公开字段等级不调整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《披露细则》第 5 部分</a:t>
            </a:r>
            <a:endParaRPr lang="en-US" sz="1600" dirty="0"/>
          </a:p>
        </p:txBody>
      </p:sp>
      <p:sp>
        <p:nvSpPr>
          <p:cNvPr id="31" name="text-184"/>
          <p:cNvSpPr txBox="1"/>
          <p:nvPr/>
        </p:nvSpPr>
        <p:spPr>
          <a:xfrm>
            <a:off x="6528816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4、5 级只提出申报建议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《分类分级手册》级别定义</a:t>
            </a:r>
            <a:endParaRPr lang="en-US" sz="1600" dirty="0"/>
          </a:p>
        </p:txBody>
      </p:sp>
      <p:sp>
        <p:nvSpPr>
          <p:cNvPr id="32" name="text-185"/>
          <p:cNvSpPr txBox="1"/>
          <p:nvPr/>
        </p:nvSpPr>
        <p:spPr>
          <a:xfrm>
            <a:off x="9015984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定级结论以审批为准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86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187" descr="/data1/duhaocun/projects/GNN_Aggresvation/reports/南网/南网claude/V10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188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89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190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191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92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193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94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95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2" name="text-196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197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198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199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0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0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一、信息类型归纳与结构化处理</a:t>
            </a:r>
            <a:endParaRPr lang="en-US" sz="2400" dirty="0"/>
          </a:p>
        </p:txBody>
      </p:sp>
      <p:sp>
        <p:nvSpPr>
          <p:cNvPr id="5" name="box-20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0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《分类分级手册》四(一)(二)、附录 A；《披露细则》2.7、5.1</a:t>
            </a:r>
            <a:endParaRPr lang="en-US" sz="1100" dirty="0"/>
          </a:p>
        </p:txBody>
      </p:sp>
      <p:sp>
        <p:nvSpPr>
          <p:cNvPr id="7" name="text-204"/>
          <p:cNvSpPr txBox="1"/>
          <p:nvPr/>
        </p:nvSpPr>
        <p:spPr>
          <a:xfrm>
            <a:off x="694944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：按企业级业务架构分类到字段</a:t>
            </a:r>
            <a:endParaRPr lang="en-US" sz="1800" dirty="0"/>
          </a:p>
        </p:txBody>
      </p:sp>
      <p:sp>
        <p:nvSpPr>
          <p:cNvPr id="8" name="chev-205"/>
          <p:cNvSpPr/>
          <p:nvPr/>
        </p:nvSpPr>
        <p:spPr>
          <a:xfrm>
            <a:off x="694944" y="1600200"/>
            <a:ext cx="1682496" cy="45720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专业域</a:t>
            </a:r>
            <a:endParaRPr lang="en-US" sz="1250" dirty="0"/>
          </a:p>
        </p:txBody>
      </p:sp>
      <p:sp>
        <p:nvSpPr>
          <p:cNvPr id="9" name="chev-206"/>
          <p:cNvSpPr/>
          <p:nvPr/>
        </p:nvSpPr>
        <p:spPr>
          <a:xfrm>
            <a:off x="2267712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专业级流程组</a:t>
            </a:r>
            <a:endParaRPr lang="en-US" sz="1250" dirty="0"/>
          </a:p>
        </p:txBody>
      </p:sp>
      <p:sp>
        <p:nvSpPr>
          <p:cNvPr id="10" name="chev-207"/>
          <p:cNvSpPr/>
          <p:nvPr/>
        </p:nvSpPr>
        <p:spPr>
          <a:xfrm>
            <a:off x="3840480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操作级流程</a:t>
            </a:r>
            <a:endParaRPr lang="en-US" sz="1250" dirty="0"/>
          </a:p>
        </p:txBody>
      </p:sp>
      <p:sp>
        <p:nvSpPr>
          <p:cNvPr id="11" name="chev-208"/>
          <p:cNvSpPr/>
          <p:nvPr/>
        </p:nvSpPr>
        <p:spPr>
          <a:xfrm>
            <a:off x="5413248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业务对象</a:t>
            </a:r>
            <a:endParaRPr lang="en-US" sz="1250" dirty="0"/>
          </a:p>
        </p:txBody>
      </p:sp>
      <p:sp>
        <p:nvSpPr>
          <p:cNvPr id="12" name="chev-209"/>
          <p:cNvSpPr/>
          <p:nvPr/>
        </p:nvSpPr>
        <p:spPr>
          <a:xfrm>
            <a:off x="6986016" y="1600200"/>
            <a:ext cx="1682496" cy="4572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数据字段</a:t>
            </a:r>
            <a:endParaRPr lang="en-US" sz="1250" dirty="0"/>
          </a:p>
        </p:txBody>
      </p:sp>
      <p:sp>
        <p:nvSpPr>
          <p:cNvPr id="13" name="box-210"/>
          <p:cNvSpPr/>
          <p:nvPr/>
        </p:nvSpPr>
        <p:spPr>
          <a:xfrm>
            <a:off x="8915400" y="148132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graphicFrame>
        <p:nvGraphicFramePr>
          <p:cNvPr id="11" name="table-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15400" y="1737360"/>
          <a:ext cx="2578608" cy="914400"/>
        </p:xfrm>
        <a:graphic>
          <a:graphicData uri="http://schemas.openxmlformats.org/drawingml/2006/table">
            <a:tbl>
              <a:tblPr/>
              <a:tblGrid>
                <a:gridCol w="2578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人力资源域 → 规划与计划管理 → 人力资源综合计划业务 → 单位工作计划信息 → 生效日期、单位等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5" name="text-212"/>
          <p:cNvSpPr txBox="1"/>
          <p:nvPr/>
        </p:nvSpPr>
        <p:spPr>
          <a:xfrm>
            <a:off x="694944" y="25146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：标注每个字段流向谁、何时公开</a:t>
            </a:r>
            <a:endParaRPr lang="en-US" sz="1800" dirty="0"/>
          </a:p>
        </p:txBody>
      </p:sp>
      <p:graphicFrame>
        <p:nvGraphicFramePr>
          <p:cNvPr id="21" name="table-2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017520"/>
          <a:ext cx="107990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02666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标注项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 / 公开信息 / 特定信息 / 内部数据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预测类：交易申报前；出清类：交易日；运行类：运行日次日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是否法定公开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法定公开字段的等级不作调整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《披露细则》第 5 部分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-214"/>
          <p:cNvSpPr txBox="1"/>
          <p:nvPr/>
        </p:nvSpPr>
        <p:spPr>
          <a:xfrm>
            <a:off x="694944" y="4617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异构信息结构化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：将规则文件与字段说明解析为结构化记录</a:t>
            </a:r>
            <a:endParaRPr lang="en-US" sz="1800" dirty="0"/>
          </a:p>
        </p:txBody>
      </p:sp>
      <p:sp>
        <p:nvSpPr>
          <p:cNvPr id="18" name="box-215"/>
          <p:cNvSpPr/>
          <p:nvPr/>
        </p:nvSpPr>
        <p:spPr>
          <a:xfrm>
            <a:off x="694944" y="5120640"/>
            <a:ext cx="2286000" cy="77724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规则文件、字段说明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条款、表格与文本</a:t>
            </a:r>
            <a:endParaRPr lang="en-US" sz="1200" dirty="0"/>
          </a:p>
        </p:txBody>
      </p:sp>
      <p:sp>
        <p:nvSpPr>
          <p:cNvPr id="19" name="arr-216"/>
          <p:cNvSpPr/>
          <p:nvPr/>
        </p:nvSpPr>
        <p:spPr>
          <a:xfrm>
            <a:off x="3044952" y="5376672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217"/>
          <p:cNvSpPr/>
          <p:nvPr/>
        </p:nvSpPr>
        <p:spPr>
          <a:xfrm>
            <a:off x="3520440" y="5120640"/>
            <a:ext cx="2651760" cy="7772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大语言模型 + 检索增强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按字段约束抽取并校验</a:t>
            </a:r>
            <a:endParaRPr lang="en-US" sz="1200" dirty="0"/>
          </a:p>
        </p:txBody>
      </p:sp>
      <p:sp>
        <p:nvSpPr>
          <p:cNvPr id="21" name="arr-218"/>
          <p:cNvSpPr/>
          <p:nvPr/>
        </p:nvSpPr>
        <p:spPr>
          <a:xfrm>
            <a:off x="6236208" y="5376672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219"/>
          <p:cNvSpPr/>
          <p:nvPr/>
        </p:nvSpPr>
        <p:spPr>
          <a:xfrm>
            <a:off x="6711696" y="5120640"/>
            <a:ext cx="2651760" cy="777240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结构化规则库与字段清单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可检索、可追溯到条款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2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2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二、一次标定：面向本体安全威胁</a:t>
            </a:r>
            <a:endParaRPr lang="en-US" sz="2400" dirty="0"/>
          </a:p>
        </p:txBody>
      </p:sp>
      <p:sp>
        <p:nvSpPr>
          <p:cNvPr id="5" name="box-22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2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《分类分级手册》四(三)、表 4.1~4.4、附录 C</a:t>
            </a:r>
            <a:endParaRPr lang="en-US" sz="1100" dirty="0"/>
          </a:p>
        </p:txBody>
      </p:sp>
      <p:sp>
        <p:nvSpPr>
          <p:cNvPr id="7" name="text-224"/>
          <p:cNvSpPr txBox="1"/>
          <p:nvPr/>
        </p:nvSpPr>
        <p:spPr>
          <a:xfrm>
            <a:off x="694944" y="11430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影响分析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：数据本身泄露后的影响</a:t>
            </a:r>
            <a:endParaRPr lang="en-US" sz="1800" dirty="0"/>
          </a:p>
        </p:txBody>
      </p:sp>
      <p:sp>
        <p:nvSpPr>
          <p:cNvPr id="8" name="box-225"/>
          <p:cNvSpPr/>
          <p:nvPr/>
        </p:nvSpPr>
        <p:spPr>
          <a:xfrm>
            <a:off x="694944" y="178308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endParaRPr lang="en-US" sz="1300" dirty="0"/>
          </a:p>
        </p:txBody>
      </p:sp>
      <p:sp>
        <p:nvSpPr>
          <p:cNvPr id="9" name="box-226"/>
          <p:cNvSpPr/>
          <p:nvPr/>
        </p:nvSpPr>
        <p:spPr>
          <a:xfrm>
            <a:off x="1975104" y="1783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群体：国家安全、公共利益、经济运行、社会秩序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个体：个人、其他组织；单位自身</a:t>
            </a:r>
            <a:endParaRPr lang="en-US" sz="1150" dirty="0"/>
          </a:p>
        </p:txBody>
      </p:sp>
      <p:sp>
        <p:nvSpPr>
          <p:cNvPr id="10" name="box-227"/>
          <p:cNvSpPr/>
          <p:nvPr/>
        </p:nvSpPr>
        <p:spPr>
          <a:xfrm>
            <a:off x="694944" y="274320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影响范围</a:t>
            </a:r>
            <a:endParaRPr lang="en-US" sz="1300" dirty="0"/>
          </a:p>
        </p:txBody>
      </p:sp>
      <p:sp>
        <p:nvSpPr>
          <p:cNvPr id="11" name="box-228"/>
          <p:cNvSpPr/>
          <p:nvPr/>
        </p:nvSpPr>
        <p:spPr>
          <a:xfrm>
            <a:off x="1975104" y="27432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区域、规模、覆盖度</a:t>
            </a:r>
            <a:endParaRPr lang="en-US" sz="1150" dirty="0"/>
          </a:p>
        </p:txBody>
      </p:sp>
      <p:sp>
        <p:nvSpPr>
          <p:cNvPr id="12" name="box-229"/>
          <p:cNvSpPr/>
          <p:nvPr/>
        </p:nvSpPr>
        <p:spPr>
          <a:xfrm>
            <a:off x="694944" y="370332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endParaRPr lang="en-US" sz="1300" dirty="0"/>
          </a:p>
        </p:txBody>
      </p:sp>
      <p:sp>
        <p:nvSpPr>
          <p:cNvPr id="13" name="box-230"/>
          <p:cNvSpPr/>
          <p:nvPr/>
        </p:nvSpPr>
        <p:spPr>
          <a:xfrm>
            <a:off x="1975104" y="37033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 严重 / 特别严重</a:t>
            </a:r>
            <a:endParaRPr lang="en-US" sz="1150" dirty="0"/>
          </a:p>
        </p:txBody>
      </p:sp>
      <p:sp>
        <p:nvSpPr>
          <p:cNvPr id="14" name="arr-231"/>
          <p:cNvSpPr/>
          <p:nvPr/>
        </p:nvSpPr>
        <p:spPr>
          <a:xfrm>
            <a:off x="5724144" y="2971800"/>
            <a:ext cx="365760" cy="310896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5" name="text-232"/>
          <p:cNvSpPr txBox="1"/>
          <p:nvPr/>
        </p:nvSpPr>
        <p:spPr>
          <a:xfrm>
            <a:off x="694944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一次等级是二次标定的起点，也是等级的下限。</a:t>
            </a:r>
            <a:endParaRPr lang="en-US" sz="1300" dirty="0"/>
          </a:p>
        </p:txBody>
      </p:sp>
      <p:sp>
        <p:nvSpPr>
          <p:cNvPr id="16" name="text-233"/>
          <p:cNvSpPr txBox="1"/>
          <p:nvPr/>
        </p:nvSpPr>
        <p:spPr>
          <a:xfrm>
            <a:off x="6217920" y="1143000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等级判定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：查判定矩阵，就高不就低</a:t>
            </a:r>
            <a:endParaRPr lang="en-US" sz="1800" dirty="0"/>
          </a:p>
        </p:txBody>
      </p:sp>
      <p:graphicFrame>
        <p:nvGraphicFramePr>
          <p:cNvPr id="12" name="table-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276088" cy="914400"/>
        </p:xfrm>
        <a:graphic>
          <a:graphicData uri="http://schemas.openxmlformats.org/drawingml/2006/table">
            <a:tbl>
              <a:tblPr/>
              <a:tblGrid>
                <a:gridCol w="1247075"/>
                <a:gridCol w="690688"/>
                <a:gridCol w="786617"/>
                <a:gridCol w="786617"/>
                <a:gridCol w="786617"/>
                <a:gridCol w="97847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8" name="text-235"/>
          <p:cNvSpPr txBox="1"/>
          <p:nvPr/>
        </p:nvSpPr>
        <p:spPr>
          <a:xfrm>
            <a:off x="6217920" y="4937760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1~3 级为一般数据，4 级为重要数据，5 级为核心数据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3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3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三、二次标定：面向多源跨域融合推断威胁（1/9）</a:t>
            </a:r>
            <a:endParaRPr lang="en-US" sz="2400" dirty="0"/>
          </a:p>
        </p:txBody>
      </p:sp>
      <p:sp>
        <p:nvSpPr>
          <p:cNvPr id="5" name="box-23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3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《分类分级手册》分级要素“深度”、附录 D（分析挖掘出更敏感的衍生数据应提高级别）；《风险评估手册》第 382 项</a:t>
            </a:r>
            <a:endParaRPr lang="en-US" sz="1100" dirty="0"/>
          </a:p>
        </p:txBody>
      </p:sp>
      <p:sp>
        <p:nvSpPr>
          <p:cNvPr id="7" name="text-24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总体流程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：评估字段在融合推断中的敏感度，据此复核等级</a:t>
            </a:r>
            <a:endParaRPr lang="en-US" sz="1800" dirty="0"/>
          </a:p>
        </p:txBody>
      </p:sp>
      <p:sp>
        <p:nvSpPr>
          <p:cNvPr id="8" name="box-241"/>
          <p:cNvSpPr/>
          <p:nvPr/>
        </p:nvSpPr>
        <p:spPr>
          <a:xfrm>
            <a:off x="694944" y="169164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242"/>
          <p:cNvSpPr txBox="1"/>
          <p:nvPr/>
        </p:nvSpPr>
        <p:spPr>
          <a:xfrm>
            <a:off x="841248" y="1709928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一次等级反映数据本身泄露的后果。部分字段单独泄露影响有限，但与接收方已掌握的数据融合后，可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推断出更高等级的数据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，其等级需要在一次标定的基础上复核。</a:t>
            </a:r>
            <a:endParaRPr lang="en-US" sz="1350" dirty="0"/>
          </a:p>
        </p:txBody>
      </p:sp>
      <p:sp>
        <p:nvSpPr>
          <p:cNvPr id="10" name="box-243"/>
          <p:cNvSpPr/>
          <p:nvPr/>
        </p:nvSpPr>
        <p:spPr>
          <a:xfrm>
            <a:off x="694944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box-244"/>
          <p:cNvSpPr/>
          <p:nvPr/>
        </p:nvSpPr>
        <p:spPr>
          <a:xfrm>
            <a:off x="694944" y="2697480"/>
            <a:ext cx="2514600" cy="411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</a:t>
            </a:r>
            <a:endParaRPr lang="en-US" sz="1500" dirty="0"/>
          </a:p>
        </p:txBody>
      </p:sp>
      <p:sp>
        <p:nvSpPr>
          <p:cNvPr id="12" name="text-245"/>
          <p:cNvSpPr txBox="1"/>
          <p:nvPr/>
        </p:nvSpPr>
        <p:spPr>
          <a:xfrm>
            <a:off x="786384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融合推断场景</a:t>
            </a:r>
            <a:endParaRPr lang="en-US" sz="1500" dirty="0"/>
          </a:p>
        </p:txBody>
      </p:sp>
      <p:sp>
        <p:nvSpPr>
          <p:cNvPr id="13" name="text-246"/>
          <p:cNvSpPr txBox="1"/>
          <p:nvPr/>
        </p:nvSpPr>
        <p:spPr>
          <a:xfrm>
            <a:off x="786384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各类接收方已掌握、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可能获得的信息</a:t>
            </a:r>
            <a:endParaRPr lang="en-US" sz="1150" dirty="0"/>
          </a:p>
        </p:txBody>
      </p:sp>
      <p:sp>
        <p:nvSpPr>
          <p:cNvPr id="14" name="arr-247"/>
          <p:cNvSpPr/>
          <p:nvPr/>
        </p:nvSpPr>
        <p:spPr>
          <a:xfrm>
            <a:off x="3227832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arr-248"/>
          <p:cNvSpPr/>
          <p:nvPr/>
        </p:nvSpPr>
        <p:spPr>
          <a:xfrm>
            <a:off x="1764792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box-249"/>
          <p:cNvSpPr/>
          <p:nvPr/>
        </p:nvSpPr>
        <p:spPr>
          <a:xfrm>
            <a:off x="694944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推断场景</a:t>
            </a:r>
            <a:endParaRPr lang="en-US" sz="1200" dirty="0"/>
          </a:p>
        </p:txBody>
      </p:sp>
      <p:sp>
        <p:nvSpPr>
          <p:cNvPr id="17" name="box-250"/>
          <p:cNvSpPr/>
          <p:nvPr/>
        </p:nvSpPr>
        <p:spPr>
          <a:xfrm>
            <a:off x="3456432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box-251"/>
          <p:cNvSpPr/>
          <p:nvPr/>
        </p:nvSpPr>
        <p:spPr>
          <a:xfrm>
            <a:off x="3456432" y="2697480"/>
            <a:ext cx="2514600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</a:t>
            </a:r>
            <a:endParaRPr lang="en-US" sz="1500" dirty="0"/>
          </a:p>
        </p:txBody>
      </p:sp>
      <p:sp>
        <p:nvSpPr>
          <p:cNvPr id="19" name="text-252"/>
          <p:cNvSpPr txBox="1"/>
          <p:nvPr/>
        </p:nvSpPr>
        <p:spPr>
          <a:xfrm>
            <a:off x="3547872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500" dirty="0"/>
          </a:p>
        </p:txBody>
      </p:sp>
      <p:sp>
        <p:nvSpPr>
          <p:cNvPr id="20" name="text-253"/>
          <p:cNvSpPr txBox="1"/>
          <p:nvPr/>
        </p:nvSpPr>
        <p:spPr>
          <a:xfrm>
            <a:off x="3547872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字段在已有信息基础上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对敏感数据推断的最大贡献</a:t>
            </a:r>
            <a:endParaRPr lang="en-US" sz="1150" dirty="0"/>
          </a:p>
        </p:txBody>
      </p:sp>
      <p:sp>
        <p:nvSpPr>
          <p:cNvPr id="21" name="arr-254"/>
          <p:cNvSpPr/>
          <p:nvPr/>
        </p:nvSpPr>
        <p:spPr>
          <a:xfrm>
            <a:off x="5989320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arr-255"/>
          <p:cNvSpPr/>
          <p:nvPr/>
        </p:nvSpPr>
        <p:spPr>
          <a:xfrm>
            <a:off x="4526280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box-256"/>
          <p:cNvSpPr/>
          <p:nvPr/>
        </p:nvSpPr>
        <p:spPr>
          <a:xfrm>
            <a:off x="3456432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度量定义 M</a:t>
            </a:r>
            <a:endParaRPr lang="en-US" sz="1200" dirty="0"/>
          </a:p>
        </p:txBody>
      </p:sp>
      <p:sp>
        <p:nvSpPr>
          <p:cNvPr id="24" name="box-257"/>
          <p:cNvSpPr/>
          <p:nvPr/>
        </p:nvSpPr>
        <p:spPr>
          <a:xfrm>
            <a:off x="6217920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box-258"/>
          <p:cNvSpPr/>
          <p:nvPr/>
        </p:nvSpPr>
        <p:spPr>
          <a:xfrm>
            <a:off x="6217920" y="2697480"/>
            <a:ext cx="2514600" cy="4114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</a:t>
            </a:r>
            <a:endParaRPr lang="en-US" sz="1500" dirty="0"/>
          </a:p>
        </p:txBody>
      </p:sp>
      <p:sp>
        <p:nvSpPr>
          <p:cNvPr id="26" name="text-259"/>
          <p:cNvSpPr txBox="1"/>
          <p:nvPr/>
        </p:nvSpPr>
        <p:spPr>
          <a:xfrm>
            <a:off x="630936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计算与验证</a:t>
            </a:r>
            <a:endParaRPr lang="en-US" sz="1500" dirty="0"/>
          </a:p>
        </p:txBody>
      </p:sp>
      <p:sp>
        <p:nvSpPr>
          <p:cNvPr id="27" name="text-260"/>
          <p:cNvSpPr txBox="1"/>
          <p:nvPr/>
        </p:nvSpPr>
        <p:spPr>
          <a:xfrm>
            <a:off x="6309360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关联分析、集合扫描、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150" dirty="0"/>
          </a:p>
        </p:txBody>
      </p:sp>
      <p:sp>
        <p:nvSpPr>
          <p:cNvPr id="28" name="arr-261"/>
          <p:cNvSpPr/>
          <p:nvPr/>
        </p:nvSpPr>
        <p:spPr>
          <a:xfrm>
            <a:off x="8750808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arr-262"/>
          <p:cNvSpPr/>
          <p:nvPr/>
        </p:nvSpPr>
        <p:spPr>
          <a:xfrm>
            <a:off x="7287768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box-263"/>
          <p:cNvSpPr/>
          <p:nvPr/>
        </p:nvSpPr>
        <p:spPr>
          <a:xfrm>
            <a:off x="6217920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</p:txBody>
      </p:sp>
      <p:sp>
        <p:nvSpPr>
          <p:cNvPr id="31" name="box-264"/>
          <p:cNvSpPr/>
          <p:nvPr/>
        </p:nvSpPr>
        <p:spPr>
          <a:xfrm>
            <a:off x="8979408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box-265"/>
          <p:cNvSpPr/>
          <p:nvPr/>
        </p:nvSpPr>
        <p:spPr>
          <a:xfrm>
            <a:off x="8979408" y="2697480"/>
            <a:ext cx="2514600" cy="4114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</a:t>
            </a:r>
            <a:endParaRPr lang="en-US" sz="1500" dirty="0"/>
          </a:p>
        </p:txBody>
      </p:sp>
      <p:sp>
        <p:nvSpPr>
          <p:cNvPr id="33" name="text-266"/>
          <p:cNvSpPr txBox="1"/>
          <p:nvPr/>
        </p:nvSpPr>
        <p:spPr>
          <a:xfrm>
            <a:off x="907084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等级二次标定</a:t>
            </a:r>
            <a:endParaRPr lang="en-US" sz="1500" dirty="0"/>
          </a:p>
        </p:txBody>
      </p:sp>
      <p:sp>
        <p:nvSpPr>
          <p:cNvPr id="34" name="text-267"/>
          <p:cNvSpPr txBox="1"/>
          <p:nvPr/>
        </p:nvSpPr>
        <p:spPr>
          <a:xfrm>
            <a:off x="9070848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折算影响程度，查判定矩阵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 / 模型驱动（GRPO）</a:t>
            </a:r>
            <a:endParaRPr lang="en-US" sz="1150" dirty="0"/>
          </a:p>
        </p:txBody>
      </p:sp>
      <p:sp>
        <p:nvSpPr>
          <p:cNvPr id="35" name="arr-268"/>
          <p:cNvSpPr/>
          <p:nvPr/>
        </p:nvSpPr>
        <p:spPr>
          <a:xfrm>
            <a:off x="10049256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6" name="box-269"/>
          <p:cNvSpPr/>
          <p:nvPr/>
        </p:nvSpPr>
        <p:spPr>
          <a:xfrm>
            <a:off x="8979408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</p:txBody>
      </p:sp>
      <p:sp>
        <p:nvSpPr>
          <p:cNvPr id="37" name="text-270"/>
          <p:cNvSpPr txBox="1"/>
          <p:nvPr/>
        </p:nvSpPr>
        <p:spPr>
          <a:xfrm>
            <a:off x="694944" y="571500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输入：字段清单、一次等级、敏感目标及其影响对象与影响程度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71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72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三、二次标定（2/9）</a:t>
            </a:r>
            <a:endParaRPr lang="en-US" sz="2400" dirty="0"/>
          </a:p>
        </p:txBody>
      </p:sp>
      <p:sp>
        <p:nvSpPr>
          <p:cNvPr id="5" name="box-273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74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《披露细则》5.1~5.7、2.7；《分类分级手册》表 4.1~4.3；《数据开放目录》说明二(三)；《注册细则》5.10~5.12</a:t>
            </a:r>
            <a:endParaRPr lang="en-US" sz="1100" dirty="0"/>
          </a:p>
        </p:txBody>
      </p:sp>
      <p:sp>
        <p:nvSpPr>
          <p:cNvPr id="7" name="text-275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：确定各类接收方已掌握和可能获得的信息</a:t>
            </a:r>
            <a:endParaRPr lang="en-US" sz="1800" dirty="0"/>
          </a:p>
        </p:txBody>
      </p:sp>
      <p:sp>
        <p:nvSpPr>
          <p:cNvPr id="8" name="text-276"/>
          <p:cNvSpPr txBox="1"/>
          <p:nvPr/>
        </p:nvSpPr>
        <p:spPr>
          <a:xfrm>
            <a:off x="694944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划分信息层级</a:t>
            </a:r>
            <a:endParaRPr lang="en-US" sz="1400" dirty="0"/>
          </a:p>
        </p:txBody>
      </p:sp>
      <p:sp>
        <p:nvSpPr>
          <p:cNvPr id="9" name="box-277"/>
          <p:cNvSpPr/>
          <p:nvPr/>
        </p:nvSpPr>
        <p:spPr>
          <a:xfrm>
            <a:off x="694944" y="2167128"/>
            <a:ext cx="374904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278"/>
          <p:cNvSpPr txBox="1"/>
          <p:nvPr/>
        </p:nvSpPr>
        <p:spPr>
          <a:xfrm>
            <a:off x="804672" y="2203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内部数据（未披露）</a:t>
            </a:r>
            <a:endParaRPr lang="en-US" sz="1150" dirty="0"/>
          </a:p>
        </p:txBody>
      </p:sp>
      <p:sp>
        <p:nvSpPr>
          <p:cNvPr id="11" name="box-279"/>
          <p:cNvSpPr/>
          <p:nvPr/>
        </p:nvSpPr>
        <p:spPr>
          <a:xfrm>
            <a:off x="877824" y="2514600"/>
            <a:ext cx="3383280" cy="28346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-280"/>
          <p:cNvSpPr txBox="1"/>
          <p:nvPr/>
        </p:nvSpPr>
        <p:spPr>
          <a:xfrm>
            <a:off x="987552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特定信息：申报量价、机组实际出力等</a:t>
            </a:r>
            <a:endParaRPr lang="en-US" sz="1150" dirty="0"/>
          </a:p>
        </p:txBody>
      </p:sp>
      <p:sp>
        <p:nvSpPr>
          <p:cNvPr id="13" name="box-281"/>
          <p:cNvSpPr/>
          <p:nvPr/>
        </p:nvSpPr>
        <p:spPr>
          <a:xfrm>
            <a:off x="1060704" y="2862072"/>
            <a:ext cx="3017520" cy="23774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-282"/>
          <p:cNvSpPr txBox="1"/>
          <p:nvPr/>
        </p:nvSpPr>
        <p:spPr>
          <a:xfrm>
            <a:off x="1170432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公开信息：预测类、出清类、运行类</a:t>
            </a:r>
            <a:endParaRPr lang="en-US" sz="1150" dirty="0"/>
          </a:p>
        </p:txBody>
      </p:sp>
      <p:sp>
        <p:nvSpPr>
          <p:cNvPr id="15" name="box-283"/>
          <p:cNvSpPr/>
          <p:nvPr/>
        </p:nvSpPr>
        <p:spPr>
          <a:xfrm>
            <a:off x="1243584" y="322783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-284"/>
          <p:cNvSpPr txBox="1"/>
          <p:nvPr/>
        </p:nvSpPr>
        <p:spPr>
          <a:xfrm>
            <a:off x="1353312" y="3264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公众信息</a:t>
            </a:r>
            <a:endParaRPr lang="en-US" sz="1150" dirty="0"/>
          </a:p>
        </p:txBody>
      </p:sp>
      <p:sp>
        <p:nvSpPr>
          <p:cNvPr id="17" name="text-285"/>
          <p:cNvSpPr txBox="1"/>
          <p:nvPr/>
        </p:nvSpPr>
        <p:spPr>
          <a:xfrm>
            <a:off x="1353312" y="3566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企业基本信息、交易规则、市场运行总体情况；无条件开放的数据；外部公开数据</a:t>
            </a:r>
            <a:endParaRPr lang="en-US" sz="1100" dirty="0"/>
          </a:p>
        </p:txBody>
      </p:sp>
      <p:sp>
        <p:nvSpPr>
          <p:cNvPr id="18" name="text-286"/>
          <p:cNvSpPr txBox="1"/>
          <p:nvPr/>
        </p:nvSpPr>
        <p:spPr>
          <a:xfrm>
            <a:off x="694944" y="5513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外层接收方可见内层全部信息</a:t>
            </a:r>
            <a:endParaRPr lang="en-US" sz="1100" dirty="0"/>
          </a:p>
        </p:txBody>
      </p:sp>
      <p:sp>
        <p:nvSpPr>
          <p:cNvPr id="19" name="arr-287"/>
          <p:cNvSpPr/>
          <p:nvPr/>
        </p:nvSpPr>
        <p:spPr>
          <a:xfrm>
            <a:off x="4517136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text-288"/>
          <p:cNvSpPr txBox="1"/>
          <p:nvPr/>
        </p:nvSpPr>
        <p:spPr>
          <a:xfrm>
            <a:off x="4864608" y="17830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确定场景要素</a:t>
            </a:r>
            <a:endParaRPr lang="en-US" sz="1400" dirty="0"/>
          </a:p>
        </p:txBody>
      </p:sp>
      <p:graphicFrame>
        <p:nvGraphicFramePr>
          <p:cNvPr id="14" name="table-2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2167128"/>
          <a:ext cx="3977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可见层级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公开基底 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社会公众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 + 公开信息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特定对象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3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再加获准的特定信息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box-290"/>
          <p:cNvSpPr/>
          <p:nvPr/>
        </p:nvSpPr>
        <p:spPr>
          <a:xfrm>
            <a:off x="4864608" y="388620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公开基底 B</a:t>
            </a:r>
            <a:endParaRPr lang="en-US" sz="1200" dirty="0"/>
          </a:p>
        </p:txBody>
      </p:sp>
      <p:sp>
        <p:nvSpPr>
          <p:cNvPr id="23" name="box-291"/>
          <p:cNvSpPr/>
          <p:nvPr/>
        </p:nvSpPr>
        <p:spPr>
          <a:xfrm>
            <a:off x="6053328" y="388620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该角色已掌握的信息</a:t>
            </a:r>
            <a:endParaRPr lang="en-US" sz="1150" dirty="0"/>
          </a:p>
        </p:txBody>
      </p:sp>
      <p:sp>
        <p:nvSpPr>
          <p:cNvPr id="24" name="box-292"/>
          <p:cNvSpPr/>
          <p:nvPr/>
        </p:nvSpPr>
        <p:spPr>
          <a:xfrm>
            <a:off x="4864608" y="443484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背景池 H</a:t>
            </a:r>
            <a:endParaRPr lang="en-US" sz="1200" dirty="0"/>
          </a:p>
        </p:txBody>
      </p:sp>
      <p:sp>
        <p:nvSpPr>
          <p:cNvPr id="25" name="box-293"/>
          <p:cNvSpPr/>
          <p:nvPr/>
        </p:nvSpPr>
        <p:spPr>
          <a:xfrm>
            <a:off x="6053328" y="443484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该角色还可能获得的字段</a:t>
            </a:r>
            <a:endParaRPr lang="en-US" sz="1150" dirty="0"/>
          </a:p>
        </p:txBody>
      </p:sp>
      <p:sp>
        <p:nvSpPr>
          <p:cNvPr id="26" name="box-294"/>
          <p:cNvSpPr/>
          <p:nvPr/>
        </p:nvSpPr>
        <p:spPr>
          <a:xfrm>
            <a:off x="4864608" y="498348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背景预算 K</a:t>
            </a:r>
            <a:endParaRPr lang="en-US" sz="1200" dirty="0"/>
          </a:p>
        </p:txBody>
      </p:sp>
      <p:sp>
        <p:nvSpPr>
          <p:cNvPr id="27" name="box-295"/>
          <p:cNvSpPr/>
          <p:nvPr/>
        </p:nvSpPr>
        <p:spPr>
          <a:xfrm>
            <a:off x="6053328" y="498348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推断时在 B 之外最多使用的字段数</a:t>
            </a:r>
            <a:endParaRPr lang="en-US" sz="1150" dirty="0"/>
          </a:p>
        </p:txBody>
      </p:sp>
      <p:sp>
        <p:nvSpPr>
          <p:cNvPr id="28" name="arr-296"/>
          <p:cNvSpPr/>
          <p:nvPr/>
        </p:nvSpPr>
        <p:spPr>
          <a:xfrm>
            <a:off x="8915400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9" name="text-297"/>
          <p:cNvSpPr txBox="1"/>
          <p:nvPr/>
        </p:nvSpPr>
        <p:spPr>
          <a:xfrm>
            <a:off x="9262872" y="1783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按披露时点更新</a:t>
            </a:r>
            <a:endParaRPr lang="en-US" sz="1400" dirty="0"/>
          </a:p>
        </p:txBody>
      </p:sp>
      <p:sp>
        <p:nvSpPr>
          <p:cNvPr id="30" name="box-298"/>
          <p:cNvSpPr/>
          <p:nvPr/>
        </p:nvSpPr>
        <p:spPr>
          <a:xfrm>
            <a:off x="9262872" y="2167128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交易申报前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预测类信息已知</a:t>
            </a:r>
            <a:endParaRPr lang="en-US" sz="1200" dirty="0"/>
          </a:p>
        </p:txBody>
      </p:sp>
      <p:sp>
        <p:nvSpPr>
          <p:cNvPr id="31" name="arr-299"/>
          <p:cNvSpPr/>
          <p:nvPr/>
        </p:nvSpPr>
        <p:spPr>
          <a:xfrm>
            <a:off x="10195560" y="3044952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2" name="box-300"/>
          <p:cNvSpPr/>
          <p:nvPr/>
        </p:nvSpPr>
        <p:spPr>
          <a:xfrm>
            <a:off x="9262872" y="3282696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出清类信息已知</a:t>
            </a:r>
            <a:endParaRPr lang="en-US" sz="1200" dirty="0"/>
          </a:p>
        </p:txBody>
      </p:sp>
      <p:sp>
        <p:nvSpPr>
          <p:cNvPr id="33" name="arr-301"/>
          <p:cNvSpPr/>
          <p:nvPr/>
        </p:nvSpPr>
        <p:spPr>
          <a:xfrm>
            <a:off x="10195560" y="4160520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4" name="box-302"/>
          <p:cNvSpPr/>
          <p:nvPr/>
        </p:nvSpPr>
        <p:spPr>
          <a:xfrm>
            <a:off x="9262872" y="4398264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运行日次日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运行类信息已知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0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0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三、二次标定（3/9）</a:t>
            </a:r>
            <a:endParaRPr lang="en-US" sz="2400" dirty="0"/>
          </a:p>
        </p:txBody>
      </p:sp>
      <p:sp>
        <p:nvSpPr>
          <p:cNvPr id="5" name="box-30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0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《分类分级手册》分级要素“深度”：通过关联、挖掘、融合对隐含信息的刻画程度</a:t>
            </a:r>
            <a:endParaRPr lang="en-US" sz="1100" dirty="0"/>
          </a:p>
        </p:txBody>
      </p:sp>
      <p:sp>
        <p:nvSpPr>
          <p:cNvPr id="7" name="text-30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字段推断敏感度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：定义</a:t>
            </a:r>
            <a:endParaRPr lang="en-US" sz="1800" dirty="0"/>
          </a:p>
        </p:txBody>
      </p:sp>
      <p:sp>
        <p:nvSpPr>
          <p:cNvPr id="8" name="box-308"/>
          <p:cNvSpPr/>
          <p:nvPr/>
        </p:nvSpPr>
        <p:spPr>
          <a:xfrm>
            <a:off x="694944" y="1828800"/>
            <a:ext cx="2377440" cy="54864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接收方已掌握的信息 B</a:t>
            </a:r>
            <a:endParaRPr lang="en-US" sz="1200" dirty="0"/>
          </a:p>
        </p:txBody>
      </p:sp>
      <p:sp>
        <p:nvSpPr>
          <p:cNvPr id="9" name="box-309"/>
          <p:cNvSpPr/>
          <p:nvPr/>
        </p:nvSpPr>
        <p:spPr>
          <a:xfrm>
            <a:off x="694944" y="2514600"/>
            <a:ext cx="237744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背景字段 T（不超过 K 个）</a:t>
            </a:r>
            <a:endParaRPr lang="en-US" sz="1200" dirty="0"/>
          </a:p>
        </p:txBody>
      </p:sp>
      <p:sp>
        <p:nvSpPr>
          <p:cNvPr id="10" name="box-310"/>
          <p:cNvSpPr/>
          <p:nvPr/>
        </p:nvSpPr>
        <p:spPr>
          <a:xfrm>
            <a:off x="694944" y="3566160"/>
            <a:ext cx="2377440" cy="5486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待评估字段 i</a:t>
            </a:r>
            <a:endParaRPr lang="en-US" sz="1250" dirty="0"/>
          </a:p>
        </p:txBody>
      </p:sp>
      <p:sp>
        <p:nvSpPr>
          <p:cNvPr id="11" name="box-311"/>
          <p:cNvSpPr/>
          <p:nvPr/>
        </p:nvSpPr>
        <p:spPr>
          <a:xfrm>
            <a:off x="3566160" y="205740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1250" dirty="0"/>
          </a:p>
        </p:txBody>
      </p:sp>
      <p:sp>
        <p:nvSpPr>
          <p:cNvPr id="12" name="box-312"/>
          <p:cNvSpPr/>
          <p:nvPr/>
        </p:nvSpPr>
        <p:spPr>
          <a:xfrm>
            <a:off x="3566160" y="342900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1250" dirty="0"/>
          </a:p>
        </p:txBody>
      </p:sp>
      <p:sp>
        <p:nvSpPr>
          <p:cNvPr id="13" name="ln-313"/>
          <p:cNvSpPr/>
          <p:nvPr/>
        </p:nvSpPr>
        <p:spPr>
          <a:xfrm>
            <a:off x="3072384" y="2103120"/>
            <a:ext cx="475488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ln-314"/>
          <p:cNvSpPr/>
          <p:nvPr/>
        </p:nvSpPr>
        <p:spPr>
          <a:xfrm flipV="1">
            <a:off x="3072384" y="2560320"/>
            <a:ext cx="475488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ln-315"/>
          <p:cNvSpPr/>
          <p:nvPr/>
        </p:nvSpPr>
        <p:spPr>
          <a:xfrm>
            <a:off x="3072384" y="3840480"/>
            <a:ext cx="475488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6" name="ln-316"/>
          <p:cNvSpPr/>
          <p:nvPr/>
        </p:nvSpPr>
        <p:spPr>
          <a:xfrm>
            <a:off x="3200400" y="2441448"/>
            <a:ext cx="0" cy="1197864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none"/>
          </a:ln>
        </p:spPr>
      </p:sp>
      <p:sp>
        <p:nvSpPr>
          <p:cNvPr id="17" name="ln-317"/>
          <p:cNvSpPr/>
          <p:nvPr/>
        </p:nvSpPr>
        <p:spPr>
          <a:xfrm>
            <a:off x="3200400" y="3639312"/>
            <a:ext cx="34747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triangle"/>
          </a:ln>
        </p:spPr>
      </p:sp>
      <p:sp>
        <p:nvSpPr>
          <p:cNvPr id="18" name="arr-318"/>
          <p:cNvSpPr/>
          <p:nvPr/>
        </p:nvSpPr>
        <p:spPr>
          <a:xfrm>
            <a:off x="4498848" y="2313432"/>
            <a:ext cx="310896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arr-319"/>
          <p:cNvSpPr/>
          <p:nvPr/>
        </p:nvSpPr>
        <p:spPr>
          <a:xfrm>
            <a:off x="4498848" y="3685032"/>
            <a:ext cx="310896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320"/>
          <p:cNvSpPr/>
          <p:nvPr/>
        </p:nvSpPr>
        <p:spPr>
          <a:xfrm>
            <a:off x="4864608" y="2011680"/>
            <a:ext cx="1737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未获得字段 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y 的推断精度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(B∪T)</a:t>
            </a:r>
            <a:endParaRPr lang="en-US" sz="1200" dirty="0"/>
          </a:p>
        </p:txBody>
      </p:sp>
      <p:sp>
        <p:nvSpPr>
          <p:cNvPr id="21" name="box-321"/>
          <p:cNvSpPr/>
          <p:nvPr/>
        </p:nvSpPr>
        <p:spPr>
          <a:xfrm>
            <a:off x="4864608" y="338328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获得字段 i 后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y 的推断精度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(B∪T∪{i})</a:t>
            </a:r>
            <a:endParaRPr lang="en-US" sz="1200" dirty="0"/>
          </a:p>
        </p:txBody>
      </p:sp>
      <p:sp>
        <p:nvSpPr>
          <p:cNvPr id="22" name="text-322"/>
          <p:cNvSpPr txBox="1"/>
          <p:nvPr/>
        </p:nvSpPr>
        <p:spPr>
          <a:xfrm>
            <a:off x="694944" y="4434840"/>
            <a:ext cx="5907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两者之差 = 字段 i 在背景 T 下的推断增益</a:t>
            </a:r>
            <a:endParaRPr lang="en-US" sz="1250" dirty="0"/>
          </a:p>
        </p:txBody>
      </p:sp>
      <p:sp>
        <p:nvSpPr>
          <p:cNvPr id="23" name="box-323"/>
          <p:cNvSpPr/>
          <p:nvPr/>
        </p:nvSpPr>
        <p:spPr>
          <a:xfrm>
            <a:off x="6858000" y="1828800"/>
            <a:ext cx="86868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基础量</a:t>
            </a:r>
            <a:endParaRPr lang="en-US" sz="1250" dirty="0"/>
          </a:p>
        </p:txBody>
      </p:sp>
      <p:sp>
        <p:nvSpPr>
          <p:cNvPr id="24" name="box-324"/>
          <p:cNvSpPr/>
          <p:nvPr/>
        </p:nvSpPr>
        <p:spPr>
          <a:xfrm>
            <a:off x="7726680" y="1828800"/>
            <a:ext cx="3767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text-325"/>
          <p:cNvSpPr txBox="1"/>
          <p:nvPr/>
        </p:nvSpPr>
        <p:spPr>
          <a:xfrm>
            <a:off x="7836408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集合推断能力  V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(S)</a:t>
            </a:r>
            <a:endParaRPr lang="en-US" sz="1500" dirty="0"/>
          </a:p>
        </p:txBody>
      </p:sp>
      <p:sp>
        <p:nvSpPr>
          <p:cNvPr id="26" name="text-326"/>
          <p:cNvSpPr txBox="1"/>
          <p:nvPr/>
        </p:nvSpPr>
        <p:spPr>
          <a:xfrm>
            <a:off x="7836408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仅用字段集合 S 推断敏感数据 y 的精度（R²，0~1）</a:t>
            </a:r>
            <a:endParaRPr lang="en-US" sz="1100" dirty="0"/>
          </a:p>
        </p:txBody>
      </p:sp>
      <p:sp>
        <p:nvSpPr>
          <p:cNvPr id="27" name="box-327"/>
          <p:cNvSpPr/>
          <p:nvPr/>
        </p:nvSpPr>
        <p:spPr>
          <a:xfrm>
            <a:off x="6858000" y="2834640"/>
            <a:ext cx="868680" cy="19202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250" dirty="0"/>
          </a:p>
        </p:txBody>
      </p:sp>
      <p:sp>
        <p:nvSpPr>
          <p:cNvPr id="28" name="box-328"/>
          <p:cNvSpPr/>
          <p:nvPr/>
        </p:nvSpPr>
        <p:spPr>
          <a:xfrm>
            <a:off x="7726680" y="2834640"/>
            <a:ext cx="3767328" cy="192024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9" name="text-329"/>
          <p:cNvSpPr txBox="1"/>
          <p:nvPr/>
        </p:nvSpPr>
        <p:spPr>
          <a:xfrm>
            <a:off x="7836408" y="2871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450" dirty="0"/>
          </a:p>
        </p:txBody>
      </p:sp>
      <p:sp>
        <p:nvSpPr>
          <p:cNvPr id="30" name="text-330"/>
          <p:cNvSpPr txBox="1"/>
          <p:nvPr/>
        </p:nvSpPr>
        <p:spPr>
          <a:xfrm>
            <a:off x="7836408" y="3218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i→y</a:t>
            </a:r>
            <a:pPr algn="l" indent="0" marL="0">
              <a:buNone/>
            </a:pPr>
            <a:r>
              <a:rPr lang="en-US" sz="13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max [ 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(B∪T∪{i}) − 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(B∪T) ]</a:t>
            </a:r>
            <a:endParaRPr lang="en-US" sz="1350" dirty="0"/>
          </a:p>
        </p:txBody>
      </p:sp>
      <p:sp>
        <p:nvSpPr>
          <p:cNvPr id="31" name="text-331"/>
          <p:cNvSpPr txBox="1"/>
          <p:nvPr/>
        </p:nvSpPr>
        <p:spPr>
          <a:xfrm>
            <a:off x="7836408" y="36210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对所有 |T| ≤ K 的背景字段组合 T 取最大</a:t>
            </a:r>
            <a:endParaRPr lang="en-US" sz="1150" dirty="0"/>
          </a:p>
        </p:txBody>
      </p:sp>
      <p:sp>
        <p:nvSpPr>
          <p:cNvPr id="32" name="text-332"/>
          <p:cNvSpPr txBox="1"/>
          <p:nvPr/>
        </p:nvSpPr>
        <p:spPr>
          <a:xfrm>
            <a:off x="7836408" y="395020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含义：在接收方已掌握的信息基础上，再获得字段 i，对敏感数据 y 的推断精度最多能提高多少。取值 0~1。</a:t>
            </a:r>
            <a:endParaRPr lang="en-US" sz="1100" dirty="0"/>
          </a:p>
        </p:txBody>
      </p:sp>
      <p:sp>
        <p:nvSpPr>
          <p:cNvPr id="33" name="box-333"/>
          <p:cNvSpPr/>
          <p:nvPr/>
        </p:nvSpPr>
        <p:spPr>
          <a:xfrm>
            <a:off x="694944" y="4983480"/>
            <a:ext cx="10799064" cy="100584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text-334"/>
          <p:cNvSpPr txBox="1"/>
          <p:nvPr/>
        </p:nvSpPr>
        <p:spPr>
          <a:xfrm>
            <a:off x="868680" y="502920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由接收方角色和披露时点确定（见 3.1）；T 取自该角色还可能获得的字段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为背景字段数的上限，取 2；可逐步增大，至 M 不再明显变化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一个字段对多个敏感数据分别计算，各得到一个 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35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36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三、二次标定（4/9）</a:t>
            </a:r>
            <a:endParaRPr lang="en-US" sz="2400" dirty="0"/>
          </a:p>
        </p:txBody>
      </p:sp>
      <p:sp>
        <p:nvSpPr>
          <p:cNvPr id="5" name="box-337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38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《分类分级手册》分级要素“深度”、分级原则“从严性”；《风险评估手册》第 382 项</a:t>
            </a:r>
            <a:endParaRPr lang="en-US" sz="1100" dirty="0"/>
          </a:p>
        </p:txBody>
      </p:sp>
      <p:sp>
        <p:nvSpPr>
          <p:cNvPr id="7" name="text-339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字段推断敏感度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：作为字段级度量的依据与算例</a:t>
            </a:r>
            <a:endParaRPr lang="en-US" sz="1800" dirty="0"/>
          </a:p>
        </p:txBody>
      </p:sp>
      <p:sp>
        <p:nvSpPr>
          <p:cNvPr id="8" name="box-340"/>
          <p:cNvSpPr/>
          <p:nvPr/>
        </p:nvSpPr>
        <p:spPr>
          <a:xfrm>
            <a:off x="694944" y="1783080"/>
            <a:ext cx="457200" cy="1207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box-341"/>
          <p:cNvSpPr/>
          <p:nvPr/>
        </p:nvSpPr>
        <p:spPr>
          <a:xfrm>
            <a:off x="1152144" y="17830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342"/>
          <p:cNvSpPr txBox="1"/>
          <p:nvPr/>
        </p:nvSpPr>
        <p:spPr>
          <a:xfrm>
            <a:off x="1280160" y="18379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衡量可推断的程度</a:t>
            </a:r>
            <a:endParaRPr lang="en-US" sz="1400" dirty="0"/>
          </a:p>
        </p:txBody>
      </p:sp>
      <p:sp>
        <p:nvSpPr>
          <p:cNvPr id="11" name="text-343"/>
          <p:cNvSpPr txBox="1"/>
          <p:nvPr/>
        </p:nvSpPr>
        <p:spPr>
          <a:xfrm>
            <a:off x="1280160" y="22037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由推断模型在留出数据上的精度得到，反映敏感数据实际能被还原多少，而不只是统计上的相关。</a:t>
            </a:r>
            <a:endParaRPr lang="en-US" sz="1150" dirty="0"/>
          </a:p>
        </p:txBody>
      </p:sp>
      <p:sp>
        <p:nvSpPr>
          <p:cNvPr id="12" name="box-344"/>
          <p:cNvSpPr/>
          <p:nvPr/>
        </p:nvSpPr>
        <p:spPr>
          <a:xfrm>
            <a:off x="694944" y="3154680"/>
            <a:ext cx="457200" cy="12070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box-345"/>
          <p:cNvSpPr/>
          <p:nvPr/>
        </p:nvSpPr>
        <p:spPr>
          <a:xfrm>
            <a:off x="1152144" y="31546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-346"/>
          <p:cNvSpPr txBox="1"/>
          <p:nvPr/>
        </p:nvSpPr>
        <p:spPr>
          <a:xfrm>
            <a:off x="1280160" y="32095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计入接收方已有的信息</a:t>
            </a:r>
            <a:endParaRPr lang="en-US" sz="1400" dirty="0"/>
          </a:p>
        </p:txBody>
      </p:sp>
      <p:sp>
        <p:nvSpPr>
          <p:cNvPr id="15" name="text-347"/>
          <p:cNvSpPr txBox="1"/>
          <p:nvPr/>
        </p:nvSpPr>
        <p:spPr>
          <a:xfrm>
            <a:off x="1280160" y="35753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同一字段在不同背景下的作用不同；单独作用小的字段，与已有信息融合后可能起决定作用。</a:t>
            </a:r>
            <a:endParaRPr lang="en-US" sz="1150" dirty="0"/>
          </a:p>
        </p:txBody>
      </p:sp>
      <p:sp>
        <p:nvSpPr>
          <p:cNvPr id="16" name="box-348"/>
          <p:cNvSpPr/>
          <p:nvPr/>
        </p:nvSpPr>
        <p:spPr>
          <a:xfrm>
            <a:off x="694944" y="4526280"/>
            <a:ext cx="457200" cy="120700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box-349"/>
          <p:cNvSpPr/>
          <p:nvPr/>
        </p:nvSpPr>
        <p:spPr>
          <a:xfrm>
            <a:off x="1152144" y="4526280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-350"/>
          <p:cNvSpPr txBox="1"/>
          <p:nvPr/>
        </p:nvSpPr>
        <p:spPr>
          <a:xfrm>
            <a:off x="1280160" y="4581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取最大值，落到单个字段</a:t>
            </a:r>
            <a:endParaRPr lang="en-US" sz="1400" dirty="0"/>
          </a:p>
        </p:txBody>
      </p:sp>
      <p:sp>
        <p:nvSpPr>
          <p:cNvPr id="19" name="text-351"/>
          <p:cNvSpPr txBox="1"/>
          <p:nvPr/>
        </p:nvSpPr>
        <p:spPr>
          <a:xfrm>
            <a:off x="1280160" y="494690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对各种背景取最大，对应“从严性”；每个字段得到一个 0~1 的数值，并指明对应的敏感数据和背景，可比较、可复核。</a:t>
            </a:r>
            <a:endParaRPr lang="en-US" sz="1150" dirty="0"/>
          </a:p>
        </p:txBody>
      </p:sp>
      <p:sp>
        <p:nvSpPr>
          <p:cNvPr id="20" name="box-352"/>
          <p:cNvSpPr/>
          <p:nvPr/>
        </p:nvSpPr>
        <p:spPr>
          <a:xfrm>
            <a:off x="5943600" y="1783080"/>
            <a:ext cx="5550408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box-353"/>
          <p:cNvSpPr/>
          <p:nvPr/>
        </p:nvSpPr>
        <p:spPr>
          <a:xfrm>
            <a:off x="6080760" y="189280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算例</a:t>
            </a:r>
            <a:endParaRPr lang="en-US" sz="1000" dirty="0"/>
          </a:p>
        </p:txBody>
      </p:sp>
      <p:sp>
        <p:nvSpPr>
          <p:cNvPr id="22" name="text-354"/>
          <p:cNvSpPr txBox="1"/>
          <p:nvPr/>
        </p:nvSpPr>
        <p:spPr>
          <a:xfrm>
            <a:off x="6739128" y="1892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字段：南澳风电出力预测；敏感数据 y：南澳某燃气机组小时出力；K = 2</a:t>
            </a:r>
            <a:endParaRPr lang="en-US" sz="1050" dirty="0"/>
          </a:p>
        </p:txBody>
      </p:sp>
      <p:graphicFrame>
        <p:nvGraphicFramePr>
          <p:cNvPr id="16" name="table-3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240280"/>
          <a:ext cx="5276088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024128"/>
                <a:gridCol w="1024128"/>
                <a:gridCol w="9875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背景字段 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未获得该字段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获得该字段后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推断增益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光伏出力预测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可用发电容量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可用发电容量 + 光伏出力预测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-356"/>
          <p:cNvSpPr txBox="1"/>
          <p:nvPr/>
        </p:nvSpPr>
        <p:spPr>
          <a:xfrm>
            <a:off x="6080760" y="4114800"/>
            <a:ext cx="5276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表中为对 y 的推断精度</a:t>
            </a:r>
            <a:endParaRPr lang="en-US" sz="1000" dirty="0"/>
          </a:p>
        </p:txBody>
      </p:sp>
      <p:sp>
        <p:nvSpPr>
          <p:cNvPr id="25" name="text-357"/>
          <p:cNvSpPr txBox="1"/>
          <p:nvPr/>
        </p:nvSpPr>
        <p:spPr>
          <a:xfrm>
            <a:off x="6172200" y="4407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40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(2)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0.60，背景：可用发电容量 + 光伏出力预测</a:t>
            </a:r>
            <a:endParaRPr lang="en-US" sz="1400" dirty="0"/>
          </a:p>
        </p:txBody>
      </p:sp>
      <p:sp>
        <p:nvSpPr>
          <p:cNvPr id="26" name="text-358"/>
          <p:cNvSpPr txBox="1"/>
          <p:nvPr/>
        </p:nvSpPr>
        <p:spPr>
          <a:xfrm>
            <a:off x="6172200" y="48280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该字段单独的推断精度为 0.19；在已掌握另外两项信息时，可使推断精度由 0.20 提高到 0.80。若只按单字段评估，其敏感度将被低估。</a:t>
            </a:r>
            <a:endParaRPr lang="en-US" sz="1150" dirty="0"/>
          </a:p>
        </p:txBody>
      </p:sp>
      <p:sp>
        <p:nvSpPr>
          <p:cNvPr id="27" name="text-359"/>
          <p:cNvSpPr txBox="1"/>
          <p:nvPr/>
        </p:nvSpPr>
        <p:spPr>
          <a:xfrm>
            <a:off x="6172200" y="5559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数据：澳大利亚国家电力市场（NEM）2024 年公开数据，逐一重训推断模型得到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6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6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三、二次标定（5/9）</a:t>
            </a:r>
            <a:endParaRPr lang="en-US" sz="2400" dirty="0"/>
          </a:p>
        </p:txBody>
      </p:sp>
      <p:sp>
        <p:nvSpPr>
          <p:cNvPr id="5" name="box-362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63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项（聚合性推断测试）、第 330、351 项；《分类分级手册》附录 E</a:t>
            </a:r>
            <a:endParaRPr lang="en-US" sz="1100" dirty="0"/>
          </a:p>
        </p:txBody>
      </p:sp>
      <p:sp>
        <p:nvSpPr>
          <p:cNvPr id="7" name="text-364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敏感度计算与验证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：关联分析、集合扫描、重训验证</a:t>
            </a:r>
            <a:endParaRPr lang="en-US" sz="1800" dirty="0"/>
          </a:p>
        </p:txBody>
      </p:sp>
      <p:sp>
        <p:nvSpPr>
          <p:cNvPr id="8" name="box-365"/>
          <p:cNvSpPr/>
          <p:nvPr/>
        </p:nvSpPr>
        <p:spPr>
          <a:xfrm>
            <a:off x="694944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box-366"/>
          <p:cNvSpPr/>
          <p:nvPr/>
        </p:nvSpPr>
        <p:spPr>
          <a:xfrm>
            <a:off x="1952244" y="1828800"/>
            <a:ext cx="914400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-367"/>
          <p:cNvSpPr txBox="1"/>
          <p:nvPr/>
        </p:nvSpPr>
        <p:spPr>
          <a:xfrm>
            <a:off x="768096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</a:t>
            </a:r>
            <a:endParaRPr lang="en-US" sz="1400" dirty="0"/>
          </a:p>
        </p:txBody>
      </p:sp>
      <p:sp>
        <p:nvSpPr>
          <p:cNvPr id="11" name="text-368"/>
          <p:cNvSpPr txBox="1"/>
          <p:nvPr/>
        </p:nvSpPr>
        <p:spPr>
          <a:xfrm>
            <a:off x="822960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计算字段间的线性、秩和非线性关联并融合，构建关联图，用于解释字段关系和排定计算优先级。</a:t>
            </a:r>
            <a:endParaRPr lang="en-US" sz="1200" dirty="0"/>
          </a:p>
        </p:txBody>
      </p:sp>
      <p:sp>
        <p:nvSpPr>
          <p:cNvPr id="12" name="box-369"/>
          <p:cNvSpPr/>
          <p:nvPr/>
        </p:nvSpPr>
        <p:spPr>
          <a:xfrm>
            <a:off x="4379976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ox-370"/>
          <p:cNvSpPr/>
          <p:nvPr/>
        </p:nvSpPr>
        <p:spPr>
          <a:xfrm>
            <a:off x="5637276" y="1828800"/>
            <a:ext cx="914400" cy="32918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-371"/>
          <p:cNvSpPr txBox="1"/>
          <p:nvPr/>
        </p:nvSpPr>
        <p:spPr>
          <a:xfrm>
            <a:off x="4453128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集合扫描</a:t>
            </a:r>
            <a:endParaRPr lang="en-US" sz="1400" dirty="0"/>
          </a:p>
        </p:txBody>
      </p:sp>
      <p:sp>
        <p:nvSpPr>
          <p:cNvPr id="15" name="text-372"/>
          <p:cNvSpPr txBox="1"/>
          <p:nvPr/>
        </p:nvSpPr>
        <p:spPr>
          <a:xfrm>
            <a:off x="4507992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用通用推断模型估计各字段组合对敏感数据的推断能力，得到每个字段的推断敏感度及其背景。</a:t>
            </a:r>
            <a:endParaRPr lang="en-US" sz="1200" dirty="0"/>
          </a:p>
        </p:txBody>
      </p:sp>
      <p:sp>
        <p:nvSpPr>
          <p:cNvPr id="16" name="box-373"/>
          <p:cNvSpPr/>
          <p:nvPr/>
        </p:nvSpPr>
        <p:spPr>
          <a:xfrm>
            <a:off x="8065008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374"/>
          <p:cNvSpPr/>
          <p:nvPr/>
        </p:nvSpPr>
        <p:spPr>
          <a:xfrm>
            <a:off x="9322308" y="1828800"/>
            <a:ext cx="914400" cy="329184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-375"/>
          <p:cNvSpPr txBox="1"/>
          <p:nvPr/>
        </p:nvSpPr>
        <p:spPr>
          <a:xfrm>
            <a:off x="8138160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400" dirty="0"/>
          </a:p>
        </p:txBody>
      </p:sp>
      <p:sp>
        <p:nvSpPr>
          <p:cNvPr id="19" name="text-376"/>
          <p:cNvSpPr txBox="1"/>
          <p:nvPr/>
        </p:nvSpPr>
        <p:spPr>
          <a:xfrm>
            <a:off x="8193024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对敏感度较高的字段，按其背景组合重新训练推断模型，确认敏感度数值。</a:t>
            </a:r>
            <a:endParaRPr lang="en-US" sz="1200" dirty="0"/>
          </a:p>
        </p:txBody>
      </p:sp>
      <p:sp>
        <p:nvSpPr>
          <p:cNvPr id="20" name="arr-377"/>
          <p:cNvSpPr/>
          <p:nvPr/>
        </p:nvSpPr>
        <p:spPr>
          <a:xfrm>
            <a:off x="4142232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1" name="arr-378"/>
          <p:cNvSpPr/>
          <p:nvPr/>
        </p:nvSpPr>
        <p:spPr>
          <a:xfrm>
            <a:off x="7827264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text-379"/>
          <p:cNvSpPr txBox="1"/>
          <p:nvPr/>
        </p:nvSpPr>
        <p:spPr>
          <a:xfrm>
            <a:off x="694944" y="3886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产出：字段推断敏感度表</a:t>
            </a:r>
            <a:endParaRPr lang="en-US" sz="1400" dirty="0"/>
          </a:p>
        </p:txBody>
      </p:sp>
      <p:graphicFrame>
        <p:nvGraphicFramePr>
          <p:cNvPr id="17" name="table-3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297680"/>
          <a:ext cx="10799064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60120"/>
                <a:gridCol w="1188720"/>
                <a:gridCol w="1280160"/>
                <a:gridCol w="1005840"/>
                <a:gridCol w="1097280"/>
                <a:gridCol w="1097280"/>
                <a:gridCol w="1325880"/>
                <a:gridCol w="119786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获得前精度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获得后精度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推断敏感度 M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验证方式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B∪{D}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重训验证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4" name="box-381"/>
          <p:cNvSpPr/>
          <p:nvPr/>
        </p:nvSpPr>
        <p:spPr>
          <a:xfrm>
            <a:off x="694944" y="523036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25" name="text-382"/>
          <p:cNvSpPr txBox="1"/>
          <p:nvPr/>
        </p:nvSpPr>
        <p:spPr>
          <a:xfrm>
            <a:off x="1335024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表中一行为示例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8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8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三、二次标定（6/9）</a:t>
            </a:r>
            <a:endParaRPr lang="en-US" sz="2400" dirty="0"/>
          </a:p>
        </p:txBody>
      </p:sp>
      <p:sp>
        <p:nvSpPr>
          <p:cNvPr id="5" name="box-385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86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4.4、分级原则“从严性”“合理性”、附录 D；重要、核心数据须按主管部门要求识别申报</a:t>
            </a:r>
            <a:endParaRPr lang="en-US" sz="1100" dirty="0"/>
          </a:p>
        </p:txBody>
      </p:sp>
      <p:sp>
        <p:nvSpPr>
          <p:cNvPr id="7" name="text-387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：思路与规则驱动模式</a:t>
            </a:r>
            <a:endParaRPr lang="en-US" sz="1800" dirty="0"/>
          </a:p>
        </p:txBody>
      </p:sp>
      <p:sp>
        <p:nvSpPr>
          <p:cNvPr id="8" name="box-388"/>
          <p:cNvSpPr/>
          <p:nvPr/>
        </p:nvSpPr>
        <p:spPr>
          <a:xfrm>
            <a:off x="694944" y="1737360"/>
            <a:ext cx="2514600" cy="777240"/>
          </a:xfrm>
          <a:prstGeom prst="rect">
            <a:avLst/>
          </a:prstGeom>
          <a:solidFill>
            <a:srgbClr val="FBE5D6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M（对敏感数据 y）</a:t>
            </a:r>
            <a:endParaRPr lang="en-US" sz="1200" dirty="0"/>
          </a:p>
        </p:txBody>
      </p:sp>
      <p:sp>
        <p:nvSpPr>
          <p:cNvPr id="9" name="arr-389"/>
          <p:cNvSpPr/>
          <p:nvPr/>
        </p:nvSpPr>
        <p:spPr>
          <a:xfrm>
            <a:off x="3227832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390"/>
          <p:cNvSpPr/>
          <p:nvPr/>
        </p:nvSpPr>
        <p:spPr>
          <a:xfrm>
            <a:off x="3456432" y="1737360"/>
            <a:ext cx="2514600" cy="77724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影响程度折算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的影响程度按 M 降档</a:t>
            </a:r>
            <a:endParaRPr lang="en-US" sz="1200" dirty="0"/>
          </a:p>
        </p:txBody>
      </p:sp>
      <p:sp>
        <p:nvSpPr>
          <p:cNvPr id="11" name="arr-391"/>
          <p:cNvSpPr/>
          <p:nvPr/>
        </p:nvSpPr>
        <p:spPr>
          <a:xfrm>
            <a:off x="5989320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392"/>
          <p:cNvSpPr/>
          <p:nvPr/>
        </p:nvSpPr>
        <p:spPr>
          <a:xfrm>
            <a:off x="6217920" y="1737360"/>
            <a:ext cx="2514600" cy="77724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的影响对象 × 折算后的影响程度</a:t>
            </a:r>
            <a:endParaRPr lang="en-US" sz="1200" dirty="0"/>
          </a:p>
        </p:txBody>
      </p:sp>
      <p:sp>
        <p:nvSpPr>
          <p:cNvPr id="13" name="arr-393"/>
          <p:cNvSpPr/>
          <p:nvPr/>
        </p:nvSpPr>
        <p:spPr>
          <a:xfrm>
            <a:off x="8750808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394"/>
          <p:cNvSpPr/>
          <p:nvPr/>
        </p:nvSpPr>
        <p:spPr>
          <a:xfrm>
            <a:off x="8979408" y="1737360"/>
            <a:ext cx="2514600" cy="777240"/>
          </a:xfrm>
          <a:prstGeom prst="rect">
            <a:avLst/>
          </a:prstGeom>
          <a:solidFill>
            <a:srgbClr val="BDD7EE"/>
          </a:solidFill>
          <a:ln w="15875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与一次等级取高</a:t>
            </a:r>
            <a:endParaRPr lang="en-US" sz="1200" dirty="0"/>
          </a:p>
        </p:txBody>
      </p:sp>
      <p:sp>
        <p:nvSpPr>
          <p:cNvPr id="15" name="text-395"/>
          <p:cNvSpPr txBox="1"/>
          <p:nvPr/>
        </p:nvSpPr>
        <p:spPr>
          <a:xfrm>
            <a:off x="694944" y="2743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规则驱动模式的折算表</a:t>
            </a:r>
            <a:endParaRPr lang="en-US" sz="1400" dirty="0"/>
          </a:p>
        </p:txBody>
      </p:sp>
      <p:graphicFrame>
        <p:nvGraphicFramePr>
          <p:cNvPr id="18" name="table-3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10896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 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 以上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基本决定 y 能否被推断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 y 相同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 ~ 0.7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贡献显著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降一档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~ 0.4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有一定贡献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降两档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以下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可忽略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-397"/>
          <p:cNvSpPr txBox="1"/>
          <p:nvPr/>
        </p:nvSpPr>
        <p:spPr>
          <a:xfrm>
            <a:off x="694944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分档界限需结合业务确认</a:t>
            </a:r>
            <a:endParaRPr lang="en-US" sz="1050" dirty="0"/>
          </a:p>
        </p:txBody>
      </p:sp>
      <p:sp>
        <p:nvSpPr>
          <p:cNvPr id="18" name="text-398"/>
          <p:cNvSpPr txBox="1"/>
          <p:nvPr/>
        </p:nvSpPr>
        <p:spPr>
          <a:xfrm>
            <a:off x="5943600" y="2743200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规则驱动模式的标定规则</a:t>
            </a:r>
            <a:endParaRPr lang="en-US" sz="1400" dirty="0"/>
          </a:p>
        </p:txBody>
      </p:sp>
      <p:sp>
        <p:nvSpPr>
          <p:cNvPr id="19" name="box-399"/>
          <p:cNvSpPr/>
          <p:nvPr/>
        </p:nvSpPr>
        <p:spPr>
          <a:xfrm>
            <a:off x="5943600" y="3108960"/>
            <a:ext cx="5550408" cy="86868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-400"/>
          <p:cNvSpPr txBox="1"/>
          <p:nvPr/>
        </p:nvSpPr>
        <p:spPr>
          <a:xfrm>
            <a:off x="5943600" y="3108960"/>
            <a:ext cx="5550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 = max（一次等级，折算后查判定矩阵所得等级）</a:t>
            </a:r>
            <a:endParaRPr lang="en-US" sz="1550" dirty="0"/>
          </a:p>
        </p:txBody>
      </p:sp>
      <p:sp>
        <p:nvSpPr>
          <p:cNvPr id="21" name="text-401"/>
          <p:cNvSpPr txBox="1"/>
          <p:nvPr/>
        </p:nvSpPr>
        <p:spPr>
          <a:xfrm>
            <a:off x="6080760" y="4160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字段涉及多个敏感数据时，分别折算，取最高等级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折算只降不升，二次等级不超过被推断数据的等级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涉及重要数据、核心数据（4、5 级）时，只提出申报建议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法定公开字段的等级不调整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02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03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三、二次标定（7/9）</a:t>
            </a:r>
            <a:endParaRPr lang="en-US" sz="2400" dirty="0"/>
          </a:p>
        </p:txBody>
      </p:sp>
      <p:sp>
        <p:nvSpPr>
          <p:cNvPr id="5" name="box-404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05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《分类分级手册》分级原则“从严性”“合理性”（结合数据安全防护和保护成本之间关系，避免过度定级）、表 4.4</a:t>
            </a:r>
            <a:endParaRPr lang="en-US" sz="1100" dirty="0"/>
          </a:p>
        </p:txBody>
      </p:sp>
      <p:sp>
        <p:nvSpPr>
          <p:cNvPr id="7" name="text-406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：模型驱动模式（GRPO）</a:t>
            </a:r>
            <a:endParaRPr lang="en-US" sz="1800" dirty="0"/>
          </a:p>
        </p:txBody>
      </p:sp>
      <p:sp>
        <p:nvSpPr>
          <p:cNvPr id="8" name="box-407"/>
          <p:cNvSpPr/>
          <p:nvPr/>
        </p:nvSpPr>
        <p:spPr>
          <a:xfrm>
            <a:off x="694944" y="1691640"/>
            <a:ext cx="10799064" cy="658368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408"/>
          <p:cNvSpPr txBox="1"/>
          <p:nvPr/>
        </p:nvSpPr>
        <p:spPr>
          <a:xfrm>
            <a:off x="841248" y="17099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规则驱动模式对所有字段使用同一张折算表。模型驱动模式由强化学习（GRPO）根据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字段的使用代价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确定影响程度的折算档位，等级仍由判定矩阵给出。</a:t>
            </a:r>
            <a:endParaRPr lang="en-US" sz="1300" dirty="0"/>
          </a:p>
        </p:txBody>
      </p:sp>
      <p:sp>
        <p:nvSpPr>
          <p:cNvPr id="10" name="box-409"/>
          <p:cNvSpPr/>
          <p:nvPr/>
        </p:nvSpPr>
        <p:spPr>
          <a:xfrm>
            <a:off x="694944" y="2560320"/>
            <a:ext cx="251460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</a:t>
            </a:r>
            <a:endParaRPr lang="en-US" sz="1350" dirty="0"/>
          </a:p>
        </p:txBody>
      </p:sp>
      <p:sp>
        <p:nvSpPr>
          <p:cNvPr id="11" name="box-410"/>
          <p:cNvSpPr/>
          <p:nvPr/>
        </p:nvSpPr>
        <p:spPr>
          <a:xfrm>
            <a:off x="694944" y="29443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一次等级；推断敏感度 M 及其对应的敏感数据；敏感数据的影响对象与影响程度；字段使用代价；披露时点</a:t>
            </a:r>
            <a:endParaRPr lang="en-US" sz="1100" dirty="0"/>
          </a:p>
        </p:txBody>
      </p:sp>
      <p:sp>
        <p:nvSpPr>
          <p:cNvPr id="12" name="arr-411"/>
          <p:cNvSpPr/>
          <p:nvPr/>
        </p:nvSpPr>
        <p:spPr>
          <a:xfrm>
            <a:off x="3227832" y="310896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box-412"/>
          <p:cNvSpPr/>
          <p:nvPr/>
        </p:nvSpPr>
        <p:spPr>
          <a:xfrm>
            <a:off x="3456432" y="2560320"/>
            <a:ext cx="251460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1350" dirty="0"/>
          </a:p>
        </p:txBody>
      </p:sp>
      <p:sp>
        <p:nvSpPr>
          <p:cNvPr id="14" name="box-413"/>
          <p:cNvSpPr/>
          <p:nvPr/>
        </p:nvSpPr>
        <p:spPr>
          <a:xfrm>
            <a:off x="3456432" y="29443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影响程度的折算档位：与敏感数据相同 / 降一档 / 降两档 / 不调整</a:t>
            </a:r>
            <a:endParaRPr lang="en-US" sz="1100" dirty="0"/>
          </a:p>
        </p:txBody>
      </p:sp>
      <p:sp>
        <p:nvSpPr>
          <p:cNvPr id="15" name="arr-414"/>
          <p:cNvSpPr/>
          <p:nvPr/>
        </p:nvSpPr>
        <p:spPr>
          <a:xfrm>
            <a:off x="5989320" y="310896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6" name="box-415"/>
          <p:cNvSpPr/>
          <p:nvPr/>
        </p:nvSpPr>
        <p:spPr>
          <a:xfrm>
            <a:off x="6217920" y="2560320"/>
            <a:ext cx="2514600" cy="38404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350" dirty="0"/>
          </a:p>
        </p:txBody>
      </p:sp>
      <p:sp>
        <p:nvSpPr>
          <p:cNvPr id="17" name="box-416"/>
          <p:cNvSpPr/>
          <p:nvPr/>
        </p:nvSpPr>
        <p:spPr>
          <a:xfrm>
            <a:off x="6217920" y="29443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敏感数据的影响对象 × 折算后的影响程度 → 候选等级 L</a:t>
            </a:r>
            <a:endParaRPr lang="en-US" sz="1100" dirty="0"/>
          </a:p>
        </p:txBody>
      </p:sp>
      <p:sp>
        <p:nvSpPr>
          <p:cNvPr id="18" name="arr-417"/>
          <p:cNvSpPr/>
          <p:nvPr/>
        </p:nvSpPr>
        <p:spPr>
          <a:xfrm>
            <a:off x="8750808" y="3108960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box-418"/>
          <p:cNvSpPr/>
          <p:nvPr/>
        </p:nvSpPr>
        <p:spPr>
          <a:xfrm>
            <a:off x="8979408" y="2560320"/>
            <a:ext cx="2514600" cy="38404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</a:t>
            </a:r>
            <a:endParaRPr lang="en-US" sz="1350" dirty="0"/>
          </a:p>
        </p:txBody>
      </p:sp>
      <p:sp>
        <p:nvSpPr>
          <p:cNvPr id="20" name="box-419"/>
          <p:cNvSpPr/>
          <p:nvPr/>
        </p:nvSpPr>
        <p:spPr>
          <a:xfrm>
            <a:off x="8979408" y="2944368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安全收益 − 可用性成本，取效用最大的候选等级</a:t>
            </a:r>
            <a:endParaRPr lang="en-US" sz="1100" dirty="0"/>
          </a:p>
        </p:txBody>
      </p:sp>
      <p:sp>
        <p:nvSpPr>
          <p:cNvPr id="21" name="text-420"/>
          <p:cNvSpPr txBox="1"/>
          <p:nvPr/>
        </p:nvSpPr>
        <p:spPr>
          <a:xfrm>
            <a:off x="694944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效用函数</a:t>
            </a:r>
            <a:endParaRPr lang="en-US" sz="1400" dirty="0"/>
          </a:p>
        </p:txBody>
      </p:sp>
      <p:sp>
        <p:nvSpPr>
          <p:cNvPr id="22" name="box-421"/>
          <p:cNvSpPr/>
          <p:nvPr/>
        </p:nvSpPr>
        <p:spPr>
          <a:xfrm>
            <a:off x="694944" y="4462272"/>
            <a:ext cx="5577840" cy="96012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-422"/>
          <p:cNvSpPr txBox="1"/>
          <p:nvPr/>
        </p:nvSpPr>
        <p:spPr>
          <a:xfrm>
            <a:off x="694944" y="44805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U(L) = − β · M · e</a:t>
            </a:r>
            <a:pPr algn="ctr" indent="0" marL="0">
              <a:buNone/>
            </a:pPr>
            <a:r>
              <a:rPr lang="en-US" sz="15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−λ(L − L₁)</a:t>
            </a:r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η · w · ( e</a:t>
            </a:r>
            <a:pPr algn="ctr" indent="0" marL="0">
              <a:buNone/>
            </a:pPr>
            <a:r>
              <a:rPr lang="en-US" sz="15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σ(L − L₁)</a:t>
            </a:r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− 1 )</a:t>
            </a:r>
            <a:endParaRPr lang="en-US" sz="1550" dirty="0"/>
          </a:p>
        </p:txBody>
      </p:sp>
      <p:sp>
        <p:nvSpPr>
          <p:cNvPr id="24" name="text-423"/>
          <p:cNvSpPr txBox="1"/>
          <p:nvPr/>
        </p:nvSpPr>
        <p:spPr>
          <a:xfrm>
            <a:off x="694944" y="50017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前一项：等级越高，剩余的推断风险越小　　后一项：等级越高，使用代价越大</a:t>
            </a:r>
            <a:endParaRPr lang="en-US" sz="1050" dirty="0"/>
          </a:p>
        </p:txBody>
      </p:sp>
      <p:sp>
        <p:nvSpPr>
          <p:cNvPr id="25" name="text-424"/>
          <p:cNvSpPr txBox="1"/>
          <p:nvPr/>
        </p:nvSpPr>
        <p:spPr>
          <a:xfrm>
            <a:off x="694944" y="5486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 为候选等级，L₁ 为一次等级，w 为字段使用代价；β、λ、η、σ 为权重系数</a:t>
            </a:r>
            <a:endParaRPr lang="en-US" sz="1050" dirty="0"/>
          </a:p>
        </p:txBody>
      </p:sp>
      <p:sp>
        <p:nvSpPr>
          <p:cNvPr id="26" name="text-425"/>
          <p:cNvSpPr txBox="1"/>
          <p:nvPr/>
        </p:nvSpPr>
        <p:spPr>
          <a:xfrm>
            <a:off x="6583680" y="4114800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约束（限制可选动作）</a:t>
            </a:r>
            <a:endParaRPr lang="en-US" sz="1400" dirty="0"/>
          </a:p>
        </p:txBody>
      </p:sp>
      <p:sp>
        <p:nvSpPr>
          <p:cNvPr id="27" name="text-426"/>
          <p:cNvSpPr txBox="1"/>
          <p:nvPr/>
        </p:nvSpPr>
        <p:spPr>
          <a:xfrm>
            <a:off x="6720840" y="44805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不低于一次等级，不高于被推断数据的等级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法定公开字段不调整；涉及 4、5 级只提出申报建议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与规则驱动结果相差不超过一级，两种结果同时给出</a:t>
            </a:r>
            <a:endParaRPr lang="en-US" sz="1200" dirty="0"/>
          </a:p>
        </p:txBody>
      </p:sp>
      <p:sp>
        <p:nvSpPr>
          <p:cNvPr id="28" name="text-427"/>
          <p:cNvSpPr txBox="1"/>
          <p:nvPr/>
        </p:nvSpPr>
        <p:spPr>
          <a:xfrm>
            <a:off x="6583680" y="553212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策略采用组内相对优势估计进行更新；推断敏感度或披露时点变化时，可直接给出更新后的等级。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2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2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三、二次标定（8/9）</a:t>
            </a:r>
            <a:endParaRPr lang="en-US" sz="2400" dirty="0"/>
          </a:p>
        </p:txBody>
      </p:sp>
      <p:sp>
        <p:nvSpPr>
          <p:cNvPr id="5" name="box-430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31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4.4、分级原则“从严性”“合理性”</a:t>
            </a:r>
            <a:endParaRPr lang="en-US" sz="1100" dirty="0"/>
          </a:p>
        </p:txBody>
      </p:sp>
      <p:sp>
        <p:nvSpPr>
          <p:cNvPr id="7" name="text-432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：推断敏感度经 GRPO 得到等级的过程</a:t>
            </a:r>
            <a:endParaRPr lang="en-US" sz="1800" dirty="0"/>
          </a:p>
        </p:txBody>
      </p:sp>
      <p:sp>
        <p:nvSpPr>
          <p:cNvPr id="8" name="box-433"/>
          <p:cNvSpPr/>
          <p:nvPr/>
        </p:nvSpPr>
        <p:spPr>
          <a:xfrm>
            <a:off x="694944" y="1737360"/>
            <a:ext cx="1984248" cy="731520"/>
          </a:xfrm>
          <a:prstGeom prst="rect">
            <a:avLst/>
          </a:prstGeom>
          <a:solidFill>
            <a:srgbClr val="FBE5D6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 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连续量，0~1</a:t>
            </a:r>
            <a:endParaRPr lang="en-US" sz="1200" dirty="0"/>
          </a:p>
        </p:txBody>
      </p:sp>
      <p:sp>
        <p:nvSpPr>
          <p:cNvPr id="9" name="arr-434"/>
          <p:cNvSpPr/>
          <p:nvPr/>
        </p:nvSpPr>
        <p:spPr>
          <a:xfrm>
            <a:off x="2697480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435"/>
          <p:cNvSpPr/>
          <p:nvPr/>
        </p:nvSpPr>
        <p:spPr>
          <a:xfrm>
            <a:off x="2898648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候选折算档位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动作集合</a:t>
            </a:r>
            <a:endParaRPr lang="en-US" sz="1200" dirty="0"/>
          </a:p>
        </p:txBody>
      </p:sp>
      <p:sp>
        <p:nvSpPr>
          <p:cNvPr id="11" name="arr-436"/>
          <p:cNvSpPr/>
          <p:nvPr/>
        </p:nvSpPr>
        <p:spPr>
          <a:xfrm>
            <a:off x="4901184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437"/>
          <p:cNvSpPr/>
          <p:nvPr/>
        </p:nvSpPr>
        <p:spPr>
          <a:xfrm>
            <a:off x="5102352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200" dirty="0"/>
          </a:p>
        </p:txBody>
      </p:sp>
      <p:sp>
        <p:nvSpPr>
          <p:cNvPr id="13" name="arr-438"/>
          <p:cNvSpPr/>
          <p:nvPr/>
        </p:nvSpPr>
        <p:spPr>
          <a:xfrm>
            <a:off x="7104888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439"/>
          <p:cNvSpPr/>
          <p:nvPr/>
        </p:nvSpPr>
        <p:spPr>
          <a:xfrm>
            <a:off x="7306056" y="1737360"/>
            <a:ext cx="1984248" cy="73152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各候选等级的效用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安全收益 − 可用性成本</a:t>
            </a:r>
            <a:endParaRPr lang="en-US" sz="1200" dirty="0"/>
          </a:p>
        </p:txBody>
      </p:sp>
      <p:sp>
        <p:nvSpPr>
          <p:cNvPr id="15" name="arr-440"/>
          <p:cNvSpPr/>
          <p:nvPr/>
        </p:nvSpPr>
        <p:spPr>
          <a:xfrm>
            <a:off x="9308592" y="1975104"/>
            <a:ext cx="182880" cy="256032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6" name="box-441"/>
          <p:cNvSpPr/>
          <p:nvPr/>
        </p:nvSpPr>
        <p:spPr>
          <a:xfrm>
            <a:off x="9509760" y="1737360"/>
            <a:ext cx="1984248" cy="731520"/>
          </a:xfrm>
          <a:prstGeom prst="rect">
            <a:avLst/>
          </a:prstGeom>
          <a:solidFill>
            <a:srgbClr val="BDD7EE"/>
          </a:solidFill>
          <a:ln w="15875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效用最大者，与一次等级取高</a:t>
            </a:r>
            <a:endParaRPr lang="en-US" sz="1200" dirty="0"/>
          </a:p>
        </p:txBody>
      </p:sp>
      <p:sp>
        <p:nvSpPr>
          <p:cNvPr id="17" name="box-442"/>
          <p:cNvSpPr/>
          <p:nvPr/>
        </p:nvSpPr>
        <p:spPr>
          <a:xfrm>
            <a:off x="694944" y="2697480"/>
            <a:ext cx="10799064" cy="3337560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box-443"/>
          <p:cNvSpPr/>
          <p:nvPr/>
        </p:nvSpPr>
        <p:spPr>
          <a:xfrm>
            <a:off x="822960" y="278892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9" name="text-444"/>
          <p:cNvSpPr txBox="1"/>
          <p:nvPr/>
        </p:nvSpPr>
        <p:spPr>
          <a:xfrm>
            <a:off x="1481328" y="278892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沿用规则驱动示例中的字段；一次等级均为 1 级，使用代价 w = 1；系数取 β = 6、λ = 1、η = 1、σ = 0.5（示意）</a:t>
            </a:r>
            <a:endParaRPr lang="en-US" sz="1050" dirty="0"/>
          </a:p>
        </p:txBody>
      </p:sp>
      <p:sp>
        <p:nvSpPr>
          <p:cNvPr id="20" name="text-445"/>
          <p:cNvSpPr txBox="1"/>
          <p:nvPr/>
        </p:nvSpPr>
        <p:spPr>
          <a:xfrm>
            <a:off x="86868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A：M = 0.68，敏感数据影响公共利益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1、3（公共利益一栏无 2 级）</a:t>
            </a:r>
            <a:endParaRPr lang="en-US" sz="1100" dirty="0"/>
          </a:p>
        </p:txBody>
      </p:sp>
      <p:graphicFrame>
        <p:nvGraphicFramePr>
          <p:cNvPr id="20" name="table-4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−4.08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−4.08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−2.27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2" name="text-447"/>
          <p:cNvSpPr txBox="1"/>
          <p:nvPr/>
        </p:nvSpPr>
        <p:spPr>
          <a:xfrm>
            <a:off x="4407408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B：M = 0.55，敏感数据影响其他组织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1、2、3</a:t>
            </a:r>
            <a:endParaRPr lang="en-US" sz="1100" dirty="0"/>
          </a:p>
        </p:txBody>
      </p:sp>
      <p:graphicFrame>
        <p:nvGraphicFramePr>
          <p:cNvPr id="39" name="table-4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07408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−1.21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−1.86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−2.17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-449"/>
          <p:cNvSpPr txBox="1"/>
          <p:nvPr/>
        </p:nvSpPr>
        <p:spPr>
          <a:xfrm>
            <a:off x="794613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C：M = 0.08，敏感数据影响其他组织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35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候选等级 1、2、3</a:t>
            </a:r>
            <a:endParaRPr lang="en-US" sz="1100" dirty="0"/>
          </a:p>
        </p:txBody>
      </p:sp>
      <p:graphicFrame>
        <p:nvGraphicFramePr>
          <p:cNvPr id="58" name="table-4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46136" y="3611880"/>
          <a:ext cx="3383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91440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候选等级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安全收益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可用性成本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−0.48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−0.18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−0.83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−1.78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-451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二次等级：A 为 3 级，B 为 2 级，C 保持 1 级。推断敏感度高的字段，提高等级带来的安全收益大于使用代价；推断敏感度低的字段保持原等级。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52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53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三、二次标定（9/9）</a:t>
            </a:r>
            <a:endParaRPr lang="en-US" sz="2400" dirty="0"/>
          </a:p>
        </p:txBody>
      </p:sp>
      <p:sp>
        <p:nvSpPr>
          <p:cNvPr id="5" name="box-454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55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4.4、分级要素“深度”、附录 D</a:t>
            </a:r>
            <a:endParaRPr lang="en-US" sz="1100" dirty="0"/>
          </a:p>
        </p:txBody>
      </p:sp>
      <p:sp>
        <p:nvSpPr>
          <p:cNvPr id="7" name="text-456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：规则驱动示例与复核意见</a:t>
            </a:r>
            <a:endParaRPr lang="en-US" sz="1800" dirty="0"/>
          </a:p>
        </p:txBody>
      </p:sp>
      <p:sp>
        <p:nvSpPr>
          <p:cNvPr id="8" name="box-457"/>
          <p:cNvSpPr/>
          <p:nvPr/>
        </p:nvSpPr>
        <p:spPr>
          <a:xfrm>
            <a:off x="694944" y="173736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9" name="text-458"/>
          <p:cNvSpPr txBox="1"/>
          <p:nvPr/>
        </p:nvSpPr>
        <p:spPr>
          <a:xfrm>
            <a:off x="1335024" y="17373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敏感数据 y₁：影响公共利益、一般影响（3 级）；y₂：影响其他组织、严重影响（3 级）</a:t>
            </a:r>
            <a:endParaRPr lang="en-US" sz="1100" dirty="0"/>
          </a:p>
        </p:txBody>
      </p:sp>
      <p:graphicFrame>
        <p:nvGraphicFramePr>
          <p:cNvPr id="21" name="table-4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0574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868680"/>
                <a:gridCol w="868680"/>
                <a:gridCol w="274320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M（y₁）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M（y₂）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折算与查表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5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y₁：一般 → 轻微；公共利益 × 轻微 = 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 → 一般；其他组织 × 一般 = 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均低于 0.1，不调整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y₂：严重（不降档）；其他组织 × 严重 = 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-4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057400"/>
          <a:ext cx="4178808" cy="914400"/>
        </p:xfrm>
        <a:graphic>
          <a:graphicData uri="http://schemas.openxmlformats.org/drawingml/2006/table">
            <a:tbl>
              <a:tblPr/>
              <a:tblGrid>
                <a:gridCol w="987718"/>
                <a:gridCol w="547044"/>
                <a:gridCol w="623022"/>
                <a:gridCol w="623022"/>
                <a:gridCol w="623022"/>
                <a:gridCol w="774979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2" name="text-461"/>
          <p:cNvSpPr txBox="1"/>
          <p:nvPr/>
        </p:nvSpPr>
        <p:spPr>
          <a:xfrm>
            <a:off x="7315200" y="4297680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判定矩阵中的对应位置（橙色）</a:t>
            </a:r>
            <a:endParaRPr lang="en-US" sz="1050" dirty="0"/>
          </a:p>
        </p:txBody>
      </p:sp>
      <p:sp>
        <p:nvSpPr>
          <p:cNvPr id="13" name="text-462"/>
          <p:cNvSpPr txBox="1"/>
          <p:nvPr/>
        </p:nvSpPr>
        <p:spPr>
          <a:xfrm>
            <a:off x="694944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</a:t>
            </a:r>
            <a:endParaRPr lang="en-US" sz="1400" dirty="0"/>
          </a:p>
        </p:txBody>
      </p:sp>
      <p:sp>
        <p:nvSpPr>
          <p:cNvPr id="14" name="box-463"/>
          <p:cNvSpPr/>
          <p:nvPr/>
        </p:nvSpPr>
        <p:spPr>
          <a:xfrm>
            <a:off x="694944" y="4919472"/>
            <a:ext cx="10799064" cy="1170432"/>
          </a:xfrm>
          <a:prstGeom prst="rect">
            <a:avLst/>
          </a:prstGeom>
          <a:solidFill>
            <a:srgbClr val="F5F7FA"/>
          </a:solidFill>
          <a:ln w="12700">
            <a:solidFill>
              <a:srgbClr val="7F8FA9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box-464"/>
          <p:cNvSpPr/>
          <p:nvPr/>
        </p:nvSpPr>
        <p:spPr>
          <a:xfrm>
            <a:off x="822960" y="5010912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5B6B84"/>
          </a:solidFill>
          <a:ln w="12700">
            <a:solidFill>
              <a:srgbClr val="5B6B8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6" name="text-465"/>
          <p:cNvSpPr txBox="1"/>
          <p:nvPr/>
        </p:nvSpPr>
        <p:spPr>
          <a:xfrm>
            <a:off x="1508760" y="4956048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 一次等级为 1 级。在接收方已掌握公开信息和字段 D 的情况下，再获得字段 A 可使 3 级数据 y₁ 的推断精度提高 0.68，贡献显著。依据《分类分级手册》分级要素“深度”和附录 D，按 y₁ 的影响对象（公共利益）和折算后的影响程度（轻微）查表 4.4，建议二次等级为 3 级。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6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6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四、审批固化与动态更新</a:t>
            </a:r>
            <a:endParaRPr lang="en-US" sz="2400" dirty="0"/>
          </a:p>
        </p:txBody>
      </p:sp>
      <p:sp>
        <p:nvSpPr>
          <p:cNvPr id="5" name="box-46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46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《分类分级手册》四(四)(五)(七)、附录 E；《风险评估手册》第 138、146、154 项</a:t>
            </a:r>
            <a:endParaRPr lang="en-US" sz="1100" dirty="0"/>
          </a:p>
        </p:txBody>
      </p:sp>
      <p:sp>
        <p:nvSpPr>
          <p:cNvPr id="7" name="text-47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审批与 4.2 结果固化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：二次等级经审批后写入数据目录</a:t>
            </a:r>
            <a:endParaRPr lang="en-US" sz="1800" dirty="0"/>
          </a:p>
        </p:txBody>
      </p:sp>
      <p:sp>
        <p:nvSpPr>
          <p:cNvPr id="8" name="box-471"/>
          <p:cNvSpPr/>
          <p:nvPr/>
        </p:nvSpPr>
        <p:spPr>
          <a:xfrm>
            <a:off x="694944" y="1783080"/>
            <a:ext cx="210312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复核意见与推断证据</a:t>
            </a:r>
            <a:endParaRPr lang="en-US" sz="1200" dirty="0"/>
          </a:p>
        </p:txBody>
      </p:sp>
      <p:sp>
        <p:nvSpPr>
          <p:cNvPr id="9" name="arr-472"/>
          <p:cNvSpPr/>
          <p:nvPr/>
        </p:nvSpPr>
        <p:spPr>
          <a:xfrm>
            <a:off x="2862072" y="201168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chev-473"/>
          <p:cNvSpPr/>
          <p:nvPr/>
        </p:nvSpPr>
        <p:spPr>
          <a:xfrm>
            <a:off x="3337560" y="1783080"/>
            <a:ext cx="2130552" cy="73152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300" dirty="0"/>
          </a:p>
        </p:txBody>
      </p:sp>
      <p:sp>
        <p:nvSpPr>
          <p:cNvPr id="11" name="chev-474"/>
          <p:cNvSpPr/>
          <p:nvPr/>
        </p:nvSpPr>
        <p:spPr>
          <a:xfrm>
            <a:off x="5330952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结果固化到数据目录</a:t>
            </a:r>
            <a:endParaRPr lang="en-US" sz="1300" dirty="0"/>
          </a:p>
        </p:txBody>
      </p:sp>
      <p:sp>
        <p:nvSpPr>
          <p:cNvPr id="12" name="chev-475"/>
          <p:cNvSpPr/>
          <p:nvPr/>
        </p:nvSpPr>
        <p:spPr>
          <a:xfrm>
            <a:off x="7324344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300" dirty="0"/>
          </a:p>
        </p:txBody>
      </p:sp>
      <p:sp>
        <p:nvSpPr>
          <p:cNvPr id="13" name="chev-476"/>
          <p:cNvSpPr/>
          <p:nvPr/>
        </p:nvSpPr>
        <p:spPr>
          <a:xfrm>
            <a:off x="9317736" y="1783080"/>
            <a:ext cx="2130552" cy="73152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endParaRPr lang="en-US" sz="1300" dirty="0"/>
          </a:p>
        </p:txBody>
      </p:sp>
      <p:sp>
        <p:nvSpPr>
          <p:cNvPr id="14" name="text-477"/>
          <p:cNvSpPr txBox="1"/>
          <p:nvPr/>
        </p:nvSpPr>
        <p:spPr>
          <a:xfrm>
            <a:off x="694944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数据目录增加的列</a:t>
            </a:r>
            <a:endParaRPr lang="en-US" sz="1250" dirty="0"/>
          </a:p>
        </p:txBody>
      </p:sp>
      <p:sp>
        <p:nvSpPr>
          <p:cNvPr id="15" name="box-478"/>
          <p:cNvSpPr/>
          <p:nvPr/>
        </p:nvSpPr>
        <p:spPr>
          <a:xfrm>
            <a:off x="251460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100" dirty="0"/>
          </a:p>
        </p:txBody>
      </p:sp>
      <p:sp>
        <p:nvSpPr>
          <p:cNvPr id="16" name="box-479"/>
          <p:cNvSpPr/>
          <p:nvPr/>
        </p:nvSpPr>
        <p:spPr>
          <a:xfrm>
            <a:off x="364388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100" dirty="0"/>
          </a:p>
        </p:txBody>
      </p:sp>
      <p:sp>
        <p:nvSpPr>
          <p:cNvPr id="17" name="box-480"/>
          <p:cNvSpPr/>
          <p:nvPr/>
        </p:nvSpPr>
        <p:spPr>
          <a:xfrm>
            <a:off x="477316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标定依据</a:t>
            </a:r>
            <a:endParaRPr lang="en-US" sz="1100" dirty="0"/>
          </a:p>
        </p:txBody>
      </p:sp>
      <p:sp>
        <p:nvSpPr>
          <p:cNvPr id="18" name="box-481"/>
          <p:cNvSpPr/>
          <p:nvPr/>
        </p:nvSpPr>
        <p:spPr>
          <a:xfrm>
            <a:off x="5902452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1100" dirty="0"/>
          </a:p>
        </p:txBody>
      </p:sp>
      <p:sp>
        <p:nvSpPr>
          <p:cNvPr id="19" name="box-482"/>
          <p:cNvSpPr/>
          <p:nvPr/>
        </p:nvSpPr>
        <p:spPr>
          <a:xfrm>
            <a:off x="7031736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</a:t>
            </a:r>
            <a:endParaRPr lang="en-US" sz="1100" dirty="0"/>
          </a:p>
        </p:txBody>
      </p:sp>
      <p:sp>
        <p:nvSpPr>
          <p:cNvPr id="20" name="box-483"/>
          <p:cNvSpPr/>
          <p:nvPr/>
        </p:nvSpPr>
        <p:spPr>
          <a:xfrm>
            <a:off x="816102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适用角色与时点</a:t>
            </a:r>
            <a:endParaRPr lang="en-US" sz="1100" dirty="0"/>
          </a:p>
        </p:txBody>
      </p:sp>
      <p:sp>
        <p:nvSpPr>
          <p:cNvPr id="21" name="box-484"/>
          <p:cNvSpPr/>
          <p:nvPr/>
        </p:nvSpPr>
        <p:spPr>
          <a:xfrm>
            <a:off x="929030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复评条件</a:t>
            </a:r>
            <a:endParaRPr lang="en-US" sz="1100" dirty="0"/>
          </a:p>
        </p:txBody>
      </p:sp>
      <p:sp>
        <p:nvSpPr>
          <p:cNvPr id="22" name="box-485"/>
          <p:cNvSpPr/>
          <p:nvPr/>
        </p:nvSpPr>
        <p:spPr>
          <a:xfrm>
            <a:off x="1041958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审批结论</a:t>
            </a:r>
            <a:endParaRPr lang="en-US" sz="1100" dirty="0"/>
          </a:p>
        </p:txBody>
      </p:sp>
      <p:sp>
        <p:nvSpPr>
          <p:cNvPr id="23" name="text-486"/>
          <p:cNvSpPr txBox="1"/>
          <p:nvPr/>
        </p:nvSpPr>
        <p:spPr>
          <a:xfrm>
            <a:off x="694944" y="3429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：由事件触发，从已审批的等级出发增量重算</a:t>
            </a:r>
            <a:endParaRPr lang="en-US" sz="1800" dirty="0"/>
          </a:p>
        </p:txBody>
      </p:sp>
      <p:graphicFrame>
        <p:nvGraphicFramePr>
          <p:cNvPr id="22" name="table-4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023360"/>
          <a:ext cx="10799064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30098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体量变化、聚合合并、脱敏、加工、安全事件等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一次等级与推断敏感度均可能变化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新批次数据开放、字段转为公开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接收方已掌握的信息增加，其余字段的推断敏感度可能上升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《数据开放目录》；《风险评估手册》第 138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披露时点到达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敏感数据已披露，相应的上调可以解除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制度修订、历史数据累积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规则库、推断场景与推断敏感度需更新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《分类分级手册》四(七)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8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8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小结：与任务要求、南网文件的对应</a:t>
            </a:r>
            <a:endParaRPr lang="en-US" sz="2400" dirty="0"/>
          </a:p>
        </p:txBody>
      </p:sp>
      <p:sp>
        <p:nvSpPr>
          <p:cNvPr id="5" name="text-490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体系各部分与课题任务、南网文件的对应关系</a:t>
            </a:r>
            <a:endParaRPr lang="en-US" sz="1800" dirty="0"/>
          </a:p>
        </p:txBody>
      </p:sp>
      <p:graphicFrame>
        <p:nvGraphicFramePr>
          <p:cNvPr id="23" name="table-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737360"/>
          <a:ext cx="107990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57530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课题任务要求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体系中的对应部分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南网依据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归纳电力信息类型，提出异构信息的结构化处理方法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一、信息类型归纳与结构化处理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《分类分级手册》四(一)(二)、附录 A；《披露细则》2.7、5.1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面向本体安全威胁的安全等级一次标定方法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二、一次标定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《分类分级手册》四(三)、表 4.1~4.4、附录 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面向多源跨域融合推断安全威胁的安全等级二次标定方法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三、二次标定：3.1 融合推断场景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《披露细则》5.1~5.7；《分类分级手册》表 4.1~4.3；《数据开放目录》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三、二次标定：3.2 字段推断敏感度　3.3 计算与验证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《分类分级手册》要素“深度”；《风险评估手册》第 382、330、351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三、二次标定：3.4 等级二次标定（规则驱动 / 模型驱动）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《分类分级手册》表 4.4、“从严性”“合理性”、附录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电力信息敏感度的科学评估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字段推断敏感度表、分类分级清单；审批固化与动态更新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《分类分级手册》四(四)(五)(七)、附录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492"/>
          <p:cNvSpPr/>
          <p:nvPr/>
        </p:nvSpPr>
        <p:spPr>
          <a:xfrm>
            <a:off x="694944" y="544068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493"/>
          <p:cNvSpPr txBox="1"/>
          <p:nvPr/>
        </p:nvSpPr>
        <p:spPr>
          <a:xfrm>
            <a:off x="868680" y="5458968"/>
            <a:ext cx="10469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与现行规定保持一致的处理：等级采用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南网五级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并由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给出；二次等级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不低于一次等级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法定公开字段不调整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；重要、核心数据只提出申报建议；定级结论以审批为准。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94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495" descr="/data1/duhaocun/projects/GNN_Aggresvation/reports/南网/南网claude/V10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496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497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498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499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500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501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502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503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504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505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506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5" name="text-507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0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0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5" name="text-510"/>
          <p:cNvSpPr txBox="1"/>
          <p:nvPr/>
        </p:nvSpPr>
        <p:spPr>
          <a:xfrm>
            <a:off x="694944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1、确认关键口径</a:t>
            </a:r>
            <a:endParaRPr lang="en-US" sz="2000" dirty="0"/>
          </a:p>
        </p:txBody>
      </p:sp>
      <p:sp>
        <p:nvSpPr>
          <p:cNvPr id="6" name="text-511"/>
          <p:cNvSpPr txBox="1"/>
          <p:nvPr/>
        </p:nvSpPr>
        <p:spPr>
          <a:xfrm>
            <a:off x="10972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与南网确认敏感目标清单及其影响对象与影响程度、推断敏感度的分档界限、接收方角色与法定公开字段清单。</a:t>
            </a:r>
            <a:endParaRPr lang="en-US" sz="1700" dirty="0"/>
          </a:p>
        </p:txBody>
      </p:sp>
      <p:sp>
        <p:nvSpPr>
          <p:cNvPr id="7" name="text-512"/>
          <p:cNvSpPr txBox="1"/>
          <p:nvPr/>
        </p:nvSpPr>
        <p:spPr>
          <a:xfrm>
            <a:off x="694944" y="2880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2、完善二次标定方法</a:t>
            </a:r>
            <a:endParaRPr lang="en-US" sz="2000" dirty="0"/>
          </a:p>
        </p:txBody>
      </p:sp>
      <p:sp>
        <p:nvSpPr>
          <p:cNvPr id="8" name="text-513"/>
          <p:cNvSpPr txBox="1"/>
          <p:nvPr/>
        </p:nvSpPr>
        <p:spPr>
          <a:xfrm>
            <a:off x="109728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在公开电力数据集上验证折算分档界限、背景字段数上限和效用函数系数的取值；研究多个字段共同作用时的等级联合调整方法。</a:t>
            </a:r>
            <a:endParaRPr lang="en-US" sz="1700" dirty="0"/>
          </a:p>
        </p:txBody>
      </p:sp>
      <p:sp>
        <p:nvSpPr>
          <p:cNvPr id="9" name="text-514"/>
          <p:cNvSpPr txBox="1"/>
          <p:nvPr/>
        </p:nvSpPr>
        <p:spPr>
          <a:xfrm>
            <a:off x="694944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3、开展试点应用</a:t>
            </a:r>
            <a:endParaRPr lang="en-US" sz="2000" dirty="0"/>
          </a:p>
        </p:txBody>
      </p:sp>
      <p:sp>
        <p:nvSpPr>
          <p:cNvPr id="10" name="text-515"/>
          <p:cNvSpPr txBox="1"/>
          <p:nvPr/>
        </p:nvSpPr>
        <p:spPr>
          <a:xfrm>
            <a:off x="109728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优先选取系统运行域与电力市场披露数据开展试点，需协调提供字段级历史样本数据。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516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517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518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519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520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521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南网电力数据分类分级体系框架</dc:title>
  <dc:subject>PptxGenJS Presentation</dc:subject>
  <dc:creator>PptxGenJS</dc:creator>
  <cp:lastModifiedBy>PptxGenJS</cp:lastModifiedBy>
  <cp:revision>1</cp:revision>
  <dcterms:created xsi:type="dcterms:W3CDTF">2026-10-08T12:32:19Z</dcterms:created>
  <dcterms:modified xsi:type="dcterms:W3CDTF">2026-10-08T12:32:19Z</dcterms:modified>
</cp:coreProperties>
</file>