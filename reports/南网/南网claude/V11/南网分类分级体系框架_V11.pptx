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南网的分类分级工作手册是本体系的基线。它规定了七步工作流程、八个分级要素，以及按影响对象和影响程度判定一到五级的方法。每一级数据还对应着共享开放的要求，后面的等级优化会用到这一点。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这一页列出体系依据的五份南网文件和各自的作用。后面的每一页都会用这里的简称标注对应条款。需要说明的是，这些文件目前是征求意见稿或审议稿。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现行分级看的是数据本身泄露后的影响。但在开放共享场景下，几个等级不高的字段组合起来，可能推断出更高等级的数据。南网文件在五处提出了相关要求，但没有配套的计算方法和判定标准，这是本体系要补充的部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围绕课题任务，体系要回答三个问题：信息怎么归类和整理；数据本身泄露的影响怎么判定；数据融合后能推断出什么、等级怎么调整。右边是体系中对应的部分和产出。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体系按课题任务书分为三部分：信息类型归纳与结构化处理、一次标定、二次标定，最后接南网的审批固化流程。中间一列是每一部分的产出，右侧是对应的南网依据。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这一页说明体系的输入、输出和约束。输入是南网规则文件、数据资产清单、样本数据和由主管部门确定的敏感目标。输出是分类分级清单、字段推断敏感度表、复核意见和更新记录。底部是四条约束。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一部分对应任务书里的信息类型归纳和结构化处理。从业务流角度，按企业级业务架构分类到字段；从数据流角度，标注每个字段的披露层级和披露时点；最后整理成统一的字段清单，作为后面两次标定的输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一次标定面向本体安全威胁。第一步用大语言模型加检索增强，把南网的分级规则表、示例和影响程度定义解析成结构化规则库。第二步把字段清单里的字段与规则库做语义匹配，确定它的影响对象、影响范围和影响程度。匹配结果是建议，需人工确认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第三步用影响对象和影响程度查南网的判定矩阵，三个维度就高不就低，得到一次等级。一次等级是后面二次标定的起点，也是等级的下限。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二次标定面向多源跨域融合推断威胁。分四步：先确定各类接收方已经掌握什么；再定义字段推断敏感度；然后计算并验证；最后按敏感度折算影响程度，查南网判定矩阵得到二次等级。每一步下面的灰框是它的产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推断风险取决于接收方已经掌握的信息，所以先要构建推断场景。第一步按披露细则划分信息层级；第二步为每类接收方确定公开基底、背景池和背景预算；第三步按披露时点更新公开基底。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给出字段推断敏感度的定义。左边是示意：用接收方已掌握的信息和若干背景字段训练推断模型，得到对敏感数据的推断精度；再加上待评估的字段，得到新的精度；两者之差就是这个字段在该背景下的推断增益。右边是定义：对所有不超过K个背景字段的组合取最大值，就是字段推断敏感度M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为什么字段推断敏感度可以作为字段级的度量，有三点依据：它衡量的是敏感数据实际能被推断到什么程度；它计入了接收方已有的信息；它对各种背景取最大值并落到单个字段上，得到一个可比较、可复核的数值。右边是一个实测算例：南澳的风电出力预测单独对某燃气机组出力的推断精度只有0.19，但在已掌握可用发电容量和光伏出力预测的情况下，可以把推断精度从0.20提高到0.80，推断敏感度为0.60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计算分三步。关联分析用来解释字段关系和排优先级。集合扫描用一个通用推断模型估计各字段组合的推断能力，得到每个字段的推断敏感度。对敏感度较高的字段再重训验证。产出是字段推断敏感度表。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二次标定的思路是：字段如果能显著提高对某个敏感数据的推断精度，它泄露的影响就参照这个敏感数据来评价，提高得越多，越接近敏感数据本身泄露。所以把敏感数据的影响程度按推断敏感度折算，再查判定矩阵。两种方法的区别在于折算几档怎么确定：方法一用固定的折算表，方法二用强化学习按效用确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方法一是规则驱动。左边是折算表：敏感度0.7以上，影响程度与被推断数据相同；0.4到0.7降一档；0.1到0.4降两档；0.1以下不调整。折算后查判定矩阵，与一次等级取高。右边是示例：字段A对y1的敏感度是0.68，一般降为轻微，公共利益乘轻微查表是3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方法二是模型驱动，用强化学习GRPO来确定影响程度折算几档。状态包括字段的一次等级、推断敏感度、被推断数据的影响对象和影响程度，以及字段的使用代价。动作是折算档位。折算后查判定矩阵得到候选等级。效用是安全收益减可用性成本。约束通过限制可选动作实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用示例说明连续的推断敏感度怎样经过GRPO变成等级。先由折算档位查判定矩阵得到几个候选等级，再对每个候选等级计算效用，取效用最大的。字段A的敏感度是0.68，升到3级的效用最高；字段B是0.55，2级的效用最高；字段C只有0.08，保持1级。系数是示意取值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后把两种方法的结果放在一起。示例中四个字段两种方法的结果一致。如果某个字段的使用代价较高，模型驱动的结果可能比规则驱动低一级，这时两种结果一并提交审批。下面是复核意见的示例，说明被推断的数据、背景、推断敏感度和依据条款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第四部分执行南网的审批和固化流程。方法给出的是二次等级，定级结论以审批为准。数据目录增加八列，记录标定依据和证据。动态更新由事件触发，表中列出了四类触发事件及其依据。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最后用一张表小结：左边是课题任务书的要求，中间是体系里对应的部分，右边是南网依据。下方是与现行规定保持一致的几项处理。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jpe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jpe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data1/duhaocun/projects/GNN_Aggresvation/reports/南网/南网claude/V11/assets/csg_banner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24528" y="9144"/>
            <a:ext cx="7964424" cy="72237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841248"/>
            <a:ext cx="12188952" cy="0"/>
          </a:xfrm>
          <a:prstGeom prst="line">
            <a:avLst/>
          </a:prstGeom>
          <a:noFill/>
          <a:ln w="12700">
            <a:solidFill>
              <a:srgbClr val="00377B"/>
            </a:solidFill>
            <a:prstDash val="solid"/>
          </a:ln>
        </p:spPr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868680" y="182880"/>
            <a:ext cx="786384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rgbClr val="2E5E9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155448" y="6537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6A6A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©CSG 2020. All Rights Reserved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92240"/>
            <a:ext cx="6858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F7F7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LAI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data1/duhaocun/projects/GNN_Aggresvation/reports/南网/南网claude/V11/assets/csg_banner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24528" y="9144"/>
            <a:ext cx="7964424" cy="72237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841248"/>
            <a:ext cx="12188952" cy="0"/>
          </a:xfrm>
          <a:prstGeom prst="line">
            <a:avLst/>
          </a:prstGeom>
          <a:noFill/>
          <a:ln w="12700">
            <a:solidFill>
              <a:srgbClr val="00377B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155448" y="6537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6A6A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©CSG 2020. All Rights Reserved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92240"/>
            <a:ext cx="6858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F7F7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92240"/>
            <a:ext cx="6858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F7F7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-1"/>
          <p:cNvSpPr/>
          <p:nvPr/>
        </p:nvSpPr>
        <p:spPr>
          <a:xfrm>
            <a:off x="7955280" y="2514600"/>
            <a:ext cx="4233672" cy="1828800"/>
          </a:xfrm>
          <a:prstGeom prst="rect">
            <a:avLst/>
          </a:prstGeom>
          <a:solidFill>
            <a:srgbClr val="404040"/>
          </a:solidFill>
          <a:ln w="12700">
            <a:solidFill>
              <a:srgbClr val="404040"/>
            </a:solidFill>
            <a:prstDash val="solid"/>
          </a:ln>
        </p:spPr>
      </p:sp>
      <p:sp>
        <p:nvSpPr>
          <p:cNvPr id="3" name="red-2"/>
          <p:cNvSpPr/>
          <p:nvPr/>
        </p:nvSpPr>
        <p:spPr>
          <a:xfrm>
            <a:off x="0" y="1737360"/>
            <a:ext cx="8046720" cy="2606040"/>
          </a:xfrm>
          <a:prstGeom prst="rect">
            <a:avLst/>
          </a:prstGeom>
          <a:solidFill>
            <a:srgbClr val="BA0000"/>
          </a:solidFill>
          <a:ln w="12700">
            <a:solidFill>
              <a:srgbClr val="BA0000"/>
            </a:solidFill>
            <a:prstDash val="solid"/>
          </a:ln>
        </p:spPr>
      </p:sp>
      <p:sp>
        <p:nvSpPr>
          <p:cNvPr id="4" name="ln-3"/>
          <p:cNvSpPr/>
          <p:nvPr/>
        </p:nvSpPr>
        <p:spPr>
          <a:xfrm>
            <a:off x="868680" y="2011680"/>
            <a:ext cx="822960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  <a:tailEnd type="none"/>
          </a:ln>
        </p:spPr>
      </p:sp>
      <p:sp>
        <p:nvSpPr>
          <p:cNvPr id="5" name="ln-4"/>
          <p:cNvSpPr/>
          <p:nvPr/>
        </p:nvSpPr>
        <p:spPr>
          <a:xfrm>
            <a:off x="868680" y="2011680"/>
            <a:ext cx="0" cy="205740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  <a:tailEnd type="none"/>
          </a:ln>
        </p:spPr>
      </p:sp>
      <p:sp>
        <p:nvSpPr>
          <p:cNvPr id="6" name="ln-5"/>
          <p:cNvSpPr/>
          <p:nvPr/>
        </p:nvSpPr>
        <p:spPr>
          <a:xfrm>
            <a:off x="868680" y="4069080"/>
            <a:ext cx="822960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  <a:tailEnd type="none"/>
          </a:ln>
        </p:spPr>
      </p:sp>
      <p:sp>
        <p:nvSpPr>
          <p:cNvPr id="7" name="text-6"/>
          <p:cNvSpPr txBox="1"/>
          <p:nvPr/>
        </p:nvSpPr>
        <p:spPr>
          <a:xfrm>
            <a:off x="1097280" y="2103120"/>
            <a:ext cx="6766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南网电力数据分类分级体系框架</a:t>
            </a:r>
            <a:endParaRPr lang="en-US" sz="3400" dirty="0"/>
          </a:p>
        </p:txBody>
      </p:sp>
      <p:sp>
        <p:nvSpPr>
          <p:cNvPr id="8" name="text-7"/>
          <p:cNvSpPr txBox="1"/>
          <p:nvPr/>
        </p:nvSpPr>
        <p:spPr>
          <a:xfrm>
            <a:off x="1097280" y="3611880"/>
            <a:ext cx="676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数据分类分级专题汇报</a:t>
            </a:r>
            <a:endParaRPr lang="en-US" sz="2200" dirty="0"/>
          </a:p>
        </p:txBody>
      </p:sp>
      <p:sp>
        <p:nvSpPr>
          <p:cNvPr id="9" name="text-8"/>
          <p:cNvSpPr txBox="1"/>
          <p:nvPr/>
        </p:nvSpPr>
        <p:spPr>
          <a:xfrm>
            <a:off x="1371600" y="4709160"/>
            <a:ext cx="9445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西安交通大学 网络空间学院</a:t>
            </a:r>
            <a:endParaRPr lang="en-US" sz="2400" dirty="0"/>
          </a:p>
        </p:txBody>
      </p:sp>
      <p:sp>
        <p:nvSpPr>
          <p:cNvPr id="10" name="text-9"/>
          <p:cNvSpPr txBox="1"/>
          <p:nvPr/>
        </p:nvSpPr>
        <p:spPr>
          <a:xfrm>
            <a:off x="1371600" y="5257800"/>
            <a:ext cx="9445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2026 年 10 月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92240"/>
            <a:ext cx="6858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F7F7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-10"/>
          <p:cNvSpPr txBox="1"/>
          <p:nvPr/>
        </p:nvSpPr>
        <p:spPr>
          <a:xfrm>
            <a:off x="155448" y="201168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4454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汇报提纲</a:t>
            </a:r>
            <a:endParaRPr lang="en-US" sz="2800" dirty="0"/>
          </a:p>
        </p:txBody>
      </p:sp>
      <p:pic>
        <p:nvPicPr>
          <p:cNvPr id="3" name="img-11" descr="/data1/duhaocun/projects/GNN_Aggresvation/reports/南网/南网claude/V11/assets/outline_map.jpeg">    </p:cNvPr>
          <p:cNvPicPr>
            <a:picLocks noChangeAspect="1"/>
          </p:cNvPicPr>
          <p:nvPr/>
        </p:nvPicPr>
        <p:blipFill>
          <a:blip r:embed="rId1">
            <a:alphaModFix amt="65000"/>
          </a:blip>
          <a:stretch>
            <a:fillRect/>
          </a:stretch>
        </p:blipFill>
        <p:spPr>
          <a:xfrm>
            <a:off x="2423160" y="1828800"/>
            <a:ext cx="7534656" cy="3630168"/>
          </a:xfrm>
          <a:prstGeom prst="rect">
            <a:avLst/>
          </a:prstGeom>
        </p:spPr>
      </p:pic>
      <p:sp>
        <p:nvSpPr>
          <p:cNvPr id="4" name="num-12"/>
          <p:cNvSpPr/>
          <p:nvPr/>
        </p:nvSpPr>
        <p:spPr>
          <a:xfrm>
            <a:off x="3840480" y="2057400"/>
            <a:ext cx="566928" cy="56692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7F7F7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ln-13"/>
          <p:cNvSpPr/>
          <p:nvPr/>
        </p:nvSpPr>
        <p:spPr>
          <a:xfrm>
            <a:off x="4480560" y="2340864"/>
            <a:ext cx="548640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dash"/>
            <a:tailEnd type="none"/>
          </a:ln>
        </p:spPr>
      </p:sp>
      <p:sp>
        <p:nvSpPr>
          <p:cNvPr id="6" name="text-14"/>
          <p:cNvSpPr txBox="1"/>
          <p:nvPr/>
        </p:nvSpPr>
        <p:spPr>
          <a:xfrm>
            <a:off x="5166360" y="2057400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问题与依据</a:t>
            </a:r>
            <a:endParaRPr lang="en-US" sz="2400" dirty="0"/>
          </a:p>
        </p:txBody>
      </p:sp>
      <p:sp>
        <p:nvSpPr>
          <p:cNvPr id="7" name="num-15"/>
          <p:cNvSpPr/>
          <p:nvPr/>
        </p:nvSpPr>
        <p:spPr>
          <a:xfrm>
            <a:off x="3840480" y="2926080"/>
            <a:ext cx="566928" cy="566928"/>
          </a:xfrm>
          <a:prstGeom prst="ellipse">
            <a:avLst/>
          </a:prstGeom>
          <a:solidFill>
            <a:srgbClr val="F2F2F2"/>
          </a:solidFill>
          <a:ln w="19050">
            <a:solidFill>
              <a:srgbClr val="D9D9D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FB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8" name="ln-16"/>
          <p:cNvSpPr/>
          <p:nvPr/>
        </p:nvSpPr>
        <p:spPr>
          <a:xfrm>
            <a:off x="4480560" y="3209544"/>
            <a:ext cx="548640" cy="0"/>
          </a:xfrm>
          <a:prstGeom prst="line">
            <a:avLst/>
          </a:prstGeom>
          <a:noFill/>
          <a:ln w="15875">
            <a:solidFill>
              <a:srgbClr val="BFBFBF"/>
            </a:solidFill>
            <a:prstDash val="dash"/>
            <a:tailEnd type="none"/>
          </a:ln>
        </p:spPr>
      </p:sp>
      <p:sp>
        <p:nvSpPr>
          <p:cNvPr id="9" name="text-17"/>
          <p:cNvSpPr txBox="1"/>
          <p:nvPr/>
        </p:nvSpPr>
        <p:spPr>
          <a:xfrm>
            <a:off x="5166360" y="2926080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BFBFB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体系框架</a:t>
            </a:r>
            <a:endParaRPr lang="en-US" sz="2400" dirty="0"/>
          </a:p>
        </p:txBody>
      </p:sp>
      <p:sp>
        <p:nvSpPr>
          <p:cNvPr id="10" name="num-18"/>
          <p:cNvSpPr/>
          <p:nvPr/>
        </p:nvSpPr>
        <p:spPr>
          <a:xfrm>
            <a:off x="3840480" y="3794760"/>
            <a:ext cx="566928" cy="566928"/>
          </a:xfrm>
          <a:prstGeom prst="ellipse">
            <a:avLst/>
          </a:prstGeom>
          <a:solidFill>
            <a:srgbClr val="F2F2F2"/>
          </a:solidFill>
          <a:ln w="19050">
            <a:solidFill>
              <a:srgbClr val="D9D9D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FB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1" name="ln-19"/>
          <p:cNvSpPr/>
          <p:nvPr/>
        </p:nvSpPr>
        <p:spPr>
          <a:xfrm>
            <a:off x="4480560" y="4078224"/>
            <a:ext cx="548640" cy="0"/>
          </a:xfrm>
          <a:prstGeom prst="line">
            <a:avLst/>
          </a:prstGeom>
          <a:noFill/>
          <a:ln w="15875">
            <a:solidFill>
              <a:srgbClr val="BFBFBF"/>
            </a:solidFill>
            <a:prstDash val="dash"/>
            <a:tailEnd type="none"/>
          </a:ln>
        </p:spPr>
      </p:sp>
      <p:sp>
        <p:nvSpPr>
          <p:cNvPr id="12" name="text-20"/>
          <p:cNvSpPr txBox="1"/>
          <p:nvPr/>
        </p:nvSpPr>
        <p:spPr>
          <a:xfrm>
            <a:off x="5166360" y="3794760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BFBFB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关键方法</a:t>
            </a:r>
            <a:endParaRPr lang="en-US" sz="2400" dirty="0"/>
          </a:p>
        </p:txBody>
      </p:sp>
      <p:sp>
        <p:nvSpPr>
          <p:cNvPr id="13" name="num-21"/>
          <p:cNvSpPr/>
          <p:nvPr/>
        </p:nvSpPr>
        <p:spPr>
          <a:xfrm>
            <a:off x="3840480" y="4663440"/>
            <a:ext cx="566928" cy="566928"/>
          </a:xfrm>
          <a:prstGeom prst="ellipse">
            <a:avLst/>
          </a:prstGeom>
          <a:solidFill>
            <a:srgbClr val="F2F2F2"/>
          </a:solidFill>
          <a:ln w="19050">
            <a:solidFill>
              <a:srgbClr val="D9D9D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FB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14" name="ln-22"/>
          <p:cNvSpPr/>
          <p:nvPr/>
        </p:nvSpPr>
        <p:spPr>
          <a:xfrm>
            <a:off x="4480560" y="4946904"/>
            <a:ext cx="548640" cy="0"/>
          </a:xfrm>
          <a:prstGeom prst="line">
            <a:avLst/>
          </a:prstGeom>
          <a:noFill/>
          <a:ln w="15875">
            <a:solidFill>
              <a:srgbClr val="BFBFBF"/>
            </a:solidFill>
            <a:prstDash val="dash"/>
            <a:tailEnd type="none"/>
          </a:ln>
        </p:spPr>
      </p:sp>
      <p:sp>
        <p:nvSpPr>
          <p:cNvPr id="15" name="text-23"/>
          <p:cNvSpPr txBox="1"/>
          <p:nvPr/>
        </p:nvSpPr>
        <p:spPr>
          <a:xfrm>
            <a:off x="5166360" y="4663440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BFBFB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下一步工作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92240"/>
            <a:ext cx="6858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F7F7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k-24"/>
          <p:cNvSpPr/>
          <p:nvPr/>
        </p:nvSpPr>
        <p:spPr>
          <a:xfrm>
            <a:off x="155448" y="301752"/>
            <a:ext cx="338328" cy="310896"/>
          </a:xfrm>
          <a:prstGeom prst="chevron">
            <a:avLst/>
          </a:prstGeom>
          <a:solidFill>
            <a:srgbClr val="B50104"/>
          </a:solidFill>
          <a:ln w="12700">
            <a:solidFill>
              <a:srgbClr val="B50104"/>
            </a:solidFill>
            <a:prstDash val="solid"/>
          </a:ln>
        </p:spPr>
      </p:sp>
      <p:sp>
        <p:nvSpPr>
          <p:cNvPr id="3" name="mark-25"/>
          <p:cNvSpPr/>
          <p:nvPr/>
        </p:nvSpPr>
        <p:spPr>
          <a:xfrm>
            <a:off x="438912" y="301752"/>
            <a:ext cx="338328" cy="310896"/>
          </a:xfrm>
          <a:prstGeom prst="chevron">
            <a:avLst/>
          </a:prstGeom>
          <a:solidFill>
            <a:srgbClr val="7F7F7F"/>
          </a:solidFill>
          <a:ln w="12700">
            <a:solidFill>
              <a:srgbClr val="7F7F7F"/>
            </a:solidFill>
            <a:prstDash val="solid"/>
          </a:ln>
        </p:spPr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868680" y="1828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E5E9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南网数据分类分级要求</a:t>
            </a:r>
            <a:endParaRPr lang="en-US" sz="2400" dirty="0"/>
          </a:p>
        </p:txBody>
      </p:sp>
      <p:sp>
        <p:nvSpPr>
          <p:cNvPr id="5" name="box-26"/>
          <p:cNvSpPr/>
          <p:nvPr/>
        </p:nvSpPr>
        <p:spPr>
          <a:xfrm>
            <a:off x="694944" y="1188720"/>
            <a:ext cx="10799064" cy="868680"/>
          </a:xfrm>
          <a:prstGeom prst="rect">
            <a:avLst/>
          </a:prstGeom>
          <a:ln w="15875">
            <a:solidFill>
              <a:srgbClr val="5B9BD5"/>
            </a:solidFill>
            <a:prstDash val="dash"/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6" name="text-27"/>
          <p:cNvSpPr txBox="1"/>
          <p:nvPr/>
        </p:nvSpPr>
        <p:spPr>
          <a:xfrm>
            <a:off x="868680" y="1225296"/>
            <a:ext cx="104698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《分类分级手册》按</a:t>
            </a:r>
            <a:pPr algn="l" indent="0" marL="0">
              <a:buNone/>
            </a:pPr>
            <a:r>
              <a:rPr lang="en-US" sz="1650" b="1" dirty="0">
                <a:solidFill>
                  <a:srgbClr val="C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影响对象</a:t>
            </a:r>
            <a:pPr algn="l" indent="0" marL="0">
              <a:buNone/>
            </a:pPr>
            <a:r>
              <a:rPr lang="en-US" sz="165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与</a:t>
            </a:r>
            <a:pPr algn="l" indent="0" marL="0">
              <a:buNone/>
            </a:pPr>
            <a:r>
              <a:rPr lang="en-US" sz="1650" b="1" dirty="0">
                <a:solidFill>
                  <a:srgbClr val="C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影响程度</a:t>
            </a:r>
            <a:pPr algn="l" indent="0" marL="0">
              <a:buNone/>
            </a:pPr>
            <a:r>
              <a:rPr lang="en-US" sz="165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将数据划分为 </a:t>
            </a:r>
            <a:pPr algn="l" indent="0" marL="0">
              <a:buNone/>
            </a:pPr>
            <a:r>
              <a:rPr lang="en-US" sz="1650" b="1" dirty="0">
                <a:solidFill>
                  <a:srgbClr val="C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1~5 级</a:t>
            </a:r>
            <a:pPr algn="l" indent="0" marL="0">
              <a:buNone/>
            </a:pPr>
            <a:r>
              <a:rPr lang="en-US" sz="165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，多因素时</a:t>
            </a:r>
            <a:pPr algn="l" indent="0" marL="0">
              <a:buNone/>
            </a:pPr>
            <a:r>
              <a:rPr lang="en-US" sz="1650" b="1" dirty="0">
                <a:solidFill>
                  <a:srgbClr val="C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就高不就低</a:t>
            </a:r>
            <a:pPr algn="l" indent="0" marL="0">
              <a:buNone/>
            </a:pPr>
            <a:r>
              <a:rPr lang="en-US" sz="165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；分类细化至数据字段，分级结果经审批后固化到数据目录，并随业务与数据变化动态更新。</a:t>
            </a:r>
            <a:endParaRPr lang="en-US" sz="1650" dirty="0"/>
          </a:p>
        </p:txBody>
      </p:sp>
      <p:sp>
        <p:nvSpPr>
          <p:cNvPr id="7" name="text-28"/>
          <p:cNvSpPr txBox="1"/>
          <p:nvPr/>
        </p:nvSpPr>
        <p:spPr>
          <a:xfrm>
            <a:off x="694944" y="221284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工作流程（《分类分级手册》第四部分）</a:t>
            </a:r>
            <a:endParaRPr lang="en-US" sz="1400" dirty="0"/>
          </a:p>
        </p:txBody>
      </p:sp>
      <p:sp>
        <p:nvSpPr>
          <p:cNvPr id="8" name="chev-29"/>
          <p:cNvSpPr/>
          <p:nvPr/>
        </p:nvSpPr>
        <p:spPr>
          <a:xfrm>
            <a:off x="694944" y="2560320"/>
            <a:ext cx="1627632" cy="475488"/>
          </a:xfrm>
          <a:prstGeom prst="homePlate">
            <a:avLst/>
          </a:prstGeom>
          <a:solidFill>
            <a:srgbClr val="5B9BD5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数据资产梳理</a:t>
            </a:r>
            <a:endParaRPr lang="en-US" sz="1200" dirty="0"/>
          </a:p>
        </p:txBody>
      </p:sp>
      <p:sp>
        <p:nvSpPr>
          <p:cNvPr id="9" name="chev-30"/>
          <p:cNvSpPr/>
          <p:nvPr/>
        </p:nvSpPr>
        <p:spPr>
          <a:xfrm>
            <a:off x="2240280" y="2560320"/>
            <a:ext cx="1627632" cy="475488"/>
          </a:xfrm>
          <a:prstGeom prst="chevron">
            <a:avLst/>
          </a:prstGeom>
          <a:solidFill>
            <a:srgbClr val="5B9BD5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数据分类</a:t>
            </a:r>
            <a:endParaRPr lang="en-US" sz="1200" dirty="0"/>
          </a:p>
        </p:txBody>
      </p:sp>
      <p:sp>
        <p:nvSpPr>
          <p:cNvPr id="10" name="chev-31"/>
          <p:cNvSpPr/>
          <p:nvPr/>
        </p:nvSpPr>
        <p:spPr>
          <a:xfrm>
            <a:off x="3785616" y="2560320"/>
            <a:ext cx="1627632" cy="475488"/>
          </a:xfrm>
          <a:prstGeom prst="chevron">
            <a:avLst/>
          </a:prstGeom>
          <a:solidFill>
            <a:srgbClr val="5B9BD5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数据分级</a:t>
            </a:r>
            <a:endParaRPr lang="en-US" sz="1200" dirty="0"/>
          </a:p>
        </p:txBody>
      </p:sp>
      <p:sp>
        <p:nvSpPr>
          <p:cNvPr id="11" name="chev-32"/>
          <p:cNvSpPr/>
          <p:nvPr/>
        </p:nvSpPr>
        <p:spPr>
          <a:xfrm>
            <a:off x="5330952" y="2560320"/>
            <a:ext cx="1627632" cy="475488"/>
          </a:xfrm>
          <a:prstGeom prst="chevron">
            <a:avLst/>
          </a:prstGeom>
          <a:solidFill>
            <a:srgbClr val="5B9BD5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审批</a:t>
            </a:r>
            <a:endParaRPr lang="en-US" sz="1200" dirty="0"/>
          </a:p>
        </p:txBody>
      </p:sp>
      <p:sp>
        <p:nvSpPr>
          <p:cNvPr id="12" name="chev-33"/>
          <p:cNvSpPr/>
          <p:nvPr/>
        </p:nvSpPr>
        <p:spPr>
          <a:xfrm>
            <a:off x="6876288" y="2560320"/>
            <a:ext cx="1627632" cy="475488"/>
          </a:xfrm>
          <a:prstGeom prst="chevron">
            <a:avLst/>
          </a:prstGeom>
          <a:solidFill>
            <a:srgbClr val="5B9BD5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结果固化</a:t>
            </a:r>
            <a:endParaRPr lang="en-US" sz="1200" dirty="0"/>
          </a:p>
        </p:txBody>
      </p:sp>
      <p:sp>
        <p:nvSpPr>
          <p:cNvPr id="13" name="chev-34"/>
          <p:cNvSpPr/>
          <p:nvPr/>
        </p:nvSpPr>
        <p:spPr>
          <a:xfrm>
            <a:off x="8421624" y="2560320"/>
            <a:ext cx="1627632" cy="475488"/>
          </a:xfrm>
          <a:prstGeom prst="chevron">
            <a:avLst/>
          </a:prstGeom>
          <a:solidFill>
            <a:srgbClr val="5B9BD5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技术管控</a:t>
            </a:r>
            <a:endParaRPr lang="en-US" sz="1200" dirty="0"/>
          </a:p>
        </p:txBody>
      </p:sp>
      <p:sp>
        <p:nvSpPr>
          <p:cNvPr id="14" name="chev-35"/>
          <p:cNvSpPr/>
          <p:nvPr/>
        </p:nvSpPr>
        <p:spPr>
          <a:xfrm>
            <a:off x="9966960" y="2560320"/>
            <a:ext cx="1627632" cy="475488"/>
          </a:xfrm>
          <a:prstGeom prst="chevron">
            <a:avLst/>
          </a:prstGeom>
          <a:solidFill>
            <a:srgbClr val="5B9BD5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动态更新</a:t>
            </a:r>
            <a:endParaRPr lang="en-US" sz="1200" dirty="0"/>
          </a:p>
        </p:txBody>
      </p:sp>
      <p:sp>
        <p:nvSpPr>
          <p:cNvPr id="15" name="text-36"/>
          <p:cNvSpPr txBox="1"/>
          <p:nvPr/>
        </p:nvSpPr>
        <p:spPr>
          <a:xfrm>
            <a:off x="694944" y="324612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分级判定方法（《分类分级手册》四(三)、表 4.4）</a:t>
            </a:r>
            <a:endParaRPr lang="en-US" sz="1400" dirty="0"/>
          </a:p>
        </p:txBody>
      </p:sp>
      <p:sp>
        <p:nvSpPr>
          <p:cNvPr id="16" name="box-37"/>
          <p:cNvSpPr/>
          <p:nvPr/>
        </p:nvSpPr>
        <p:spPr>
          <a:xfrm>
            <a:off x="694944" y="3593592"/>
            <a:ext cx="2468880" cy="1143000"/>
          </a:xfrm>
          <a:prstGeom prst="rect">
            <a:avLst/>
          </a:prstGeom>
          <a:solidFill>
            <a:srgbClr val="DEEAF6"/>
          </a:solidFill>
          <a:ln w="12700">
            <a:solidFill>
              <a:srgbClr val="5B9BD5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分级要素（8 个）</a:t>
            </a:r>
            <a:pPr algn="ctr" indent="0" marL="0">
              <a:buNone/>
            </a:pP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领域、群体、区域、重要性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精度、规模、覆盖度、</a:t>
            </a:r>
            <a:pPr algn="ctr" indent="0" marL="0">
              <a:buNone/>
            </a:pPr>
            <a:r>
              <a:rPr lang="en-US" sz="1200" b="1" dirty="0">
                <a:solidFill>
                  <a:srgbClr val="C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深度</a:t>
            </a:r>
            <a:endParaRPr lang="en-US" sz="1200" dirty="0"/>
          </a:p>
        </p:txBody>
      </p:sp>
      <p:sp>
        <p:nvSpPr>
          <p:cNvPr id="17" name="arr-38"/>
          <p:cNvSpPr/>
          <p:nvPr/>
        </p:nvSpPr>
        <p:spPr>
          <a:xfrm>
            <a:off x="3218688" y="4023360"/>
            <a:ext cx="411480" cy="274320"/>
          </a:xfrm>
          <a:prstGeom prst="rightArrow">
            <a:avLst/>
          </a:prstGeom>
          <a:solidFill>
            <a:srgbClr val="9DC3E6"/>
          </a:solidFill>
          <a:ln w="12700">
            <a:solidFill>
              <a:srgbClr val="9DC3E6"/>
            </a:solidFill>
            <a:prstDash val="solid"/>
          </a:ln>
        </p:spPr>
      </p:sp>
      <p:sp>
        <p:nvSpPr>
          <p:cNvPr id="18" name="box-39"/>
          <p:cNvSpPr/>
          <p:nvPr/>
        </p:nvSpPr>
        <p:spPr>
          <a:xfrm>
            <a:off x="3685032" y="3593592"/>
            <a:ext cx="2468880" cy="1143000"/>
          </a:xfrm>
          <a:prstGeom prst="rect">
            <a:avLst/>
          </a:prstGeom>
          <a:solidFill>
            <a:srgbClr val="DEEAF6"/>
          </a:solidFill>
          <a:ln w="12700">
            <a:solidFill>
              <a:srgbClr val="5B9BD5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影响对象</a:t>
            </a:r>
            <a:pPr algn="ctr" indent="0" marL="0">
              <a:buNone/>
            </a:pP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群体：国家安全、公共利益、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经济运行、社会秩序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个体：个人、其他组织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单位自身</a:t>
            </a:r>
            <a:endParaRPr lang="en-US" sz="1100" dirty="0"/>
          </a:p>
        </p:txBody>
      </p:sp>
      <p:sp>
        <p:nvSpPr>
          <p:cNvPr id="19" name="text-40"/>
          <p:cNvSpPr txBox="1"/>
          <p:nvPr/>
        </p:nvSpPr>
        <p:spPr>
          <a:xfrm>
            <a:off x="6172200" y="397764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×</a:t>
            </a:r>
            <a:endParaRPr lang="en-US" sz="2000" dirty="0"/>
          </a:p>
        </p:txBody>
      </p:sp>
      <p:sp>
        <p:nvSpPr>
          <p:cNvPr id="20" name="box-41"/>
          <p:cNvSpPr/>
          <p:nvPr/>
        </p:nvSpPr>
        <p:spPr>
          <a:xfrm>
            <a:off x="6510528" y="3593592"/>
            <a:ext cx="1828800" cy="1143000"/>
          </a:xfrm>
          <a:prstGeom prst="rect">
            <a:avLst/>
          </a:prstGeom>
          <a:solidFill>
            <a:srgbClr val="DEEAF6"/>
          </a:solidFill>
          <a:ln w="12700">
            <a:solidFill>
              <a:srgbClr val="5B9BD5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影响程度</a:t>
            </a:r>
            <a:pPr algn="ctr" indent="0" marL="0">
              <a:buNone/>
            </a:pP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无 / 轻微 / 一般 /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严重 / 特别严重</a:t>
            </a:r>
            <a:endParaRPr lang="en-US" sz="1200" dirty="0"/>
          </a:p>
        </p:txBody>
      </p:sp>
      <p:sp>
        <p:nvSpPr>
          <p:cNvPr id="21" name="arr-42"/>
          <p:cNvSpPr/>
          <p:nvPr/>
        </p:nvSpPr>
        <p:spPr>
          <a:xfrm>
            <a:off x="8394192" y="4023360"/>
            <a:ext cx="411480" cy="274320"/>
          </a:xfrm>
          <a:prstGeom prst="rightArrow">
            <a:avLst/>
          </a:prstGeom>
          <a:solidFill>
            <a:srgbClr val="9DC3E6"/>
          </a:solidFill>
          <a:ln w="12700">
            <a:solidFill>
              <a:srgbClr val="9DC3E6"/>
            </a:solidFill>
            <a:prstDash val="solid"/>
          </a:ln>
        </p:spPr>
      </p:sp>
      <p:sp>
        <p:nvSpPr>
          <p:cNvPr id="22" name="box-43"/>
          <p:cNvSpPr/>
          <p:nvPr/>
        </p:nvSpPr>
        <p:spPr>
          <a:xfrm>
            <a:off x="8869680" y="3593592"/>
            <a:ext cx="525780" cy="548640"/>
          </a:xfrm>
          <a:prstGeom prst="rect">
            <a:avLst/>
          </a:prstGeom>
          <a:solidFill>
            <a:srgbClr val="DEEAF6"/>
          </a:solidFill>
          <a:ln w="12700">
            <a:solidFill>
              <a:srgbClr val="FFFFFF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 级</a:t>
            </a:r>
            <a:endParaRPr lang="en-US" sz="1200" dirty="0"/>
          </a:p>
        </p:txBody>
      </p:sp>
      <p:sp>
        <p:nvSpPr>
          <p:cNvPr id="23" name="box-44"/>
          <p:cNvSpPr/>
          <p:nvPr/>
        </p:nvSpPr>
        <p:spPr>
          <a:xfrm>
            <a:off x="9395460" y="3593592"/>
            <a:ext cx="525780" cy="548640"/>
          </a:xfrm>
          <a:prstGeom prst="rect">
            <a:avLst/>
          </a:prstGeom>
          <a:solidFill>
            <a:srgbClr val="BDD7EE"/>
          </a:solidFill>
          <a:ln w="12700">
            <a:solidFill>
              <a:srgbClr val="FFFFFF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 级</a:t>
            </a:r>
            <a:endParaRPr lang="en-US" sz="1200" dirty="0"/>
          </a:p>
        </p:txBody>
      </p:sp>
      <p:sp>
        <p:nvSpPr>
          <p:cNvPr id="24" name="box-45"/>
          <p:cNvSpPr/>
          <p:nvPr/>
        </p:nvSpPr>
        <p:spPr>
          <a:xfrm>
            <a:off x="9921240" y="3593592"/>
            <a:ext cx="525780" cy="548640"/>
          </a:xfrm>
          <a:prstGeom prst="rect">
            <a:avLst/>
          </a:prstGeom>
          <a:solidFill>
            <a:srgbClr val="9DC3E6"/>
          </a:solidFill>
          <a:ln w="12700">
            <a:solidFill>
              <a:srgbClr val="FFFFFF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 级</a:t>
            </a:r>
            <a:endParaRPr lang="en-US" sz="1200" dirty="0"/>
          </a:p>
        </p:txBody>
      </p:sp>
      <p:sp>
        <p:nvSpPr>
          <p:cNvPr id="25" name="box-46"/>
          <p:cNvSpPr/>
          <p:nvPr/>
        </p:nvSpPr>
        <p:spPr>
          <a:xfrm>
            <a:off x="10447020" y="3593592"/>
            <a:ext cx="525780" cy="548640"/>
          </a:xfrm>
          <a:prstGeom prst="rect">
            <a:avLst/>
          </a:prstGeom>
          <a:solidFill>
            <a:srgbClr val="2E75B6"/>
          </a:solidFill>
          <a:ln w="12700">
            <a:solidFill>
              <a:srgbClr val="FFFFFF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 级</a:t>
            </a:r>
            <a:endParaRPr lang="en-US" sz="1200" dirty="0"/>
          </a:p>
        </p:txBody>
      </p:sp>
      <p:sp>
        <p:nvSpPr>
          <p:cNvPr id="26" name="box-47"/>
          <p:cNvSpPr/>
          <p:nvPr/>
        </p:nvSpPr>
        <p:spPr>
          <a:xfrm>
            <a:off x="10972800" y="3593592"/>
            <a:ext cx="525780" cy="548640"/>
          </a:xfrm>
          <a:prstGeom prst="rect">
            <a:avLst/>
          </a:prstGeom>
          <a:solidFill>
            <a:srgbClr val="1F4E79"/>
          </a:solidFill>
          <a:ln w="12700">
            <a:solidFill>
              <a:srgbClr val="FFFFFF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 级</a:t>
            </a:r>
            <a:endParaRPr lang="en-US" sz="1200" dirty="0"/>
          </a:p>
        </p:txBody>
      </p:sp>
      <p:sp>
        <p:nvSpPr>
          <p:cNvPr id="27" name="box-48"/>
          <p:cNvSpPr/>
          <p:nvPr/>
        </p:nvSpPr>
        <p:spPr>
          <a:xfrm>
            <a:off x="8869680" y="4187952"/>
            <a:ext cx="1577340" cy="548640"/>
          </a:xfrm>
          <a:prstGeom prst="rect">
            <a:avLst/>
          </a:prstGeom>
          <a:solidFill>
            <a:srgbClr val="F2F2F2"/>
          </a:solidFill>
          <a:ln w="12700">
            <a:solidFill>
              <a:srgbClr val="BFBFBF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一般数据</a:t>
            </a:r>
            <a:endParaRPr lang="en-US" sz="1200" dirty="0"/>
          </a:p>
        </p:txBody>
      </p:sp>
      <p:sp>
        <p:nvSpPr>
          <p:cNvPr id="28" name="box-49"/>
          <p:cNvSpPr/>
          <p:nvPr/>
        </p:nvSpPr>
        <p:spPr>
          <a:xfrm>
            <a:off x="10447020" y="4187952"/>
            <a:ext cx="525780" cy="548640"/>
          </a:xfrm>
          <a:prstGeom prst="rect">
            <a:avLst/>
          </a:prstGeom>
          <a:solidFill>
            <a:srgbClr val="F2F2F2"/>
          </a:solidFill>
          <a:ln w="12700">
            <a:solidFill>
              <a:srgbClr val="BFBFBF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重要</a:t>
            </a:r>
            <a:endParaRPr lang="en-US" sz="1100" dirty="0"/>
          </a:p>
        </p:txBody>
      </p:sp>
      <p:sp>
        <p:nvSpPr>
          <p:cNvPr id="29" name="box-50"/>
          <p:cNvSpPr/>
          <p:nvPr/>
        </p:nvSpPr>
        <p:spPr>
          <a:xfrm>
            <a:off x="10972800" y="4187952"/>
            <a:ext cx="525780" cy="548640"/>
          </a:xfrm>
          <a:prstGeom prst="rect">
            <a:avLst/>
          </a:prstGeom>
          <a:solidFill>
            <a:srgbClr val="F2F2F2"/>
          </a:solidFill>
          <a:ln w="12700">
            <a:solidFill>
              <a:srgbClr val="BFBFBF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</a:t>
            </a:r>
            <a:endParaRPr lang="en-US" sz="1100" dirty="0"/>
          </a:p>
        </p:txBody>
      </p:sp>
      <p:sp>
        <p:nvSpPr>
          <p:cNvPr id="30" name="text-51"/>
          <p:cNvSpPr txBox="1"/>
          <p:nvPr/>
        </p:nvSpPr>
        <p:spPr>
          <a:xfrm>
            <a:off x="694944" y="493776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各级数据的共享开放要求（《分类分级手册》表 4.1~4.3）</a:t>
            </a:r>
            <a:endParaRPr lang="en-US" sz="1400" dirty="0"/>
          </a:p>
        </p:txBody>
      </p:sp>
      <p:graphicFrame>
        <p:nvGraphicFramePr>
          <p:cNvPr id="4" name="table-5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4944" y="5303520"/>
          <a:ext cx="10799064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651760"/>
                <a:gridCol w="1737360"/>
                <a:gridCol w="2651760"/>
                <a:gridCol w="2478024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等级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 级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 级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 级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4、5 级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共享开放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一般对象无条件共享、开放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有条件开放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仅特定对象有条件共享、开放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原则上不共享、不开放；须由主管部门认定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92240"/>
            <a:ext cx="6858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F7F7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k-53"/>
          <p:cNvSpPr/>
          <p:nvPr/>
        </p:nvSpPr>
        <p:spPr>
          <a:xfrm>
            <a:off x="155448" y="301752"/>
            <a:ext cx="338328" cy="310896"/>
          </a:xfrm>
          <a:prstGeom prst="chevron">
            <a:avLst/>
          </a:prstGeom>
          <a:solidFill>
            <a:srgbClr val="B50104"/>
          </a:solidFill>
          <a:ln w="12700">
            <a:solidFill>
              <a:srgbClr val="B50104"/>
            </a:solidFill>
            <a:prstDash val="solid"/>
          </a:ln>
        </p:spPr>
      </p:sp>
      <p:sp>
        <p:nvSpPr>
          <p:cNvPr id="3" name="mark-54"/>
          <p:cNvSpPr/>
          <p:nvPr/>
        </p:nvSpPr>
        <p:spPr>
          <a:xfrm>
            <a:off x="438912" y="301752"/>
            <a:ext cx="338328" cy="310896"/>
          </a:xfrm>
          <a:prstGeom prst="chevron">
            <a:avLst/>
          </a:prstGeom>
          <a:solidFill>
            <a:srgbClr val="7F7F7F"/>
          </a:solidFill>
          <a:ln w="12700">
            <a:solidFill>
              <a:srgbClr val="7F7F7F"/>
            </a:solidFill>
            <a:prstDash val="solid"/>
          </a:ln>
        </p:spPr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868680" y="1828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E5E9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编制依据</a:t>
            </a:r>
            <a:endParaRPr lang="en-US" sz="2400" dirty="0"/>
          </a:p>
        </p:txBody>
      </p:sp>
      <p:sp>
        <p:nvSpPr>
          <p:cNvPr id="5" name="text-55"/>
          <p:cNvSpPr txBox="1"/>
          <p:nvPr/>
        </p:nvSpPr>
        <p:spPr>
          <a:xfrm>
            <a:off x="694944" y="109728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➢ </a:t>
            </a:r>
            <a:pPr algn="l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本体系依据的南网文件及其作用（后文按简称标注对应条款）</a:t>
            </a:r>
            <a:endParaRPr lang="en-US" sz="1800" dirty="0"/>
          </a:p>
        </p:txBody>
      </p:sp>
      <p:graphicFrame>
        <p:nvGraphicFramePr>
          <p:cNvPr id="5" name="table-5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4944" y="1600200"/>
          <a:ext cx="10799064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3383280"/>
                <a:gridCol w="1463040"/>
                <a:gridCol w="4581144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简称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文件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版本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在本体系中的作用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4E7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《分类分级手册》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数据分类分级工作手册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2026 年 7 月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征求意见稿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分类方法、分级要素、等级判定矩阵、各级共享开放要求、审批固化与动态更新流程；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C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体系基线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4E7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《风险评估手册》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数据安全风险评估工作手册（2026 年修订版）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2026 年 7 月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征求意见稿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数据公开、汇聚、加工环节的风险评估项，其中第 382 项要求开展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C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聚合性推断测试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4E7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《数据开放目录》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数据开放目录（第二批）及目录说明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2025 年 11 月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征求意见稿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开放策略与等级的对应关系、开放对象、561 项开放数据资源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4E7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《披露细则》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南方区域电力市场信息披露实施细则（2026 年 V1.0 版）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2026 年 8 月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审议稿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公众信息、公开信息、特定信息三类及其披露时点；用于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C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确定各类接收方已掌握的信息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4E7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《注册细则》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南方区域电力市场注册实施细则（2026 年 V1.0 版）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2026 年 8 月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审议稿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市场成员登记和持有的信息范围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box-57"/>
          <p:cNvSpPr/>
          <p:nvPr/>
        </p:nvSpPr>
        <p:spPr>
          <a:xfrm>
            <a:off x="694944" y="5486400"/>
            <a:ext cx="10799064" cy="685800"/>
          </a:xfrm>
          <a:prstGeom prst="rect">
            <a:avLst/>
          </a:prstGeom>
          <a:ln w="15875">
            <a:solidFill>
              <a:srgbClr val="5B9BD5"/>
            </a:solidFill>
            <a:prstDash val="dash"/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8" name="text-58"/>
          <p:cNvSpPr txBox="1"/>
          <p:nvPr/>
        </p:nvSpPr>
        <p:spPr>
          <a:xfrm>
            <a:off x="868680" y="5513832"/>
            <a:ext cx="1046988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上位依据：《数据安全法》《网络数据安全管理条例》《能源行业数据分类分级指南（2026 年版）》、GB/T 43697-2024《数据安全技术 数据分类分级规则》。上述南网文件为征求意见稿或审议稿，正式印发后条款编号以正式版为准。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92240"/>
            <a:ext cx="6858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F7F7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k-59"/>
          <p:cNvSpPr/>
          <p:nvPr/>
        </p:nvSpPr>
        <p:spPr>
          <a:xfrm>
            <a:off x="155448" y="301752"/>
            <a:ext cx="338328" cy="310896"/>
          </a:xfrm>
          <a:prstGeom prst="chevron">
            <a:avLst/>
          </a:prstGeom>
          <a:solidFill>
            <a:srgbClr val="B50104"/>
          </a:solidFill>
          <a:ln w="12700">
            <a:solidFill>
              <a:srgbClr val="B50104"/>
            </a:solidFill>
            <a:prstDash val="solid"/>
          </a:ln>
        </p:spPr>
      </p:sp>
      <p:sp>
        <p:nvSpPr>
          <p:cNvPr id="3" name="mark-60"/>
          <p:cNvSpPr/>
          <p:nvPr/>
        </p:nvSpPr>
        <p:spPr>
          <a:xfrm>
            <a:off x="438912" y="301752"/>
            <a:ext cx="338328" cy="310896"/>
          </a:xfrm>
          <a:prstGeom prst="chevron">
            <a:avLst/>
          </a:prstGeom>
          <a:solidFill>
            <a:srgbClr val="7F7F7F"/>
          </a:solidFill>
          <a:ln w="12700">
            <a:solidFill>
              <a:srgbClr val="7F7F7F"/>
            </a:solidFill>
            <a:prstDash val="solid"/>
          </a:ln>
        </p:spPr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868680" y="1828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E5E9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面临的问题：低等级数据融合后可推断高等级数据</a:t>
            </a:r>
            <a:endParaRPr lang="en-US" sz="2400" dirty="0"/>
          </a:p>
        </p:txBody>
      </p:sp>
      <p:sp>
        <p:nvSpPr>
          <p:cNvPr id="5" name="box-61"/>
          <p:cNvSpPr/>
          <p:nvPr/>
        </p:nvSpPr>
        <p:spPr>
          <a:xfrm>
            <a:off x="694944" y="1188720"/>
            <a:ext cx="10799064" cy="868680"/>
          </a:xfrm>
          <a:prstGeom prst="rect">
            <a:avLst/>
          </a:prstGeom>
          <a:ln w="15875">
            <a:solidFill>
              <a:srgbClr val="5B9BD5"/>
            </a:solidFill>
            <a:prstDash val="dash"/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6" name="text-62"/>
          <p:cNvSpPr txBox="1"/>
          <p:nvPr/>
        </p:nvSpPr>
        <p:spPr>
          <a:xfrm>
            <a:off x="868680" y="1225296"/>
            <a:ext cx="104698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现行分级依据的是</a:t>
            </a:r>
            <a:pPr algn="l" indent="0" marL="0">
              <a:buNone/>
            </a:pPr>
            <a:r>
              <a:rPr lang="en-US" sz="1650" b="1" dirty="0">
                <a:solidFill>
                  <a:srgbClr val="C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数据本身泄露后的影响</a:t>
            </a:r>
            <a:pPr algn="l" indent="0" marL="0">
              <a:buNone/>
            </a:pPr>
            <a:r>
              <a:rPr lang="en-US" sz="165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。在数据开放和共享场景下，接收方可以把新获得的数据与已掌握的数据关联起来：若干等级不高的字段组合后，</a:t>
            </a:r>
            <a:pPr algn="l" indent="0" marL="0">
              <a:buNone/>
            </a:pPr>
            <a:r>
              <a:rPr lang="en-US" sz="1650" b="1" dirty="0">
                <a:solidFill>
                  <a:srgbClr val="C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可能推断出更高等级的数据</a:t>
            </a:r>
            <a:pPr algn="l" indent="0" marL="0">
              <a:buNone/>
            </a:pPr>
            <a:r>
              <a:rPr lang="en-US" sz="165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。</a:t>
            </a:r>
            <a:endParaRPr lang="en-US" sz="1650" dirty="0"/>
          </a:p>
        </p:txBody>
      </p:sp>
      <p:sp>
        <p:nvSpPr>
          <p:cNvPr id="7" name="text-63"/>
          <p:cNvSpPr txBox="1"/>
          <p:nvPr/>
        </p:nvSpPr>
        <p:spPr>
          <a:xfrm>
            <a:off x="694944" y="2240280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组合推断算例（实测）</a:t>
            </a:r>
            <a:endParaRPr lang="en-US" sz="1400" dirty="0"/>
          </a:p>
        </p:txBody>
      </p:sp>
      <p:sp>
        <p:nvSpPr>
          <p:cNvPr id="8" name="box-64"/>
          <p:cNvSpPr/>
          <p:nvPr/>
        </p:nvSpPr>
        <p:spPr>
          <a:xfrm>
            <a:off x="694944" y="2651760"/>
            <a:ext cx="1737360" cy="676656"/>
          </a:xfrm>
          <a:prstGeom prst="rect">
            <a:avLst/>
          </a:prstGeom>
          <a:solidFill>
            <a:srgbClr val="DEEAF6"/>
          </a:solidFill>
          <a:ln w="12700">
            <a:solidFill>
              <a:srgbClr val="5B9BD5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风电出力预测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 级 · 公开信息</a:t>
            </a:r>
            <a:endParaRPr lang="en-US" sz="1200" dirty="0"/>
          </a:p>
        </p:txBody>
      </p:sp>
      <p:sp>
        <p:nvSpPr>
          <p:cNvPr id="9" name="text-65"/>
          <p:cNvSpPr txBox="1"/>
          <p:nvPr/>
        </p:nvSpPr>
        <p:spPr>
          <a:xfrm>
            <a:off x="2487168" y="265176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单独推断精度 </a:t>
            </a:r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0.19</a:t>
            </a:r>
            <a:endParaRPr lang="en-US" sz="1600" dirty="0"/>
          </a:p>
        </p:txBody>
      </p:sp>
      <p:sp>
        <p:nvSpPr>
          <p:cNvPr id="10" name="ln-66"/>
          <p:cNvSpPr/>
          <p:nvPr/>
        </p:nvSpPr>
        <p:spPr>
          <a:xfrm>
            <a:off x="2432304" y="2990088"/>
            <a:ext cx="1271016" cy="841248"/>
          </a:xfrm>
          <a:prstGeom prst="line">
            <a:avLst/>
          </a:prstGeom>
          <a:noFill/>
          <a:ln w="19050">
            <a:solidFill>
              <a:srgbClr val="5B9BD5"/>
            </a:solidFill>
            <a:prstDash val="solid"/>
            <a:tailEnd type="triangle"/>
          </a:ln>
        </p:spPr>
      </p:sp>
      <p:sp>
        <p:nvSpPr>
          <p:cNvPr id="11" name="box-67"/>
          <p:cNvSpPr/>
          <p:nvPr/>
        </p:nvSpPr>
        <p:spPr>
          <a:xfrm>
            <a:off x="694944" y="3493008"/>
            <a:ext cx="1737360" cy="676656"/>
          </a:xfrm>
          <a:prstGeom prst="rect">
            <a:avLst/>
          </a:prstGeom>
          <a:solidFill>
            <a:srgbClr val="DEEAF6"/>
          </a:solidFill>
          <a:ln w="12700">
            <a:solidFill>
              <a:srgbClr val="5B9BD5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可用发电容量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 级 · 公开信息</a:t>
            </a:r>
            <a:endParaRPr lang="en-US" sz="1200" dirty="0"/>
          </a:p>
        </p:txBody>
      </p:sp>
      <p:sp>
        <p:nvSpPr>
          <p:cNvPr id="12" name="text-68"/>
          <p:cNvSpPr txBox="1"/>
          <p:nvPr/>
        </p:nvSpPr>
        <p:spPr>
          <a:xfrm>
            <a:off x="2487168" y="349300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单独推断精度 </a:t>
            </a:r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0.02</a:t>
            </a:r>
            <a:endParaRPr lang="en-US" sz="1600" dirty="0"/>
          </a:p>
        </p:txBody>
      </p:sp>
      <p:sp>
        <p:nvSpPr>
          <p:cNvPr id="13" name="ln-69"/>
          <p:cNvSpPr/>
          <p:nvPr/>
        </p:nvSpPr>
        <p:spPr>
          <a:xfrm>
            <a:off x="2432304" y="3831336"/>
            <a:ext cx="1271016" cy="0"/>
          </a:xfrm>
          <a:prstGeom prst="line">
            <a:avLst/>
          </a:prstGeom>
          <a:noFill/>
          <a:ln w="19050">
            <a:solidFill>
              <a:srgbClr val="5B9BD5"/>
            </a:solidFill>
            <a:prstDash val="solid"/>
            <a:tailEnd type="triangle"/>
          </a:ln>
        </p:spPr>
      </p:sp>
      <p:sp>
        <p:nvSpPr>
          <p:cNvPr id="14" name="box-70"/>
          <p:cNvSpPr/>
          <p:nvPr/>
        </p:nvSpPr>
        <p:spPr>
          <a:xfrm>
            <a:off x="694944" y="4334256"/>
            <a:ext cx="1737360" cy="676656"/>
          </a:xfrm>
          <a:prstGeom prst="rect">
            <a:avLst/>
          </a:prstGeom>
          <a:solidFill>
            <a:srgbClr val="DEEAF6"/>
          </a:solidFill>
          <a:ln w="12700">
            <a:solidFill>
              <a:srgbClr val="5B9BD5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光伏出力预测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 级 · 公开信息</a:t>
            </a:r>
            <a:endParaRPr lang="en-US" sz="1200" dirty="0"/>
          </a:p>
        </p:txBody>
      </p:sp>
      <p:sp>
        <p:nvSpPr>
          <p:cNvPr id="15" name="text-71"/>
          <p:cNvSpPr txBox="1"/>
          <p:nvPr/>
        </p:nvSpPr>
        <p:spPr>
          <a:xfrm>
            <a:off x="2487168" y="4334256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单独推断精度 </a:t>
            </a:r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0.17</a:t>
            </a:r>
            <a:endParaRPr lang="en-US" sz="1600" dirty="0"/>
          </a:p>
        </p:txBody>
      </p:sp>
      <p:sp>
        <p:nvSpPr>
          <p:cNvPr id="16" name="ln-72"/>
          <p:cNvSpPr/>
          <p:nvPr/>
        </p:nvSpPr>
        <p:spPr>
          <a:xfrm flipV="1">
            <a:off x="2432304" y="3831336"/>
            <a:ext cx="1271016" cy="841248"/>
          </a:xfrm>
          <a:prstGeom prst="line">
            <a:avLst/>
          </a:prstGeom>
          <a:noFill/>
          <a:ln w="19050">
            <a:solidFill>
              <a:srgbClr val="5B9BD5"/>
            </a:solidFill>
            <a:prstDash val="solid"/>
            <a:tailEnd type="triangle"/>
          </a:ln>
        </p:spPr>
      </p:sp>
      <p:sp>
        <p:nvSpPr>
          <p:cNvPr id="17" name="box-73"/>
          <p:cNvSpPr/>
          <p:nvPr/>
        </p:nvSpPr>
        <p:spPr>
          <a:xfrm>
            <a:off x="3703320" y="3465576"/>
            <a:ext cx="777240" cy="731520"/>
          </a:xfrm>
          <a:prstGeom prst="roundRect">
            <a:avLst>
              <a:gd name="adj" fmla="val 10000"/>
            </a:avLst>
          </a:prstGeom>
          <a:solidFill>
            <a:srgbClr val="ED7D31"/>
          </a:solidFill>
          <a:ln w="12700">
            <a:solidFill>
              <a:srgbClr val="ED7D31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融合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推断</a:t>
            </a:r>
            <a:endParaRPr lang="en-US" sz="1400" dirty="0"/>
          </a:p>
        </p:txBody>
      </p:sp>
      <p:sp>
        <p:nvSpPr>
          <p:cNvPr id="18" name="arr-74"/>
          <p:cNvSpPr/>
          <p:nvPr/>
        </p:nvSpPr>
        <p:spPr>
          <a:xfrm>
            <a:off x="4517136" y="3694176"/>
            <a:ext cx="329184" cy="274320"/>
          </a:xfrm>
          <a:prstGeom prst="rightArrow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19" name="box-75"/>
          <p:cNvSpPr/>
          <p:nvPr/>
        </p:nvSpPr>
        <p:spPr>
          <a:xfrm>
            <a:off x="4882896" y="3328416"/>
            <a:ext cx="1325880" cy="100584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机组实际出力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 级 · 特定信息</a:t>
            </a:r>
            <a:endParaRPr lang="en-US" sz="120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推断精度 0.80</a:t>
            </a:r>
            <a:endParaRPr lang="en-US" sz="1200" dirty="0"/>
          </a:p>
        </p:txBody>
      </p:sp>
      <p:sp>
        <p:nvSpPr>
          <p:cNvPr id="20" name="text-76"/>
          <p:cNvSpPr txBox="1"/>
          <p:nvPr/>
        </p:nvSpPr>
        <p:spPr>
          <a:xfrm>
            <a:off x="694944" y="5193792"/>
            <a:ext cx="5532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三项 2 级数据单独的推断精度均不超过 0.19，融合后对 3 级数据达到 0.80</a:t>
            </a:r>
            <a:endParaRPr lang="en-US" sz="1250" dirty="0"/>
          </a:p>
        </p:txBody>
      </p:sp>
      <p:sp>
        <p:nvSpPr>
          <p:cNvPr id="21" name="text-77"/>
          <p:cNvSpPr txBox="1"/>
          <p:nvPr/>
        </p:nvSpPr>
        <p:spPr>
          <a:xfrm>
            <a:off x="694944" y="5504688"/>
            <a:ext cx="5532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数据：澳大利亚国家电力市场（NEM）2024 年公开数据，目标为一台燃气机组的小时出力。等级参照《分类分级手册》表 4.1 示例，信息类别按《披露细则》5.7.2、5.2.3。</a:t>
            </a:r>
            <a:endParaRPr lang="en-US" sz="950" dirty="0"/>
          </a:p>
        </p:txBody>
      </p:sp>
      <p:sp>
        <p:nvSpPr>
          <p:cNvPr id="22" name="text-78"/>
          <p:cNvSpPr txBox="1"/>
          <p:nvPr/>
        </p:nvSpPr>
        <p:spPr>
          <a:xfrm>
            <a:off x="6355080" y="2240280"/>
            <a:ext cx="5138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南网文件中的相关要求</a:t>
            </a:r>
            <a:endParaRPr lang="en-US" sz="1400" dirty="0"/>
          </a:p>
        </p:txBody>
      </p:sp>
      <p:graphicFrame>
        <p:nvGraphicFramePr>
          <p:cNvPr id="6" name="table-7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55080" y="2651760"/>
          <a:ext cx="5138928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3035808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出处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要求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《分类分级手册》分级原则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从严性：多因素时按可能造成的最高影响定级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《分类分级手册》分级要素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深度：关联、挖掘、融合对隐含信息的刻画程度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《分类分级手册》附录 D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分析挖掘出更敏感、更深度的衍生数据应提高级别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《分类分级手册》附录 E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应分析数据汇聚后是否可获得更多信息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《风险评估手册》第 382 项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基于已公开数据，尝试能否推断出未公开的关联信息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4" name="text-80"/>
          <p:cNvSpPr txBox="1"/>
          <p:nvPr/>
        </p:nvSpPr>
        <p:spPr>
          <a:xfrm>
            <a:off x="6355080" y="5596128"/>
            <a:ext cx="5138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上述要求尚无配套的计算方法与判定标准，本体系在此处给出</a:t>
            </a:r>
            <a:pPr algn="l" indent="0" marL="0">
              <a:buNone/>
            </a:pPr>
            <a:r>
              <a:rPr lang="en-US" sz="1250" b="1" dirty="0">
                <a:solidFill>
                  <a:srgbClr val="C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可计算、可复核</a:t>
            </a:r>
            <a:pPr algn="l"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的做法。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92240"/>
            <a:ext cx="6858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F7F7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k-81"/>
          <p:cNvSpPr/>
          <p:nvPr/>
        </p:nvSpPr>
        <p:spPr>
          <a:xfrm>
            <a:off x="155448" y="301752"/>
            <a:ext cx="338328" cy="310896"/>
          </a:xfrm>
          <a:prstGeom prst="chevron">
            <a:avLst/>
          </a:prstGeom>
          <a:solidFill>
            <a:srgbClr val="B50104"/>
          </a:solidFill>
          <a:ln w="12700">
            <a:solidFill>
              <a:srgbClr val="B50104"/>
            </a:solidFill>
            <a:prstDash val="solid"/>
          </a:ln>
        </p:spPr>
      </p:sp>
      <p:sp>
        <p:nvSpPr>
          <p:cNvPr id="3" name="mark-82"/>
          <p:cNvSpPr/>
          <p:nvPr/>
        </p:nvSpPr>
        <p:spPr>
          <a:xfrm>
            <a:off x="438912" y="301752"/>
            <a:ext cx="338328" cy="310896"/>
          </a:xfrm>
          <a:prstGeom prst="chevron">
            <a:avLst/>
          </a:prstGeom>
          <a:solidFill>
            <a:srgbClr val="7F7F7F"/>
          </a:solidFill>
          <a:ln w="12700">
            <a:solidFill>
              <a:srgbClr val="7F7F7F"/>
            </a:solidFill>
            <a:prstDash val="solid"/>
          </a:ln>
        </p:spPr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868680" y="1828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E5E9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待解决的关键问题</a:t>
            </a:r>
            <a:endParaRPr lang="en-US" sz="2400" dirty="0"/>
          </a:p>
        </p:txBody>
      </p:sp>
      <p:sp>
        <p:nvSpPr>
          <p:cNvPr id="5" name="text-83"/>
          <p:cNvSpPr txBox="1"/>
          <p:nvPr/>
        </p:nvSpPr>
        <p:spPr>
          <a:xfrm>
            <a:off x="694944" y="1143000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➢ </a:t>
            </a:r>
            <a:pPr algn="l"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围绕课题任务，体系需要回答三个问题</a:t>
            </a:r>
            <a:endParaRPr lang="en-US" sz="1800" dirty="0"/>
          </a:p>
        </p:txBody>
      </p:sp>
      <p:sp>
        <p:nvSpPr>
          <p:cNvPr id="6" name="box-84"/>
          <p:cNvSpPr/>
          <p:nvPr/>
        </p:nvSpPr>
        <p:spPr>
          <a:xfrm>
            <a:off x="694944" y="1783080"/>
            <a:ext cx="1188720" cy="1143000"/>
          </a:xfrm>
          <a:prstGeom prst="rect">
            <a:avLst/>
          </a:prstGeom>
          <a:solidFill>
            <a:srgbClr val="5B9BD5"/>
          </a:solidFill>
          <a:ln w="12700">
            <a:solidFill>
              <a:srgbClr val="5B9BD5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问题一</a:t>
            </a:r>
            <a:endParaRPr lang="en-US" sz="1500" dirty="0"/>
          </a:p>
        </p:txBody>
      </p:sp>
      <p:sp>
        <p:nvSpPr>
          <p:cNvPr id="7" name="box-85"/>
          <p:cNvSpPr/>
          <p:nvPr/>
        </p:nvSpPr>
        <p:spPr>
          <a:xfrm>
            <a:off x="1883664" y="1783080"/>
            <a:ext cx="44805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5B9BD5"/>
            </a:solidFill>
          </a:ln>
        </p:spPr>
        <p:txBody>
          <a:bodyPr wrap="square" lIns="50800" tIns="152400" rIns="127000" bIns="508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电力信息如何归类，并整理成可用于定级的统一形式？</a:t>
            </a:r>
            <a:endParaRPr lang="en-US" sz="1400" dirty="0"/>
          </a:p>
        </p:txBody>
      </p:sp>
      <p:sp>
        <p:nvSpPr>
          <p:cNvPr id="8" name="arr-86"/>
          <p:cNvSpPr/>
          <p:nvPr/>
        </p:nvSpPr>
        <p:spPr>
          <a:xfrm>
            <a:off x="6446520" y="2194560"/>
            <a:ext cx="411480" cy="310896"/>
          </a:xfrm>
          <a:prstGeom prst="rightArrow">
            <a:avLst/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9" name="box-87"/>
          <p:cNvSpPr/>
          <p:nvPr/>
        </p:nvSpPr>
        <p:spPr>
          <a:xfrm>
            <a:off x="6949440" y="1783080"/>
            <a:ext cx="4544568" cy="1143000"/>
          </a:xfrm>
          <a:prstGeom prst="rect">
            <a:avLst/>
          </a:prstGeom>
          <a:solidFill>
            <a:srgbClr val="DEEAF6"/>
          </a:solidFill>
          <a:ln w="12700">
            <a:solidFill>
              <a:srgbClr val="5B9BD5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一、信息类型归纳与结构化处理</a:t>
            </a:r>
            <a:endParaRPr lang="en-US" sz="12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产出：字段清单</a:t>
            </a:r>
            <a:endParaRPr lang="en-US" sz="1200" dirty="0"/>
          </a:p>
        </p:txBody>
      </p:sp>
      <p:sp>
        <p:nvSpPr>
          <p:cNvPr id="10" name="box-88"/>
          <p:cNvSpPr/>
          <p:nvPr/>
        </p:nvSpPr>
        <p:spPr>
          <a:xfrm>
            <a:off x="694944" y="3154680"/>
            <a:ext cx="1188720" cy="1143000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问题二</a:t>
            </a:r>
            <a:endParaRPr lang="en-US" sz="1500" dirty="0"/>
          </a:p>
        </p:txBody>
      </p:sp>
      <p:sp>
        <p:nvSpPr>
          <p:cNvPr id="11" name="box-89"/>
          <p:cNvSpPr/>
          <p:nvPr/>
        </p:nvSpPr>
        <p:spPr>
          <a:xfrm>
            <a:off x="1883664" y="3154680"/>
            <a:ext cx="44805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D7D31"/>
            </a:solidFill>
          </a:ln>
        </p:spPr>
        <p:txBody>
          <a:bodyPr wrap="square" lIns="50800" tIns="152400" rIns="127000" bIns="508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数据本身泄露的影响如何判定，得到基础等级？</a:t>
            </a:r>
            <a:endParaRPr lang="en-US" sz="1400" dirty="0"/>
          </a:p>
        </p:txBody>
      </p:sp>
      <p:sp>
        <p:nvSpPr>
          <p:cNvPr id="12" name="arr-90"/>
          <p:cNvSpPr/>
          <p:nvPr/>
        </p:nvSpPr>
        <p:spPr>
          <a:xfrm>
            <a:off x="6446520" y="3566160"/>
            <a:ext cx="411480" cy="310896"/>
          </a:xfrm>
          <a:prstGeom prst="rightArrow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13" name="box-91"/>
          <p:cNvSpPr/>
          <p:nvPr/>
        </p:nvSpPr>
        <p:spPr>
          <a:xfrm>
            <a:off x="6949440" y="3154680"/>
            <a:ext cx="4544568" cy="1143000"/>
          </a:xfrm>
          <a:prstGeom prst="rect">
            <a:avLst/>
          </a:prstGeom>
          <a:solidFill>
            <a:srgbClr val="FBE5D6"/>
          </a:solidFill>
          <a:ln w="12700">
            <a:solidFill>
              <a:srgbClr val="ED7D31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二、一次标定（面向本体安全威胁）</a:t>
            </a:r>
            <a:endParaRPr lang="en-US" sz="12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产出：一次等级</a:t>
            </a:r>
            <a:endParaRPr lang="en-US" sz="1200" dirty="0"/>
          </a:p>
        </p:txBody>
      </p:sp>
      <p:sp>
        <p:nvSpPr>
          <p:cNvPr id="14" name="box-92"/>
          <p:cNvSpPr/>
          <p:nvPr/>
        </p:nvSpPr>
        <p:spPr>
          <a:xfrm>
            <a:off x="694944" y="4526280"/>
            <a:ext cx="1188720" cy="1143000"/>
          </a:xfrm>
          <a:prstGeom prst="rect">
            <a:avLst/>
          </a:prstGeom>
          <a:solidFill>
            <a:srgbClr val="BF9000"/>
          </a:solidFill>
          <a:ln w="12700">
            <a:solidFill>
              <a:srgbClr val="BF9000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问题三</a:t>
            </a:r>
            <a:endParaRPr lang="en-US" sz="1500" dirty="0"/>
          </a:p>
        </p:txBody>
      </p:sp>
      <p:sp>
        <p:nvSpPr>
          <p:cNvPr id="15" name="box-93"/>
          <p:cNvSpPr/>
          <p:nvPr/>
        </p:nvSpPr>
        <p:spPr>
          <a:xfrm>
            <a:off x="1883664" y="4526280"/>
            <a:ext cx="44805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BF9000"/>
            </a:solidFill>
          </a:ln>
        </p:spPr>
        <p:txBody>
          <a:bodyPr wrap="square" lIns="50800" tIns="152400" rIns="127000" bIns="508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数据与接收方已掌握的信息融合后可推断出什么，等级如何据此调整？</a:t>
            </a:r>
            <a:endParaRPr lang="en-US" sz="1400" dirty="0"/>
          </a:p>
        </p:txBody>
      </p:sp>
      <p:sp>
        <p:nvSpPr>
          <p:cNvPr id="16" name="arr-94"/>
          <p:cNvSpPr/>
          <p:nvPr/>
        </p:nvSpPr>
        <p:spPr>
          <a:xfrm>
            <a:off x="6446520" y="4937760"/>
            <a:ext cx="411480" cy="310896"/>
          </a:xfrm>
          <a:prstGeom prst="rightArrow">
            <a:avLst/>
          </a:prstGeom>
          <a:solidFill>
            <a:srgbClr val="BF9000"/>
          </a:solidFill>
          <a:ln w="12700">
            <a:solidFill>
              <a:srgbClr val="BF9000"/>
            </a:solidFill>
            <a:prstDash val="solid"/>
          </a:ln>
        </p:spPr>
      </p:sp>
      <p:sp>
        <p:nvSpPr>
          <p:cNvPr id="17" name="box-95"/>
          <p:cNvSpPr/>
          <p:nvPr/>
        </p:nvSpPr>
        <p:spPr>
          <a:xfrm>
            <a:off x="6949440" y="4526280"/>
            <a:ext cx="4544568" cy="1143000"/>
          </a:xfrm>
          <a:prstGeom prst="rect">
            <a:avLst/>
          </a:prstGeom>
          <a:solidFill>
            <a:srgbClr val="FFF2CC"/>
          </a:solidFill>
          <a:ln w="12700">
            <a:solidFill>
              <a:srgbClr val="BF9000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三、二次标定（面向多源跨域融合推断威胁）</a:t>
            </a:r>
            <a:endParaRPr lang="en-US" sz="12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产出：字段推断敏感度、二次等级</a:t>
            </a:r>
            <a:endParaRPr lang="en-US" sz="1200" dirty="0"/>
          </a:p>
        </p:txBody>
      </p:sp>
      <p:sp>
        <p:nvSpPr>
          <p:cNvPr id="18" name="text-96"/>
          <p:cNvSpPr txBox="1"/>
          <p:nvPr/>
        </p:nvSpPr>
        <p:spPr>
          <a:xfrm>
            <a:off x="694944" y="5897880"/>
            <a:ext cx="10799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标定结果按南网既有流程审批、固化到数据目录，并随业务与数据变化动态更新。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92240"/>
            <a:ext cx="6858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F7F7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-97"/>
          <p:cNvSpPr txBox="1"/>
          <p:nvPr/>
        </p:nvSpPr>
        <p:spPr>
          <a:xfrm>
            <a:off x="155448" y="201168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4454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汇报提纲</a:t>
            </a:r>
            <a:endParaRPr lang="en-US" sz="2800" dirty="0"/>
          </a:p>
        </p:txBody>
      </p:sp>
      <p:pic>
        <p:nvPicPr>
          <p:cNvPr id="3" name="img-98" descr="/data1/duhaocun/projects/GNN_Aggresvation/reports/南网/南网claude/V11/assets/outline_map.jpeg">    </p:cNvPr>
          <p:cNvPicPr>
            <a:picLocks noChangeAspect="1"/>
          </p:cNvPicPr>
          <p:nvPr/>
        </p:nvPicPr>
        <p:blipFill>
          <a:blip r:embed="rId1">
            <a:alphaModFix amt="65000"/>
          </a:blip>
          <a:stretch>
            <a:fillRect/>
          </a:stretch>
        </p:blipFill>
        <p:spPr>
          <a:xfrm>
            <a:off x="2423160" y="1828800"/>
            <a:ext cx="7534656" cy="3630168"/>
          </a:xfrm>
          <a:prstGeom prst="rect">
            <a:avLst/>
          </a:prstGeom>
        </p:spPr>
      </p:pic>
      <p:sp>
        <p:nvSpPr>
          <p:cNvPr id="4" name="num-99"/>
          <p:cNvSpPr/>
          <p:nvPr/>
        </p:nvSpPr>
        <p:spPr>
          <a:xfrm>
            <a:off x="3840480" y="2057400"/>
            <a:ext cx="566928" cy="566928"/>
          </a:xfrm>
          <a:prstGeom prst="ellipse">
            <a:avLst/>
          </a:prstGeom>
          <a:solidFill>
            <a:srgbClr val="F2F2F2"/>
          </a:solidFill>
          <a:ln w="19050">
            <a:solidFill>
              <a:srgbClr val="D9D9D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FB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ln-100"/>
          <p:cNvSpPr/>
          <p:nvPr/>
        </p:nvSpPr>
        <p:spPr>
          <a:xfrm>
            <a:off x="4480560" y="2340864"/>
            <a:ext cx="548640" cy="0"/>
          </a:xfrm>
          <a:prstGeom prst="line">
            <a:avLst/>
          </a:prstGeom>
          <a:noFill/>
          <a:ln w="15875">
            <a:solidFill>
              <a:srgbClr val="BFBFBF"/>
            </a:solidFill>
            <a:prstDash val="dash"/>
            <a:tailEnd type="none"/>
          </a:ln>
        </p:spPr>
      </p:sp>
      <p:sp>
        <p:nvSpPr>
          <p:cNvPr id="6" name="text-101"/>
          <p:cNvSpPr txBox="1"/>
          <p:nvPr/>
        </p:nvSpPr>
        <p:spPr>
          <a:xfrm>
            <a:off x="5166360" y="2057400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BFBFB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问题与依据</a:t>
            </a:r>
            <a:endParaRPr lang="en-US" sz="2400" dirty="0"/>
          </a:p>
        </p:txBody>
      </p:sp>
      <p:sp>
        <p:nvSpPr>
          <p:cNvPr id="7" name="num-102"/>
          <p:cNvSpPr/>
          <p:nvPr/>
        </p:nvSpPr>
        <p:spPr>
          <a:xfrm>
            <a:off x="3840480" y="2926080"/>
            <a:ext cx="566928" cy="56692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7F7F7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8" name="ln-103"/>
          <p:cNvSpPr/>
          <p:nvPr/>
        </p:nvSpPr>
        <p:spPr>
          <a:xfrm>
            <a:off x="4480560" y="3209544"/>
            <a:ext cx="548640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dash"/>
            <a:tailEnd type="none"/>
          </a:ln>
        </p:spPr>
      </p:sp>
      <p:sp>
        <p:nvSpPr>
          <p:cNvPr id="9" name="text-104"/>
          <p:cNvSpPr txBox="1"/>
          <p:nvPr/>
        </p:nvSpPr>
        <p:spPr>
          <a:xfrm>
            <a:off x="5166360" y="2926080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体系框架</a:t>
            </a:r>
            <a:endParaRPr lang="en-US" sz="2400" dirty="0"/>
          </a:p>
        </p:txBody>
      </p:sp>
      <p:sp>
        <p:nvSpPr>
          <p:cNvPr id="10" name="num-105"/>
          <p:cNvSpPr/>
          <p:nvPr/>
        </p:nvSpPr>
        <p:spPr>
          <a:xfrm>
            <a:off x="3840480" y="3794760"/>
            <a:ext cx="566928" cy="566928"/>
          </a:xfrm>
          <a:prstGeom prst="ellipse">
            <a:avLst/>
          </a:prstGeom>
          <a:solidFill>
            <a:srgbClr val="F2F2F2"/>
          </a:solidFill>
          <a:ln w="19050">
            <a:solidFill>
              <a:srgbClr val="D9D9D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FB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1" name="ln-106"/>
          <p:cNvSpPr/>
          <p:nvPr/>
        </p:nvSpPr>
        <p:spPr>
          <a:xfrm>
            <a:off x="4480560" y="4078224"/>
            <a:ext cx="548640" cy="0"/>
          </a:xfrm>
          <a:prstGeom prst="line">
            <a:avLst/>
          </a:prstGeom>
          <a:noFill/>
          <a:ln w="15875">
            <a:solidFill>
              <a:srgbClr val="BFBFBF"/>
            </a:solidFill>
            <a:prstDash val="dash"/>
            <a:tailEnd type="none"/>
          </a:ln>
        </p:spPr>
      </p:sp>
      <p:sp>
        <p:nvSpPr>
          <p:cNvPr id="12" name="text-107"/>
          <p:cNvSpPr txBox="1"/>
          <p:nvPr/>
        </p:nvSpPr>
        <p:spPr>
          <a:xfrm>
            <a:off x="5166360" y="3794760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BFBFB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关键方法</a:t>
            </a:r>
            <a:endParaRPr lang="en-US" sz="2400" dirty="0"/>
          </a:p>
        </p:txBody>
      </p:sp>
      <p:sp>
        <p:nvSpPr>
          <p:cNvPr id="13" name="num-108"/>
          <p:cNvSpPr/>
          <p:nvPr/>
        </p:nvSpPr>
        <p:spPr>
          <a:xfrm>
            <a:off x="3840480" y="4663440"/>
            <a:ext cx="566928" cy="566928"/>
          </a:xfrm>
          <a:prstGeom prst="ellipse">
            <a:avLst/>
          </a:prstGeom>
          <a:solidFill>
            <a:srgbClr val="F2F2F2"/>
          </a:solidFill>
          <a:ln w="19050">
            <a:solidFill>
              <a:srgbClr val="D9D9D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FB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14" name="ln-109"/>
          <p:cNvSpPr/>
          <p:nvPr/>
        </p:nvSpPr>
        <p:spPr>
          <a:xfrm>
            <a:off x="4480560" y="4946904"/>
            <a:ext cx="548640" cy="0"/>
          </a:xfrm>
          <a:prstGeom prst="line">
            <a:avLst/>
          </a:prstGeom>
          <a:noFill/>
          <a:ln w="15875">
            <a:solidFill>
              <a:srgbClr val="BFBFBF"/>
            </a:solidFill>
            <a:prstDash val="dash"/>
            <a:tailEnd type="none"/>
          </a:ln>
        </p:spPr>
      </p:sp>
      <p:sp>
        <p:nvSpPr>
          <p:cNvPr id="15" name="text-110"/>
          <p:cNvSpPr txBox="1"/>
          <p:nvPr/>
        </p:nvSpPr>
        <p:spPr>
          <a:xfrm>
            <a:off x="5166360" y="4663440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BFBFB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下一步工作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92240"/>
            <a:ext cx="6858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F7F7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k-111"/>
          <p:cNvSpPr/>
          <p:nvPr/>
        </p:nvSpPr>
        <p:spPr>
          <a:xfrm>
            <a:off x="155448" y="301752"/>
            <a:ext cx="338328" cy="310896"/>
          </a:xfrm>
          <a:prstGeom prst="chevron">
            <a:avLst/>
          </a:prstGeom>
          <a:solidFill>
            <a:srgbClr val="B50104"/>
          </a:solidFill>
          <a:ln w="12700">
            <a:solidFill>
              <a:srgbClr val="B50104"/>
            </a:solidFill>
            <a:prstDash val="solid"/>
          </a:ln>
        </p:spPr>
      </p:sp>
      <p:sp>
        <p:nvSpPr>
          <p:cNvPr id="3" name="mark-112"/>
          <p:cNvSpPr/>
          <p:nvPr/>
        </p:nvSpPr>
        <p:spPr>
          <a:xfrm>
            <a:off x="438912" y="301752"/>
            <a:ext cx="338328" cy="310896"/>
          </a:xfrm>
          <a:prstGeom prst="chevron">
            <a:avLst/>
          </a:prstGeom>
          <a:solidFill>
            <a:srgbClr val="7F7F7F"/>
          </a:solidFill>
          <a:ln w="12700">
            <a:solidFill>
              <a:srgbClr val="7F7F7F"/>
            </a:solidFill>
            <a:prstDash val="solid"/>
          </a:ln>
        </p:spPr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868680" y="1828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E5E9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体系框架：总体结构</a:t>
            </a:r>
            <a:endParaRPr lang="en-US" sz="2400" dirty="0"/>
          </a:p>
        </p:txBody>
      </p:sp>
      <p:sp>
        <p:nvSpPr>
          <p:cNvPr id="5" name="text-113"/>
          <p:cNvSpPr txBox="1"/>
          <p:nvPr/>
        </p:nvSpPr>
        <p:spPr>
          <a:xfrm>
            <a:off x="694944" y="10972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体系组成与各步骤</a:t>
            </a:r>
            <a:endParaRPr lang="en-US" sz="1300" dirty="0"/>
          </a:p>
        </p:txBody>
      </p:sp>
      <p:sp>
        <p:nvSpPr>
          <p:cNvPr id="6" name="text-114"/>
          <p:cNvSpPr txBox="1"/>
          <p:nvPr/>
        </p:nvSpPr>
        <p:spPr>
          <a:xfrm>
            <a:off x="8174736" y="10972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产出</a:t>
            </a:r>
            <a:endParaRPr lang="en-US" sz="1300" dirty="0"/>
          </a:p>
        </p:txBody>
      </p:sp>
      <p:sp>
        <p:nvSpPr>
          <p:cNvPr id="7" name="text-115"/>
          <p:cNvSpPr txBox="1"/>
          <p:nvPr/>
        </p:nvSpPr>
        <p:spPr>
          <a:xfrm>
            <a:off x="9564624" y="1097280"/>
            <a:ext cx="1929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南网依据</a:t>
            </a:r>
            <a:endParaRPr lang="en-US" sz="1300" dirty="0"/>
          </a:p>
        </p:txBody>
      </p:sp>
      <p:sp>
        <p:nvSpPr>
          <p:cNvPr id="8" name="box-116"/>
          <p:cNvSpPr/>
          <p:nvPr/>
        </p:nvSpPr>
        <p:spPr>
          <a:xfrm>
            <a:off x="694944" y="1444752"/>
            <a:ext cx="2011680" cy="914400"/>
          </a:xfrm>
          <a:prstGeom prst="rect">
            <a:avLst/>
          </a:prstGeom>
          <a:solidFill>
            <a:srgbClr val="5B9BD5"/>
          </a:solidFill>
          <a:ln w="12700">
            <a:solidFill>
              <a:srgbClr val="5B9BD5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9" name="text-117"/>
          <p:cNvSpPr txBox="1"/>
          <p:nvPr/>
        </p:nvSpPr>
        <p:spPr>
          <a:xfrm>
            <a:off x="768096" y="1499616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一、</a:t>
            </a:r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信息归纳与结构化</a:t>
            </a:r>
            <a:endParaRPr lang="en-US" sz="1600" dirty="0"/>
          </a:p>
        </p:txBody>
      </p:sp>
      <p:sp>
        <p:nvSpPr>
          <p:cNvPr id="10" name="text-118"/>
          <p:cNvSpPr txBox="1"/>
          <p:nvPr/>
        </p:nvSpPr>
        <p:spPr>
          <a:xfrm>
            <a:off x="768096" y="1975104"/>
            <a:ext cx="1883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从业务流、数据流归纳信息类型</a:t>
            </a:r>
            <a:endParaRPr lang="en-US" sz="1000" dirty="0"/>
          </a:p>
        </p:txBody>
      </p:sp>
      <p:sp>
        <p:nvSpPr>
          <p:cNvPr id="11" name="box-119"/>
          <p:cNvSpPr/>
          <p:nvPr/>
        </p:nvSpPr>
        <p:spPr>
          <a:xfrm>
            <a:off x="2706624" y="1444752"/>
            <a:ext cx="52120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5B9BD5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12" name="box-120"/>
          <p:cNvSpPr/>
          <p:nvPr/>
        </p:nvSpPr>
        <p:spPr>
          <a:xfrm>
            <a:off x="2798064" y="1554480"/>
            <a:ext cx="1542288" cy="694944"/>
          </a:xfrm>
          <a:prstGeom prst="rect">
            <a:avLst/>
          </a:prstGeom>
          <a:solidFill>
            <a:srgbClr val="DEEAF6"/>
          </a:solidFill>
          <a:ln w="12700">
            <a:solidFill>
              <a:srgbClr val="5B9BD5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1.1 业务流归类</a:t>
            </a:r>
            <a:pPr algn="ctr" indent="0" marL="0">
              <a:buNone/>
            </a:pP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按业务架构分类到字段</a:t>
            </a:r>
            <a:endParaRPr lang="en-US" sz="1050" dirty="0"/>
          </a:p>
        </p:txBody>
      </p:sp>
      <p:sp>
        <p:nvSpPr>
          <p:cNvPr id="13" name="arr-121"/>
          <p:cNvSpPr/>
          <p:nvPr/>
        </p:nvSpPr>
        <p:spPr>
          <a:xfrm>
            <a:off x="4358640" y="1810512"/>
            <a:ext cx="164592" cy="182880"/>
          </a:xfrm>
          <a:prstGeom prst="rightArrow">
            <a:avLst/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14" name="box-122"/>
          <p:cNvSpPr/>
          <p:nvPr/>
        </p:nvSpPr>
        <p:spPr>
          <a:xfrm>
            <a:off x="4541520" y="1554480"/>
            <a:ext cx="1542288" cy="694944"/>
          </a:xfrm>
          <a:prstGeom prst="rect">
            <a:avLst/>
          </a:prstGeom>
          <a:solidFill>
            <a:srgbClr val="DEEAF6"/>
          </a:solidFill>
          <a:ln w="12700">
            <a:solidFill>
              <a:srgbClr val="5B9BD5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1.2 数据流标注</a:t>
            </a:r>
            <a:pPr algn="ctr" indent="0" marL="0">
              <a:buNone/>
            </a:pP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披露层级与时点</a:t>
            </a:r>
            <a:endParaRPr lang="en-US" sz="1050" dirty="0"/>
          </a:p>
        </p:txBody>
      </p:sp>
      <p:sp>
        <p:nvSpPr>
          <p:cNvPr id="15" name="arr-123"/>
          <p:cNvSpPr/>
          <p:nvPr/>
        </p:nvSpPr>
        <p:spPr>
          <a:xfrm>
            <a:off x="6102096" y="1810512"/>
            <a:ext cx="164592" cy="182880"/>
          </a:xfrm>
          <a:prstGeom prst="rightArrow">
            <a:avLst/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16" name="box-124"/>
          <p:cNvSpPr/>
          <p:nvPr/>
        </p:nvSpPr>
        <p:spPr>
          <a:xfrm>
            <a:off x="6284976" y="1554480"/>
            <a:ext cx="1542288" cy="694944"/>
          </a:xfrm>
          <a:prstGeom prst="rect">
            <a:avLst/>
          </a:prstGeom>
          <a:solidFill>
            <a:srgbClr val="DEEAF6"/>
          </a:solidFill>
          <a:ln w="12700">
            <a:solidFill>
              <a:srgbClr val="5B9BD5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1.3 字段清单</a:t>
            </a:r>
            <a:pPr algn="ctr" indent="0" marL="0">
              <a:buNone/>
            </a:pP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统一的结构化记录</a:t>
            </a:r>
            <a:endParaRPr lang="en-US" sz="1050" dirty="0"/>
          </a:p>
        </p:txBody>
      </p:sp>
      <p:sp>
        <p:nvSpPr>
          <p:cNvPr id="17" name="arr-125"/>
          <p:cNvSpPr/>
          <p:nvPr/>
        </p:nvSpPr>
        <p:spPr>
          <a:xfrm>
            <a:off x="7955280" y="1792224"/>
            <a:ext cx="182880" cy="219456"/>
          </a:xfrm>
          <a:prstGeom prst="rightArrow">
            <a:avLst/>
          </a:prstGeom>
          <a:solidFill>
            <a:srgbClr val="A6A6A6"/>
          </a:solidFill>
          <a:ln w="12700">
            <a:solidFill>
              <a:srgbClr val="A6A6A6"/>
            </a:solidFill>
            <a:prstDash val="solid"/>
          </a:ln>
        </p:spPr>
      </p:sp>
      <p:sp>
        <p:nvSpPr>
          <p:cNvPr id="18" name="box-126"/>
          <p:cNvSpPr/>
          <p:nvPr/>
        </p:nvSpPr>
        <p:spPr>
          <a:xfrm>
            <a:off x="8174736" y="1444752"/>
            <a:ext cx="1280160" cy="914400"/>
          </a:xfrm>
          <a:prstGeom prst="rect">
            <a:avLst/>
          </a:prstGeom>
          <a:solidFill>
            <a:srgbClr val="E7E6E6"/>
          </a:solidFill>
          <a:ln w="12700">
            <a:solidFill>
              <a:srgbClr val="A6A6A6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字段清单</a:t>
            </a:r>
            <a:endParaRPr lang="en-US" sz="1050" dirty="0"/>
          </a:p>
        </p:txBody>
      </p:sp>
      <p:sp>
        <p:nvSpPr>
          <p:cNvPr id="19" name="box-127"/>
          <p:cNvSpPr/>
          <p:nvPr/>
        </p:nvSpPr>
        <p:spPr>
          <a:xfrm>
            <a:off x="9564624" y="1444752"/>
            <a:ext cx="1929384" cy="914400"/>
          </a:xfrm>
          <a:prstGeom prst="rect">
            <a:avLst/>
          </a:prstGeom>
          <a:solidFill>
            <a:srgbClr val="F7F7F7"/>
          </a:solidFill>
          <a:ln w="12700">
            <a:solidFill>
              <a:srgbClr val="A6A6A6"/>
            </a:solidFill>
            <a:prstDash val="dash"/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20" name="text-128"/>
          <p:cNvSpPr txBox="1"/>
          <p:nvPr/>
        </p:nvSpPr>
        <p:spPr>
          <a:xfrm>
            <a:off x="9619488" y="1472184"/>
            <a:ext cx="18288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《分类分级手册》四(一)(二)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《披露细则》2.7、5.1</a:t>
            </a:r>
            <a:endParaRPr lang="en-US" sz="850" dirty="0"/>
          </a:p>
        </p:txBody>
      </p:sp>
      <p:sp>
        <p:nvSpPr>
          <p:cNvPr id="21" name="arr-129"/>
          <p:cNvSpPr/>
          <p:nvPr/>
        </p:nvSpPr>
        <p:spPr>
          <a:xfrm>
            <a:off x="1517904" y="2368296"/>
            <a:ext cx="365760" cy="146304"/>
          </a:xfrm>
          <a:prstGeom prst="downArrow">
            <a:avLst/>
          </a:prstGeom>
          <a:solidFill>
            <a:srgbClr val="A6A6A6"/>
          </a:solidFill>
          <a:ln w="12700">
            <a:solidFill>
              <a:srgbClr val="A6A6A6"/>
            </a:solidFill>
            <a:prstDash val="solid"/>
          </a:ln>
        </p:spPr>
      </p:sp>
      <p:sp>
        <p:nvSpPr>
          <p:cNvPr id="22" name="box-130"/>
          <p:cNvSpPr/>
          <p:nvPr/>
        </p:nvSpPr>
        <p:spPr>
          <a:xfrm>
            <a:off x="694944" y="2532888"/>
            <a:ext cx="2011680" cy="914400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23" name="text-131"/>
          <p:cNvSpPr txBox="1"/>
          <p:nvPr/>
        </p:nvSpPr>
        <p:spPr>
          <a:xfrm>
            <a:off x="768096" y="2587752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二、</a:t>
            </a:r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一次标定</a:t>
            </a:r>
            <a:endParaRPr lang="en-US" sz="1600" dirty="0"/>
          </a:p>
        </p:txBody>
      </p:sp>
      <p:sp>
        <p:nvSpPr>
          <p:cNvPr id="24" name="text-132"/>
          <p:cNvSpPr txBox="1"/>
          <p:nvPr/>
        </p:nvSpPr>
        <p:spPr>
          <a:xfrm>
            <a:off x="768096" y="3063240"/>
            <a:ext cx="1883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面向本体安全威胁</a:t>
            </a:r>
            <a:endParaRPr lang="en-US" sz="1000" dirty="0"/>
          </a:p>
        </p:txBody>
      </p:sp>
      <p:sp>
        <p:nvSpPr>
          <p:cNvPr id="25" name="box-133"/>
          <p:cNvSpPr/>
          <p:nvPr/>
        </p:nvSpPr>
        <p:spPr>
          <a:xfrm>
            <a:off x="2706624" y="2532888"/>
            <a:ext cx="52120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D7D31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26" name="box-134"/>
          <p:cNvSpPr/>
          <p:nvPr/>
        </p:nvSpPr>
        <p:spPr>
          <a:xfrm>
            <a:off x="2798064" y="2642616"/>
            <a:ext cx="1542288" cy="694944"/>
          </a:xfrm>
          <a:prstGeom prst="rect">
            <a:avLst/>
          </a:prstGeom>
          <a:solidFill>
            <a:srgbClr val="FBE5D6"/>
          </a:solidFill>
          <a:ln w="12700">
            <a:solidFill>
              <a:srgbClr val="ED7D31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2.1 规则库构建</a:t>
            </a:r>
            <a:pPr algn="ctr" indent="0" marL="0">
              <a:buNone/>
            </a:pP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大模型 + 检索增强</a:t>
            </a:r>
            <a:endParaRPr lang="en-US" sz="1050" dirty="0"/>
          </a:p>
        </p:txBody>
      </p:sp>
      <p:sp>
        <p:nvSpPr>
          <p:cNvPr id="27" name="arr-135"/>
          <p:cNvSpPr/>
          <p:nvPr/>
        </p:nvSpPr>
        <p:spPr>
          <a:xfrm>
            <a:off x="4358640" y="2898648"/>
            <a:ext cx="164592" cy="182880"/>
          </a:xfrm>
          <a:prstGeom prst="rightArrow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28" name="box-136"/>
          <p:cNvSpPr/>
          <p:nvPr/>
        </p:nvSpPr>
        <p:spPr>
          <a:xfrm>
            <a:off x="4541520" y="2642616"/>
            <a:ext cx="1542288" cy="694944"/>
          </a:xfrm>
          <a:prstGeom prst="rect">
            <a:avLst/>
          </a:prstGeom>
          <a:solidFill>
            <a:srgbClr val="FBE5D6"/>
          </a:solidFill>
          <a:ln w="12700">
            <a:solidFill>
              <a:srgbClr val="ED7D31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2.2 影响分析</a:t>
            </a:r>
            <a:pPr algn="ctr" indent="0" marL="0">
              <a:buNone/>
            </a:pP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规则匹配：影响对象、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范围、程度</a:t>
            </a:r>
            <a:endParaRPr lang="en-US" sz="1050" dirty="0"/>
          </a:p>
        </p:txBody>
      </p:sp>
      <p:sp>
        <p:nvSpPr>
          <p:cNvPr id="29" name="arr-137"/>
          <p:cNvSpPr/>
          <p:nvPr/>
        </p:nvSpPr>
        <p:spPr>
          <a:xfrm>
            <a:off x="6102096" y="2898648"/>
            <a:ext cx="164592" cy="182880"/>
          </a:xfrm>
          <a:prstGeom prst="rightArrow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30" name="box-138"/>
          <p:cNvSpPr/>
          <p:nvPr/>
        </p:nvSpPr>
        <p:spPr>
          <a:xfrm>
            <a:off x="6284976" y="2642616"/>
            <a:ext cx="1542288" cy="694944"/>
          </a:xfrm>
          <a:prstGeom prst="rect">
            <a:avLst/>
          </a:prstGeom>
          <a:solidFill>
            <a:srgbClr val="FBE5D6"/>
          </a:solidFill>
          <a:ln w="12700">
            <a:solidFill>
              <a:srgbClr val="ED7D31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2.3 等级判定</a:t>
            </a:r>
            <a:pPr algn="ctr" indent="0" marL="0">
              <a:buNone/>
            </a:pP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判定矩阵，就高不就低</a:t>
            </a:r>
            <a:endParaRPr lang="en-US" sz="1050" dirty="0"/>
          </a:p>
        </p:txBody>
      </p:sp>
      <p:sp>
        <p:nvSpPr>
          <p:cNvPr id="31" name="arr-139"/>
          <p:cNvSpPr/>
          <p:nvPr/>
        </p:nvSpPr>
        <p:spPr>
          <a:xfrm>
            <a:off x="7955280" y="2880360"/>
            <a:ext cx="182880" cy="219456"/>
          </a:xfrm>
          <a:prstGeom prst="rightArrow">
            <a:avLst/>
          </a:prstGeom>
          <a:solidFill>
            <a:srgbClr val="A6A6A6"/>
          </a:solidFill>
          <a:ln w="12700">
            <a:solidFill>
              <a:srgbClr val="A6A6A6"/>
            </a:solidFill>
            <a:prstDash val="solid"/>
          </a:ln>
        </p:spPr>
      </p:sp>
      <p:sp>
        <p:nvSpPr>
          <p:cNvPr id="32" name="box-140"/>
          <p:cNvSpPr/>
          <p:nvPr/>
        </p:nvSpPr>
        <p:spPr>
          <a:xfrm>
            <a:off x="8174736" y="2532888"/>
            <a:ext cx="1280160" cy="914400"/>
          </a:xfrm>
          <a:prstGeom prst="rect">
            <a:avLst/>
          </a:prstGeom>
          <a:solidFill>
            <a:srgbClr val="E7E6E6"/>
          </a:solidFill>
          <a:ln w="12700">
            <a:solidFill>
              <a:srgbClr val="A6A6A6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一次等级</a:t>
            </a:r>
            <a:endParaRPr lang="en-US" sz="1050" dirty="0"/>
          </a:p>
        </p:txBody>
      </p:sp>
      <p:sp>
        <p:nvSpPr>
          <p:cNvPr id="33" name="box-141"/>
          <p:cNvSpPr/>
          <p:nvPr/>
        </p:nvSpPr>
        <p:spPr>
          <a:xfrm>
            <a:off x="9564624" y="2532888"/>
            <a:ext cx="1929384" cy="914400"/>
          </a:xfrm>
          <a:prstGeom prst="rect">
            <a:avLst/>
          </a:prstGeom>
          <a:solidFill>
            <a:srgbClr val="F7F7F7"/>
          </a:solidFill>
          <a:ln w="12700">
            <a:solidFill>
              <a:srgbClr val="A6A6A6"/>
            </a:solidFill>
            <a:prstDash val="dash"/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34" name="text-142"/>
          <p:cNvSpPr txBox="1"/>
          <p:nvPr/>
        </p:nvSpPr>
        <p:spPr>
          <a:xfrm>
            <a:off x="9619488" y="2560320"/>
            <a:ext cx="18288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《分类分级手册》四(三)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表 4.1~4.4</a:t>
            </a:r>
            <a:endParaRPr lang="en-US" sz="850" dirty="0"/>
          </a:p>
        </p:txBody>
      </p:sp>
      <p:sp>
        <p:nvSpPr>
          <p:cNvPr id="35" name="arr-143"/>
          <p:cNvSpPr/>
          <p:nvPr/>
        </p:nvSpPr>
        <p:spPr>
          <a:xfrm>
            <a:off x="1517904" y="3456432"/>
            <a:ext cx="365760" cy="146304"/>
          </a:xfrm>
          <a:prstGeom prst="downArrow">
            <a:avLst/>
          </a:prstGeom>
          <a:solidFill>
            <a:srgbClr val="A6A6A6"/>
          </a:solidFill>
          <a:ln w="12700">
            <a:solidFill>
              <a:srgbClr val="A6A6A6"/>
            </a:solidFill>
            <a:prstDash val="solid"/>
          </a:ln>
        </p:spPr>
      </p:sp>
      <p:sp>
        <p:nvSpPr>
          <p:cNvPr id="36" name="box-144"/>
          <p:cNvSpPr/>
          <p:nvPr/>
        </p:nvSpPr>
        <p:spPr>
          <a:xfrm>
            <a:off x="694944" y="3621024"/>
            <a:ext cx="2011680" cy="1325880"/>
          </a:xfrm>
          <a:prstGeom prst="rect">
            <a:avLst/>
          </a:prstGeom>
          <a:solidFill>
            <a:srgbClr val="BF9000"/>
          </a:solidFill>
          <a:ln w="12700">
            <a:solidFill>
              <a:srgbClr val="BF9000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37" name="text-145"/>
          <p:cNvSpPr txBox="1"/>
          <p:nvPr/>
        </p:nvSpPr>
        <p:spPr>
          <a:xfrm>
            <a:off x="768096" y="3675888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三、</a:t>
            </a:r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二次标定</a:t>
            </a:r>
            <a:endParaRPr lang="en-US" sz="1600" dirty="0"/>
          </a:p>
        </p:txBody>
      </p:sp>
      <p:sp>
        <p:nvSpPr>
          <p:cNvPr id="38" name="text-146"/>
          <p:cNvSpPr txBox="1"/>
          <p:nvPr/>
        </p:nvSpPr>
        <p:spPr>
          <a:xfrm>
            <a:off x="768096" y="4151376"/>
            <a:ext cx="1883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面向多源跨域融合推断威胁</a:t>
            </a:r>
            <a:endParaRPr lang="en-US" sz="1000" dirty="0"/>
          </a:p>
        </p:txBody>
      </p:sp>
      <p:sp>
        <p:nvSpPr>
          <p:cNvPr id="39" name="box-147"/>
          <p:cNvSpPr/>
          <p:nvPr/>
        </p:nvSpPr>
        <p:spPr>
          <a:xfrm>
            <a:off x="2706624" y="3621024"/>
            <a:ext cx="521208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BF9000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40" name="box-148"/>
          <p:cNvSpPr/>
          <p:nvPr/>
        </p:nvSpPr>
        <p:spPr>
          <a:xfrm>
            <a:off x="2798064" y="3730752"/>
            <a:ext cx="1106424" cy="1106424"/>
          </a:xfrm>
          <a:prstGeom prst="rect">
            <a:avLst/>
          </a:prstGeom>
          <a:solidFill>
            <a:srgbClr val="FFF2CC"/>
          </a:solidFill>
          <a:ln w="12700">
            <a:solidFill>
              <a:srgbClr val="BF9000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3.1 融合推断场景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接收方已掌握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的信息</a:t>
            </a:r>
            <a:endParaRPr lang="en-US" sz="1000" dirty="0"/>
          </a:p>
        </p:txBody>
      </p:sp>
      <p:sp>
        <p:nvSpPr>
          <p:cNvPr id="41" name="arr-149"/>
          <p:cNvSpPr/>
          <p:nvPr/>
        </p:nvSpPr>
        <p:spPr>
          <a:xfrm>
            <a:off x="3922776" y="4192524"/>
            <a:ext cx="164592" cy="182880"/>
          </a:xfrm>
          <a:prstGeom prst="rightArrow">
            <a:avLst/>
          </a:prstGeom>
          <a:solidFill>
            <a:srgbClr val="BF9000"/>
          </a:solidFill>
          <a:ln w="12700">
            <a:solidFill>
              <a:srgbClr val="BF9000"/>
            </a:solidFill>
            <a:prstDash val="solid"/>
          </a:ln>
        </p:spPr>
      </p:sp>
      <p:sp>
        <p:nvSpPr>
          <p:cNvPr id="42" name="box-150"/>
          <p:cNvSpPr/>
          <p:nvPr/>
        </p:nvSpPr>
        <p:spPr>
          <a:xfrm>
            <a:off x="4105656" y="3730752"/>
            <a:ext cx="1106424" cy="1106424"/>
          </a:xfrm>
          <a:prstGeom prst="rect">
            <a:avLst/>
          </a:prstGeom>
          <a:solidFill>
            <a:srgbClr val="FFF2CC"/>
          </a:solidFill>
          <a:ln w="12700">
            <a:solidFill>
              <a:srgbClr val="BF9000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3.2 推断敏感度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字段对推断的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最大贡献</a:t>
            </a:r>
            <a:endParaRPr lang="en-US" sz="1000" dirty="0"/>
          </a:p>
        </p:txBody>
      </p:sp>
      <p:sp>
        <p:nvSpPr>
          <p:cNvPr id="43" name="arr-151"/>
          <p:cNvSpPr/>
          <p:nvPr/>
        </p:nvSpPr>
        <p:spPr>
          <a:xfrm>
            <a:off x="5230368" y="4192524"/>
            <a:ext cx="164592" cy="182880"/>
          </a:xfrm>
          <a:prstGeom prst="rightArrow">
            <a:avLst/>
          </a:prstGeom>
          <a:solidFill>
            <a:srgbClr val="BF9000"/>
          </a:solidFill>
          <a:ln w="12700">
            <a:solidFill>
              <a:srgbClr val="BF9000"/>
            </a:solidFill>
            <a:prstDash val="solid"/>
          </a:ln>
        </p:spPr>
      </p:sp>
      <p:sp>
        <p:nvSpPr>
          <p:cNvPr id="44" name="box-152"/>
          <p:cNvSpPr/>
          <p:nvPr/>
        </p:nvSpPr>
        <p:spPr>
          <a:xfrm>
            <a:off x="5413248" y="3730752"/>
            <a:ext cx="1106424" cy="1106424"/>
          </a:xfrm>
          <a:prstGeom prst="rect">
            <a:avLst/>
          </a:prstGeom>
          <a:solidFill>
            <a:srgbClr val="FFF2CC"/>
          </a:solidFill>
          <a:ln w="12700">
            <a:solidFill>
              <a:srgbClr val="BF9000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3.3 计算与验证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关联分析、集合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扫描、重训验证</a:t>
            </a:r>
            <a:endParaRPr lang="en-US" sz="1000" dirty="0"/>
          </a:p>
        </p:txBody>
      </p:sp>
      <p:sp>
        <p:nvSpPr>
          <p:cNvPr id="45" name="arr-153"/>
          <p:cNvSpPr/>
          <p:nvPr/>
        </p:nvSpPr>
        <p:spPr>
          <a:xfrm>
            <a:off x="6537960" y="4192524"/>
            <a:ext cx="164592" cy="182880"/>
          </a:xfrm>
          <a:prstGeom prst="rightArrow">
            <a:avLst/>
          </a:prstGeom>
          <a:solidFill>
            <a:srgbClr val="BF9000"/>
          </a:solidFill>
          <a:ln w="12700">
            <a:solidFill>
              <a:srgbClr val="BF9000"/>
            </a:solidFill>
            <a:prstDash val="solid"/>
          </a:ln>
        </p:spPr>
      </p:sp>
      <p:sp>
        <p:nvSpPr>
          <p:cNvPr id="46" name="box-154"/>
          <p:cNvSpPr/>
          <p:nvPr/>
        </p:nvSpPr>
        <p:spPr>
          <a:xfrm>
            <a:off x="6720840" y="3730752"/>
            <a:ext cx="1106424" cy="1106424"/>
          </a:xfrm>
          <a:prstGeom prst="rect">
            <a:avLst/>
          </a:prstGeom>
          <a:solidFill>
            <a:srgbClr val="FFF2CC"/>
          </a:solidFill>
          <a:ln w="12700">
            <a:solidFill>
              <a:srgbClr val="BF9000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3.4 二次标定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规则驱动 /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模型驱动（GRPO）</a:t>
            </a:r>
            <a:endParaRPr lang="en-US" sz="1000" dirty="0"/>
          </a:p>
        </p:txBody>
      </p:sp>
      <p:sp>
        <p:nvSpPr>
          <p:cNvPr id="47" name="arr-155"/>
          <p:cNvSpPr/>
          <p:nvPr/>
        </p:nvSpPr>
        <p:spPr>
          <a:xfrm>
            <a:off x="7955280" y="4174236"/>
            <a:ext cx="182880" cy="219456"/>
          </a:xfrm>
          <a:prstGeom prst="rightArrow">
            <a:avLst/>
          </a:prstGeom>
          <a:solidFill>
            <a:srgbClr val="A6A6A6"/>
          </a:solidFill>
          <a:ln w="12700">
            <a:solidFill>
              <a:srgbClr val="A6A6A6"/>
            </a:solidFill>
            <a:prstDash val="solid"/>
          </a:ln>
        </p:spPr>
      </p:sp>
      <p:sp>
        <p:nvSpPr>
          <p:cNvPr id="48" name="box-156"/>
          <p:cNvSpPr/>
          <p:nvPr/>
        </p:nvSpPr>
        <p:spPr>
          <a:xfrm>
            <a:off x="8174736" y="3621024"/>
            <a:ext cx="1280160" cy="1325880"/>
          </a:xfrm>
          <a:prstGeom prst="rect">
            <a:avLst/>
          </a:prstGeom>
          <a:solidFill>
            <a:srgbClr val="E7E6E6"/>
          </a:solidFill>
          <a:ln w="12700">
            <a:solidFill>
              <a:srgbClr val="A6A6A6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字段推断敏感度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二次等级</a:t>
            </a:r>
            <a:endParaRPr lang="en-US" sz="1050" dirty="0"/>
          </a:p>
        </p:txBody>
      </p:sp>
      <p:sp>
        <p:nvSpPr>
          <p:cNvPr id="49" name="box-157"/>
          <p:cNvSpPr/>
          <p:nvPr/>
        </p:nvSpPr>
        <p:spPr>
          <a:xfrm>
            <a:off x="9564624" y="3621024"/>
            <a:ext cx="1929384" cy="1325880"/>
          </a:xfrm>
          <a:prstGeom prst="rect">
            <a:avLst/>
          </a:prstGeom>
          <a:solidFill>
            <a:srgbClr val="F7F7F7"/>
          </a:solidFill>
          <a:ln w="12700">
            <a:solidFill>
              <a:srgbClr val="A6A6A6"/>
            </a:solidFill>
            <a:prstDash val="dash"/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50" name="text-158"/>
          <p:cNvSpPr txBox="1"/>
          <p:nvPr/>
        </p:nvSpPr>
        <p:spPr>
          <a:xfrm>
            <a:off x="9619488" y="3648456"/>
            <a:ext cx="1828800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《分类分级手册》要素“深度”、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“从严性”、附录 D、E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《风险评估手册》第 382 项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《披露细则》5.2~5.7</a:t>
            </a:r>
            <a:endParaRPr lang="en-US" sz="850" dirty="0"/>
          </a:p>
        </p:txBody>
      </p:sp>
      <p:sp>
        <p:nvSpPr>
          <p:cNvPr id="51" name="arr-159"/>
          <p:cNvSpPr/>
          <p:nvPr/>
        </p:nvSpPr>
        <p:spPr>
          <a:xfrm>
            <a:off x="1517904" y="4956048"/>
            <a:ext cx="365760" cy="146304"/>
          </a:xfrm>
          <a:prstGeom prst="downArrow">
            <a:avLst/>
          </a:prstGeom>
          <a:solidFill>
            <a:srgbClr val="A6A6A6"/>
          </a:solidFill>
          <a:ln w="12700">
            <a:solidFill>
              <a:srgbClr val="A6A6A6"/>
            </a:solidFill>
            <a:prstDash val="solid"/>
          </a:ln>
        </p:spPr>
      </p:sp>
      <p:sp>
        <p:nvSpPr>
          <p:cNvPr id="52" name="box-160"/>
          <p:cNvSpPr/>
          <p:nvPr/>
        </p:nvSpPr>
        <p:spPr>
          <a:xfrm>
            <a:off x="694944" y="5120640"/>
            <a:ext cx="2011680" cy="868680"/>
          </a:xfrm>
          <a:prstGeom prst="rect">
            <a:avLst/>
          </a:prstGeom>
          <a:solidFill>
            <a:srgbClr val="44546A"/>
          </a:solidFill>
          <a:ln w="12700">
            <a:solidFill>
              <a:srgbClr val="44546A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53" name="text-161"/>
          <p:cNvSpPr txBox="1"/>
          <p:nvPr/>
        </p:nvSpPr>
        <p:spPr>
          <a:xfrm>
            <a:off x="768096" y="5175504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四、</a:t>
            </a:r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审批固化与更新</a:t>
            </a:r>
            <a:endParaRPr lang="en-US" sz="1600" dirty="0"/>
          </a:p>
        </p:txBody>
      </p:sp>
      <p:sp>
        <p:nvSpPr>
          <p:cNvPr id="54" name="text-162"/>
          <p:cNvSpPr txBox="1"/>
          <p:nvPr/>
        </p:nvSpPr>
        <p:spPr>
          <a:xfrm>
            <a:off x="768096" y="5650992"/>
            <a:ext cx="1883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南网既有流程</a:t>
            </a:r>
            <a:endParaRPr lang="en-US" sz="1000" dirty="0"/>
          </a:p>
        </p:txBody>
      </p:sp>
      <p:sp>
        <p:nvSpPr>
          <p:cNvPr id="55" name="box-163"/>
          <p:cNvSpPr/>
          <p:nvPr/>
        </p:nvSpPr>
        <p:spPr>
          <a:xfrm>
            <a:off x="2706624" y="5120640"/>
            <a:ext cx="52120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44546A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56" name="box-164"/>
          <p:cNvSpPr/>
          <p:nvPr/>
        </p:nvSpPr>
        <p:spPr>
          <a:xfrm>
            <a:off x="2798064" y="5230368"/>
            <a:ext cx="1542288" cy="649224"/>
          </a:xfrm>
          <a:prstGeom prst="rect">
            <a:avLst/>
          </a:prstGeom>
          <a:solidFill>
            <a:srgbClr val="D9E2F3"/>
          </a:solidFill>
          <a:ln w="12700">
            <a:solidFill>
              <a:srgbClr val="44546A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4.1 审批</a:t>
            </a:r>
            <a:endParaRPr lang="en-US" sz="1050" dirty="0"/>
          </a:p>
        </p:txBody>
      </p:sp>
      <p:sp>
        <p:nvSpPr>
          <p:cNvPr id="57" name="arr-165"/>
          <p:cNvSpPr/>
          <p:nvPr/>
        </p:nvSpPr>
        <p:spPr>
          <a:xfrm>
            <a:off x="4358640" y="5463540"/>
            <a:ext cx="164592" cy="182880"/>
          </a:xfrm>
          <a:prstGeom prst="rightArrow">
            <a:avLst/>
          </a:prstGeom>
          <a:solidFill>
            <a:srgbClr val="44546A"/>
          </a:solidFill>
          <a:ln w="12700">
            <a:solidFill>
              <a:srgbClr val="44546A"/>
            </a:solidFill>
            <a:prstDash val="solid"/>
          </a:ln>
        </p:spPr>
      </p:sp>
      <p:sp>
        <p:nvSpPr>
          <p:cNvPr id="58" name="box-166"/>
          <p:cNvSpPr/>
          <p:nvPr/>
        </p:nvSpPr>
        <p:spPr>
          <a:xfrm>
            <a:off x="4541520" y="5230368"/>
            <a:ext cx="1542288" cy="649224"/>
          </a:xfrm>
          <a:prstGeom prst="rect">
            <a:avLst/>
          </a:prstGeom>
          <a:solidFill>
            <a:srgbClr val="D9E2F3"/>
          </a:solidFill>
          <a:ln w="12700">
            <a:solidFill>
              <a:srgbClr val="44546A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4.2 结果固化</a:t>
            </a:r>
            <a:pPr algn="ctr" indent="0" marL="0">
              <a:buNone/>
            </a:pP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写入数据目录</a:t>
            </a:r>
            <a:endParaRPr lang="en-US" sz="1050" dirty="0"/>
          </a:p>
        </p:txBody>
      </p:sp>
      <p:sp>
        <p:nvSpPr>
          <p:cNvPr id="59" name="arr-167"/>
          <p:cNvSpPr/>
          <p:nvPr/>
        </p:nvSpPr>
        <p:spPr>
          <a:xfrm>
            <a:off x="6102096" y="5463540"/>
            <a:ext cx="164592" cy="182880"/>
          </a:xfrm>
          <a:prstGeom prst="rightArrow">
            <a:avLst/>
          </a:prstGeom>
          <a:solidFill>
            <a:srgbClr val="44546A"/>
          </a:solidFill>
          <a:ln w="12700">
            <a:solidFill>
              <a:srgbClr val="44546A"/>
            </a:solidFill>
            <a:prstDash val="solid"/>
          </a:ln>
        </p:spPr>
      </p:sp>
      <p:sp>
        <p:nvSpPr>
          <p:cNvPr id="60" name="box-168"/>
          <p:cNvSpPr/>
          <p:nvPr/>
        </p:nvSpPr>
        <p:spPr>
          <a:xfrm>
            <a:off x="6284976" y="5230368"/>
            <a:ext cx="1542288" cy="649224"/>
          </a:xfrm>
          <a:prstGeom prst="rect">
            <a:avLst/>
          </a:prstGeom>
          <a:solidFill>
            <a:srgbClr val="D9E2F3"/>
          </a:solidFill>
          <a:ln w="12700">
            <a:solidFill>
              <a:srgbClr val="44546A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4.3 动态更新</a:t>
            </a:r>
            <a:pPr algn="ctr" indent="0" marL="0">
              <a:buNone/>
            </a:pP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事件触发</a:t>
            </a:r>
            <a:endParaRPr lang="en-US" sz="1050" dirty="0"/>
          </a:p>
        </p:txBody>
      </p:sp>
      <p:sp>
        <p:nvSpPr>
          <p:cNvPr id="61" name="arr-169"/>
          <p:cNvSpPr/>
          <p:nvPr/>
        </p:nvSpPr>
        <p:spPr>
          <a:xfrm>
            <a:off x="7955280" y="5445252"/>
            <a:ext cx="182880" cy="219456"/>
          </a:xfrm>
          <a:prstGeom prst="rightArrow">
            <a:avLst/>
          </a:prstGeom>
          <a:solidFill>
            <a:srgbClr val="A6A6A6"/>
          </a:solidFill>
          <a:ln w="12700">
            <a:solidFill>
              <a:srgbClr val="A6A6A6"/>
            </a:solidFill>
            <a:prstDash val="solid"/>
          </a:ln>
        </p:spPr>
      </p:sp>
      <p:sp>
        <p:nvSpPr>
          <p:cNvPr id="62" name="box-170"/>
          <p:cNvSpPr/>
          <p:nvPr/>
        </p:nvSpPr>
        <p:spPr>
          <a:xfrm>
            <a:off x="8174736" y="5120640"/>
            <a:ext cx="1280160" cy="868680"/>
          </a:xfrm>
          <a:prstGeom prst="rect">
            <a:avLst/>
          </a:prstGeom>
          <a:solidFill>
            <a:srgbClr val="E7E6E6"/>
          </a:solidFill>
          <a:ln w="12700">
            <a:solidFill>
              <a:srgbClr val="A6A6A6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分类分级清单</a:t>
            </a:r>
            <a:endParaRPr lang="en-US" sz="1050" dirty="0"/>
          </a:p>
        </p:txBody>
      </p:sp>
      <p:sp>
        <p:nvSpPr>
          <p:cNvPr id="63" name="box-171"/>
          <p:cNvSpPr/>
          <p:nvPr/>
        </p:nvSpPr>
        <p:spPr>
          <a:xfrm>
            <a:off x="9564624" y="5120640"/>
            <a:ext cx="1929384" cy="868680"/>
          </a:xfrm>
          <a:prstGeom prst="rect">
            <a:avLst/>
          </a:prstGeom>
          <a:solidFill>
            <a:srgbClr val="F7F7F7"/>
          </a:solidFill>
          <a:ln w="12700">
            <a:solidFill>
              <a:srgbClr val="A6A6A6"/>
            </a:solidFill>
            <a:prstDash val="dash"/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64" name="text-172"/>
          <p:cNvSpPr txBox="1"/>
          <p:nvPr/>
        </p:nvSpPr>
        <p:spPr>
          <a:xfrm>
            <a:off x="9619488" y="5148072"/>
            <a:ext cx="182880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《分类分级手册》四(四)(五)(七)、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附录 E</a:t>
            </a:r>
            <a:endParaRPr lang="en-US" sz="850" dirty="0"/>
          </a:p>
        </p:txBody>
      </p:sp>
      <p:sp>
        <p:nvSpPr>
          <p:cNvPr id="65" name="text-173"/>
          <p:cNvSpPr txBox="1"/>
          <p:nvPr/>
        </p:nvSpPr>
        <p:spPr>
          <a:xfrm>
            <a:off x="694944" y="6172200"/>
            <a:ext cx="10799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一次标定执行南网现行规则；二次标定在一次等级的基础上，针对融合推断威胁对等级进行复核。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92240"/>
            <a:ext cx="6858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F7F7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k-174"/>
          <p:cNvSpPr/>
          <p:nvPr/>
        </p:nvSpPr>
        <p:spPr>
          <a:xfrm>
            <a:off x="155448" y="301752"/>
            <a:ext cx="338328" cy="310896"/>
          </a:xfrm>
          <a:prstGeom prst="chevron">
            <a:avLst/>
          </a:prstGeom>
          <a:solidFill>
            <a:srgbClr val="B50104"/>
          </a:solidFill>
          <a:ln w="12700">
            <a:solidFill>
              <a:srgbClr val="B50104"/>
            </a:solidFill>
            <a:prstDash val="solid"/>
          </a:ln>
        </p:spPr>
      </p:sp>
      <p:sp>
        <p:nvSpPr>
          <p:cNvPr id="3" name="mark-175"/>
          <p:cNvSpPr/>
          <p:nvPr/>
        </p:nvSpPr>
        <p:spPr>
          <a:xfrm>
            <a:off x="438912" y="301752"/>
            <a:ext cx="338328" cy="310896"/>
          </a:xfrm>
          <a:prstGeom prst="chevron">
            <a:avLst/>
          </a:prstGeom>
          <a:solidFill>
            <a:srgbClr val="7F7F7F"/>
          </a:solidFill>
          <a:ln w="12700">
            <a:solidFill>
              <a:srgbClr val="7F7F7F"/>
            </a:solidFill>
            <a:prstDash val="solid"/>
          </a:ln>
        </p:spPr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868680" y="1828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E5E9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体系框架：输入、输出与约束</a:t>
            </a:r>
            <a:endParaRPr lang="en-US" sz="2400" dirty="0"/>
          </a:p>
        </p:txBody>
      </p:sp>
      <p:sp>
        <p:nvSpPr>
          <p:cNvPr id="5" name="text-176"/>
          <p:cNvSpPr txBox="1"/>
          <p:nvPr/>
        </p:nvSpPr>
        <p:spPr>
          <a:xfrm>
            <a:off x="694944" y="1143000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➢ </a:t>
            </a:r>
            <a:pPr algn="l"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体系的输入、输出与约束条件</a:t>
            </a:r>
            <a:endParaRPr lang="en-US" sz="1800" dirty="0"/>
          </a:p>
        </p:txBody>
      </p:sp>
      <p:sp>
        <p:nvSpPr>
          <p:cNvPr id="6" name="box-177"/>
          <p:cNvSpPr/>
          <p:nvPr/>
        </p:nvSpPr>
        <p:spPr>
          <a:xfrm>
            <a:off x="694944" y="1783080"/>
            <a:ext cx="2834640" cy="36576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输入</a:t>
            </a:r>
            <a:endParaRPr lang="en-US" sz="1300" dirty="0"/>
          </a:p>
        </p:txBody>
      </p:sp>
      <p:sp>
        <p:nvSpPr>
          <p:cNvPr id="7" name="box-178"/>
          <p:cNvSpPr/>
          <p:nvPr/>
        </p:nvSpPr>
        <p:spPr>
          <a:xfrm>
            <a:off x="694944" y="2240280"/>
            <a:ext cx="28346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5B9BD5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南网规则文件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五份文件的条款、表格与示例</a:t>
            </a:r>
            <a:endParaRPr lang="en-US" sz="1200" dirty="0"/>
          </a:p>
        </p:txBody>
      </p:sp>
      <p:sp>
        <p:nvSpPr>
          <p:cNvPr id="8" name="box-179"/>
          <p:cNvSpPr/>
          <p:nvPr/>
        </p:nvSpPr>
        <p:spPr>
          <a:xfrm>
            <a:off x="694944" y="2990088"/>
            <a:ext cx="28346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5B9BD5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数据资产清单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字段的业务归属、名称与描述</a:t>
            </a:r>
            <a:endParaRPr lang="en-US" sz="1200" dirty="0"/>
          </a:p>
        </p:txBody>
      </p:sp>
      <p:sp>
        <p:nvSpPr>
          <p:cNvPr id="9" name="box-180"/>
          <p:cNvSpPr/>
          <p:nvPr/>
        </p:nvSpPr>
        <p:spPr>
          <a:xfrm>
            <a:off x="694944" y="3739896"/>
            <a:ext cx="28346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5B9BD5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样本数据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字段级历史样本</a:t>
            </a:r>
            <a:endParaRPr lang="en-US" sz="1200" dirty="0"/>
          </a:p>
        </p:txBody>
      </p:sp>
      <p:sp>
        <p:nvSpPr>
          <p:cNvPr id="10" name="box-181"/>
          <p:cNvSpPr/>
          <p:nvPr/>
        </p:nvSpPr>
        <p:spPr>
          <a:xfrm>
            <a:off x="694944" y="4489704"/>
            <a:ext cx="28346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5B9BD5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敏感目标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由数据主管部门确定</a:t>
            </a:r>
            <a:endParaRPr lang="en-US" sz="1200" dirty="0"/>
          </a:p>
        </p:txBody>
      </p:sp>
      <p:sp>
        <p:nvSpPr>
          <p:cNvPr id="11" name="arr-182"/>
          <p:cNvSpPr/>
          <p:nvPr/>
        </p:nvSpPr>
        <p:spPr>
          <a:xfrm>
            <a:off x="3611880" y="3429000"/>
            <a:ext cx="411480" cy="329184"/>
          </a:xfrm>
          <a:prstGeom prst="rightArrow">
            <a:avLst/>
          </a:prstGeom>
          <a:solidFill>
            <a:srgbClr val="9DC3E6"/>
          </a:solidFill>
          <a:ln w="12700">
            <a:solidFill>
              <a:srgbClr val="9DC3E6"/>
            </a:solidFill>
            <a:prstDash val="solid"/>
          </a:ln>
        </p:spPr>
      </p:sp>
      <p:sp>
        <p:nvSpPr>
          <p:cNvPr id="12" name="box-183"/>
          <p:cNvSpPr/>
          <p:nvPr/>
        </p:nvSpPr>
        <p:spPr>
          <a:xfrm>
            <a:off x="4114800" y="1783080"/>
            <a:ext cx="3959352" cy="36576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体系</a:t>
            </a:r>
            <a:endParaRPr lang="en-US" sz="1300" dirty="0"/>
          </a:p>
        </p:txBody>
      </p:sp>
      <p:sp>
        <p:nvSpPr>
          <p:cNvPr id="13" name="box-184"/>
          <p:cNvSpPr/>
          <p:nvPr/>
        </p:nvSpPr>
        <p:spPr>
          <a:xfrm>
            <a:off x="4114800" y="2240280"/>
            <a:ext cx="731520" cy="658368"/>
          </a:xfrm>
          <a:prstGeom prst="rect">
            <a:avLst/>
          </a:prstGeom>
          <a:solidFill>
            <a:srgbClr val="5B9BD5"/>
          </a:solidFill>
          <a:ln w="12700">
            <a:solidFill>
              <a:srgbClr val="5B9BD5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</a:t>
            </a:r>
            <a:endParaRPr lang="en-US" sz="1400" dirty="0"/>
          </a:p>
        </p:txBody>
      </p:sp>
      <p:sp>
        <p:nvSpPr>
          <p:cNvPr id="14" name="box-185"/>
          <p:cNvSpPr/>
          <p:nvPr/>
        </p:nvSpPr>
        <p:spPr>
          <a:xfrm>
            <a:off x="4846320" y="2240280"/>
            <a:ext cx="3227832" cy="658368"/>
          </a:xfrm>
          <a:prstGeom prst="rect">
            <a:avLst/>
          </a:prstGeom>
          <a:solidFill>
            <a:srgbClr val="DEEAF6"/>
          </a:solidFill>
          <a:ln w="12700">
            <a:solidFill>
              <a:srgbClr val="5B9BD5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信息类型归纳与结构化处理</a:t>
            </a:r>
            <a:endParaRPr lang="en-US" sz="1300" dirty="0"/>
          </a:p>
        </p:txBody>
      </p:sp>
      <p:sp>
        <p:nvSpPr>
          <p:cNvPr id="15" name="box-186"/>
          <p:cNvSpPr/>
          <p:nvPr/>
        </p:nvSpPr>
        <p:spPr>
          <a:xfrm>
            <a:off x="4114800" y="2990088"/>
            <a:ext cx="731520" cy="658368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二</a:t>
            </a:r>
            <a:endParaRPr lang="en-US" sz="1400" dirty="0"/>
          </a:p>
        </p:txBody>
      </p:sp>
      <p:sp>
        <p:nvSpPr>
          <p:cNvPr id="16" name="box-187"/>
          <p:cNvSpPr/>
          <p:nvPr/>
        </p:nvSpPr>
        <p:spPr>
          <a:xfrm>
            <a:off x="4846320" y="2990088"/>
            <a:ext cx="3227832" cy="658368"/>
          </a:xfrm>
          <a:prstGeom prst="rect">
            <a:avLst/>
          </a:prstGeom>
          <a:solidFill>
            <a:srgbClr val="FBE5D6"/>
          </a:solidFill>
          <a:ln w="12700">
            <a:solidFill>
              <a:srgbClr val="ED7D31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一次标定</a:t>
            </a:r>
            <a:endParaRPr lang="en-US" sz="1300" dirty="0"/>
          </a:p>
        </p:txBody>
      </p:sp>
      <p:sp>
        <p:nvSpPr>
          <p:cNvPr id="17" name="box-188"/>
          <p:cNvSpPr/>
          <p:nvPr/>
        </p:nvSpPr>
        <p:spPr>
          <a:xfrm>
            <a:off x="4114800" y="3739896"/>
            <a:ext cx="731520" cy="658368"/>
          </a:xfrm>
          <a:prstGeom prst="rect">
            <a:avLst/>
          </a:prstGeom>
          <a:solidFill>
            <a:srgbClr val="BF9000"/>
          </a:solidFill>
          <a:ln w="12700">
            <a:solidFill>
              <a:srgbClr val="BF9000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</a:t>
            </a:r>
            <a:endParaRPr lang="en-US" sz="1400" dirty="0"/>
          </a:p>
        </p:txBody>
      </p:sp>
      <p:sp>
        <p:nvSpPr>
          <p:cNvPr id="18" name="box-189"/>
          <p:cNvSpPr/>
          <p:nvPr/>
        </p:nvSpPr>
        <p:spPr>
          <a:xfrm>
            <a:off x="4846320" y="3739896"/>
            <a:ext cx="3227832" cy="658368"/>
          </a:xfrm>
          <a:prstGeom prst="rect">
            <a:avLst/>
          </a:prstGeom>
          <a:solidFill>
            <a:srgbClr val="FFF2CC"/>
          </a:solidFill>
          <a:ln w="12700">
            <a:solidFill>
              <a:srgbClr val="BF9000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二次标定</a:t>
            </a:r>
            <a:endParaRPr lang="en-US" sz="1300" dirty="0"/>
          </a:p>
        </p:txBody>
      </p:sp>
      <p:sp>
        <p:nvSpPr>
          <p:cNvPr id="19" name="box-190"/>
          <p:cNvSpPr/>
          <p:nvPr/>
        </p:nvSpPr>
        <p:spPr>
          <a:xfrm>
            <a:off x="4114800" y="4489704"/>
            <a:ext cx="731520" cy="658368"/>
          </a:xfrm>
          <a:prstGeom prst="rect">
            <a:avLst/>
          </a:prstGeom>
          <a:solidFill>
            <a:srgbClr val="44546A"/>
          </a:solidFill>
          <a:ln w="12700">
            <a:solidFill>
              <a:srgbClr val="44546A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四</a:t>
            </a:r>
            <a:endParaRPr lang="en-US" sz="1400" dirty="0"/>
          </a:p>
        </p:txBody>
      </p:sp>
      <p:sp>
        <p:nvSpPr>
          <p:cNvPr id="20" name="box-191"/>
          <p:cNvSpPr/>
          <p:nvPr/>
        </p:nvSpPr>
        <p:spPr>
          <a:xfrm>
            <a:off x="4846320" y="4489704"/>
            <a:ext cx="3227832" cy="658368"/>
          </a:xfrm>
          <a:prstGeom prst="rect">
            <a:avLst/>
          </a:prstGeom>
          <a:solidFill>
            <a:srgbClr val="D9E2F3"/>
          </a:solidFill>
          <a:ln w="12700">
            <a:solidFill>
              <a:srgbClr val="44546A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审批固化与动态更新</a:t>
            </a:r>
            <a:endParaRPr lang="en-US" sz="1300" dirty="0"/>
          </a:p>
        </p:txBody>
      </p:sp>
      <p:sp>
        <p:nvSpPr>
          <p:cNvPr id="21" name="arr-192"/>
          <p:cNvSpPr/>
          <p:nvPr/>
        </p:nvSpPr>
        <p:spPr>
          <a:xfrm>
            <a:off x="8156448" y="3429000"/>
            <a:ext cx="411480" cy="329184"/>
          </a:xfrm>
          <a:prstGeom prst="rightArrow">
            <a:avLst/>
          </a:prstGeom>
          <a:solidFill>
            <a:srgbClr val="9DC3E6"/>
          </a:solidFill>
          <a:ln w="12700">
            <a:solidFill>
              <a:srgbClr val="9DC3E6"/>
            </a:solidFill>
            <a:prstDash val="solid"/>
          </a:ln>
        </p:spPr>
      </p:sp>
      <p:sp>
        <p:nvSpPr>
          <p:cNvPr id="22" name="box-193"/>
          <p:cNvSpPr/>
          <p:nvPr/>
        </p:nvSpPr>
        <p:spPr>
          <a:xfrm>
            <a:off x="8659368" y="1783080"/>
            <a:ext cx="2834640" cy="36576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输出</a:t>
            </a:r>
            <a:endParaRPr lang="en-US" sz="1300" dirty="0"/>
          </a:p>
        </p:txBody>
      </p:sp>
      <p:sp>
        <p:nvSpPr>
          <p:cNvPr id="23" name="box-194"/>
          <p:cNvSpPr/>
          <p:nvPr/>
        </p:nvSpPr>
        <p:spPr>
          <a:xfrm>
            <a:off x="8659368" y="2240280"/>
            <a:ext cx="28346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5B9BD5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分类分级清单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分类路径、一次等级、二次等级</a:t>
            </a:r>
            <a:endParaRPr lang="en-US" sz="1200" dirty="0"/>
          </a:p>
        </p:txBody>
      </p:sp>
      <p:sp>
        <p:nvSpPr>
          <p:cNvPr id="24" name="box-195"/>
          <p:cNvSpPr/>
          <p:nvPr/>
        </p:nvSpPr>
        <p:spPr>
          <a:xfrm>
            <a:off x="8659368" y="2990088"/>
            <a:ext cx="28346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5B9BD5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字段推断敏感度表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被推断的数据、背景、敏感度</a:t>
            </a:r>
            <a:endParaRPr lang="en-US" sz="1200" dirty="0"/>
          </a:p>
        </p:txBody>
      </p:sp>
      <p:sp>
        <p:nvSpPr>
          <p:cNvPr id="25" name="box-196"/>
          <p:cNvSpPr/>
          <p:nvPr/>
        </p:nvSpPr>
        <p:spPr>
          <a:xfrm>
            <a:off x="8659368" y="3739896"/>
            <a:ext cx="28346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5B9BD5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等级复核意见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二次标定的依据说明</a:t>
            </a:r>
            <a:endParaRPr lang="en-US" sz="1200" dirty="0"/>
          </a:p>
        </p:txBody>
      </p:sp>
      <p:sp>
        <p:nvSpPr>
          <p:cNvPr id="26" name="box-197"/>
          <p:cNvSpPr/>
          <p:nvPr/>
        </p:nvSpPr>
        <p:spPr>
          <a:xfrm>
            <a:off x="8659368" y="4489704"/>
            <a:ext cx="28346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5B9BD5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更新记录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触发事件、等级变动及原因</a:t>
            </a:r>
            <a:endParaRPr lang="en-US" sz="1200" dirty="0"/>
          </a:p>
        </p:txBody>
      </p:sp>
      <p:sp>
        <p:nvSpPr>
          <p:cNvPr id="27" name="box-198"/>
          <p:cNvSpPr/>
          <p:nvPr/>
        </p:nvSpPr>
        <p:spPr>
          <a:xfrm>
            <a:off x="694944" y="5394960"/>
            <a:ext cx="10799064" cy="731520"/>
          </a:xfrm>
          <a:prstGeom prst="rect">
            <a:avLst/>
          </a:prstGeom>
          <a:ln w="15875">
            <a:solidFill>
              <a:srgbClr val="C00000"/>
            </a:solidFill>
            <a:prstDash val="dash"/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28" name="text-199"/>
          <p:cNvSpPr txBox="1"/>
          <p:nvPr/>
        </p:nvSpPr>
        <p:spPr>
          <a:xfrm>
            <a:off x="822960" y="53949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约束</a:t>
            </a:r>
            <a:endParaRPr lang="en-US" sz="1400" dirty="0"/>
          </a:p>
        </p:txBody>
      </p:sp>
      <p:sp>
        <p:nvSpPr>
          <p:cNvPr id="29" name="text-200"/>
          <p:cNvSpPr txBox="1"/>
          <p:nvPr/>
        </p:nvSpPr>
        <p:spPr>
          <a:xfrm>
            <a:off x="1554480" y="5413248"/>
            <a:ext cx="24231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二次等级不低于一次等级</a:t>
            </a:r>
            <a:endParaRPr lang="en-US" sz="16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F4E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《分类分级手册》“从严性”</a:t>
            </a:r>
            <a:endParaRPr lang="en-US" sz="1600" dirty="0"/>
          </a:p>
        </p:txBody>
      </p:sp>
      <p:sp>
        <p:nvSpPr>
          <p:cNvPr id="30" name="text-201"/>
          <p:cNvSpPr txBox="1"/>
          <p:nvPr/>
        </p:nvSpPr>
        <p:spPr>
          <a:xfrm>
            <a:off x="4041648" y="5413248"/>
            <a:ext cx="24231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法定公开字段等级不调整</a:t>
            </a:r>
            <a:endParaRPr lang="en-US" sz="16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F4E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《披露细则》第 5 部分</a:t>
            </a:r>
            <a:endParaRPr lang="en-US" sz="1600" dirty="0"/>
          </a:p>
        </p:txBody>
      </p:sp>
      <p:sp>
        <p:nvSpPr>
          <p:cNvPr id="31" name="text-202"/>
          <p:cNvSpPr txBox="1"/>
          <p:nvPr/>
        </p:nvSpPr>
        <p:spPr>
          <a:xfrm>
            <a:off x="6528816" y="5413248"/>
            <a:ext cx="24231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4、5 级只提出申报建议</a:t>
            </a:r>
            <a:endParaRPr lang="en-US" sz="16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F4E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《分类分级手册》级别定义</a:t>
            </a:r>
            <a:endParaRPr lang="en-US" sz="1600" dirty="0"/>
          </a:p>
        </p:txBody>
      </p:sp>
      <p:sp>
        <p:nvSpPr>
          <p:cNvPr id="32" name="text-203"/>
          <p:cNvSpPr txBox="1"/>
          <p:nvPr/>
        </p:nvSpPr>
        <p:spPr>
          <a:xfrm>
            <a:off x="9015984" y="5413248"/>
            <a:ext cx="24231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定级结论以审批为准</a:t>
            </a:r>
            <a:endParaRPr lang="en-US" sz="16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F4E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《分类分级手册》四(四)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92240"/>
            <a:ext cx="6858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F7F7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-204"/>
          <p:cNvSpPr txBox="1"/>
          <p:nvPr/>
        </p:nvSpPr>
        <p:spPr>
          <a:xfrm>
            <a:off x="155448" y="201168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4454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汇报提纲</a:t>
            </a:r>
            <a:endParaRPr lang="en-US" sz="2800" dirty="0"/>
          </a:p>
        </p:txBody>
      </p:sp>
      <p:pic>
        <p:nvPicPr>
          <p:cNvPr id="3" name="img-205" descr="/data1/duhaocun/projects/GNN_Aggresvation/reports/南网/南网claude/V11/assets/outline_map.jpeg">    </p:cNvPr>
          <p:cNvPicPr>
            <a:picLocks noChangeAspect="1"/>
          </p:cNvPicPr>
          <p:nvPr/>
        </p:nvPicPr>
        <p:blipFill>
          <a:blip r:embed="rId1">
            <a:alphaModFix amt="65000"/>
          </a:blip>
          <a:stretch>
            <a:fillRect/>
          </a:stretch>
        </p:blipFill>
        <p:spPr>
          <a:xfrm>
            <a:off x="2423160" y="1828800"/>
            <a:ext cx="7534656" cy="3630168"/>
          </a:xfrm>
          <a:prstGeom prst="rect">
            <a:avLst/>
          </a:prstGeom>
        </p:spPr>
      </p:pic>
      <p:sp>
        <p:nvSpPr>
          <p:cNvPr id="4" name="num-206"/>
          <p:cNvSpPr/>
          <p:nvPr/>
        </p:nvSpPr>
        <p:spPr>
          <a:xfrm>
            <a:off x="3840480" y="2057400"/>
            <a:ext cx="566928" cy="566928"/>
          </a:xfrm>
          <a:prstGeom prst="ellipse">
            <a:avLst/>
          </a:prstGeom>
          <a:solidFill>
            <a:srgbClr val="F2F2F2"/>
          </a:solidFill>
          <a:ln w="19050">
            <a:solidFill>
              <a:srgbClr val="D9D9D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FB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ln-207"/>
          <p:cNvSpPr/>
          <p:nvPr/>
        </p:nvSpPr>
        <p:spPr>
          <a:xfrm>
            <a:off x="4480560" y="2340864"/>
            <a:ext cx="548640" cy="0"/>
          </a:xfrm>
          <a:prstGeom prst="line">
            <a:avLst/>
          </a:prstGeom>
          <a:noFill/>
          <a:ln w="15875">
            <a:solidFill>
              <a:srgbClr val="BFBFBF"/>
            </a:solidFill>
            <a:prstDash val="dash"/>
            <a:tailEnd type="none"/>
          </a:ln>
        </p:spPr>
      </p:sp>
      <p:sp>
        <p:nvSpPr>
          <p:cNvPr id="6" name="text-208"/>
          <p:cNvSpPr txBox="1"/>
          <p:nvPr/>
        </p:nvSpPr>
        <p:spPr>
          <a:xfrm>
            <a:off x="5166360" y="2057400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BFBFB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问题与依据</a:t>
            </a:r>
            <a:endParaRPr lang="en-US" sz="2400" dirty="0"/>
          </a:p>
        </p:txBody>
      </p:sp>
      <p:sp>
        <p:nvSpPr>
          <p:cNvPr id="7" name="num-209"/>
          <p:cNvSpPr/>
          <p:nvPr/>
        </p:nvSpPr>
        <p:spPr>
          <a:xfrm>
            <a:off x="3840480" y="2926080"/>
            <a:ext cx="566928" cy="566928"/>
          </a:xfrm>
          <a:prstGeom prst="ellipse">
            <a:avLst/>
          </a:prstGeom>
          <a:solidFill>
            <a:srgbClr val="F2F2F2"/>
          </a:solidFill>
          <a:ln w="19050">
            <a:solidFill>
              <a:srgbClr val="D9D9D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FB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8" name="ln-210"/>
          <p:cNvSpPr/>
          <p:nvPr/>
        </p:nvSpPr>
        <p:spPr>
          <a:xfrm>
            <a:off x="4480560" y="3209544"/>
            <a:ext cx="548640" cy="0"/>
          </a:xfrm>
          <a:prstGeom prst="line">
            <a:avLst/>
          </a:prstGeom>
          <a:noFill/>
          <a:ln w="15875">
            <a:solidFill>
              <a:srgbClr val="BFBFBF"/>
            </a:solidFill>
            <a:prstDash val="dash"/>
            <a:tailEnd type="none"/>
          </a:ln>
        </p:spPr>
      </p:sp>
      <p:sp>
        <p:nvSpPr>
          <p:cNvPr id="9" name="text-211"/>
          <p:cNvSpPr txBox="1"/>
          <p:nvPr/>
        </p:nvSpPr>
        <p:spPr>
          <a:xfrm>
            <a:off x="5166360" y="2926080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BFBFB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体系框架</a:t>
            </a:r>
            <a:endParaRPr lang="en-US" sz="2400" dirty="0"/>
          </a:p>
        </p:txBody>
      </p:sp>
      <p:sp>
        <p:nvSpPr>
          <p:cNvPr id="10" name="num-212"/>
          <p:cNvSpPr/>
          <p:nvPr/>
        </p:nvSpPr>
        <p:spPr>
          <a:xfrm>
            <a:off x="3840480" y="3794760"/>
            <a:ext cx="566928" cy="56692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7F7F7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1" name="ln-213"/>
          <p:cNvSpPr/>
          <p:nvPr/>
        </p:nvSpPr>
        <p:spPr>
          <a:xfrm>
            <a:off x="4480560" y="4078224"/>
            <a:ext cx="548640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dash"/>
            <a:tailEnd type="none"/>
          </a:ln>
        </p:spPr>
      </p:sp>
      <p:sp>
        <p:nvSpPr>
          <p:cNvPr id="12" name="text-214"/>
          <p:cNvSpPr txBox="1"/>
          <p:nvPr/>
        </p:nvSpPr>
        <p:spPr>
          <a:xfrm>
            <a:off x="5166360" y="3794760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关键方法</a:t>
            </a:r>
            <a:endParaRPr lang="en-US" sz="2400" dirty="0"/>
          </a:p>
        </p:txBody>
      </p:sp>
      <p:sp>
        <p:nvSpPr>
          <p:cNvPr id="13" name="num-215"/>
          <p:cNvSpPr/>
          <p:nvPr/>
        </p:nvSpPr>
        <p:spPr>
          <a:xfrm>
            <a:off x="3840480" y="4663440"/>
            <a:ext cx="566928" cy="566928"/>
          </a:xfrm>
          <a:prstGeom prst="ellipse">
            <a:avLst/>
          </a:prstGeom>
          <a:solidFill>
            <a:srgbClr val="F2F2F2"/>
          </a:solidFill>
          <a:ln w="19050">
            <a:solidFill>
              <a:srgbClr val="D9D9D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FB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14" name="ln-216"/>
          <p:cNvSpPr/>
          <p:nvPr/>
        </p:nvSpPr>
        <p:spPr>
          <a:xfrm>
            <a:off x="4480560" y="4946904"/>
            <a:ext cx="548640" cy="0"/>
          </a:xfrm>
          <a:prstGeom prst="line">
            <a:avLst/>
          </a:prstGeom>
          <a:noFill/>
          <a:ln w="15875">
            <a:solidFill>
              <a:srgbClr val="BFBFBF"/>
            </a:solidFill>
            <a:prstDash val="dash"/>
            <a:tailEnd type="none"/>
          </a:ln>
        </p:spPr>
      </p:sp>
      <p:sp>
        <p:nvSpPr>
          <p:cNvPr id="15" name="text-217"/>
          <p:cNvSpPr txBox="1"/>
          <p:nvPr/>
        </p:nvSpPr>
        <p:spPr>
          <a:xfrm>
            <a:off x="5166360" y="4663440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BFBFB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下一步工作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92240"/>
            <a:ext cx="6858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F7F7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k-218"/>
          <p:cNvSpPr/>
          <p:nvPr/>
        </p:nvSpPr>
        <p:spPr>
          <a:xfrm>
            <a:off x="155448" y="301752"/>
            <a:ext cx="338328" cy="310896"/>
          </a:xfrm>
          <a:prstGeom prst="chevron">
            <a:avLst/>
          </a:prstGeom>
          <a:solidFill>
            <a:srgbClr val="B50104"/>
          </a:solidFill>
          <a:ln w="12700">
            <a:solidFill>
              <a:srgbClr val="B50104"/>
            </a:solidFill>
            <a:prstDash val="solid"/>
          </a:ln>
        </p:spPr>
      </p:sp>
      <p:sp>
        <p:nvSpPr>
          <p:cNvPr id="3" name="mark-219"/>
          <p:cNvSpPr/>
          <p:nvPr/>
        </p:nvSpPr>
        <p:spPr>
          <a:xfrm>
            <a:off x="438912" y="301752"/>
            <a:ext cx="338328" cy="310896"/>
          </a:xfrm>
          <a:prstGeom prst="chevron">
            <a:avLst/>
          </a:prstGeom>
          <a:solidFill>
            <a:srgbClr val="7F7F7F"/>
          </a:solidFill>
          <a:ln w="12700">
            <a:solidFill>
              <a:srgbClr val="7F7F7F"/>
            </a:solidFill>
            <a:prstDash val="solid"/>
          </a:ln>
        </p:spPr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868680" y="1828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E5E9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一、信息类型归纳与结构化处理</a:t>
            </a:r>
            <a:endParaRPr lang="en-US" sz="2400" dirty="0"/>
          </a:p>
        </p:txBody>
      </p:sp>
      <p:sp>
        <p:nvSpPr>
          <p:cNvPr id="5" name="box-220"/>
          <p:cNvSpPr/>
          <p:nvPr/>
        </p:nvSpPr>
        <p:spPr>
          <a:xfrm>
            <a:off x="694944" y="6217920"/>
            <a:ext cx="868680" cy="27432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南网依据</a:t>
            </a:r>
            <a:endParaRPr lang="en-US" sz="1050" dirty="0"/>
          </a:p>
        </p:txBody>
      </p:sp>
      <p:sp>
        <p:nvSpPr>
          <p:cNvPr id="6" name="text-221"/>
          <p:cNvSpPr txBox="1"/>
          <p:nvPr/>
        </p:nvSpPr>
        <p:spPr>
          <a:xfrm>
            <a:off x="1645920" y="6217920"/>
            <a:ext cx="9848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4E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《分类分级手册》四(一)(二)、附录 A；《披露细则》2.7、5.1</a:t>
            </a:r>
            <a:endParaRPr lang="en-US" sz="1100" dirty="0"/>
          </a:p>
        </p:txBody>
      </p:sp>
      <p:sp>
        <p:nvSpPr>
          <p:cNvPr id="7" name="text-222"/>
          <p:cNvSpPr txBox="1"/>
          <p:nvPr/>
        </p:nvSpPr>
        <p:spPr>
          <a:xfrm>
            <a:off x="694944" y="1097280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➢ </a:t>
            </a:r>
            <a:pPr algn="l"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1.1 业务流归类</a:t>
            </a:r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：按企业级业务架构分类到字段</a:t>
            </a:r>
            <a:endParaRPr lang="en-US" sz="1800" dirty="0"/>
          </a:p>
        </p:txBody>
      </p:sp>
      <p:sp>
        <p:nvSpPr>
          <p:cNvPr id="8" name="chev-223"/>
          <p:cNvSpPr/>
          <p:nvPr/>
        </p:nvSpPr>
        <p:spPr>
          <a:xfrm>
            <a:off x="694944" y="1600200"/>
            <a:ext cx="2267712" cy="475488"/>
          </a:xfrm>
          <a:prstGeom prst="homePlate">
            <a:avLst/>
          </a:prstGeom>
          <a:solidFill>
            <a:srgbClr val="5B9BD5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专业域</a:t>
            </a:r>
            <a:endParaRPr lang="en-US" sz="1300" dirty="0"/>
          </a:p>
        </p:txBody>
      </p:sp>
      <p:sp>
        <p:nvSpPr>
          <p:cNvPr id="9" name="chev-224"/>
          <p:cNvSpPr/>
          <p:nvPr/>
        </p:nvSpPr>
        <p:spPr>
          <a:xfrm>
            <a:off x="2825496" y="1600200"/>
            <a:ext cx="2267712" cy="475488"/>
          </a:xfrm>
          <a:prstGeom prst="chevron">
            <a:avLst/>
          </a:prstGeom>
          <a:solidFill>
            <a:srgbClr val="5B9BD5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专业级流程组</a:t>
            </a:r>
            <a:endParaRPr lang="en-US" sz="1300" dirty="0"/>
          </a:p>
        </p:txBody>
      </p:sp>
      <p:sp>
        <p:nvSpPr>
          <p:cNvPr id="10" name="chev-225"/>
          <p:cNvSpPr/>
          <p:nvPr/>
        </p:nvSpPr>
        <p:spPr>
          <a:xfrm>
            <a:off x="4956048" y="1600200"/>
            <a:ext cx="2267712" cy="475488"/>
          </a:xfrm>
          <a:prstGeom prst="chevron">
            <a:avLst/>
          </a:prstGeom>
          <a:solidFill>
            <a:srgbClr val="5B9BD5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操作级流程</a:t>
            </a:r>
            <a:endParaRPr lang="en-US" sz="1300" dirty="0"/>
          </a:p>
        </p:txBody>
      </p:sp>
      <p:sp>
        <p:nvSpPr>
          <p:cNvPr id="11" name="chev-226"/>
          <p:cNvSpPr/>
          <p:nvPr/>
        </p:nvSpPr>
        <p:spPr>
          <a:xfrm>
            <a:off x="7086600" y="1600200"/>
            <a:ext cx="2267712" cy="475488"/>
          </a:xfrm>
          <a:prstGeom prst="chevron">
            <a:avLst/>
          </a:prstGeom>
          <a:solidFill>
            <a:srgbClr val="5B9BD5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业务对象</a:t>
            </a:r>
            <a:endParaRPr lang="en-US" sz="1300" dirty="0"/>
          </a:p>
        </p:txBody>
      </p:sp>
      <p:sp>
        <p:nvSpPr>
          <p:cNvPr id="12" name="chev-227"/>
          <p:cNvSpPr/>
          <p:nvPr/>
        </p:nvSpPr>
        <p:spPr>
          <a:xfrm>
            <a:off x="9217152" y="1600200"/>
            <a:ext cx="2267712" cy="475488"/>
          </a:xfrm>
          <a:prstGeom prst="chevron">
            <a:avLst/>
          </a:prstGeom>
          <a:solidFill>
            <a:srgbClr val="1F4E79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数据字段</a:t>
            </a:r>
            <a:endParaRPr lang="en-US" sz="1300" dirty="0"/>
          </a:p>
        </p:txBody>
      </p:sp>
      <p:sp>
        <p:nvSpPr>
          <p:cNvPr id="13" name="text-228"/>
          <p:cNvSpPr txBox="1"/>
          <p:nvPr/>
        </p:nvSpPr>
        <p:spPr>
          <a:xfrm>
            <a:off x="694944" y="2377440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➢ </a:t>
            </a:r>
            <a:pPr algn="l"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1.2 数据流标注</a:t>
            </a:r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：标注每个字段流向谁、何时公开</a:t>
            </a:r>
            <a:endParaRPr lang="en-US" sz="1800" dirty="0"/>
          </a:p>
        </p:txBody>
      </p:sp>
      <p:graphicFrame>
        <p:nvGraphicFramePr>
          <p:cNvPr id="12" name="table-2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4944" y="2852928"/>
          <a:ext cx="10799064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6035040"/>
                <a:gridCol w="3026664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标注项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取值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依据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披露层级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公众信息 / 公开信息 / 特定信息 / 内部数据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4E7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《披露细则》5.1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披露时点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预测类：交易申报前；出清类：交易日；运行类：运行日次日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4E7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《披露细则》2.7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是否法定公开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法定公开字段的等级不作调整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4E7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《披露细则》第 5 部分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text-230"/>
          <p:cNvSpPr txBox="1"/>
          <p:nvPr/>
        </p:nvSpPr>
        <p:spPr>
          <a:xfrm>
            <a:off x="694944" y="4407408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➢ </a:t>
            </a:r>
            <a:pPr algn="l"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1.3 字段清单</a:t>
            </a:r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：将归类与标注结果整理为统一的结构化记录</a:t>
            </a:r>
            <a:endParaRPr lang="en-US" sz="1800" dirty="0"/>
          </a:p>
        </p:txBody>
      </p:sp>
      <p:sp>
        <p:nvSpPr>
          <p:cNvPr id="16" name="box-231"/>
          <p:cNvSpPr/>
          <p:nvPr/>
        </p:nvSpPr>
        <p:spPr>
          <a:xfrm>
            <a:off x="694944" y="4919472"/>
            <a:ext cx="566928" cy="219456"/>
          </a:xfrm>
          <a:prstGeom prst="roundRect">
            <a:avLst>
              <a:gd name="adj" fmla="val 33333"/>
            </a:avLst>
          </a:prstGeom>
          <a:solidFill>
            <a:srgbClr val="5B6B84"/>
          </a:solidFill>
          <a:ln w="12700">
            <a:solidFill>
              <a:srgbClr val="5B6B84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示例</a:t>
            </a:r>
            <a:endParaRPr lang="en-US" sz="1000" dirty="0"/>
          </a:p>
        </p:txBody>
      </p:sp>
      <p:graphicFrame>
        <p:nvGraphicFramePr>
          <p:cNvPr id="23" name="table-2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4944" y="5175504"/>
          <a:ext cx="10799064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645920"/>
                <a:gridCol w="2011680"/>
                <a:gridCol w="1645920"/>
                <a:gridCol w="1737360"/>
                <a:gridCol w="1380744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5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字段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7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5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专业域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7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5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业务对象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7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5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披露层级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7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5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披露时点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7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5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法定公开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7E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新能源总出力预测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系统运行域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发电预测信息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公开信息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交易申报前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是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机组实际出力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系统运行域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机组运行信息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特定信息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—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否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92240"/>
            <a:ext cx="6858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F7F7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k-233"/>
          <p:cNvSpPr/>
          <p:nvPr/>
        </p:nvSpPr>
        <p:spPr>
          <a:xfrm>
            <a:off x="155448" y="301752"/>
            <a:ext cx="338328" cy="310896"/>
          </a:xfrm>
          <a:prstGeom prst="chevron">
            <a:avLst/>
          </a:prstGeom>
          <a:solidFill>
            <a:srgbClr val="B50104"/>
          </a:solidFill>
          <a:ln w="12700">
            <a:solidFill>
              <a:srgbClr val="B50104"/>
            </a:solidFill>
            <a:prstDash val="solid"/>
          </a:ln>
        </p:spPr>
      </p:sp>
      <p:sp>
        <p:nvSpPr>
          <p:cNvPr id="3" name="mark-234"/>
          <p:cNvSpPr/>
          <p:nvPr/>
        </p:nvSpPr>
        <p:spPr>
          <a:xfrm>
            <a:off x="438912" y="301752"/>
            <a:ext cx="338328" cy="310896"/>
          </a:xfrm>
          <a:prstGeom prst="chevron">
            <a:avLst/>
          </a:prstGeom>
          <a:solidFill>
            <a:srgbClr val="7F7F7F"/>
          </a:solidFill>
          <a:ln w="12700">
            <a:solidFill>
              <a:srgbClr val="7F7F7F"/>
            </a:solidFill>
            <a:prstDash val="solid"/>
          </a:ln>
        </p:spPr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868680" y="1828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E5E9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二、一次标定：面向本体安全威胁（1/2）</a:t>
            </a:r>
            <a:endParaRPr lang="en-US" sz="2400" dirty="0"/>
          </a:p>
        </p:txBody>
      </p:sp>
      <p:sp>
        <p:nvSpPr>
          <p:cNvPr id="5" name="box-235"/>
          <p:cNvSpPr/>
          <p:nvPr/>
        </p:nvSpPr>
        <p:spPr>
          <a:xfrm>
            <a:off x="694944" y="6217920"/>
            <a:ext cx="868680" cy="27432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南网依据</a:t>
            </a:r>
            <a:endParaRPr lang="en-US" sz="1050" dirty="0"/>
          </a:p>
        </p:txBody>
      </p:sp>
      <p:sp>
        <p:nvSpPr>
          <p:cNvPr id="6" name="text-236"/>
          <p:cNvSpPr txBox="1"/>
          <p:nvPr/>
        </p:nvSpPr>
        <p:spPr>
          <a:xfrm>
            <a:off x="1645920" y="6217920"/>
            <a:ext cx="9848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4E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《分类分级手册》四(三)、表 4.1~4.3、附录 B、C</a:t>
            </a:r>
            <a:endParaRPr lang="en-US" sz="1100" dirty="0"/>
          </a:p>
        </p:txBody>
      </p:sp>
      <p:sp>
        <p:nvSpPr>
          <p:cNvPr id="7" name="text-237"/>
          <p:cNvSpPr txBox="1"/>
          <p:nvPr/>
        </p:nvSpPr>
        <p:spPr>
          <a:xfrm>
            <a:off x="694944" y="1143000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➢ </a:t>
            </a:r>
            <a:pPr algn="l"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2.1 规则库构建</a:t>
            </a:r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：用大语言模型将南网分级规则解析为结构化规则</a:t>
            </a:r>
            <a:endParaRPr lang="en-US" sz="1800" dirty="0"/>
          </a:p>
        </p:txBody>
      </p:sp>
      <p:sp>
        <p:nvSpPr>
          <p:cNvPr id="8" name="box-238"/>
          <p:cNvSpPr/>
          <p:nvPr/>
        </p:nvSpPr>
        <p:spPr>
          <a:xfrm>
            <a:off x="694944" y="1783080"/>
            <a:ext cx="2377440" cy="868680"/>
          </a:xfrm>
          <a:prstGeom prst="rect">
            <a:avLst/>
          </a:prstGeom>
          <a:solidFill>
            <a:srgbClr val="E7E6E6"/>
          </a:solidFill>
          <a:ln w="12700">
            <a:solidFill>
              <a:srgbClr val="A6A6A6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南网规则文件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分级规则表、示例、影响程度定义</a:t>
            </a:r>
            <a:endParaRPr lang="en-US" sz="1200" dirty="0"/>
          </a:p>
        </p:txBody>
      </p:sp>
      <p:sp>
        <p:nvSpPr>
          <p:cNvPr id="9" name="arr-239"/>
          <p:cNvSpPr/>
          <p:nvPr/>
        </p:nvSpPr>
        <p:spPr>
          <a:xfrm>
            <a:off x="3136392" y="2075688"/>
            <a:ext cx="411480" cy="292608"/>
          </a:xfrm>
          <a:prstGeom prst="rightArrow">
            <a:avLst/>
          </a:prstGeom>
          <a:solidFill>
            <a:srgbClr val="9DC3E6"/>
          </a:solidFill>
          <a:ln w="12700">
            <a:solidFill>
              <a:srgbClr val="9DC3E6"/>
            </a:solidFill>
            <a:prstDash val="solid"/>
          </a:ln>
        </p:spPr>
      </p:sp>
      <p:sp>
        <p:nvSpPr>
          <p:cNvPr id="10" name="box-240"/>
          <p:cNvSpPr/>
          <p:nvPr/>
        </p:nvSpPr>
        <p:spPr>
          <a:xfrm>
            <a:off x="3611880" y="1783080"/>
            <a:ext cx="3291840" cy="868680"/>
          </a:xfrm>
          <a:prstGeom prst="rect">
            <a:avLst/>
          </a:prstGeom>
          <a:solidFill>
            <a:srgbClr val="DEEAF6"/>
          </a:solidFill>
          <a:ln w="12700">
            <a:solidFill>
              <a:srgbClr val="5B9BD5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大语言模型 + 检索增强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提示约束 → 检索相关条款 → 结构化输出 → 校验</a:t>
            </a:r>
            <a:endParaRPr lang="en-US" sz="1200" dirty="0"/>
          </a:p>
        </p:txBody>
      </p:sp>
      <p:sp>
        <p:nvSpPr>
          <p:cNvPr id="11" name="arr-241"/>
          <p:cNvSpPr/>
          <p:nvPr/>
        </p:nvSpPr>
        <p:spPr>
          <a:xfrm>
            <a:off x="6967728" y="2075688"/>
            <a:ext cx="411480" cy="292608"/>
          </a:xfrm>
          <a:prstGeom prst="rightArrow">
            <a:avLst/>
          </a:prstGeom>
          <a:solidFill>
            <a:srgbClr val="9DC3E6"/>
          </a:solidFill>
          <a:ln w="12700">
            <a:solidFill>
              <a:srgbClr val="9DC3E6"/>
            </a:solidFill>
            <a:prstDash val="solid"/>
          </a:ln>
        </p:spPr>
      </p:sp>
      <p:sp>
        <p:nvSpPr>
          <p:cNvPr id="12" name="box-242"/>
          <p:cNvSpPr/>
          <p:nvPr/>
        </p:nvSpPr>
        <p:spPr>
          <a:xfrm>
            <a:off x="7443216" y="1783080"/>
            <a:ext cx="2377440" cy="868680"/>
          </a:xfrm>
          <a:prstGeom prst="rect">
            <a:avLst/>
          </a:prstGeom>
          <a:solidFill>
            <a:srgbClr val="BDD7EE"/>
          </a:solidFill>
          <a:ln w="12700">
            <a:solidFill>
              <a:srgbClr val="5B9BD5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结构化规则库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每条规则可检索、可追溯到条款</a:t>
            </a:r>
            <a:endParaRPr lang="en-US" sz="1200" dirty="0"/>
          </a:p>
        </p:txBody>
      </p:sp>
      <p:sp>
        <p:nvSpPr>
          <p:cNvPr id="13" name="box-243"/>
          <p:cNvSpPr/>
          <p:nvPr/>
        </p:nvSpPr>
        <p:spPr>
          <a:xfrm>
            <a:off x="694944" y="2834640"/>
            <a:ext cx="566928" cy="219456"/>
          </a:xfrm>
          <a:prstGeom prst="roundRect">
            <a:avLst>
              <a:gd name="adj" fmla="val 33333"/>
            </a:avLst>
          </a:prstGeom>
          <a:solidFill>
            <a:srgbClr val="5B6B84"/>
          </a:solidFill>
          <a:ln w="12700">
            <a:solidFill>
              <a:srgbClr val="5B6B84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示例</a:t>
            </a:r>
            <a:endParaRPr lang="en-US" sz="1000" dirty="0"/>
          </a:p>
        </p:txBody>
      </p:sp>
      <p:graphicFrame>
        <p:nvGraphicFramePr>
          <p:cNvPr id="13" name="table-24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4944" y="3090672"/>
          <a:ext cx="10799064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2194560"/>
                <a:gridCol w="1828800"/>
                <a:gridCol w="914400"/>
                <a:gridCol w="2569464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5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数据类别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7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5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影响对象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7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5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影响程度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7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5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等级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7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5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依据条款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7E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重要电力生产设备运行数据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公共利益、经济运行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轻微或一般影响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 级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《分类分级手册》表 4.1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低于规定精度频度的调度运行管理数据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经济运行、社会秩序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轻微影响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 级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《分类分级手册》表 4.1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text-245"/>
          <p:cNvSpPr txBox="1"/>
          <p:nvPr/>
        </p:nvSpPr>
        <p:spPr>
          <a:xfrm>
            <a:off x="694944" y="4297680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➢ </a:t>
            </a:r>
            <a:pPr algn="l"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2.2 影响分析</a:t>
            </a:r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：将字段与规则库匹配，确定影响对象、范围与程度</a:t>
            </a:r>
            <a:endParaRPr lang="en-US" sz="1800" dirty="0"/>
          </a:p>
        </p:txBody>
      </p:sp>
      <p:sp>
        <p:nvSpPr>
          <p:cNvPr id="16" name="box-246"/>
          <p:cNvSpPr/>
          <p:nvPr/>
        </p:nvSpPr>
        <p:spPr>
          <a:xfrm>
            <a:off x="694944" y="4892040"/>
            <a:ext cx="2194560" cy="822960"/>
          </a:xfrm>
          <a:prstGeom prst="rect">
            <a:avLst/>
          </a:prstGeom>
          <a:solidFill>
            <a:srgbClr val="E7E6E6"/>
          </a:solidFill>
          <a:ln w="12700">
            <a:solidFill>
              <a:srgbClr val="A6A6A6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字段清单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名称、描述、业务归属</a:t>
            </a:r>
            <a:endParaRPr lang="en-US" sz="1200" dirty="0"/>
          </a:p>
        </p:txBody>
      </p:sp>
      <p:sp>
        <p:nvSpPr>
          <p:cNvPr id="17" name="arr-247"/>
          <p:cNvSpPr/>
          <p:nvPr/>
        </p:nvSpPr>
        <p:spPr>
          <a:xfrm>
            <a:off x="2953512" y="5166360"/>
            <a:ext cx="384048" cy="274320"/>
          </a:xfrm>
          <a:prstGeom prst="rightArrow">
            <a:avLst/>
          </a:prstGeom>
          <a:solidFill>
            <a:srgbClr val="9DC3E6"/>
          </a:solidFill>
          <a:ln w="12700">
            <a:solidFill>
              <a:srgbClr val="9DC3E6"/>
            </a:solidFill>
            <a:prstDash val="solid"/>
          </a:ln>
        </p:spPr>
      </p:sp>
      <p:sp>
        <p:nvSpPr>
          <p:cNvPr id="18" name="box-248"/>
          <p:cNvSpPr/>
          <p:nvPr/>
        </p:nvSpPr>
        <p:spPr>
          <a:xfrm>
            <a:off x="3401568" y="4892040"/>
            <a:ext cx="2651760" cy="822960"/>
          </a:xfrm>
          <a:prstGeom prst="rect">
            <a:avLst/>
          </a:prstGeom>
          <a:solidFill>
            <a:srgbClr val="DEEAF6"/>
          </a:solidFill>
          <a:ln w="12700">
            <a:solidFill>
              <a:srgbClr val="5B9BD5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语义匹配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在规则库中检索最相近的规则</a:t>
            </a:r>
            <a:endParaRPr lang="en-US" sz="1200" dirty="0"/>
          </a:p>
        </p:txBody>
      </p:sp>
      <p:sp>
        <p:nvSpPr>
          <p:cNvPr id="19" name="arr-249"/>
          <p:cNvSpPr/>
          <p:nvPr/>
        </p:nvSpPr>
        <p:spPr>
          <a:xfrm>
            <a:off x="6117336" y="5166360"/>
            <a:ext cx="384048" cy="274320"/>
          </a:xfrm>
          <a:prstGeom prst="rightArrow">
            <a:avLst/>
          </a:prstGeom>
          <a:solidFill>
            <a:srgbClr val="9DC3E6"/>
          </a:solidFill>
          <a:ln w="12700">
            <a:solidFill>
              <a:srgbClr val="9DC3E6"/>
            </a:solidFill>
            <a:prstDash val="solid"/>
          </a:ln>
        </p:spPr>
      </p:sp>
      <p:sp>
        <p:nvSpPr>
          <p:cNvPr id="20" name="box-250"/>
          <p:cNvSpPr/>
          <p:nvPr/>
        </p:nvSpPr>
        <p:spPr>
          <a:xfrm>
            <a:off x="6565392" y="4892040"/>
            <a:ext cx="1581912" cy="822960"/>
          </a:xfrm>
          <a:prstGeom prst="rect">
            <a:avLst/>
          </a:prstGeom>
          <a:solidFill>
            <a:srgbClr val="FBE5D6"/>
          </a:solidFill>
          <a:ln w="12700">
            <a:solidFill>
              <a:srgbClr val="ED7D31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影响对象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群体 / 个体 / 单位自身</a:t>
            </a:r>
            <a:endParaRPr lang="en-US" sz="1200" dirty="0"/>
          </a:p>
        </p:txBody>
      </p:sp>
      <p:sp>
        <p:nvSpPr>
          <p:cNvPr id="21" name="box-251"/>
          <p:cNvSpPr/>
          <p:nvPr/>
        </p:nvSpPr>
        <p:spPr>
          <a:xfrm>
            <a:off x="8238744" y="4892040"/>
            <a:ext cx="1581912" cy="822960"/>
          </a:xfrm>
          <a:prstGeom prst="rect">
            <a:avLst/>
          </a:prstGeom>
          <a:solidFill>
            <a:srgbClr val="FBE5D6"/>
          </a:solidFill>
          <a:ln w="12700">
            <a:solidFill>
              <a:srgbClr val="ED7D31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影响范围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区域、规模、覆盖度</a:t>
            </a:r>
            <a:endParaRPr lang="en-US" sz="1200" dirty="0"/>
          </a:p>
        </p:txBody>
      </p:sp>
      <p:sp>
        <p:nvSpPr>
          <p:cNvPr id="22" name="box-252"/>
          <p:cNvSpPr/>
          <p:nvPr/>
        </p:nvSpPr>
        <p:spPr>
          <a:xfrm>
            <a:off x="9912096" y="4892040"/>
            <a:ext cx="1581912" cy="822960"/>
          </a:xfrm>
          <a:prstGeom prst="rect">
            <a:avLst/>
          </a:prstGeom>
          <a:solidFill>
            <a:srgbClr val="FBE5D6"/>
          </a:solidFill>
          <a:ln w="12700">
            <a:solidFill>
              <a:srgbClr val="ED7D31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影响程度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无 ~ 特别严重，五档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92240"/>
            <a:ext cx="6858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F7F7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k-253"/>
          <p:cNvSpPr/>
          <p:nvPr/>
        </p:nvSpPr>
        <p:spPr>
          <a:xfrm>
            <a:off x="155448" y="301752"/>
            <a:ext cx="338328" cy="310896"/>
          </a:xfrm>
          <a:prstGeom prst="chevron">
            <a:avLst/>
          </a:prstGeom>
          <a:solidFill>
            <a:srgbClr val="B50104"/>
          </a:solidFill>
          <a:ln w="12700">
            <a:solidFill>
              <a:srgbClr val="B50104"/>
            </a:solidFill>
            <a:prstDash val="solid"/>
          </a:ln>
        </p:spPr>
      </p:sp>
      <p:sp>
        <p:nvSpPr>
          <p:cNvPr id="3" name="mark-254"/>
          <p:cNvSpPr/>
          <p:nvPr/>
        </p:nvSpPr>
        <p:spPr>
          <a:xfrm>
            <a:off x="438912" y="301752"/>
            <a:ext cx="338328" cy="310896"/>
          </a:xfrm>
          <a:prstGeom prst="chevron">
            <a:avLst/>
          </a:prstGeom>
          <a:solidFill>
            <a:srgbClr val="7F7F7F"/>
          </a:solidFill>
          <a:ln w="12700">
            <a:solidFill>
              <a:srgbClr val="7F7F7F"/>
            </a:solidFill>
            <a:prstDash val="solid"/>
          </a:ln>
        </p:spPr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868680" y="1828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E5E9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二、一次标定：面向本体安全威胁（2/2）</a:t>
            </a:r>
            <a:endParaRPr lang="en-US" sz="2400" dirty="0"/>
          </a:p>
        </p:txBody>
      </p:sp>
      <p:sp>
        <p:nvSpPr>
          <p:cNvPr id="5" name="box-255"/>
          <p:cNvSpPr/>
          <p:nvPr/>
        </p:nvSpPr>
        <p:spPr>
          <a:xfrm>
            <a:off x="694944" y="6217920"/>
            <a:ext cx="868680" cy="27432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南网依据</a:t>
            </a:r>
            <a:endParaRPr lang="en-US" sz="1050" dirty="0"/>
          </a:p>
        </p:txBody>
      </p:sp>
      <p:sp>
        <p:nvSpPr>
          <p:cNvPr id="6" name="text-256"/>
          <p:cNvSpPr txBox="1"/>
          <p:nvPr/>
        </p:nvSpPr>
        <p:spPr>
          <a:xfrm>
            <a:off x="1645920" y="6217920"/>
            <a:ext cx="9848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4E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《分类分级手册》四(三)、表 4.4；分级原则“从严性”</a:t>
            </a:r>
            <a:endParaRPr lang="en-US" sz="1100" dirty="0"/>
          </a:p>
        </p:txBody>
      </p:sp>
      <p:sp>
        <p:nvSpPr>
          <p:cNvPr id="7" name="text-257"/>
          <p:cNvSpPr txBox="1"/>
          <p:nvPr/>
        </p:nvSpPr>
        <p:spPr>
          <a:xfrm>
            <a:off x="694944" y="1143000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➢ </a:t>
            </a:r>
            <a:pPr algn="l"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2.3 等级判定</a:t>
            </a:r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：查判定矩阵，就高不就低</a:t>
            </a:r>
            <a:endParaRPr lang="en-US" sz="1800" dirty="0"/>
          </a:p>
        </p:txBody>
      </p:sp>
      <p:sp>
        <p:nvSpPr>
          <p:cNvPr id="8" name="box-258"/>
          <p:cNvSpPr/>
          <p:nvPr/>
        </p:nvSpPr>
        <p:spPr>
          <a:xfrm>
            <a:off x="694944" y="2011680"/>
            <a:ext cx="1737360" cy="777240"/>
          </a:xfrm>
          <a:prstGeom prst="rect">
            <a:avLst/>
          </a:prstGeom>
          <a:solidFill>
            <a:srgbClr val="FBE5D6"/>
          </a:solidFill>
          <a:ln w="12700">
            <a:solidFill>
              <a:srgbClr val="ED7D31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影响对象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来自 2.2</a:t>
            </a:r>
            <a:endParaRPr lang="en-US" sz="1200" dirty="0"/>
          </a:p>
        </p:txBody>
      </p:sp>
      <p:sp>
        <p:nvSpPr>
          <p:cNvPr id="9" name="box-259"/>
          <p:cNvSpPr/>
          <p:nvPr/>
        </p:nvSpPr>
        <p:spPr>
          <a:xfrm>
            <a:off x="694944" y="2971800"/>
            <a:ext cx="1737360" cy="777240"/>
          </a:xfrm>
          <a:prstGeom prst="rect">
            <a:avLst/>
          </a:prstGeom>
          <a:solidFill>
            <a:srgbClr val="FBE5D6"/>
          </a:solidFill>
          <a:ln w="12700">
            <a:solidFill>
              <a:srgbClr val="ED7D31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影响程度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来自 2.2</a:t>
            </a:r>
            <a:endParaRPr lang="en-US" sz="1200" dirty="0"/>
          </a:p>
        </p:txBody>
      </p:sp>
      <p:sp>
        <p:nvSpPr>
          <p:cNvPr id="10" name="arr-260"/>
          <p:cNvSpPr/>
          <p:nvPr/>
        </p:nvSpPr>
        <p:spPr>
          <a:xfrm>
            <a:off x="2514600" y="2697480"/>
            <a:ext cx="384048" cy="310896"/>
          </a:xfrm>
          <a:prstGeom prst="rightArrow">
            <a:avLst/>
          </a:prstGeom>
          <a:solidFill>
            <a:srgbClr val="9DC3E6"/>
          </a:solidFill>
          <a:ln w="12700">
            <a:solidFill>
              <a:srgbClr val="9DC3E6"/>
            </a:solidFill>
            <a:prstDash val="solid"/>
          </a:ln>
        </p:spPr>
      </p:sp>
      <p:graphicFrame>
        <p:nvGraphicFramePr>
          <p:cNvPr id="14" name="table-26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017520" y="1783080"/>
          <a:ext cx="5120640" cy="914400"/>
        </p:xfrm>
        <a:graphic>
          <a:graphicData uri="http://schemas.openxmlformats.org/drawingml/2006/table">
            <a:tbl>
              <a:tblPr/>
              <a:tblGrid>
                <a:gridCol w="1210333"/>
                <a:gridCol w="670338"/>
                <a:gridCol w="763441"/>
                <a:gridCol w="763441"/>
                <a:gridCol w="763441"/>
                <a:gridCol w="949646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影响对象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无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轻微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一般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严重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特别严重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国家安全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 级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4 级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4 级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5 级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5 级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公共利益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 级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 级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C3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 级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C3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4 级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5 级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经济运行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 级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 级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 级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C3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4 级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5 级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社会秩序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 级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 级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 级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C3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4 级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5 级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其他组织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 级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 级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 级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 级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C3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 级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C3E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公民个人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 级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 级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 级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 级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C3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 级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C3E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单位自身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 级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 级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 级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 级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C3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 级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C3E6"/>
                    </a:solidFill>
                  </a:tcPr>
                </a:tc>
              </a:tr>
            </a:tbl>
          </a:graphicData>
        </a:graphic>
      </p:graphicFrame>
      <p:sp>
        <p:nvSpPr>
          <p:cNvPr id="12" name="text-262"/>
          <p:cNvSpPr txBox="1"/>
          <p:nvPr/>
        </p:nvSpPr>
        <p:spPr>
          <a:xfrm>
            <a:off x="3017520" y="4919472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等级判定矩阵（《分类分级手册》表 4.4）</a:t>
            </a:r>
            <a:endParaRPr lang="en-US" sz="1100" dirty="0"/>
          </a:p>
        </p:txBody>
      </p:sp>
      <p:sp>
        <p:nvSpPr>
          <p:cNvPr id="13" name="arr-263"/>
          <p:cNvSpPr/>
          <p:nvPr/>
        </p:nvSpPr>
        <p:spPr>
          <a:xfrm>
            <a:off x="8229600" y="2697480"/>
            <a:ext cx="384048" cy="310896"/>
          </a:xfrm>
          <a:prstGeom prst="rightArrow">
            <a:avLst/>
          </a:prstGeom>
          <a:solidFill>
            <a:srgbClr val="9DC3E6"/>
          </a:solidFill>
          <a:ln w="12700">
            <a:solidFill>
              <a:srgbClr val="9DC3E6"/>
            </a:solidFill>
            <a:prstDash val="solid"/>
          </a:ln>
        </p:spPr>
      </p:sp>
      <p:sp>
        <p:nvSpPr>
          <p:cNvPr id="14" name="box-264"/>
          <p:cNvSpPr/>
          <p:nvPr/>
        </p:nvSpPr>
        <p:spPr>
          <a:xfrm>
            <a:off x="8732520" y="2286000"/>
            <a:ext cx="2761488" cy="1097280"/>
          </a:xfrm>
          <a:prstGeom prst="rect">
            <a:avLst/>
          </a:prstGeom>
          <a:solidFill>
            <a:srgbClr val="BDD7EE"/>
          </a:solidFill>
          <a:ln w="19050">
            <a:solidFill>
              <a:srgbClr val="1F4E79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一次等级</a:t>
            </a:r>
            <a:endParaRPr lang="en-US" sz="12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1~5 级</a:t>
            </a:r>
            <a:endParaRPr lang="en-US" sz="1200" dirty="0"/>
          </a:p>
        </p:txBody>
      </p:sp>
      <p:sp>
        <p:nvSpPr>
          <p:cNvPr id="15" name="text-265"/>
          <p:cNvSpPr txBox="1"/>
          <p:nvPr/>
        </p:nvSpPr>
        <p:spPr>
          <a:xfrm>
            <a:off x="8778240" y="3611880"/>
            <a:ext cx="271576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500"/>
              </a:spcAft>
              <a:buSzPct val="100000"/>
              <a:buChar char="●"/>
            </a:pPr>
            <a:r>
              <a:rPr lang="en-US" sz="115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群体、个体、单位自身三个维度分别判定，取最高者</a:t>
            </a:r>
            <a:endParaRPr lang="en-US" sz="1150" dirty="0"/>
          </a:p>
          <a:p>
            <a:pPr algn="l" marL="342900" indent="-342900">
              <a:spcAft>
                <a:spcPts val="500"/>
              </a:spcAft>
              <a:buSzPct val="100000"/>
              <a:buChar char="●"/>
            </a:pPr>
            <a:r>
              <a:rPr lang="en-US" sz="115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1~3 级为一般数据，4 级为重要数据，5 级为核心数据</a:t>
            </a:r>
            <a:endParaRPr lang="en-US" sz="1150" dirty="0"/>
          </a:p>
          <a:p>
            <a:pPr algn="l" marL="342900" indent="-342900">
              <a:spcAft>
                <a:spcPts val="500"/>
              </a:spcAft>
              <a:buSzPct val="100000"/>
              <a:buChar char="●"/>
            </a:pPr>
            <a:r>
              <a:rPr lang="en-US" sz="115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一次等级是二次标定的起点，也是等级的下限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92240"/>
            <a:ext cx="6858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F7F7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k-266"/>
          <p:cNvSpPr/>
          <p:nvPr/>
        </p:nvSpPr>
        <p:spPr>
          <a:xfrm>
            <a:off x="155448" y="301752"/>
            <a:ext cx="338328" cy="310896"/>
          </a:xfrm>
          <a:prstGeom prst="chevron">
            <a:avLst/>
          </a:prstGeom>
          <a:solidFill>
            <a:srgbClr val="B50104"/>
          </a:solidFill>
          <a:ln w="12700">
            <a:solidFill>
              <a:srgbClr val="B50104"/>
            </a:solidFill>
            <a:prstDash val="solid"/>
          </a:ln>
        </p:spPr>
      </p:sp>
      <p:sp>
        <p:nvSpPr>
          <p:cNvPr id="3" name="mark-267"/>
          <p:cNvSpPr/>
          <p:nvPr/>
        </p:nvSpPr>
        <p:spPr>
          <a:xfrm>
            <a:off x="438912" y="301752"/>
            <a:ext cx="338328" cy="310896"/>
          </a:xfrm>
          <a:prstGeom prst="chevron">
            <a:avLst/>
          </a:prstGeom>
          <a:solidFill>
            <a:srgbClr val="7F7F7F"/>
          </a:solidFill>
          <a:ln w="12700">
            <a:solidFill>
              <a:srgbClr val="7F7F7F"/>
            </a:solidFill>
            <a:prstDash val="solid"/>
          </a:ln>
        </p:spPr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868680" y="1828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E5E9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三、二次标定：面向多源跨域融合推断威胁</a:t>
            </a:r>
            <a:endParaRPr lang="en-US" sz="2400" dirty="0"/>
          </a:p>
        </p:txBody>
      </p:sp>
      <p:sp>
        <p:nvSpPr>
          <p:cNvPr id="5" name="box-268"/>
          <p:cNvSpPr/>
          <p:nvPr/>
        </p:nvSpPr>
        <p:spPr>
          <a:xfrm>
            <a:off x="694944" y="6217920"/>
            <a:ext cx="868680" cy="27432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南网依据</a:t>
            </a:r>
            <a:endParaRPr lang="en-US" sz="1050" dirty="0"/>
          </a:p>
        </p:txBody>
      </p:sp>
      <p:sp>
        <p:nvSpPr>
          <p:cNvPr id="6" name="text-269"/>
          <p:cNvSpPr txBox="1"/>
          <p:nvPr/>
        </p:nvSpPr>
        <p:spPr>
          <a:xfrm>
            <a:off x="1645920" y="6217920"/>
            <a:ext cx="9848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4E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《分类分级手册》分级要素“深度”、附录 D（分析挖掘出更敏感的衍生数据应提高级别）；《风险评估手册》第 382 项</a:t>
            </a:r>
            <a:endParaRPr lang="en-US" sz="1100" dirty="0"/>
          </a:p>
        </p:txBody>
      </p:sp>
      <p:sp>
        <p:nvSpPr>
          <p:cNvPr id="7" name="text-270"/>
          <p:cNvSpPr txBox="1"/>
          <p:nvPr/>
        </p:nvSpPr>
        <p:spPr>
          <a:xfrm>
            <a:off x="694944" y="1143000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➢ </a:t>
            </a:r>
            <a:pPr algn="l"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总体流程</a:t>
            </a:r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：四个步骤</a:t>
            </a:r>
            <a:endParaRPr lang="en-US" sz="1800" dirty="0"/>
          </a:p>
        </p:txBody>
      </p:sp>
      <p:sp>
        <p:nvSpPr>
          <p:cNvPr id="8" name="box-271"/>
          <p:cNvSpPr/>
          <p:nvPr/>
        </p:nvSpPr>
        <p:spPr>
          <a:xfrm>
            <a:off x="694944" y="1691640"/>
            <a:ext cx="10799064" cy="685800"/>
          </a:xfrm>
          <a:prstGeom prst="rect">
            <a:avLst/>
          </a:prstGeom>
          <a:ln w="15875">
            <a:solidFill>
              <a:srgbClr val="5B9BD5"/>
            </a:solidFill>
            <a:prstDash val="dash"/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9" name="text-272"/>
          <p:cNvSpPr txBox="1"/>
          <p:nvPr/>
        </p:nvSpPr>
        <p:spPr>
          <a:xfrm>
            <a:off x="841248" y="1709928"/>
            <a:ext cx="1051560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一次等级反映数据本身泄露的后果。部分字段单独泄露影响有限，但与接收方已掌握的数据融合后，可</a:t>
            </a:r>
            <a:pPr algn="l" indent="0" marL="0">
              <a:buNone/>
            </a:pPr>
            <a:r>
              <a:rPr lang="en-US" sz="1350" b="1" dirty="0">
                <a:solidFill>
                  <a:srgbClr val="C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推断出更高等级的数据</a:t>
            </a:r>
            <a:pPr algn="l"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，其等级需要在一次标定的基础上复核。</a:t>
            </a:r>
            <a:endParaRPr lang="en-US" sz="1350" dirty="0"/>
          </a:p>
        </p:txBody>
      </p:sp>
      <p:sp>
        <p:nvSpPr>
          <p:cNvPr id="10" name="box-273"/>
          <p:cNvSpPr/>
          <p:nvPr/>
        </p:nvSpPr>
        <p:spPr>
          <a:xfrm>
            <a:off x="694944" y="2697480"/>
            <a:ext cx="2514600" cy="2103120"/>
          </a:xfrm>
          <a:prstGeom prst="rect">
            <a:avLst/>
          </a:prstGeom>
          <a:solidFill>
            <a:srgbClr val="FFFFFF"/>
          </a:solidFill>
          <a:ln w="15875">
            <a:solidFill>
              <a:srgbClr val="5B9BD5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11" name="box-274"/>
          <p:cNvSpPr/>
          <p:nvPr/>
        </p:nvSpPr>
        <p:spPr>
          <a:xfrm>
            <a:off x="694944" y="2697480"/>
            <a:ext cx="2514600" cy="411480"/>
          </a:xfrm>
          <a:prstGeom prst="rect">
            <a:avLst/>
          </a:prstGeom>
          <a:solidFill>
            <a:srgbClr val="5B9BD5"/>
          </a:solidFill>
          <a:ln w="12700">
            <a:solidFill>
              <a:srgbClr val="5B9BD5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3.1</a:t>
            </a:r>
            <a:endParaRPr lang="en-US" sz="1500" dirty="0"/>
          </a:p>
        </p:txBody>
      </p:sp>
      <p:sp>
        <p:nvSpPr>
          <p:cNvPr id="12" name="text-275"/>
          <p:cNvSpPr txBox="1"/>
          <p:nvPr/>
        </p:nvSpPr>
        <p:spPr>
          <a:xfrm>
            <a:off x="786384" y="320040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融合推断场景</a:t>
            </a:r>
            <a:endParaRPr lang="en-US" sz="1500" dirty="0"/>
          </a:p>
        </p:txBody>
      </p:sp>
      <p:sp>
        <p:nvSpPr>
          <p:cNvPr id="13" name="text-276"/>
          <p:cNvSpPr txBox="1"/>
          <p:nvPr/>
        </p:nvSpPr>
        <p:spPr>
          <a:xfrm>
            <a:off x="786384" y="3639312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各类接收方已掌握、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可能获得的信息</a:t>
            </a:r>
            <a:endParaRPr lang="en-US" sz="1150" dirty="0"/>
          </a:p>
        </p:txBody>
      </p:sp>
      <p:sp>
        <p:nvSpPr>
          <p:cNvPr id="14" name="arr-277"/>
          <p:cNvSpPr/>
          <p:nvPr/>
        </p:nvSpPr>
        <p:spPr>
          <a:xfrm>
            <a:off x="3227832" y="3611880"/>
            <a:ext cx="210312" cy="274320"/>
          </a:xfrm>
          <a:prstGeom prst="rightArrow">
            <a:avLst/>
          </a:prstGeom>
          <a:solidFill>
            <a:srgbClr val="A6A6A6"/>
          </a:solidFill>
          <a:ln w="12700">
            <a:solidFill>
              <a:srgbClr val="A6A6A6"/>
            </a:solidFill>
            <a:prstDash val="solid"/>
          </a:ln>
        </p:spPr>
      </p:sp>
      <p:sp>
        <p:nvSpPr>
          <p:cNvPr id="15" name="arr-278"/>
          <p:cNvSpPr/>
          <p:nvPr/>
        </p:nvSpPr>
        <p:spPr>
          <a:xfrm>
            <a:off x="1764792" y="4846320"/>
            <a:ext cx="365760" cy="201168"/>
          </a:xfrm>
          <a:prstGeom prst="downArrow">
            <a:avLst/>
          </a:prstGeom>
          <a:solidFill>
            <a:srgbClr val="A6A6A6"/>
          </a:solidFill>
          <a:ln w="12700">
            <a:solidFill>
              <a:srgbClr val="A6A6A6"/>
            </a:solidFill>
            <a:prstDash val="solid"/>
          </a:ln>
        </p:spPr>
      </p:sp>
      <p:sp>
        <p:nvSpPr>
          <p:cNvPr id="16" name="box-279"/>
          <p:cNvSpPr/>
          <p:nvPr/>
        </p:nvSpPr>
        <p:spPr>
          <a:xfrm>
            <a:off x="694944" y="5093208"/>
            <a:ext cx="2514600" cy="457200"/>
          </a:xfrm>
          <a:prstGeom prst="rect">
            <a:avLst/>
          </a:prstGeom>
          <a:solidFill>
            <a:srgbClr val="E7E6E6"/>
          </a:solidFill>
          <a:ln w="12700">
            <a:solidFill>
              <a:srgbClr val="A6A6A6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推断场景</a:t>
            </a:r>
            <a:endParaRPr lang="en-US" sz="1200" dirty="0"/>
          </a:p>
        </p:txBody>
      </p:sp>
      <p:sp>
        <p:nvSpPr>
          <p:cNvPr id="17" name="box-280"/>
          <p:cNvSpPr/>
          <p:nvPr/>
        </p:nvSpPr>
        <p:spPr>
          <a:xfrm>
            <a:off x="3456432" y="2697480"/>
            <a:ext cx="2514600" cy="2103120"/>
          </a:xfrm>
          <a:prstGeom prst="rect">
            <a:avLst/>
          </a:prstGeom>
          <a:solidFill>
            <a:srgbClr val="FFFFFF"/>
          </a:solidFill>
          <a:ln w="15875">
            <a:solidFill>
              <a:srgbClr val="ED7D31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18" name="box-281"/>
          <p:cNvSpPr/>
          <p:nvPr/>
        </p:nvSpPr>
        <p:spPr>
          <a:xfrm>
            <a:off x="3456432" y="2697480"/>
            <a:ext cx="2514600" cy="411480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3.2</a:t>
            </a:r>
            <a:endParaRPr lang="en-US" sz="1500" dirty="0"/>
          </a:p>
        </p:txBody>
      </p:sp>
      <p:sp>
        <p:nvSpPr>
          <p:cNvPr id="19" name="text-282"/>
          <p:cNvSpPr txBox="1"/>
          <p:nvPr/>
        </p:nvSpPr>
        <p:spPr>
          <a:xfrm>
            <a:off x="3547872" y="320040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字段推断敏感度</a:t>
            </a:r>
            <a:endParaRPr lang="en-US" sz="1500" dirty="0"/>
          </a:p>
        </p:txBody>
      </p:sp>
      <p:sp>
        <p:nvSpPr>
          <p:cNvPr id="20" name="text-283"/>
          <p:cNvSpPr txBox="1"/>
          <p:nvPr/>
        </p:nvSpPr>
        <p:spPr>
          <a:xfrm>
            <a:off x="3547872" y="3639312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字段在已有信息基础上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对敏感数据推断的最大贡献</a:t>
            </a:r>
            <a:endParaRPr lang="en-US" sz="1150" dirty="0"/>
          </a:p>
        </p:txBody>
      </p:sp>
      <p:sp>
        <p:nvSpPr>
          <p:cNvPr id="21" name="arr-284"/>
          <p:cNvSpPr/>
          <p:nvPr/>
        </p:nvSpPr>
        <p:spPr>
          <a:xfrm>
            <a:off x="5989320" y="3611880"/>
            <a:ext cx="210312" cy="274320"/>
          </a:xfrm>
          <a:prstGeom prst="rightArrow">
            <a:avLst/>
          </a:prstGeom>
          <a:solidFill>
            <a:srgbClr val="A6A6A6"/>
          </a:solidFill>
          <a:ln w="12700">
            <a:solidFill>
              <a:srgbClr val="A6A6A6"/>
            </a:solidFill>
            <a:prstDash val="solid"/>
          </a:ln>
        </p:spPr>
      </p:sp>
      <p:sp>
        <p:nvSpPr>
          <p:cNvPr id="22" name="arr-285"/>
          <p:cNvSpPr/>
          <p:nvPr/>
        </p:nvSpPr>
        <p:spPr>
          <a:xfrm>
            <a:off x="4526280" y="4846320"/>
            <a:ext cx="365760" cy="201168"/>
          </a:xfrm>
          <a:prstGeom prst="downArrow">
            <a:avLst/>
          </a:prstGeom>
          <a:solidFill>
            <a:srgbClr val="A6A6A6"/>
          </a:solidFill>
          <a:ln w="12700">
            <a:solidFill>
              <a:srgbClr val="A6A6A6"/>
            </a:solidFill>
            <a:prstDash val="solid"/>
          </a:ln>
        </p:spPr>
      </p:sp>
      <p:sp>
        <p:nvSpPr>
          <p:cNvPr id="23" name="box-286"/>
          <p:cNvSpPr/>
          <p:nvPr/>
        </p:nvSpPr>
        <p:spPr>
          <a:xfrm>
            <a:off x="3456432" y="5093208"/>
            <a:ext cx="2514600" cy="457200"/>
          </a:xfrm>
          <a:prstGeom prst="rect">
            <a:avLst/>
          </a:prstGeom>
          <a:solidFill>
            <a:srgbClr val="E7E6E6"/>
          </a:solidFill>
          <a:ln w="12700">
            <a:solidFill>
              <a:srgbClr val="A6A6A6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度量定义 M</a:t>
            </a:r>
            <a:endParaRPr lang="en-US" sz="1200" dirty="0"/>
          </a:p>
        </p:txBody>
      </p:sp>
      <p:sp>
        <p:nvSpPr>
          <p:cNvPr id="24" name="box-287"/>
          <p:cNvSpPr/>
          <p:nvPr/>
        </p:nvSpPr>
        <p:spPr>
          <a:xfrm>
            <a:off x="6217920" y="2697480"/>
            <a:ext cx="2514600" cy="2103120"/>
          </a:xfrm>
          <a:prstGeom prst="rect">
            <a:avLst/>
          </a:prstGeom>
          <a:solidFill>
            <a:srgbClr val="FFFFFF"/>
          </a:solidFill>
          <a:ln w="15875">
            <a:solidFill>
              <a:srgbClr val="BF9000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25" name="box-288"/>
          <p:cNvSpPr/>
          <p:nvPr/>
        </p:nvSpPr>
        <p:spPr>
          <a:xfrm>
            <a:off x="6217920" y="2697480"/>
            <a:ext cx="2514600" cy="411480"/>
          </a:xfrm>
          <a:prstGeom prst="rect">
            <a:avLst/>
          </a:prstGeom>
          <a:solidFill>
            <a:srgbClr val="BF9000"/>
          </a:solidFill>
          <a:ln w="12700">
            <a:solidFill>
              <a:srgbClr val="BF9000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3.3</a:t>
            </a:r>
            <a:endParaRPr lang="en-US" sz="1500" dirty="0"/>
          </a:p>
        </p:txBody>
      </p:sp>
      <p:sp>
        <p:nvSpPr>
          <p:cNvPr id="26" name="text-289"/>
          <p:cNvSpPr txBox="1"/>
          <p:nvPr/>
        </p:nvSpPr>
        <p:spPr>
          <a:xfrm>
            <a:off x="6309360" y="320040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计算与验证</a:t>
            </a:r>
            <a:endParaRPr lang="en-US" sz="1500" dirty="0"/>
          </a:p>
        </p:txBody>
      </p:sp>
      <p:sp>
        <p:nvSpPr>
          <p:cNvPr id="27" name="text-290"/>
          <p:cNvSpPr txBox="1"/>
          <p:nvPr/>
        </p:nvSpPr>
        <p:spPr>
          <a:xfrm>
            <a:off x="6309360" y="3639312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关联分析、集合扫描、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重训验证</a:t>
            </a:r>
            <a:endParaRPr lang="en-US" sz="1150" dirty="0"/>
          </a:p>
        </p:txBody>
      </p:sp>
      <p:sp>
        <p:nvSpPr>
          <p:cNvPr id="28" name="arr-291"/>
          <p:cNvSpPr/>
          <p:nvPr/>
        </p:nvSpPr>
        <p:spPr>
          <a:xfrm>
            <a:off x="8750808" y="3611880"/>
            <a:ext cx="210312" cy="274320"/>
          </a:xfrm>
          <a:prstGeom prst="rightArrow">
            <a:avLst/>
          </a:prstGeom>
          <a:solidFill>
            <a:srgbClr val="A6A6A6"/>
          </a:solidFill>
          <a:ln w="12700">
            <a:solidFill>
              <a:srgbClr val="A6A6A6"/>
            </a:solidFill>
            <a:prstDash val="solid"/>
          </a:ln>
        </p:spPr>
      </p:sp>
      <p:sp>
        <p:nvSpPr>
          <p:cNvPr id="29" name="arr-292"/>
          <p:cNvSpPr/>
          <p:nvPr/>
        </p:nvSpPr>
        <p:spPr>
          <a:xfrm>
            <a:off x="7287768" y="4846320"/>
            <a:ext cx="365760" cy="201168"/>
          </a:xfrm>
          <a:prstGeom prst="downArrow">
            <a:avLst/>
          </a:prstGeom>
          <a:solidFill>
            <a:srgbClr val="A6A6A6"/>
          </a:solidFill>
          <a:ln w="12700">
            <a:solidFill>
              <a:srgbClr val="A6A6A6"/>
            </a:solidFill>
            <a:prstDash val="solid"/>
          </a:ln>
        </p:spPr>
      </p:sp>
      <p:sp>
        <p:nvSpPr>
          <p:cNvPr id="30" name="box-293"/>
          <p:cNvSpPr/>
          <p:nvPr/>
        </p:nvSpPr>
        <p:spPr>
          <a:xfrm>
            <a:off x="6217920" y="5093208"/>
            <a:ext cx="2514600" cy="457200"/>
          </a:xfrm>
          <a:prstGeom prst="rect">
            <a:avLst/>
          </a:prstGeom>
          <a:solidFill>
            <a:srgbClr val="E7E6E6"/>
          </a:solidFill>
          <a:ln w="12700">
            <a:solidFill>
              <a:srgbClr val="A6A6A6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字段推断敏感度表</a:t>
            </a:r>
            <a:endParaRPr lang="en-US" sz="1200" dirty="0"/>
          </a:p>
        </p:txBody>
      </p:sp>
      <p:sp>
        <p:nvSpPr>
          <p:cNvPr id="31" name="box-294"/>
          <p:cNvSpPr/>
          <p:nvPr/>
        </p:nvSpPr>
        <p:spPr>
          <a:xfrm>
            <a:off x="8979408" y="2697480"/>
            <a:ext cx="2514600" cy="2103120"/>
          </a:xfrm>
          <a:prstGeom prst="rect">
            <a:avLst/>
          </a:prstGeom>
          <a:solidFill>
            <a:srgbClr val="FFFFFF"/>
          </a:solidFill>
          <a:ln w="15875">
            <a:solidFill>
              <a:srgbClr val="44546A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32" name="box-295"/>
          <p:cNvSpPr/>
          <p:nvPr/>
        </p:nvSpPr>
        <p:spPr>
          <a:xfrm>
            <a:off x="8979408" y="2697480"/>
            <a:ext cx="2514600" cy="411480"/>
          </a:xfrm>
          <a:prstGeom prst="rect">
            <a:avLst/>
          </a:prstGeom>
          <a:solidFill>
            <a:srgbClr val="44546A"/>
          </a:solidFill>
          <a:ln w="12700">
            <a:solidFill>
              <a:srgbClr val="44546A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3.4</a:t>
            </a:r>
            <a:endParaRPr lang="en-US" sz="1500" dirty="0"/>
          </a:p>
        </p:txBody>
      </p:sp>
      <p:sp>
        <p:nvSpPr>
          <p:cNvPr id="33" name="text-296"/>
          <p:cNvSpPr txBox="1"/>
          <p:nvPr/>
        </p:nvSpPr>
        <p:spPr>
          <a:xfrm>
            <a:off x="9070848" y="320040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等级二次标定</a:t>
            </a:r>
            <a:endParaRPr lang="en-US" sz="1500" dirty="0"/>
          </a:p>
        </p:txBody>
      </p:sp>
      <p:sp>
        <p:nvSpPr>
          <p:cNvPr id="34" name="text-297"/>
          <p:cNvSpPr txBox="1"/>
          <p:nvPr/>
        </p:nvSpPr>
        <p:spPr>
          <a:xfrm>
            <a:off x="9070848" y="3639312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方法一：规则驱动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方法二：模型驱动（GRPO）</a:t>
            </a:r>
            <a:endParaRPr lang="en-US" sz="1150" dirty="0"/>
          </a:p>
        </p:txBody>
      </p:sp>
      <p:sp>
        <p:nvSpPr>
          <p:cNvPr id="35" name="arr-298"/>
          <p:cNvSpPr/>
          <p:nvPr/>
        </p:nvSpPr>
        <p:spPr>
          <a:xfrm>
            <a:off x="10049256" y="4846320"/>
            <a:ext cx="365760" cy="201168"/>
          </a:xfrm>
          <a:prstGeom prst="downArrow">
            <a:avLst/>
          </a:prstGeom>
          <a:solidFill>
            <a:srgbClr val="A6A6A6"/>
          </a:solidFill>
          <a:ln w="12700">
            <a:solidFill>
              <a:srgbClr val="A6A6A6"/>
            </a:solidFill>
            <a:prstDash val="solid"/>
          </a:ln>
        </p:spPr>
      </p:sp>
      <p:sp>
        <p:nvSpPr>
          <p:cNvPr id="36" name="box-299"/>
          <p:cNvSpPr/>
          <p:nvPr/>
        </p:nvSpPr>
        <p:spPr>
          <a:xfrm>
            <a:off x="8979408" y="5093208"/>
            <a:ext cx="2514600" cy="457200"/>
          </a:xfrm>
          <a:prstGeom prst="rect">
            <a:avLst/>
          </a:prstGeom>
          <a:solidFill>
            <a:srgbClr val="E7E6E6"/>
          </a:solidFill>
          <a:ln w="12700">
            <a:solidFill>
              <a:srgbClr val="A6A6A6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二次等级</a:t>
            </a:r>
            <a:endParaRPr lang="en-US" sz="1200" dirty="0"/>
          </a:p>
        </p:txBody>
      </p:sp>
      <p:sp>
        <p:nvSpPr>
          <p:cNvPr id="37" name="text-300"/>
          <p:cNvSpPr txBox="1"/>
          <p:nvPr/>
        </p:nvSpPr>
        <p:spPr>
          <a:xfrm>
            <a:off x="694944" y="5715000"/>
            <a:ext cx="10799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输入：字段清单、一次等级、敏感目标及其影响对象与影响程度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92240"/>
            <a:ext cx="6858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F7F7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k-301"/>
          <p:cNvSpPr/>
          <p:nvPr/>
        </p:nvSpPr>
        <p:spPr>
          <a:xfrm>
            <a:off x="155448" y="301752"/>
            <a:ext cx="338328" cy="310896"/>
          </a:xfrm>
          <a:prstGeom prst="chevron">
            <a:avLst/>
          </a:prstGeom>
          <a:solidFill>
            <a:srgbClr val="B50104"/>
          </a:solidFill>
          <a:ln w="12700">
            <a:solidFill>
              <a:srgbClr val="B50104"/>
            </a:solidFill>
            <a:prstDash val="solid"/>
          </a:ln>
        </p:spPr>
      </p:sp>
      <p:sp>
        <p:nvSpPr>
          <p:cNvPr id="3" name="mark-302"/>
          <p:cNvSpPr/>
          <p:nvPr/>
        </p:nvSpPr>
        <p:spPr>
          <a:xfrm>
            <a:off x="438912" y="301752"/>
            <a:ext cx="338328" cy="310896"/>
          </a:xfrm>
          <a:prstGeom prst="chevron">
            <a:avLst/>
          </a:prstGeom>
          <a:solidFill>
            <a:srgbClr val="7F7F7F"/>
          </a:solidFill>
          <a:ln w="12700">
            <a:solidFill>
              <a:srgbClr val="7F7F7F"/>
            </a:solidFill>
            <a:prstDash val="solid"/>
          </a:ln>
        </p:spPr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868680" y="1828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E5E9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三、二次标定：3.1 融合推断场景</a:t>
            </a:r>
            <a:endParaRPr lang="en-US" sz="2400" dirty="0"/>
          </a:p>
        </p:txBody>
      </p:sp>
      <p:sp>
        <p:nvSpPr>
          <p:cNvPr id="5" name="box-303"/>
          <p:cNvSpPr/>
          <p:nvPr/>
        </p:nvSpPr>
        <p:spPr>
          <a:xfrm>
            <a:off x="694944" y="6217920"/>
            <a:ext cx="868680" cy="27432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南网依据</a:t>
            </a:r>
            <a:endParaRPr lang="en-US" sz="1050" dirty="0"/>
          </a:p>
        </p:txBody>
      </p:sp>
      <p:sp>
        <p:nvSpPr>
          <p:cNvPr id="6" name="text-304"/>
          <p:cNvSpPr txBox="1"/>
          <p:nvPr/>
        </p:nvSpPr>
        <p:spPr>
          <a:xfrm>
            <a:off x="1645920" y="6217920"/>
            <a:ext cx="9848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4E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《披露细则》5.1~5.7、2.7；《分类分级手册》表 4.1~4.3；《数据开放目录》说明二(三)；《注册细则》5.10~5.12</a:t>
            </a:r>
            <a:endParaRPr lang="en-US" sz="1100" dirty="0"/>
          </a:p>
        </p:txBody>
      </p:sp>
      <p:sp>
        <p:nvSpPr>
          <p:cNvPr id="7" name="text-305"/>
          <p:cNvSpPr txBox="1"/>
          <p:nvPr/>
        </p:nvSpPr>
        <p:spPr>
          <a:xfrm>
            <a:off x="694944" y="1143000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➢ </a:t>
            </a:r>
            <a:pPr algn="l"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3.1 融合推断场景</a:t>
            </a:r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：确定各类接收方已掌握和可能获得的信息</a:t>
            </a:r>
            <a:endParaRPr lang="en-US" sz="1800" dirty="0"/>
          </a:p>
        </p:txBody>
      </p:sp>
      <p:sp>
        <p:nvSpPr>
          <p:cNvPr id="8" name="text-306"/>
          <p:cNvSpPr txBox="1"/>
          <p:nvPr/>
        </p:nvSpPr>
        <p:spPr>
          <a:xfrm>
            <a:off x="694944" y="178308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① 划分信息层级</a:t>
            </a:r>
            <a:endParaRPr lang="en-US" sz="1400" dirty="0"/>
          </a:p>
        </p:txBody>
      </p:sp>
      <p:sp>
        <p:nvSpPr>
          <p:cNvPr id="9" name="box-307"/>
          <p:cNvSpPr/>
          <p:nvPr/>
        </p:nvSpPr>
        <p:spPr>
          <a:xfrm>
            <a:off x="694944" y="2167128"/>
            <a:ext cx="3749040" cy="3291840"/>
          </a:xfrm>
          <a:prstGeom prst="rect">
            <a:avLst/>
          </a:prstGeom>
          <a:solidFill>
            <a:srgbClr val="F2F2F2"/>
          </a:solidFill>
          <a:ln w="12700">
            <a:solidFill>
              <a:srgbClr val="A6A6A6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10" name="text-308"/>
          <p:cNvSpPr txBox="1"/>
          <p:nvPr/>
        </p:nvSpPr>
        <p:spPr>
          <a:xfrm>
            <a:off x="804672" y="220370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内部数据（未披露）</a:t>
            </a:r>
            <a:endParaRPr lang="en-US" sz="1150" dirty="0"/>
          </a:p>
        </p:txBody>
      </p:sp>
      <p:sp>
        <p:nvSpPr>
          <p:cNvPr id="11" name="box-309"/>
          <p:cNvSpPr/>
          <p:nvPr/>
        </p:nvSpPr>
        <p:spPr>
          <a:xfrm>
            <a:off x="877824" y="2514600"/>
            <a:ext cx="3383280" cy="2834640"/>
          </a:xfrm>
          <a:prstGeom prst="rect">
            <a:avLst/>
          </a:prstGeom>
          <a:solidFill>
            <a:srgbClr val="FBE5D6"/>
          </a:solidFill>
          <a:ln w="12700">
            <a:solidFill>
              <a:srgbClr val="ED7D31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12" name="text-310"/>
          <p:cNvSpPr txBox="1"/>
          <p:nvPr/>
        </p:nvSpPr>
        <p:spPr>
          <a:xfrm>
            <a:off x="987552" y="255117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特定信息：申报量价、机组实际出力等</a:t>
            </a:r>
            <a:endParaRPr lang="en-US" sz="1150" dirty="0"/>
          </a:p>
        </p:txBody>
      </p:sp>
      <p:sp>
        <p:nvSpPr>
          <p:cNvPr id="13" name="box-311"/>
          <p:cNvSpPr/>
          <p:nvPr/>
        </p:nvSpPr>
        <p:spPr>
          <a:xfrm>
            <a:off x="1060704" y="2862072"/>
            <a:ext cx="3017520" cy="2377440"/>
          </a:xfrm>
          <a:prstGeom prst="rect">
            <a:avLst/>
          </a:prstGeom>
          <a:solidFill>
            <a:srgbClr val="DEEAF6"/>
          </a:solidFill>
          <a:ln w="12700">
            <a:solidFill>
              <a:srgbClr val="5B9BD5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14" name="text-312"/>
          <p:cNvSpPr txBox="1"/>
          <p:nvPr/>
        </p:nvSpPr>
        <p:spPr>
          <a:xfrm>
            <a:off x="1170432" y="289864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公开信息：预测类、出清类、运行类</a:t>
            </a:r>
            <a:endParaRPr lang="en-US" sz="1150" dirty="0"/>
          </a:p>
        </p:txBody>
      </p:sp>
      <p:sp>
        <p:nvSpPr>
          <p:cNvPr id="15" name="box-313"/>
          <p:cNvSpPr/>
          <p:nvPr/>
        </p:nvSpPr>
        <p:spPr>
          <a:xfrm>
            <a:off x="1243584" y="3227832"/>
            <a:ext cx="2651760" cy="1901952"/>
          </a:xfrm>
          <a:prstGeom prst="rect">
            <a:avLst/>
          </a:prstGeom>
          <a:solidFill>
            <a:srgbClr val="FFFFFF"/>
          </a:solidFill>
          <a:ln w="12700">
            <a:solidFill>
              <a:srgbClr val="5B9BD5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16" name="text-314"/>
          <p:cNvSpPr txBox="1"/>
          <p:nvPr/>
        </p:nvSpPr>
        <p:spPr>
          <a:xfrm>
            <a:off x="1353312" y="326440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公众信息</a:t>
            </a:r>
            <a:endParaRPr lang="en-US" sz="1150" dirty="0"/>
          </a:p>
        </p:txBody>
      </p:sp>
      <p:sp>
        <p:nvSpPr>
          <p:cNvPr id="17" name="text-315"/>
          <p:cNvSpPr txBox="1"/>
          <p:nvPr/>
        </p:nvSpPr>
        <p:spPr>
          <a:xfrm>
            <a:off x="1353312" y="3566160"/>
            <a:ext cx="2468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企业基本信息、交易规则、市场运行总体情况；无条件开放的数据；外部公开数据</a:t>
            </a:r>
            <a:endParaRPr lang="en-US" sz="1100" dirty="0"/>
          </a:p>
        </p:txBody>
      </p:sp>
      <p:sp>
        <p:nvSpPr>
          <p:cNvPr id="18" name="text-316"/>
          <p:cNvSpPr txBox="1"/>
          <p:nvPr/>
        </p:nvSpPr>
        <p:spPr>
          <a:xfrm>
            <a:off x="694944" y="551383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外层接收方可见内层全部信息</a:t>
            </a:r>
            <a:endParaRPr lang="en-US" sz="1100" dirty="0"/>
          </a:p>
        </p:txBody>
      </p:sp>
      <p:sp>
        <p:nvSpPr>
          <p:cNvPr id="19" name="arr-317"/>
          <p:cNvSpPr/>
          <p:nvPr/>
        </p:nvSpPr>
        <p:spPr>
          <a:xfrm>
            <a:off x="4517136" y="3611880"/>
            <a:ext cx="274320" cy="292608"/>
          </a:xfrm>
          <a:prstGeom prst="rightArrow">
            <a:avLst/>
          </a:prstGeom>
          <a:solidFill>
            <a:srgbClr val="9DC3E6"/>
          </a:solidFill>
          <a:ln w="12700">
            <a:solidFill>
              <a:srgbClr val="9DC3E6"/>
            </a:solidFill>
            <a:prstDash val="solid"/>
          </a:ln>
        </p:spPr>
      </p:sp>
      <p:sp>
        <p:nvSpPr>
          <p:cNvPr id="20" name="text-318"/>
          <p:cNvSpPr txBox="1"/>
          <p:nvPr/>
        </p:nvSpPr>
        <p:spPr>
          <a:xfrm>
            <a:off x="4864608" y="1783080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② 确定场景要素</a:t>
            </a:r>
            <a:endParaRPr lang="en-US" sz="1400" dirty="0"/>
          </a:p>
        </p:txBody>
      </p:sp>
      <p:graphicFrame>
        <p:nvGraphicFramePr>
          <p:cNvPr id="16" name="table-3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64608" y="2167128"/>
          <a:ext cx="397764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914400"/>
                <a:gridCol w="187452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接收方角色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可见层级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公开基底 B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社会公众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 级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公众信息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协议接收方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≤ 2 级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公众 + 公开信息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特定对象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≤ 3 级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再加获准的特定信息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2" name="box-320"/>
          <p:cNvSpPr/>
          <p:nvPr/>
        </p:nvSpPr>
        <p:spPr>
          <a:xfrm>
            <a:off x="4864608" y="3886200"/>
            <a:ext cx="1188720" cy="4572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公开基底 B</a:t>
            </a:r>
            <a:endParaRPr lang="en-US" sz="1200" dirty="0"/>
          </a:p>
        </p:txBody>
      </p:sp>
      <p:sp>
        <p:nvSpPr>
          <p:cNvPr id="23" name="box-321"/>
          <p:cNvSpPr/>
          <p:nvPr/>
        </p:nvSpPr>
        <p:spPr>
          <a:xfrm>
            <a:off x="6053328" y="3886200"/>
            <a:ext cx="27889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5B9BD5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该角色已掌握的信息</a:t>
            </a:r>
            <a:endParaRPr lang="en-US" sz="1150" dirty="0"/>
          </a:p>
        </p:txBody>
      </p:sp>
      <p:sp>
        <p:nvSpPr>
          <p:cNvPr id="24" name="box-322"/>
          <p:cNvSpPr/>
          <p:nvPr/>
        </p:nvSpPr>
        <p:spPr>
          <a:xfrm>
            <a:off x="4864608" y="4434840"/>
            <a:ext cx="1188720" cy="4572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背景池 H</a:t>
            </a:r>
            <a:endParaRPr lang="en-US" sz="1200" dirty="0"/>
          </a:p>
        </p:txBody>
      </p:sp>
      <p:sp>
        <p:nvSpPr>
          <p:cNvPr id="25" name="box-323"/>
          <p:cNvSpPr/>
          <p:nvPr/>
        </p:nvSpPr>
        <p:spPr>
          <a:xfrm>
            <a:off x="6053328" y="4434840"/>
            <a:ext cx="27889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5B9BD5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该角色还可能获得的字段</a:t>
            </a:r>
            <a:endParaRPr lang="en-US" sz="1150" dirty="0"/>
          </a:p>
        </p:txBody>
      </p:sp>
      <p:sp>
        <p:nvSpPr>
          <p:cNvPr id="26" name="box-324"/>
          <p:cNvSpPr/>
          <p:nvPr/>
        </p:nvSpPr>
        <p:spPr>
          <a:xfrm>
            <a:off x="4864608" y="4983480"/>
            <a:ext cx="1188720" cy="4572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背景预算 K</a:t>
            </a:r>
            <a:endParaRPr lang="en-US" sz="1200" dirty="0"/>
          </a:p>
        </p:txBody>
      </p:sp>
      <p:sp>
        <p:nvSpPr>
          <p:cNvPr id="27" name="box-325"/>
          <p:cNvSpPr/>
          <p:nvPr/>
        </p:nvSpPr>
        <p:spPr>
          <a:xfrm>
            <a:off x="6053328" y="4983480"/>
            <a:ext cx="27889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5B9BD5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推断时在 B 之外最多使用的字段数</a:t>
            </a:r>
            <a:endParaRPr lang="en-US" sz="1150" dirty="0"/>
          </a:p>
        </p:txBody>
      </p:sp>
      <p:sp>
        <p:nvSpPr>
          <p:cNvPr id="28" name="arr-326"/>
          <p:cNvSpPr/>
          <p:nvPr/>
        </p:nvSpPr>
        <p:spPr>
          <a:xfrm>
            <a:off x="8915400" y="3611880"/>
            <a:ext cx="274320" cy="292608"/>
          </a:xfrm>
          <a:prstGeom prst="rightArrow">
            <a:avLst/>
          </a:prstGeom>
          <a:solidFill>
            <a:srgbClr val="9DC3E6"/>
          </a:solidFill>
          <a:ln w="12700">
            <a:solidFill>
              <a:srgbClr val="9DC3E6"/>
            </a:solidFill>
            <a:prstDash val="solid"/>
          </a:ln>
        </p:spPr>
      </p:sp>
      <p:sp>
        <p:nvSpPr>
          <p:cNvPr id="29" name="text-327"/>
          <p:cNvSpPr txBox="1"/>
          <p:nvPr/>
        </p:nvSpPr>
        <p:spPr>
          <a:xfrm>
            <a:off x="9262872" y="1783080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③ 按披露时点更新</a:t>
            </a:r>
            <a:endParaRPr lang="en-US" sz="1400" dirty="0"/>
          </a:p>
        </p:txBody>
      </p:sp>
      <p:sp>
        <p:nvSpPr>
          <p:cNvPr id="30" name="box-328"/>
          <p:cNvSpPr/>
          <p:nvPr/>
        </p:nvSpPr>
        <p:spPr>
          <a:xfrm>
            <a:off x="9262872" y="2167128"/>
            <a:ext cx="2231136" cy="841248"/>
          </a:xfrm>
          <a:prstGeom prst="rect">
            <a:avLst/>
          </a:prstGeom>
          <a:solidFill>
            <a:srgbClr val="DEEAF6"/>
          </a:solidFill>
          <a:ln w="12700">
            <a:solidFill>
              <a:srgbClr val="5B9BD5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交易申报前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预测类信息已知</a:t>
            </a:r>
            <a:endParaRPr lang="en-US" sz="1200" dirty="0"/>
          </a:p>
        </p:txBody>
      </p:sp>
      <p:sp>
        <p:nvSpPr>
          <p:cNvPr id="31" name="arr-329"/>
          <p:cNvSpPr/>
          <p:nvPr/>
        </p:nvSpPr>
        <p:spPr>
          <a:xfrm>
            <a:off x="10195560" y="3044952"/>
            <a:ext cx="365760" cy="201168"/>
          </a:xfrm>
          <a:prstGeom prst="downArrow">
            <a:avLst/>
          </a:prstGeom>
          <a:solidFill>
            <a:srgbClr val="9DC3E6"/>
          </a:solidFill>
          <a:ln w="12700">
            <a:solidFill>
              <a:srgbClr val="9DC3E6"/>
            </a:solidFill>
            <a:prstDash val="solid"/>
          </a:ln>
        </p:spPr>
      </p:sp>
      <p:sp>
        <p:nvSpPr>
          <p:cNvPr id="32" name="box-330"/>
          <p:cNvSpPr/>
          <p:nvPr/>
        </p:nvSpPr>
        <p:spPr>
          <a:xfrm>
            <a:off x="9262872" y="3282696"/>
            <a:ext cx="2231136" cy="841248"/>
          </a:xfrm>
          <a:prstGeom prst="rect">
            <a:avLst/>
          </a:prstGeom>
          <a:solidFill>
            <a:srgbClr val="DEEAF6"/>
          </a:solidFill>
          <a:ln w="12700">
            <a:solidFill>
              <a:srgbClr val="5B9BD5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交易日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出清类信息已知</a:t>
            </a:r>
            <a:endParaRPr lang="en-US" sz="1200" dirty="0"/>
          </a:p>
        </p:txBody>
      </p:sp>
      <p:sp>
        <p:nvSpPr>
          <p:cNvPr id="33" name="arr-331"/>
          <p:cNvSpPr/>
          <p:nvPr/>
        </p:nvSpPr>
        <p:spPr>
          <a:xfrm>
            <a:off x="10195560" y="4160520"/>
            <a:ext cx="365760" cy="201168"/>
          </a:xfrm>
          <a:prstGeom prst="downArrow">
            <a:avLst/>
          </a:prstGeom>
          <a:solidFill>
            <a:srgbClr val="9DC3E6"/>
          </a:solidFill>
          <a:ln w="12700">
            <a:solidFill>
              <a:srgbClr val="9DC3E6"/>
            </a:solidFill>
            <a:prstDash val="solid"/>
          </a:ln>
        </p:spPr>
      </p:sp>
      <p:sp>
        <p:nvSpPr>
          <p:cNvPr id="34" name="box-332"/>
          <p:cNvSpPr/>
          <p:nvPr/>
        </p:nvSpPr>
        <p:spPr>
          <a:xfrm>
            <a:off x="9262872" y="4398264"/>
            <a:ext cx="2231136" cy="841248"/>
          </a:xfrm>
          <a:prstGeom prst="rect">
            <a:avLst/>
          </a:prstGeom>
          <a:solidFill>
            <a:srgbClr val="DEEAF6"/>
          </a:solidFill>
          <a:ln w="12700">
            <a:solidFill>
              <a:srgbClr val="5B9BD5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运行日次日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运行类信息已知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92240"/>
            <a:ext cx="6858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F7F7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k-333"/>
          <p:cNvSpPr/>
          <p:nvPr/>
        </p:nvSpPr>
        <p:spPr>
          <a:xfrm>
            <a:off x="155448" y="301752"/>
            <a:ext cx="338328" cy="310896"/>
          </a:xfrm>
          <a:prstGeom prst="chevron">
            <a:avLst/>
          </a:prstGeom>
          <a:solidFill>
            <a:srgbClr val="B50104"/>
          </a:solidFill>
          <a:ln w="12700">
            <a:solidFill>
              <a:srgbClr val="B50104"/>
            </a:solidFill>
            <a:prstDash val="solid"/>
          </a:ln>
        </p:spPr>
      </p:sp>
      <p:sp>
        <p:nvSpPr>
          <p:cNvPr id="3" name="mark-334"/>
          <p:cNvSpPr/>
          <p:nvPr/>
        </p:nvSpPr>
        <p:spPr>
          <a:xfrm>
            <a:off x="438912" y="301752"/>
            <a:ext cx="338328" cy="310896"/>
          </a:xfrm>
          <a:prstGeom prst="chevron">
            <a:avLst/>
          </a:prstGeom>
          <a:solidFill>
            <a:srgbClr val="7F7F7F"/>
          </a:solidFill>
          <a:ln w="12700">
            <a:solidFill>
              <a:srgbClr val="7F7F7F"/>
            </a:solidFill>
            <a:prstDash val="solid"/>
          </a:ln>
        </p:spPr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868680" y="1828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E5E9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三、二次标定：3.2 字段推断敏感度（1/2）</a:t>
            </a:r>
            <a:endParaRPr lang="en-US" sz="2400" dirty="0"/>
          </a:p>
        </p:txBody>
      </p:sp>
      <p:sp>
        <p:nvSpPr>
          <p:cNvPr id="5" name="box-335"/>
          <p:cNvSpPr/>
          <p:nvPr/>
        </p:nvSpPr>
        <p:spPr>
          <a:xfrm>
            <a:off x="694944" y="6217920"/>
            <a:ext cx="868680" cy="27432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南网依据</a:t>
            </a:r>
            <a:endParaRPr lang="en-US" sz="1050" dirty="0"/>
          </a:p>
        </p:txBody>
      </p:sp>
      <p:sp>
        <p:nvSpPr>
          <p:cNvPr id="6" name="text-336"/>
          <p:cNvSpPr txBox="1"/>
          <p:nvPr/>
        </p:nvSpPr>
        <p:spPr>
          <a:xfrm>
            <a:off x="1645920" y="6217920"/>
            <a:ext cx="9848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4E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《分类分级手册》分级要素“深度”：通过关联、挖掘、融合对隐含信息的刻画程度</a:t>
            </a:r>
            <a:endParaRPr lang="en-US" sz="1100" dirty="0"/>
          </a:p>
        </p:txBody>
      </p:sp>
      <p:sp>
        <p:nvSpPr>
          <p:cNvPr id="7" name="text-337"/>
          <p:cNvSpPr txBox="1"/>
          <p:nvPr/>
        </p:nvSpPr>
        <p:spPr>
          <a:xfrm>
            <a:off x="694944" y="1143000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➢ </a:t>
            </a:r>
            <a:pPr algn="l"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定义</a:t>
            </a:r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：字段在已有信息基础上对敏感数据推断的最大贡献</a:t>
            </a:r>
            <a:endParaRPr lang="en-US" sz="1800" dirty="0"/>
          </a:p>
        </p:txBody>
      </p:sp>
      <p:sp>
        <p:nvSpPr>
          <p:cNvPr id="8" name="box-338"/>
          <p:cNvSpPr/>
          <p:nvPr/>
        </p:nvSpPr>
        <p:spPr>
          <a:xfrm>
            <a:off x="694944" y="1828800"/>
            <a:ext cx="2377440" cy="548640"/>
          </a:xfrm>
          <a:prstGeom prst="rect">
            <a:avLst/>
          </a:prstGeom>
          <a:solidFill>
            <a:srgbClr val="E7E6E6"/>
          </a:solidFill>
          <a:ln w="12700">
            <a:solidFill>
              <a:srgbClr val="A6A6A6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接收方已掌握的信息 B</a:t>
            </a:r>
            <a:endParaRPr lang="en-US" sz="1200" dirty="0"/>
          </a:p>
        </p:txBody>
      </p:sp>
      <p:sp>
        <p:nvSpPr>
          <p:cNvPr id="9" name="box-339"/>
          <p:cNvSpPr/>
          <p:nvPr/>
        </p:nvSpPr>
        <p:spPr>
          <a:xfrm>
            <a:off x="694944" y="2514600"/>
            <a:ext cx="2377440" cy="548640"/>
          </a:xfrm>
          <a:prstGeom prst="rect">
            <a:avLst/>
          </a:prstGeom>
          <a:solidFill>
            <a:srgbClr val="DEEAF6"/>
          </a:solidFill>
          <a:ln w="12700">
            <a:solidFill>
              <a:srgbClr val="5B9BD5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背景字段 T（不超过 K 个）</a:t>
            </a:r>
            <a:endParaRPr lang="en-US" sz="1200" dirty="0"/>
          </a:p>
        </p:txBody>
      </p:sp>
      <p:sp>
        <p:nvSpPr>
          <p:cNvPr id="10" name="box-340"/>
          <p:cNvSpPr/>
          <p:nvPr/>
        </p:nvSpPr>
        <p:spPr>
          <a:xfrm>
            <a:off x="694944" y="3566160"/>
            <a:ext cx="2377440" cy="548640"/>
          </a:xfrm>
          <a:prstGeom prst="rect">
            <a:avLst/>
          </a:prstGeom>
          <a:solidFill>
            <a:srgbClr val="FBE5D6"/>
          </a:solidFill>
          <a:ln w="19050">
            <a:solidFill>
              <a:srgbClr val="ED7D31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待评估字段 i</a:t>
            </a:r>
            <a:endParaRPr lang="en-US" sz="1250" dirty="0"/>
          </a:p>
        </p:txBody>
      </p:sp>
      <p:sp>
        <p:nvSpPr>
          <p:cNvPr id="11" name="box-341"/>
          <p:cNvSpPr/>
          <p:nvPr/>
        </p:nvSpPr>
        <p:spPr>
          <a:xfrm>
            <a:off x="3566160" y="2057400"/>
            <a:ext cx="868680" cy="777240"/>
          </a:xfrm>
          <a:prstGeom prst="roundRect">
            <a:avLst>
              <a:gd name="adj" fmla="val 9412"/>
            </a:avLst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推断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模型</a:t>
            </a:r>
            <a:endParaRPr lang="en-US" sz="1250" dirty="0"/>
          </a:p>
        </p:txBody>
      </p:sp>
      <p:sp>
        <p:nvSpPr>
          <p:cNvPr id="12" name="box-342"/>
          <p:cNvSpPr/>
          <p:nvPr/>
        </p:nvSpPr>
        <p:spPr>
          <a:xfrm>
            <a:off x="3566160" y="3429000"/>
            <a:ext cx="868680" cy="777240"/>
          </a:xfrm>
          <a:prstGeom prst="roundRect">
            <a:avLst>
              <a:gd name="adj" fmla="val 9412"/>
            </a:avLst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推断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模型</a:t>
            </a:r>
            <a:endParaRPr lang="en-US" sz="1250" dirty="0"/>
          </a:p>
        </p:txBody>
      </p:sp>
      <p:sp>
        <p:nvSpPr>
          <p:cNvPr id="13" name="ln-343"/>
          <p:cNvSpPr/>
          <p:nvPr/>
        </p:nvSpPr>
        <p:spPr>
          <a:xfrm>
            <a:off x="3072384" y="2103120"/>
            <a:ext cx="475488" cy="228600"/>
          </a:xfrm>
          <a:prstGeom prst="line">
            <a:avLst/>
          </a:prstGeom>
          <a:noFill/>
          <a:ln w="15875">
            <a:solidFill>
              <a:srgbClr val="404040"/>
            </a:solidFill>
            <a:prstDash val="solid"/>
            <a:tailEnd type="triangle"/>
          </a:ln>
        </p:spPr>
      </p:sp>
      <p:sp>
        <p:nvSpPr>
          <p:cNvPr id="14" name="ln-344"/>
          <p:cNvSpPr/>
          <p:nvPr/>
        </p:nvSpPr>
        <p:spPr>
          <a:xfrm flipV="1">
            <a:off x="3072384" y="2560320"/>
            <a:ext cx="475488" cy="228600"/>
          </a:xfrm>
          <a:prstGeom prst="line">
            <a:avLst/>
          </a:prstGeom>
          <a:noFill/>
          <a:ln w="15875">
            <a:solidFill>
              <a:srgbClr val="404040"/>
            </a:solidFill>
            <a:prstDash val="solid"/>
            <a:tailEnd type="triangle"/>
          </a:ln>
        </p:spPr>
      </p:sp>
      <p:sp>
        <p:nvSpPr>
          <p:cNvPr id="15" name="ln-345"/>
          <p:cNvSpPr/>
          <p:nvPr/>
        </p:nvSpPr>
        <p:spPr>
          <a:xfrm>
            <a:off x="3072384" y="3840480"/>
            <a:ext cx="475488" cy="0"/>
          </a:xfrm>
          <a:prstGeom prst="line">
            <a:avLst/>
          </a:prstGeom>
          <a:noFill/>
          <a:ln w="15875">
            <a:solidFill>
              <a:srgbClr val="404040"/>
            </a:solidFill>
            <a:prstDash val="solid"/>
            <a:tailEnd type="triangle"/>
          </a:ln>
        </p:spPr>
      </p:sp>
      <p:sp>
        <p:nvSpPr>
          <p:cNvPr id="16" name="ln-346"/>
          <p:cNvSpPr/>
          <p:nvPr/>
        </p:nvSpPr>
        <p:spPr>
          <a:xfrm>
            <a:off x="3200400" y="2441448"/>
            <a:ext cx="0" cy="1197864"/>
          </a:xfrm>
          <a:prstGeom prst="line">
            <a:avLst/>
          </a:prstGeom>
          <a:noFill/>
          <a:ln w="15875">
            <a:solidFill>
              <a:srgbClr val="7F7F7F"/>
            </a:solidFill>
            <a:prstDash val="dash"/>
            <a:tailEnd type="none"/>
          </a:ln>
        </p:spPr>
      </p:sp>
      <p:sp>
        <p:nvSpPr>
          <p:cNvPr id="17" name="ln-347"/>
          <p:cNvSpPr/>
          <p:nvPr/>
        </p:nvSpPr>
        <p:spPr>
          <a:xfrm>
            <a:off x="3200400" y="3639312"/>
            <a:ext cx="347472" cy="0"/>
          </a:xfrm>
          <a:prstGeom prst="line">
            <a:avLst/>
          </a:prstGeom>
          <a:noFill/>
          <a:ln w="15875">
            <a:solidFill>
              <a:srgbClr val="7F7F7F"/>
            </a:solidFill>
            <a:prstDash val="dash"/>
            <a:tailEnd type="triangle"/>
          </a:ln>
        </p:spPr>
      </p:sp>
      <p:sp>
        <p:nvSpPr>
          <p:cNvPr id="18" name="arr-348"/>
          <p:cNvSpPr/>
          <p:nvPr/>
        </p:nvSpPr>
        <p:spPr>
          <a:xfrm>
            <a:off x="4498848" y="2313432"/>
            <a:ext cx="310896" cy="256032"/>
          </a:xfrm>
          <a:prstGeom prst="rightArrow">
            <a:avLst/>
          </a:prstGeom>
          <a:solidFill>
            <a:srgbClr val="9DC3E6"/>
          </a:solidFill>
          <a:ln w="12700">
            <a:solidFill>
              <a:srgbClr val="9DC3E6"/>
            </a:solidFill>
            <a:prstDash val="solid"/>
          </a:ln>
        </p:spPr>
      </p:sp>
      <p:sp>
        <p:nvSpPr>
          <p:cNvPr id="19" name="arr-349"/>
          <p:cNvSpPr/>
          <p:nvPr/>
        </p:nvSpPr>
        <p:spPr>
          <a:xfrm>
            <a:off x="4498848" y="3685032"/>
            <a:ext cx="310896" cy="256032"/>
          </a:xfrm>
          <a:prstGeom prst="rightArrow">
            <a:avLst/>
          </a:prstGeom>
          <a:solidFill>
            <a:srgbClr val="9DC3E6"/>
          </a:solidFill>
          <a:ln w="12700">
            <a:solidFill>
              <a:srgbClr val="9DC3E6"/>
            </a:solidFill>
            <a:prstDash val="solid"/>
          </a:ln>
        </p:spPr>
      </p:sp>
      <p:sp>
        <p:nvSpPr>
          <p:cNvPr id="20" name="box-350"/>
          <p:cNvSpPr/>
          <p:nvPr/>
        </p:nvSpPr>
        <p:spPr>
          <a:xfrm>
            <a:off x="4864608" y="2011680"/>
            <a:ext cx="17373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5B9BD5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未获得字段 i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 y 的推断精度</a:t>
            </a:r>
            <a:endParaRPr lang="en-US" sz="12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V</a:t>
            </a:r>
            <a:pPr algn="ctr" indent="0" marL="0">
              <a:buNone/>
            </a:pPr>
            <a:r>
              <a:rPr lang="en-US" sz="1300" b="1" baseline="-40000" dirty="0">
                <a:solidFill>
                  <a:srgbClr val="00000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y</a:t>
            </a:r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(B∪T)</a:t>
            </a:r>
            <a:endParaRPr lang="en-US" sz="1200" dirty="0"/>
          </a:p>
        </p:txBody>
      </p:sp>
      <p:sp>
        <p:nvSpPr>
          <p:cNvPr id="21" name="box-351"/>
          <p:cNvSpPr/>
          <p:nvPr/>
        </p:nvSpPr>
        <p:spPr>
          <a:xfrm>
            <a:off x="4864608" y="3383280"/>
            <a:ext cx="1737360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ED7D31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获得字段 i 后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 y 的推断精度</a:t>
            </a:r>
            <a:endParaRPr lang="en-US" sz="12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V</a:t>
            </a:r>
            <a:pPr algn="ctr" indent="0" marL="0">
              <a:buNone/>
            </a:pPr>
            <a:r>
              <a:rPr lang="en-US" sz="1300" b="1" baseline="-40000" dirty="0">
                <a:solidFill>
                  <a:srgbClr val="00000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y</a:t>
            </a:r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(B∪T∪{i})</a:t>
            </a:r>
            <a:endParaRPr lang="en-US" sz="1200" dirty="0"/>
          </a:p>
        </p:txBody>
      </p:sp>
      <p:sp>
        <p:nvSpPr>
          <p:cNvPr id="22" name="text-352"/>
          <p:cNvSpPr txBox="1"/>
          <p:nvPr/>
        </p:nvSpPr>
        <p:spPr>
          <a:xfrm>
            <a:off x="694944" y="4434840"/>
            <a:ext cx="59070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两者之差 = 字段 i 在背景 T 下的推断增益</a:t>
            </a:r>
            <a:endParaRPr lang="en-US" sz="1250" dirty="0"/>
          </a:p>
        </p:txBody>
      </p:sp>
      <p:sp>
        <p:nvSpPr>
          <p:cNvPr id="23" name="box-353"/>
          <p:cNvSpPr/>
          <p:nvPr/>
        </p:nvSpPr>
        <p:spPr>
          <a:xfrm>
            <a:off x="6858000" y="1828800"/>
            <a:ext cx="868680" cy="86868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基础量</a:t>
            </a:r>
            <a:endParaRPr lang="en-US" sz="1250" dirty="0"/>
          </a:p>
        </p:txBody>
      </p:sp>
      <p:sp>
        <p:nvSpPr>
          <p:cNvPr id="24" name="box-354"/>
          <p:cNvSpPr/>
          <p:nvPr/>
        </p:nvSpPr>
        <p:spPr>
          <a:xfrm>
            <a:off x="7726680" y="1828800"/>
            <a:ext cx="3767328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5B9BD5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25" name="text-355"/>
          <p:cNvSpPr txBox="1"/>
          <p:nvPr/>
        </p:nvSpPr>
        <p:spPr>
          <a:xfrm>
            <a:off x="7836408" y="185623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4E79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集合推断能力  V</a:t>
            </a:r>
            <a:pPr algn="l" indent="0" marL="0">
              <a:buNone/>
            </a:pPr>
            <a:r>
              <a:rPr lang="en-US" sz="1500" b="1" baseline="-40000" dirty="0">
                <a:solidFill>
                  <a:srgbClr val="1F4E79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y</a:t>
            </a:r>
            <a:pPr algn="l" indent="0" marL="0">
              <a:buNone/>
            </a:pPr>
            <a:r>
              <a:rPr lang="en-US" sz="1500" b="1" dirty="0">
                <a:solidFill>
                  <a:srgbClr val="1F4E79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(S)</a:t>
            </a:r>
            <a:endParaRPr lang="en-US" sz="1500" dirty="0"/>
          </a:p>
        </p:txBody>
      </p:sp>
      <p:sp>
        <p:nvSpPr>
          <p:cNvPr id="26" name="text-356"/>
          <p:cNvSpPr txBox="1"/>
          <p:nvPr/>
        </p:nvSpPr>
        <p:spPr>
          <a:xfrm>
            <a:off x="7836408" y="224028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仅用字段集合 S 推断敏感数据 y 的精度（R²，0~1）</a:t>
            </a:r>
            <a:endParaRPr lang="en-US" sz="1100" dirty="0"/>
          </a:p>
        </p:txBody>
      </p:sp>
      <p:sp>
        <p:nvSpPr>
          <p:cNvPr id="27" name="box-357"/>
          <p:cNvSpPr/>
          <p:nvPr/>
        </p:nvSpPr>
        <p:spPr>
          <a:xfrm>
            <a:off x="6858000" y="2834640"/>
            <a:ext cx="868680" cy="1920240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指标</a:t>
            </a:r>
            <a:endParaRPr lang="en-US" sz="1250" dirty="0"/>
          </a:p>
        </p:txBody>
      </p:sp>
      <p:sp>
        <p:nvSpPr>
          <p:cNvPr id="28" name="box-358"/>
          <p:cNvSpPr/>
          <p:nvPr/>
        </p:nvSpPr>
        <p:spPr>
          <a:xfrm>
            <a:off x="7726680" y="2834640"/>
            <a:ext cx="3767328" cy="1920240"/>
          </a:xfrm>
          <a:prstGeom prst="rect">
            <a:avLst/>
          </a:prstGeom>
          <a:solidFill>
            <a:srgbClr val="FBE5D6"/>
          </a:solidFill>
          <a:ln w="19050">
            <a:solidFill>
              <a:srgbClr val="ED7D31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29" name="text-359"/>
          <p:cNvSpPr txBox="1"/>
          <p:nvPr/>
        </p:nvSpPr>
        <p:spPr>
          <a:xfrm>
            <a:off x="7836408" y="2871216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C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字段推断敏感度</a:t>
            </a:r>
            <a:endParaRPr lang="en-US" sz="1450" dirty="0"/>
          </a:p>
        </p:txBody>
      </p:sp>
      <p:sp>
        <p:nvSpPr>
          <p:cNvPr id="30" name="text-360"/>
          <p:cNvSpPr txBox="1"/>
          <p:nvPr/>
        </p:nvSpPr>
        <p:spPr>
          <a:xfrm>
            <a:off x="7836408" y="3218688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C0000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M</a:t>
            </a:r>
            <a:pPr algn="l" indent="0" marL="0">
              <a:buNone/>
            </a:pPr>
            <a:r>
              <a:rPr lang="en-US" sz="1350" b="1" baseline="-40000" dirty="0">
                <a:solidFill>
                  <a:srgbClr val="C0000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i→y</a:t>
            </a:r>
            <a:pPr algn="l" indent="0" marL="0">
              <a:buNone/>
            </a:pPr>
            <a:r>
              <a:rPr lang="en-US" sz="1350" b="1" baseline="30000" dirty="0">
                <a:solidFill>
                  <a:srgbClr val="C0000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(K)</a:t>
            </a:r>
            <a:pPr algn="l" indent="0" marL="0">
              <a:buNone/>
            </a:pPr>
            <a:r>
              <a:rPr lang="en-US" sz="1350" b="1" dirty="0">
                <a:solidFill>
                  <a:srgbClr val="C0000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= max [ V</a:t>
            </a:r>
            <a:pPr algn="l" indent="0" marL="0">
              <a:buNone/>
            </a:pPr>
            <a:r>
              <a:rPr lang="en-US" sz="1350" b="1" baseline="-40000" dirty="0">
                <a:solidFill>
                  <a:srgbClr val="C0000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y</a:t>
            </a:r>
            <a:pPr algn="l" indent="0" marL="0">
              <a:buNone/>
            </a:pPr>
            <a:r>
              <a:rPr lang="en-US" sz="1350" b="1" dirty="0">
                <a:solidFill>
                  <a:srgbClr val="C0000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(B∪T∪{i}) − V</a:t>
            </a:r>
            <a:pPr algn="l" indent="0" marL="0">
              <a:buNone/>
            </a:pPr>
            <a:r>
              <a:rPr lang="en-US" sz="1350" b="1" baseline="-40000" dirty="0">
                <a:solidFill>
                  <a:srgbClr val="C0000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y</a:t>
            </a:r>
            <a:pPr algn="l" indent="0" marL="0">
              <a:buNone/>
            </a:pPr>
            <a:r>
              <a:rPr lang="en-US" sz="1350" b="1" dirty="0">
                <a:solidFill>
                  <a:srgbClr val="C0000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(B∪T) ]</a:t>
            </a:r>
            <a:endParaRPr lang="en-US" sz="1350" dirty="0"/>
          </a:p>
        </p:txBody>
      </p:sp>
      <p:sp>
        <p:nvSpPr>
          <p:cNvPr id="31" name="text-361"/>
          <p:cNvSpPr txBox="1"/>
          <p:nvPr/>
        </p:nvSpPr>
        <p:spPr>
          <a:xfrm>
            <a:off x="7836408" y="3621024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对所有 |T| ≤ K 的背景字段组合 T 取最大</a:t>
            </a:r>
            <a:endParaRPr lang="en-US" sz="1150" dirty="0"/>
          </a:p>
        </p:txBody>
      </p:sp>
      <p:sp>
        <p:nvSpPr>
          <p:cNvPr id="32" name="text-362"/>
          <p:cNvSpPr txBox="1"/>
          <p:nvPr/>
        </p:nvSpPr>
        <p:spPr>
          <a:xfrm>
            <a:off x="7836408" y="3950208"/>
            <a:ext cx="35661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含义：在接收方已掌握的信息基础上，再获得字段 i，对敏感数据 y 的推断精度最多能提高多少。取值 0~1。</a:t>
            </a:r>
            <a:endParaRPr lang="en-US" sz="1100" dirty="0"/>
          </a:p>
        </p:txBody>
      </p:sp>
      <p:sp>
        <p:nvSpPr>
          <p:cNvPr id="33" name="box-363"/>
          <p:cNvSpPr/>
          <p:nvPr/>
        </p:nvSpPr>
        <p:spPr>
          <a:xfrm>
            <a:off x="694944" y="4983480"/>
            <a:ext cx="10799064" cy="1005840"/>
          </a:xfrm>
          <a:prstGeom prst="rect">
            <a:avLst/>
          </a:prstGeom>
          <a:ln w="15875">
            <a:solidFill>
              <a:srgbClr val="5B9BD5"/>
            </a:solidFill>
            <a:prstDash val="dash"/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34" name="text-364"/>
          <p:cNvSpPr txBox="1"/>
          <p:nvPr/>
        </p:nvSpPr>
        <p:spPr>
          <a:xfrm>
            <a:off x="868680" y="5029200"/>
            <a:ext cx="10469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500"/>
              </a:spcAft>
              <a:buSzPct val="100000"/>
              <a:buChar char="●"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 由接收方角色和披露时点确定（见 3.1）；T 取自该角色还可能获得的字段</a:t>
            </a:r>
            <a:endParaRPr lang="en-US" sz="1200" dirty="0"/>
          </a:p>
          <a:p>
            <a:pPr algn="l" marL="342900" indent="-342900">
              <a:spcAft>
                <a:spcPts val="500"/>
              </a:spcAft>
              <a:buSzPct val="100000"/>
              <a:buChar char="●"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K 为背景字段数的上限，取 2；可逐步增大，至 M 不再明显变化</a:t>
            </a:r>
            <a:endParaRPr lang="en-US" sz="1200" dirty="0"/>
          </a:p>
          <a:p>
            <a:pPr algn="l" marL="342900" indent="-342900">
              <a:spcAft>
                <a:spcPts val="500"/>
              </a:spcAft>
              <a:buSzPct val="100000"/>
              <a:buChar char="●"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一个字段对多个敏感数据分别计算，各得到一个 M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92240"/>
            <a:ext cx="6858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F7F7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k-365"/>
          <p:cNvSpPr/>
          <p:nvPr/>
        </p:nvSpPr>
        <p:spPr>
          <a:xfrm>
            <a:off x="155448" y="301752"/>
            <a:ext cx="338328" cy="310896"/>
          </a:xfrm>
          <a:prstGeom prst="chevron">
            <a:avLst/>
          </a:prstGeom>
          <a:solidFill>
            <a:srgbClr val="B50104"/>
          </a:solidFill>
          <a:ln w="12700">
            <a:solidFill>
              <a:srgbClr val="B50104"/>
            </a:solidFill>
            <a:prstDash val="solid"/>
          </a:ln>
        </p:spPr>
      </p:sp>
      <p:sp>
        <p:nvSpPr>
          <p:cNvPr id="3" name="mark-366"/>
          <p:cNvSpPr/>
          <p:nvPr/>
        </p:nvSpPr>
        <p:spPr>
          <a:xfrm>
            <a:off x="438912" y="301752"/>
            <a:ext cx="338328" cy="310896"/>
          </a:xfrm>
          <a:prstGeom prst="chevron">
            <a:avLst/>
          </a:prstGeom>
          <a:solidFill>
            <a:srgbClr val="7F7F7F"/>
          </a:solidFill>
          <a:ln w="12700">
            <a:solidFill>
              <a:srgbClr val="7F7F7F"/>
            </a:solidFill>
            <a:prstDash val="solid"/>
          </a:ln>
        </p:spPr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868680" y="1828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E5E9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三、二次标定：3.2 字段推断敏感度（2/2）</a:t>
            </a:r>
            <a:endParaRPr lang="en-US" sz="2400" dirty="0"/>
          </a:p>
        </p:txBody>
      </p:sp>
      <p:sp>
        <p:nvSpPr>
          <p:cNvPr id="5" name="box-367"/>
          <p:cNvSpPr/>
          <p:nvPr/>
        </p:nvSpPr>
        <p:spPr>
          <a:xfrm>
            <a:off x="694944" y="6217920"/>
            <a:ext cx="868680" cy="27432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南网依据</a:t>
            </a:r>
            <a:endParaRPr lang="en-US" sz="1050" dirty="0"/>
          </a:p>
        </p:txBody>
      </p:sp>
      <p:sp>
        <p:nvSpPr>
          <p:cNvPr id="6" name="text-368"/>
          <p:cNvSpPr txBox="1"/>
          <p:nvPr/>
        </p:nvSpPr>
        <p:spPr>
          <a:xfrm>
            <a:off x="1645920" y="6217920"/>
            <a:ext cx="9848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4E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《分类分级手册》分级要素“深度”、分级原则“从严性”；《风险评估手册》第 382 项</a:t>
            </a:r>
            <a:endParaRPr lang="en-US" sz="1100" dirty="0"/>
          </a:p>
        </p:txBody>
      </p:sp>
      <p:sp>
        <p:nvSpPr>
          <p:cNvPr id="7" name="text-369"/>
          <p:cNvSpPr txBox="1"/>
          <p:nvPr/>
        </p:nvSpPr>
        <p:spPr>
          <a:xfrm>
            <a:off x="694944" y="1143000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➢ </a:t>
            </a:r>
            <a:pPr algn="l"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依据与算例</a:t>
            </a:r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：为什么可以作为字段级的敏感度度量</a:t>
            </a:r>
            <a:endParaRPr lang="en-US" sz="1800" dirty="0"/>
          </a:p>
        </p:txBody>
      </p:sp>
      <p:sp>
        <p:nvSpPr>
          <p:cNvPr id="8" name="box-370"/>
          <p:cNvSpPr/>
          <p:nvPr/>
        </p:nvSpPr>
        <p:spPr>
          <a:xfrm>
            <a:off x="694944" y="1783080"/>
            <a:ext cx="457200" cy="1207008"/>
          </a:xfrm>
          <a:prstGeom prst="rect">
            <a:avLst/>
          </a:prstGeom>
          <a:solidFill>
            <a:srgbClr val="5B9BD5"/>
          </a:solidFill>
          <a:ln w="12700">
            <a:solidFill>
              <a:srgbClr val="5B9BD5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box-371"/>
          <p:cNvSpPr/>
          <p:nvPr/>
        </p:nvSpPr>
        <p:spPr>
          <a:xfrm>
            <a:off x="1152144" y="1783080"/>
            <a:ext cx="448056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5B9BD5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10" name="text-372"/>
          <p:cNvSpPr txBox="1"/>
          <p:nvPr/>
        </p:nvSpPr>
        <p:spPr>
          <a:xfrm>
            <a:off x="1280160" y="1837944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衡量可推断的程度</a:t>
            </a:r>
            <a:endParaRPr lang="en-US" sz="1400" dirty="0"/>
          </a:p>
        </p:txBody>
      </p:sp>
      <p:sp>
        <p:nvSpPr>
          <p:cNvPr id="11" name="text-373"/>
          <p:cNvSpPr txBox="1"/>
          <p:nvPr/>
        </p:nvSpPr>
        <p:spPr>
          <a:xfrm>
            <a:off x="1280160" y="2203704"/>
            <a:ext cx="4251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由推断模型在留出数据上的精度得到，反映敏感数据实际能被还原多少，而不只是统计上的相关。</a:t>
            </a:r>
            <a:endParaRPr lang="en-US" sz="1150" dirty="0"/>
          </a:p>
        </p:txBody>
      </p:sp>
      <p:sp>
        <p:nvSpPr>
          <p:cNvPr id="12" name="box-374"/>
          <p:cNvSpPr/>
          <p:nvPr/>
        </p:nvSpPr>
        <p:spPr>
          <a:xfrm>
            <a:off x="694944" y="3154680"/>
            <a:ext cx="457200" cy="1207008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box-375"/>
          <p:cNvSpPr/>
          <p:nvPr/>
        </p:nvSpPr>
        <p:spPr>
          <a:xfrm>
            <a:off x="1152144" y="3154680"/>
            <a:ext cx="448056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D7D31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14" name="text-376"/>
          <p:cNvSpPr txBox="1"/>
          <p:nvPr/>
        </p:nvSpPr>
        <p:spPr>
          <a:xfrm>
            <a:off x="1280160" y="3209544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计入接收方已有的信息</a:t>
            </a:r>
            <a:endParaRPr lang="en-US" sz="1400" dirty="0"/>
          </a:p>
        </p:txBody>
      </p:sp>
      <p:sp>
        <p:nvSpPr>
          <p:cNvPr id="15" name="text-377"/>
          <p:cNvSpPr txBox="1"/>
          <p:nvPr/>
        </p:nvSpPr>
        <p:spPr>
          <a:xfrm>
            <a:off x="1280160" y="3575304"/>
            <a:ext cx="4251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同一字段在不同背景下的作用不同；单独作用小的字段，与已有信息融合后可能起决定作用。</a:t>
            </a:r>
            <a:endParaRPr lang="en-US" sz="1150" dirty="0"/>
          </a:p>
        </p:txBody>
      </p:sp>
      <p:sp>
        <p:nvSpPr>
          <p:cNvPr id="16" name="box-378"/>
          <p:cNvSpPr/>
          <p:nvPr/>
        </p:nvSpPr>
        <p:spPr>
          <a:xfrm>
            <a:off x="694944" y="4526280"/>
            <a:ext cx="457200" cy="1207008"/>
          </a:xfrm>
          <a:prstGeom prst="rect">
            <a:avLst/>
          </a:prstGeom>
          <a:solidFill>
            <a:srgbClr val="BF9000"/>
          </a:solidFill>
          <a:ln w="12700">
            <a:solidFill>
              <a:srgbClr val="BF9000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box-379"/>
          <p:cNvSpPr/>
          <p:nvPr/>
        </p:nvSpPr>
        <p:spPr>
          <a:xfrm>
            <a:off x="1152144" y="4526280"/>
            <a:ext cx="448056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BF9000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18" name="text-380"/>
          <p:cNvSpPr txBox="1"/>
          <p:nvPr/>
        </p:nvSpPr>
        <p:spPr>
          <a:xfrm>
            <a:off x="1280160" y="4581144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取最大值，落到单个字段</a:t>
            </a:r>
            <a:endParaRPr lang="en-US" sz="1400" dirty="0"/>
          </a:p>
        </p:txBody>
      </p:sp>
      <p:sp>
        <p:nvSpPr>
          <p:cNvPr id="19" name="text-381"/>
          <p:cNvSpPr txBox="1"/>
          <p:nvPr/>
        </p:nvSpPr>
        <p:spPr>
          <a:xfrm>
            <a:off x="1280160" y="4946904"/>
            <a:ext cx="4251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对各种背景取最大，对应“从严性”；每个字段得到一个 0~1 的数值，并指明对应的敏感数据和背景，可比较、可复核。</a:t>
            </a:r>
            <a:endParaRPr lang="en-US" sz="1150" dirty="0"/>
          </a:p>
        </p:txBody>
      </p:sp>
      <p:sp>
        <p:nvSpPr>
          <p:cNvPr id="20" name="box-382"/>
          <p:cNvSpPr/>
          <p:nvPr/>
        </p:nvSpPr>
        <p:spPr>
          <a:xfrm>
            <a:off x="5943600" y="1783080"/>
            <a:ext cx="5550408" cy="4114800"/>
          </a:xfrm>
          <a:prstGeom prst="rect">
            <a:avLst/>
          </a:prstGeom>
          <a:solidFill>
            <a:srgbClr val="F5F7FA"/>
          </a:solidFill>
          <a:ln w="12700">
            <a:solidFill>
              <a:srgbClr val="7F8FA9"/>
            </a:solidFill>
            <a:prstDash val="dash"/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21" name="box-383"/>
          <p:cNvSpPr/>
          <p:nvPr/>
        </p:nvSpPr>
        <p:spPr>
          <a:xfrm>
            <a:off x="6080760" y="1892808"/>
            <a:ext cx="566928" cy="219456"/>
          </a:xfrm>
          <a:prstGeom prst="roundRect">
            <a:avLst>
              <a:gd name="adj" fmla="val 33333"/>
            </a:avLst>
          </a:prstGeom>
          <a:solidFill>
            <a:srgbClr val="5B6B84"/>
          </a:solidFill>
          <a:ln w="12700">
            <a:solidFill>
              <a:srgbClr val="5B6B84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算例</a:t>
            </a:r>
            <a:endParaRPr lang="en-US" sz="1000" dirty="0"/>
          </a:p>
        </p:txBody>
      </p:sp>
      <p:sp>
        <p:nvSpPr>
          <p:cNvPr id="22" name="text-384"/>
          <p:cNvSpPr txBox="1"/>
          <p:nvPr/>
        </p:nvSpPr>
        <p:spPr>
          <a:xfrm>
            <a:off x="6739128" y="1892808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字段：南澳风电出力预测；敏感数据 y：南澳某燃气机组小时出力；K = 2</a:t>
            </a:r>
            <a:endParaRPr lang="en-US" sz="1050" dirty="0"/>
          </a:p>
        </p:txBody>
      </p:sp>
      <p:graphicFrame>
        <p:nvGraphicFramePr>
          <p:cNvPr id="18" name="table-38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80760" y="2240280"/>
          <a:ext cx="5276088" cy="914400"/>
        </p:xfrm>
        <a:graphic>
          <a:graphicData uri="http://schemas.openxmlformats.org/drawingml/2006/table">
            <a:tbl>
              <a:tblPr/>
              <a:tblGrid>
                <a:gridCol w="2240280"/>
                <a:gridCol w="1024128"/>
                <a:gridCol w="1024128"/>
                <a:gridCol w="987552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5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背景字段 T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7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5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未获得该字段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7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5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获得该字段后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7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5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推断增益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7E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无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0.19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0.19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光伏出力预测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0.17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0.48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0.31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可用发电容量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0.02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0.47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0.45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可用发电容量 + 光伏出力预测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0.20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0.80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C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0.60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text-386"/>
          <p:cNvSpPr txBox="1"/>
          <p:nvPr/>
        </p:nvSpPr>
        <p:spPr>
          <a:xfrm>
            <a:off x="6080760" y="4114800"/>
            <a:ext cx="52760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表中为对 y 的推断精度</a:t>
            </a:r>
            <a:endParaRPr lang="en-US" sz="1000" dirty="0"/>
          </a:p>
        </p:txBody>
      </p:sp>
      <p:sp>
        <p:nvSpPr>
          <p:cNvPr id="25" name="text-387"/>
          <p:cNvSpPr txBox="1"/>
          <p:nvPr/>
        </p:nvSpPr>
        <p:spPr>
          <a:xfrm>
            <a:off x="6172200" y="4407408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0000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M</a:t>
            </a:r>
            <a:pPr algn="l" indent="0" marL="0">
              <a:buNone/>
            </a:pPr>
            <a:r>
              <a:rPr lang="en-US" sz="1400" b="1" baseline="30000" dirty="0">
                <a:solidFill>
                  <a:srgbClr val="C0000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(2)</a:t>
            </a:r>
            <a:pPr algn="l" indent="0" marL="0">
              <a:buNone/>
            </a:pPr>
            <a:r>
              <a:rPr lang="en-US" sz="1400" b="1" dirty="0">
                <a:solidFill>
                  <a:srgbClr val="C0000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= 0.60，背景：可用发电容量 + 光伏出力预测</a:t>
            </a:r>
            <a:endParaRPr lang="en-US" sz="1400" dirty="0"/>
          </a:p>
        </p:txBody>
      </p:sp>
      <p:sp>
        <p:nvSpPr>
          <p:cNvPr id="26" name="text-388"/>
          <p:cNvSpPr txBox="1"/>
          <p:nvPr/>
        </p:nvSpPr>
        <p:spPr>
          <a:xfrm>
            <a:off x="6172200" y="4828032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该字段单独的推断精度为 0.19；在已掌握另外两项信息时，可使推断精度由 0.20 提高到 0.80。若只按单字段评估，其敏感度将被低估。</a:t>
            </a:r>
            <a:endParaRPr lang="en-US" sz="1150" dirty="0"/>
          </a:p>
        </p:txBody>
      </p:sp>
      <p:sp>
        <p:nvSpPr>
          <p:cNvPr id="27" name="text-389"/>
          <p:cNvSpPr txBox="1"/>
          <p:nvPr/>
        </p:nvSpPr>
        <p:spPr>
          <a:xfrm>
            <a:off x="6172200" y="5559552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数据：澳大利亚国家电力市场（NEM）2024 年公开数据，逐一重训推断模型得到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92240"/>
            <a:ext cx="6858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F7F7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k-390"/>
          <p:cNvSpPr/>
          <p:nvPr/>
        </p:nvSpPr>
        <p:spPr>
          <a:xfrm>
            <a:off x="155448" y="301752"/>
            <a:ext cx="338328" cy="310896"/>
          </a:xfrm>
          <a:prstGeom prst="chevron">
            <a:avLst/>
          </a:prstGeom>
          <a:solidFill>
            <a:srgbClr val="B50104"/>
          </a:solidFill>
          <a:ln w="12700">
            <a:solidFill>
              <a:srgbClr val="B50104"/>
            </a:solidFill>
            <a:prstDash val="solid"/>
          </a:ln>
        </p:spPr>
      </p:sp>
      <p:sp>
        <p:nvSpPr>
          <p:cNvPr id="3" name="mark-391"/>
          <p:cNvSpPr/>
          <p:nvPr/>
        </p:nvSpPr>
        <p:spPr>
          <a:xfrm>
            <a:off x="438912" y="301752"/>
            <a:ext cx="338328" cy="310896"/>
          </a:xfrm>
          <a:prstGeom prst="chevron">
            <a:avLst/>
          </a:prstGeom>
          <a:solidFill>
            <a:srgbClr val="7F7F7F"/>
          </a:solidFill>
          <a:ln w="12700">
            <a:solidFill>
              <a:srgbClr val="7F7F7F"/>
            </a:solidFill>
            <a:prstDash val="solid"/>
          </a:ln>
        </p:spPr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868680" y="1828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E5E9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三、二次标定：3.3 敏感度计算与验证</a:t>
            </a:r>
            <a:endParaRPr lang="en-US" sz="2400" dirty="0"/>
          </a:p>
        </p:txBody>
      </p:sp>
      <p:sp>
        <p:nvSpPr>
          <p:cNvPr id="5" name="box-392"/>
          <p:cNvSpPr/>
          <p:nvPr/>
        </p:nvSpPr>
        <p:spPr>
          <a:xfrm>
            <a:off x="694944" y="6217920"/>
            <a:ext cx="868680" cy="27432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南网依据</a:t>
            </a:r>
            <a:endParaRPr lang="en-US" sz="1050" dirty="0"/>
          </a:p>
        </p:txBody>
      </p:sp>
      <p:sp>
        <p:nvSpPr>
          <p:cNvPr id="6" name="text-393"/>
          <p:cNvSpPr txBox="1"/>
          <p:nvPr/>
        </p:nvSpPr>
        <p:spPr>
          <a:xfrm>
            <a:off x="1645920" y="6217920"/>
            <a:ext cx="9848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4E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《风险评估手册》第 382 项（聚合性推断测试）、第 330、351 项；《分类分级手册》附录 E</a:t>
            </a:r>
            <a:endParaRPr lang="en-US" sz="1100" dirty="0"/>
          </a:p>
        </p:txBody>
      </p:sp>
      <p:sp>
        <p:nvSpPr>
          <p:cNvPr id="7" name="text-394"/>
          <p:cNvSpPr txBox="1"/>
          <p:nvPr/>
        </p:nvSpPr>
        <p:spPr>
          <a:xfrm>
            <a:off x="694944" y="1143000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➢ </a:t>
            </a:r>
            <a:pPr algn="l"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计算流程</a:t>
            </a:r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：按 3.2 的定义计算每个字段的推断敏感度</a:t>
            </a:r>
            <a:endParaRPr lang="en-US" sz="1800" dirty="0"/>
          </a:p>
        </p:txBody>
      </p:sp>
      <p:sp>
        <p:nvSpPr>
          <p:cNvPr id="8" name="box-395"/>
          <p:cNvSpPr/>
          <p:nvPr/>
        </p:nvSpPr>
        <p:spPr>
          <a:xfrm>
            <a:off x="694944" y="1737360"/>
            <a:ext cx="3429000" cy="1874520"/>
          </a:xfrm>
          <a:prstGeom prst="rect">
            <a:avLst/>
          </a:prstGeom>
          <a:ln w="12700">
            <a:solidFill>
              <a:srgbClr val="404040"/>
            </a:solidFill>
            <a:prstDash val="dash"/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9" name="box-396"/>
          <p:cNvSpPr/>
          <p:nvPr/>
        </p:nvSpPr>
        <p:spPr>
          <a:xfrm>
            <a:off x="1952244" y="1828800"/>
            <a:ext cx="914400" cy="329184"/>
          </a:xfrm>
          <a:prstGeom prst="rect">
            <a:avLst/>
          </a:prstGeom>
          <a:solidFill>
            <a:srgbClr val="5B9BD5"/>
          </a:solidFill>
          <a:ln w="12700">
            <a:solidFill>
              <a:srgbClr val="5B9BD5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-397"/>
          <p:cNvSpPr txBox="1"/>
          <p:nvPr/>
        </p:nvSpPr>
        <p:spPr>
          <a:xfrm>
            <a:off x="768096" y="2212848"/>
            <a:ext cx="3282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关联分析</a:t>
            </a:r>
            <a:endParaRPr lang="en-US" sz="1400" dirty="0"/>
          </a:p>
        </p:txBody>
      </p:sp>
      <p:sp>
        <p:nvSpPr>
          <p:cNvPr id="11" name="text-398"/>
          <p:cNvSpPr txBox="1"/>
          <p:nvPr/>
        </p:nvSpPr>
        <p:spPr>
          <a:xfrm>
            <a:off x="822960" y="2560320"/>
            <a:ext cx="31729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计算字段间的线性、秩和非线性关联并融合，构建关联图，用于解释字段关系和排定计算优先级。</a:t>
            </a:r>
            <a:endParaRPr lang="en-US" sz="1200" dirty="0"/>
          </a:p>
        </p:txBody>
      </p:sp>
      <p:sp>
        <p:nvSpPr>
          <p:cNvPr id="12" name="box-399"/>
          <p:cNvSpPr/>
          <p:nvPr/>
        </p:nvSpPr>
        <p:spPr>
          <a:xfrm>
            <a:off x="4379976" y="1737360"/>
            <a:ext cx="3429000" cy="1874520"/>
          </a:xfrm>
          <a:prstGeom prst="rect">
            <a:avLst/>
          </a:prstGeom>
          <a:ln w="12700">
            <a:solidFill>
              <a:srgbClr val="404040"/>
            </a:solidFill>
            <a:prstDash val="dash"/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13" name="box-400"/>
          <p:cNvSpPr/>
          <p:nvPr/>
        </p:nvSpPr>
        <p:spPr>
          <a:xfrm>
            <a:off x="5637276" y="1828800"/>
            <a:ext cx="914400" cy="329184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-401"/>
          <p:cNvSpPr txBox="1"/>
          <p:nvPr/>
        </p:nvSpPr>
        <p:spPr>
          <a:xfrm>
            <a:off x="4453128" y="2212848"/>
            <a:ext cx="3282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集合扫描</a:t>
            </a:r>
            <a:endParaRPr lang="en-US" sz="1400" dirty="0"/>
          </a:p>
        </p:txBody>
      </p:sp>
      <p:sp>
        <p:nvSpPr>
          <p:cNvPr id="15" name="text-402"/>
          <p:cNvSpPr txBox="1"/>
          <p:nvPr/>
        </p:nvSpPr>
        <p:spPr>
          <a:xfrm>
            <a:off x="4507992" y="2560320"/>
            <a:ext cx="31729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用通用推断模型估计各字段组合对敏感数据的推断能力，得到每个字段的推断敏感度及其背景。</a:t>
            </a:r>
            <a:endParaRPr lang="en-US" sz="1200" dirty="0"/>
          </a:p>
        </p:txBody>
      </p:sp>
      <p:sp>
        <p:nvSpPr>
          <p:cNvPr id="16" name="box-403"/>
          <p:cNvSpPr/>
          <p:nvPr/>
        </p:nvSpPr>
        <p:spPr>
          <a:xfrm>
            <a:off x="8065008" y="1737360"/>
            <a:ext cx="3429000" cy="1874520"/>
          </a:xfrm>
          <a:prstGeom prst="rect">
            <a:avLst/>
          </a:prstGeom>
          <a:ln w="12700">
            <a:solidFill>
              <a:srgbClr val="404040"/>
            </a:solidFill>
            <a:prstDash val="dash"/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17" name="box-404"/>
          <p:cNvSpPr/>
          <p:nvPr/>
        </p:nvSpPr>
        <p:spPr>
          <a:xfrm>
            <a:off x="9322308" y="1828800"/>
            <a:ext cx="914400" cy="329184"/>
          </a:xfrm>
          <a:prstGeom prst="rect">
            <a:avLst/>
          </a:prstGeom>
          <a:solidFill>
            <a:srgbClr val="BF9000"/>
          </a:solidFill>
          <a:ln w="12700">
            <a:solidFill>
              <a:srgbClr val="BF9000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-405"/>
          <p:cNvSpPr txBox="1"/>
          <p:nvPr/>
        </p:nvSpPr>
        <p:spPr>
          <a:xfrm>
            <a:off x="8138160" y="2212848"/>
            <a:ext cx="3282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重训验证</a:t>
            </a:r>
            <a:endParaRPr lang="en-US" sz="1400" dirty="0"/>
          </a:p>
        </p:txBody>
      </p:sp>
      <p:sp>
        <p:nvSpPr>
          <p:cNvPr id="19" name="text-406"/>
          <p:cNvSpPr txBox="1"/>
          <p:nvPr/>
        </p:nvSpPr>
        <p:spPr>
          <a:xfrm>
            <a:off x="8193024" y="2560320"/>
            <a:ext cx="31729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对敏感度较高的字段，按其背景组合重新训练推断模型，确认敏感度数值。</a:t>
            </a:r>
            <a:endParaRPr lang="en-US" sz="1200" dirty="0"/>
          </a:p>
        </p:txBody>
      </p:sp>
      <p:sp>
        <p:nvSpPr>
          <p:cNvPr id="20" name="arr-407"/>
          <p:cNvSpPr/>
          <p:nvPr/>
        </p:nvSpPr>
        <p:spPr>
          <a:xfrm>
            <a:off x="4142232" y="2560320"/>
            <a:ext cx="219456" cy="237744"/>
          </a:xfrm>
          <a:prstGeom prst="rightArrow">
            <a:avLst/>
          </a:prstGeom>
          <a:solidFill>
            <a:srgbClr val="9DC3E6"/>
          </a:solidFill>
          <a:ln w="12700">
            <a:solidFill>
              <a:srgbClr val="9DC3E6"/>
            </a:solidFill>
            <a:prstDash val="solid"/>
          </a:ln>
        </p:spPr>
      </p:sp>
      <p:sp>
        <p:nvSpPr>
          <p:cNvPr id="21" name="arr-408"/>
          <p:cNvSpPr/>
          <p:nvPr/>
        </p:nvSpPr>
        <p:spPr>
          <a:xfrm>
            <a:off x="7827264" y="2560320"/>
            <a:ext cx="219456" cy="237744"/>
          </a:xfrm>
          <a:prstGeom prst="rightArrow">
            <a:avLst/>
          </a:prstGeom>
          <a:solidFill>
            <a:srgbClr val="9DC3E6"/>
          </a:solidFill>
          <a:ln w="12700">
            <a:solidFill>
              <a:srgbClr val="9DC3E6"/>
            </a:solidFill>
            <a:prstDash val="solid"/>
          </a:ln>
        </p:spPr>
      </p:sp>
      <p:sp>
        <p:nvSpPr>
          <p:cNvPr id="22" name="text-409"/>
          <p:cNvSpPr txBox="1"/>
          <p:nvPr/>
        </p:nvSpPr>
        <p:spPr>
          <a:xfrm>
            <a:off x="694944" y="3886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产出：字段推断敏感度表</a:t>
            </a:r>
            <a:endParaRPr lang="en-US" sz="1400" dirty="0"/>
          </a:p>
        </p:txBody>
      </p:sp>
      <p:graphicFrame>
        <p:nvGraphicFramePr>
          <p:cNvPr id="19" name="table-4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4944" y="4297680"/>
          <a:ext cx="10799064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914400"/>
                <a:gridCol w="960120"/>
                <a:gridCol w="1188720"/>
                <a:gridCol w="1280160"/>
                <a:gridCol w="1005840"/>
                <a:gridCol w="1097280"/>
                <a:gridCol w="1097280"/>
                <a:gridCol w="1325880"/>
                <a:gridCol w="1197864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字段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一次等级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敏感数据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敏感数据等级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接收方角色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背景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获得前精度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获得后精度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推断敏感度 M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验证方式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 级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y₁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 级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协议接收方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B∪{D}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0.12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0.80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0.68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重训验证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24" name="box-411"/>
          <p:cNvSpPr/>
          <p:nvPr/>
        </p:nvSpPr>
        <p:spPr>
          <a:xfrm>
            <a:off x="694944" y="5230368"/>
            <a:ext cx="566928" cy="219456"/>
          </a:xfrm>
          <a:prstGeom prst="roundRect">
            <a:avLst>
              <a:gd name="adj" fmla="val 33333"/>
            </a:avLst>
          </a:prstGeom>
          <a:solidFill>
            <a:srgbClr val="5B6B84"/>
          </a:solidFill>
          <a:ln w="12700">
            <a:solidFill>
              <a:srgbClr val="5B6B84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示例</a:t>
            </a:r>
            <a:endParaRPr lang="en-US" sz="1000" dirty="0"/>
          </a:p>
        </p:txBody>
      </p:sp>
      <p:sp>
        <p:nvSpPr>
          <p:cNvPr id="25" name="text-412"/>
          <p:cNvSpPr txBox="1"/>
          <p:nvPr/>
        </p:nvSpPr>
        <p:spPr>
          <a:xfrm>
            <a:off x="1335024" y="523036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表中一行为示例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92240"/>
            <a:ext cx="6858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F7F7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k-413"/>
          <p:cNvSpPr/>
          <p:nvPr/>
        </p:nvSpPr>
        <p:spPr>
          <a:xfrm>
            <a:off x="155448" y="301752"/>
            <a:ext cx="338328" cy="310896"/>
          </a:xfrm>
          <a:prstGeom prst="chevron">
            <a:avLst/>
          </a:prstGeom>
          <a:solidFill>
            <a:srgbClr val="B50104"/>
          </a:solidFill>
          <a:ln w="12700">
            <a:solidFill>
              <a:srgbClr val="B50104"/>
            </a:solidFill>
            <a:prstDash val="solid"/>
          </a:ln>
        </p:spPr>
      </p:sp>
      <p:sp>
        <p:nvSpPr>
          <p:cNvPr id="3" name="mark-414"/>
          <p:cNvSpPr/>
          <p:nvPr/>
        </p:nvSpPr>
        <p:spPr>
          <a:xfrm>
            <a:off x="438912" y="301752"/>
            <a:ext cx="338328" cy="310896"/>
          </a:xfrm>
          <a:prstGeom prst="chevron">
            <a:avLst/>
          </a:prstGeom>
          <a:solidFill>
            <a:srgbClr val="7F7F7F"/>
          </a:solidFill>
          <a:ln w="12700">
            <a:solidFill>
              <a:srgbClr val="7F7F7F"/>
            </a:solidFill>
            <a:prstDash val="solid"/>
          </a:ln>
        </p:spPr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868680" y="1828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E5E9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三、二次标定：3.4 等级二次标定（1/5）</a:t>
            </a:r>
            <a:endParaRPr lang="en-US" sz="2400" dirty="0"/>
          </a:p>
        </p:txBody>
      </p:sp>
      <p:sp>
        <p:nvSpPr>
          <p:cNvPr id="5" name="box-415"/>
          <p:cNvSpPr/>
          <p:nvPr/>
        </p:nvSpPr>
        <p:spPr>
          <a:xfrm>
            <a:off x="694944" y="6217920"/>
            <a:ext cx="868680" cy="27432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南网依据</a:t>
            </a:r>
            <a:endParaRPr lang="en-US" sz="1050" dirty="0"/>
          </a:p>
        </p:txBody>
      </p:sp>
      <p:sp>
        <p:nvSpPr>
          <p:cNvPr id="6" name="text-416"/>
          <p:cNvSpPr txBox="1"/>
          <p:nvPr/>
        </p:nvSpPr>
        <p:spPr>
          <a:xfrm>
            <a:off x="1645920" y="6217920"/>
            <a:ext cx="9848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4E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《分类分级手册》表 4.4、分级要素“深度”、附录 D、分级原则“从严性”“合理性”</a:t>
            </a:r>
            <a:endParaRPr lang="en-US" sz="1100" dirty="0"/>
          </a:p>
        </p:txBody>
      </p:sp>
      <p:sp>
        <p:nvSpPr>
          <p:cNvPr id="7" name="text-417"/>
          <p:cNvSpPr txBox="1"/>
          <p:nvPr/>
        </p:nvSpPr>
        <p:spPr>
          <a:xfrm>
            <a:off x="694944" y="1143000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➢ </a:t>
            </a:r>
            <a:pPr algn="l"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标定思路</a:t>
            </a:r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：按推断敏感度折算影响程度，查判定矩阵</a:t>
            </a:r>
            <a:endParaRPr lang="en-US" sz="1800" dirty="0"/>
          </a:p>
        </p:txBody>
      </p:sp>
      <p:sp>
        <p:nvSpPr>
          <p:cNvPr id="8" name="box-418"/>
          <p:cNvSpPr/>
          <p:nvPr/>
        </p:nvSpPr>
        <p:spPr>
          <a:xfrm>
            <a:off x="694944" y="1737360"/>
            <a:ext cx="2514600" cy="777240"/>
          </a:xfrm>
          <a:prstGeom prst="rect">
            <a:avLst/>
          </a:prstGeom>
          <a:solidFill>
            <a:srgbClr val="FBE5D6"/>
          </a:solidFill>
          <a:ln w="15875">
            <a:solidFill>
              <a:srgbClr val="ED7D31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字段推断敏感度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M（对敏感数据 y）</a:t>
            </a:r>
            <a:endParaRPr lang="en-US" sz="1200" dirty="0"/>
          </a:p>
        </p:txBody>
      </p:sp>
      <p:sp>
        <p:nvSpPr>
          <p:cNvPr id="9" name="arr-419"/>
          <p:cNvSpPr/>
          <p:nvPr/>
        </p:nvSpPr>
        <p:spPr>
          <a:xfrm>
            <a:off x="3227832" y="1993392"/>
            <a:ext cx="210312" cy="274320"/>
          </a:xfrm>
          <a:prstGeom prst="rightArrow">
            <a:avLst/>
          </a:prstGeom>
          <a:solidFill>
            <a:srgbClr val="9DC3E6"/>
          </a:solidFill>
          <a:ln w="12700">
            <a:solidFill>
              <a:srgbClr val="9DC3E6"/>
            </a:solidFill>
            <a:prstDash val="solid"/>
          </a:ln>
        </p:spPr>
      </p:sp>
      <p:sp>
        <p:nvSpPr>
          <p:cNvPr id="10" name="box-420"/>
          <p:cNvSpPr/>
          <p:nvPr/>
        </p:nvSpPr>
        <p:spPr>
          <a:xfrm>
            <a:off x="3456432" y="1737360"/>
            <a:ext cx="2514600" cy="777240"/>
          </a:xfrm>
          <a:prstGeom prst="rect">
            <a:avLst/>
          </a:prstGeom>
          <a:solidFill>
            <a:srgbClr val="FFF2CC"/>
          </a:solidFill>
          <a:ln w="15875">
            <a:solidFill>
              <a:srgbClr val="BF9000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影响程度折算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y 的影响程度按 M 降档</a:t>
            </a:r>
            <a:endParaRPr lang="en-US" sz="1200" dirty="0"/>
          </a:p>
        </p:txBody>
      </p:sp>
      <p:sp>
        <p:nvSpPr>
          <p:cNvPr id="11" name="arr-421"/>
          <p:cNvSpPr/>
          <p:nvPr/>
        </p:nvSpPr>
        <p:spPr>
          <a:xfrm>
            <a:off x="5989320" y="1993392"/>
            <a:ext cx="210312" cy="274320"/>
          </a:xfrm>
          <a:prstGeom prst="rightArrow">
            <a:avLst/>
          </a:prstGeom>
          <a:solidFill>
            <a:srgbClr val="9DC3E6"/>
          </a:solidFill>
          <a:ln w="12700">
            <a:solidFill>
              <a:srgbClr val="9DC3E6"/>
            </a:solidFill>
            <a:prstDash val="solid"/>
          </a:ln>
        </p:spPr>
      </p:sp>
      <p:sp>
        <p:nvSpPr>
          <p:cNvPr id="12" name="box-422"/>
          <p:cNvSpPr/>
          <p:nvPr/>
        </p:nvSpPr>
        <p:spPr>
          <a:xfrm>
            <a:off x="6217920" y="1737360"/>
            <a:ext cx="2514600" cy="777240"/>
          </a:xfrm>
          <a:prstGeom prst="rect">
            <a:avLst/>
          </a:prstGeom>
          <a:solidFill>
            <a:srgbClr val="DEEAF6"/>
          </a:solidFill>
          <a:ln w="15875">
            <a:solidFill>
              <a:srgbClr val="5B9BD5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查判定矩阵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y 的影响对象 × 折算后的影响程度</a:t>
            </a:r>
            <a:endParaRPr lang="en-US" sz="1200" dirty="0"/>
          </a:p>
        </p:txBody>
      </p:sp>
      <p:sp>
        <p:nvSpPr>
          <p:cNvPr id="13" name="arr-423"/>
          <p:cNvSpPr/>
          <p:nvPr/>
        </p:nvSpPr>
        <p:spPr>
          <a:xfrm>
            <a:off x="8750808" y="1993392"/>
            <a:ext cx="210312" cy="274320"/>
          </a:xfrm>
          <a:prstGeom prst="rightArrow">
            <a:avLst/>
          </a:prstGeom>
          <a:solidFill>
            <a:srgbClr val="9DC3E6"/>
          </a:solidFill>
          <a:ln w="12700">
            <a:solidFill>
              <a:srgbClr val="9DC3E6"/>
            </a:solidFill>
            <a:prstDash val="solid"/>
          </a:ln>
        </p:spPr>
      </p:sp>
      <p:sp>
        <p:nvSpPr>
          <p:cNvPr id="14" name="box-424"/>
          <p:cNvSpPr/>
          <p:nvPr/>
        </p:nvSpPr>
        <p:spPr>
          <a:xfrm>
            <a:off x="8979408" y="1737360"/>
            <a:ext cx="2514600" cy="777240"/>
          </a:xfrm>
          <a:prstGeom prst="rect">
            <a:avLst/>
          </a:prstGeom>
          <a:solidFill>
            <a:srgbClr val="BDD7EE"/>
          </a:solidFill>
          <a:ln w="15875">
            <a:solidFill>
              <a:srgbClr val="1F4E79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二次等级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与一次等级取高</a:t>
            </a:r>
            <a:endParaRPr lang="en-US" sz="1200" dirty="0"/>
          </a:p>
        </p:txBody>
      </p:sp>
      <p:sp>
        <p:nvSpPr>
          <p:cNvPr id="15" name="text-425"/>
          <p:cNvSpPr txBox="1"/>
          <p:nvPr/>
        </p:nvSpPr>
        <p:spPr>
          <a:xfrm>
            <a:off x="694944" y="2697480"/>
            <a:ext cx="10799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字段若能显著提高对敏感数据 y 的推断精度，其泄露的影响参照 y 评价；提高得越多，越接近 y 本身泄露。两种方法的区别在于“影响程度折算几档”如何确定。</a:t>
            </a:r>
            <a:endParaRPr lang="en-US" sz="1250" dirty="0"/>
          </a:p>
        </p:txBody>
      </p:sp>
      <p:sp>
        <p:nvSpPr>
          <p:cNvPr id="16" name="box-426"/>
          <p:cNvSpPr/>
          <p:nvPr/>
        </p:nvSpPr>
        <p:spPr>
          <a:xfrm>
            <a:off x="694944" y="3474720"/>
            <a:ext cx="5294376" cy="411480"/>
          </a:xfrm>
          <a:prstGeom prst="rect">
            <a:avLst/>
          </a:prstGeom>
          <a:solidFill>
            <a:srgbClr val="5B9BD5"/>
          </a:solidFill>
          <a:ln w="12700">
            <a:solidFill>
              <a:srgbClr val="5B9BD5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方法一：规则驱动</a:t>
            </a:r>
            <a:endParaRPr lang="en-US" sz="1400" dirty="0"/>
          </a:p>
        </p:txBody>
      </p:sp>
      <p:sp>
        <p:nvSpPr>
          <p:cNvPr id="17" name="box-427"/>
          <p:cNvSpPr/>
          <p:nvPr/>
        </p:nvSpPr>
        <p:spPr>
          <a:xfrm>
            <a:off x="694944" y="3886200"/>
            <a:ext cx="5294376" cy="1828800"/>
          </a:xfrm>
          <a:prstGeom prst="rect">
            <a:avLst/>
          </a:prstGeom>
          <a:solidFill>
            <a:srgbClr val="DEEAF6"/>
          </a:solidFill>
          <a:ln w="12700">
            <a:solidFill>
              <a:srgbClr val="5B9BD5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18" name="text-428"/>
          <p:cNvSpPr txBox="1"/>
          <p:nvPr/>
        </p:nvSpPr>
        <p:spPr>
          <a:xfrm>
            <a:off x="877824" y="3977640"/>
            <a:ext cx="49377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500"/>
              </a:spcAft>
              <a:buSzPct val="100000"/>
              <a:buChar char="●"/>
            </a:pPr>
            <a:r>
              <a:rPr lang="en-US" sz="125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折算档位由固定的折算表给出</a:t>
            </a:r>
            <a:endParaRPr lang="en-US" sz="1250" dirty="0"/>
          </a:p>
          <a:p>
            <a:pPr algn="l" marL="342900" indent="-342900">
              <a:spcAft>
                <a:spcPts val="500"/>
              </a:spcAft>
              <a:buSzPct val="100000"/>
              <a:buChar char="●"/>
            </a:pPr>
            <a:r>
              <a:rPr lang="en-US" sz="125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所有字段使用同一张表</a:t>
            </a:r>
            <a:endParaRPr lang="en-US" sz="1250" dirty="0"/>
          </a:p>
          <a:p>
            <a:pPr algn="l" marL="342900" indent="-342900">
              <a:spcAft>
                <a:spcPts val="500"/>
              </a:spcAft>
              <a:buSzPct val="100000"/>
              <a:buChar char="●"/>
            </a:pPr>
            <a:r>
              <a:rPr lang="en-US" sz="125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规则透明，便于审核</a:t>
            </a:r>
            <a:endParaRPr lang="en-US" sz="1250" dirty="0"/>
          </a:p>
          <a:p>
            <a:pPr algn="l" marL="342900" indent="-342900">
              <a:spcAft>
                <a:spcPts val="500"/>
              </a:spcAft>
              <a:buSzPct val="100000"/>
              <a:buChar char="●"/>
            </a:pPr>
            <a:r>
              <a:rPr lang="en-US" sz="125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作为默认结果</a:t>
            </a:r>
            <a:endParaRPr lang="en-US" sz="1250" dirty="0"/>
          </a:p>
        </p:txBody>
      </p:sp>
      <p:sp>
        <p:nvSpPr>
          <p:cNvPr id="19" name="box-429"/>
          <p:cNvSpPr/>
          <p:nvPr/>
        </p:nvSpPr>
        <p:spPr>
          <a:xfrm>
            <a:off x="6199632" y="3474720"/>
            <a:ext cx="5294376" cy="411480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方法二：模型驱动（GRPO）</a:t>
            </a:r>
            <a:endParaRPr lang="en-US" sz="1400" dirty="0"/>
          </a:p>
        </p:txBody>
      </p:sp>
      <p:sp>
        <p:nvSpPr>
          <p:cNvPr id="20" name="box-430"/>
          <p:cNvSpPr/>
          <p:nvPr/>
        </p:nvSpPr>
        <p:spPr>
          <a:xfrm>
            <a:off x="6199632" y="3886200"/>
            <a:ext cx="5294376" cy="1828800"/>
          </a:xfrm>
          <a:prstGeom prst="rect">
            <a:avLst/>
          </a:prstGeom>
          <a:solidFill>
            <a:srgbClr val="FBE5D6"/>
          </a:solidFill>
          <a:ln w="12700">
            <a:solidFill>
              <a:srgbClr val="ED7D31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21" name="text-431"/>
          <p:cNvSpPr txBox="1"/>
          <p:nvPr/>
        </p:nvSpPr>
        <p:spPr>
          <a:xfrm>
            <a:off x="6382512" y="3977640"/>
            <a:ext cx="49377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500"/>
              </a:spcAft>
              <a:buSzPct val="100000"/>
              <a:buChar char="●"/>
            </a:pPr>
            <a:r>
              <a:rPr lang="en-US" sz="125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折算档位由强化学习按效用确定</a:t>
            </a:r>
            <a:endParaRPr lang="en-US" sz="1250" dirty="0"/>
          </a:p>
          <a:p>
            <a:pPr algn="l" marL="342900" indent="-342900">
              <a:spcAft>
                <a:spcPts val="500"/>
              </a:spcAft>
              <a:buSzPct val="100000"/>
              <a:buChar char="●"/>
            </a:pPr>
            <a:r>
              <a:rPr lang="en-US" sz="125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综合推断敏感度与字段的使用代价</a:t>
            </a:r>
            <a:endParaRPr lang="en-US" sz="1250" dirty="0"/>
          </a:p>
          <a:p>
            <a:pPr algn="l" marL="342900" indent="-342900">
              <a:spcAft>
                <a:spcPts val="500"/>
              </a:spcAft>
              <a:buSzPct val="100000"/>
              <a:buChar char="●"/>
            </a:pPr>
            <a:r>
              <a:rPr lang="en-US" sz="125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可随敏感度、披露时点变化更新</a:t>
            </a:r>
            <a:endParaRPr lang="en-US" sz="1250" dirty="0"/>
          </a:p>
          <a:p>
            <a:pPr algn="l" marL="342900" indent="-342900">
              <a:spcAft>
                <a:spcPts val="500"/>
              </a:spcAft>
              <a:buSzPct val="100000"/>
              <a:buChar char="●"/>
            </a:pPr>
            <a:r>
              <a:rPr lang="en-US" sz="125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与方法一相差不超过一级，同时给出</a:t>
            </a:r>
            <a:endParaRPr lang="en-US" sz="1250" dirty="0"/>
          </a:p>
        </p:txBody>
      </p:sp>
      <p:sp>
        <p:nvSpPr>
          <p:cNvPr id="22" name="text-432"/>
          <p:cNvSpPr txBox="1"/>
          <p:nvPr/>
        </p:nvSpPr>
        <p:spPr>
          <a:xfrm>
            <a:off x="694944" y="5806440"/>
            <a:ext cx="10799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C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共同约束：不低于一次等级；不高于被推断数据的等级；法定公开字段不调整；涉及 4、5 级只提出申报建议。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92240"/>
            <a:ext cx="6858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F7F7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k-433"/>
          <p:cNvSpPr/>
          <p:nvPr/>
        </p:nvSpPr>
        <p:spPr>
          <a:xfrm>
            <a:off x="155448" y="301752"/>
            <a:ext cx="338328" cy="310896"/>
          </a:xfrm>
          <a:prstGeom prst="chevron">
            <a:avLst/>
          </a:prstGeom>
          <a:solidFill>
            <a:srgbClr val="B50104"/>
          </a:solidFill>
          <a:ln w="12700">
            <a:solidFill>
              <a:srgbClr val="B50104"/>
            </a:solidFill>
            <a:prstDash val="solid"/>
          </a:ln>
        </p:spPr>
      </p:sp>
      <p:sp>
        <p:nvSpPr>
          <p:cNvPr id="3" name="mark-434"/>
          <p:cNvSpPr/>
          <p:nvPr/>
        </p:nvSpPr>
        <p:spPr>
          <a:xfrm>
            <a:off x="438912" y="301752"/>
            <a:ext cx="338328" cy="310896"/>
          </a:xfrm>
          <a:prstGeom prst="chevron">
            <a:avLst/>
          </a:prstGeom>
          <a:solidFill>
            <a:srgbClr val="7F7F7F"/>
          </a:solidFill>
          <a:ln w="12700">
            <a:solidFill>
              <a:srgbClr val="7F7F7F"/>
            </a:solidFill>
            <a:prstDash val="solid"/>
          </a:ln>
        </p:spPr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868680" y="1828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E5E9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三、二次标定：3.4 等级二次标定（2/5）</a:t>
            </a:r>
            <a:endParaRPr lang="en-US" sz="2400" dirty="0"/>
          </a:p>
        </p:txBody>
      </p:sp>
      <p:sp>
        <p:nvSpPr>
          <p:cNvPr id="5" name="box-435"/>
          <p:cNvSpPr/>
          <p:nvPr/>
        </p:nvSpPr>
        <p:spPr>
          <a:xfrm>
            <a:off x="694944" y="6217920"/>
            <a:ext cx="868680" cy="27432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南网依据</a:t>
            </a:r>
            <a:endParaRPr lang="en-US" sz="1050" dirty="0"/>
          </a:p>
        </p:txBody>
      </p:sp>
      <p:sp>
        <p:nvSpPr>
          <p:cNvPr id="6" name="text-436"/>
          <p:cNvSpPr txBox="1"/>
          <p:nvPr/>
        </p:nvSpPr>
        <p:spPr>
          <a:xfrm>
            <a:off x="1645920" y="6217920"/>
            <a:ext cx="9848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4E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《分类分级手册》表 4.4、分级原则“从严性”</a:t>
            </a:r>
            <a:endParaRPr lang="en-US" sz="1100" dirty="0"/>
          </a:p>
        </p:txBody>
      </p:sp>
      <p:sp>
        <p:nvSpPr>
          <p:cNvPr id="7" name="text-437"/>
          <p:cNvSpPr txBox="1"/>
          <p:nvPr/>
        </p:nvSpPr>
        <p:spPr>
          <a:xfrm>
            <a:off x="694944" y="1143000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➢ </a:t>
            </a:r>
            <a:pPr algn="l"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方法一：规则驱动</a:t>
            </a:r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：按固定折算表确定影响程度</a:t>
            </a:r>
            <a:endParaRPr lang="en-US" sz="1800" dirty="0"/>
          </a:p>
        </p:txBody>
      </p:sp>
      <p:sp>
        <p:nvSpPr>
          <p:cNvPr id="8" name="text-438"/>
          <p:cNvSpPr txBox="1"/>
          <p:nvPr/>
        </p:nvSpPr>
        <p:spPr>
          <a:xfrm>
            <a:off x="694944" y="169164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折算表</a:t>
            </a:r>
            <a:endParaRPr lang="en-US" sz="1400" dirty="0"/>
          </a:p>
        </p:txBody>
      </p:sp>
      <p:graphicFrame>
        <p:nvGraphicFramePr>
          <p:cNvPr id="21" name="table-4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4944" y="2029968"/>
          <a:ext cx="45720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2011680"/>
                <a:gridCol w="109728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字段推断敏感度 M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含义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影响程度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0.7 以上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基本决定 y 能否被推断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与 y 相同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0.4 ~ 0.7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贡献显著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降一档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0.1 ~ 0.4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有一定贡献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降两档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0.1 以下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可忽略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不调整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-440"/>
          <p:cNvSpPr txBox="1"/>
          <p:nvPr/>
        </p:nvSpPr>
        <p:spPr>
          <a:xfrm>
            <a:off x="694944" y="420624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标定规则</a:t>
            </a:r>
            <a:endParaRPr lang="en-US" sz="1400" dirty="0"/>
          </a:p>
        </p:txBody>
      </p:sp>
      <p:sp>
        <p:nvSpPr>
          <p:cNvPr id="11" name="box-441"/>
          <p:cNvSpPr/>
          <p:nvPr/>
        </p:nvSpPr>
        <p:spPr>
          <a:xfrm>
            <a:off x="694944" y="4553712"/>
            <a:ext cx="4572000" cy="777240"/>
          </a:xfrm>
          <a:prstGeom prst="rect">
            <a:avLst/>
          </a:prstGeom>
          <a:solidFill>
            <a:srgbClr val="FBE5D6"/>
          </a:solidFill>
          <a:ln w="19050">
            <a:solidFill>
              <a:srgbClr val="ED7D31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12" name="text-442"/>
          <p:cNvSpPr txBox="1"/>
          <p:nvPr/>
        </p:nvSpPr>
        <p:spPr>
          <a:xfrm>
            <a:off x="694944" y="4553712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二次等级 = max（一次等级，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C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折算后查判定矩阵所得等级）</a:t>
            </a:r>
            <a:endParaRPr lang="en-US" sz="1400" dirty="0"/>
          </a:p>
        </p:txBody>
      </p:sp>
      <p:sp>
        <p:nvSpPr>
          <p:cNvPr id="13" name="text-443"/>
          <p:cNvSpPr txBox="1"/>
          <p:nvPr/>
        </p:nvSpPr>
        <p:spPr>
          <a:xfrm>
            <a:off x="694944" y="5440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涉及多个敏感数据时分别折算，取最高等级。</a:t>
            </a:r>
            <a:endParaRPr lang="en-US" sz="1200" dirty="0"/>
          </a:p>
        </p:txBody>
      </p:sp>
      <p:sp>
        <p:nvSpPr>
          <p:cNvPr id="14" name="box-444"/>
          <p:cNvSpPr/>
          <p:nvPr/>
        </p:nvSpPr>
        <p:spPr>
          <a:xfrm>
            <a:off x="5532120" y="1691640"/>
            <a:ext cx="5961888" cy="4343400"/>
          </a:xfrm>
          <a:prstGeom prst="rect">
            <a:avLst/>
          </a:prstGeom>
          <a:solidFill>
            <a:srgbClr val="F5F7FA"/>
          </a:solidFill>
          <a:ln w="12700">
            <a:solidFill>
              <a:srgbClr val="7F8FA9"/>
            </a:solidFill>
            <a:prstDash val="dash"/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15" name="box-445"/>
          <p:cNvSpPr/>
          <p:nvPr/>
        </p:nvSpPr>
        <p:spPr>
          <a:xfrm>
            <a:off x="5669280" y="1801368"/>
            <a:ext cx="566928" cy="219456"/>
          </a:xfrm>
          <a:prstGeom prst="roundRect">
            <a:avLst>
              <a:gd name="adj" fmla="val 33333"/>
            </a:avLst>
          </a:prstGeom>
          <a:solidFill>
            <a:srgbClr val="5B6B84"/>
          </a:solidFill>
          <a:ln w="12700">
            <a:solidFill>
              <a:srgbClr val="5B6B84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示例</a:t>
            </a:r>
            <a:endParaRPr lang="en-US" sz="1000" dirty="0"/>
          </a:p>
        </p:txBody>
      </p:sp>
      <p:sp>
        <p:nvSpPr>
          <p:cNvPr id="16" name="text-446"/>
          <p:cNvSpPr txBox="1"/>
          <p:nvPr/>
        </p:nvSpPr>
        <p:spPr>
          <a:xfrm>
            <a:off x="6327648" y="18013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y₁：公共利益、一般影响（3 级）；y₂：其他组织、严重影响（3 级）</a:t>
            </a:r>
            <a:endParaRPr lang="en-US" sz="1050" dirty="0"/>
          </a:p>
        </p:txBody>
      </p:sp>
      <p:graphicFrame>
        <p:nvGraphicFramePr>
          <p:cNvPr id="41" name="table-44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0" y="2148840"/>
          <a:ext cx="5687568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594360"/>
                <a:gridCol w="868680"/>
                <a:gridCol w="868680"/>
                <a:gridCol w="2212848"/>
                <a:gridCol w="59436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5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字段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7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5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一次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7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5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M（y₁）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7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5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M（y₂）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7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5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折算与查表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7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5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二次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7E2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0.68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0.05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y₁：一般 → 轻微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公共利益 × 轻微 = 3 级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C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B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0.15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0.55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y₂：严重 → 一般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其他组织 × 一般 = 2 级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C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0.06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0.08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均低于 0.1，不调整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D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0.30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0.75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y₂：严重（不降档）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其他组织 × 严重 = 3 级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C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text-448"/>
          <p:cNvSpPr txBox="1"/>
          <p:nvPr/>
        </p:nvSpPr>
        <p:spPr>
          <a:xfrm>
            <a:off x="5669280" y="4572000"/>
            <a:ext cx="56875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A：对 y₁ 的推断敏感度 0.68，贡献显著，影响程度由一般降为轻微，查表为 3 级。C：敏感度均低于 0.1，等级不变。</a:t>
            </a:r>
            <a:endParaRPr lang="en-US" sz="1150" dirty="0"/>
          </a:p>
        </p:txBody>
      </p:sp>
      <p:sp>
        <p:nvSpPr>
          <p:cNvPr id="19" name="text-449"/>
          <p:cNvSpPr txBox="1"/>
          <p:nvPr/>
        </p:nvSpPr>
        <p:spPr>
          <a:xfrm>
            <a:off x="5669280" y="5394960"/>
            <a:ext cx="5687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折算分档界限需结合业务确认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92240"/>
            <a:ext cx="6858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F7F7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k-450"/>
          <p:cNvSpPr/>
          <p:nvPr/>
        </p:nvSpPr>
        <p:spPr>
          <a:xfrm>
            <a:off x="155448" y="301752"/>
            <a:ext cx="338328" cy="310896"/>
          </a:xfrm>
          <a:prstGeom prst="chevron">
            <a:avLst/>
          </a:prstGeom>
          <a:solidFill>
            <a:srgbClr val="B50104"/>
          </a:solidFill>
          <a:ln w="12700">
            <a:solidFill>
              <a:srgbClr val="B50104"/>
            </a:solidFill>
            <a:prstDash val="solid"/>
          </a:ln>
        </p:spPr>
      </p:sp>
      <p:sp>
        <p:nvSpPr>
          <p:cNvPr id="3" name="mark-451"/>
          <p:cNvSpPr/>
          <p:nvPr/>
        </p:nvSpPr>
        <p:spPr>
          <a:xfrm>
            <a:off x="438912" y="301752"/>
            <a:ext cx="338328" cy="310896"/>
          </a:xfrm>
          <a:prstGeom prst="chevron">
            <a:avLst/>
          </a:prstGeom>
          <a:solidFill>
            <a:srgbClr val="7F7F7F"/>
          </a:solidFill>
          <a:ln w="12700">
            <a:solidFill>
              <a:srgbClr val="7F7F7F"/>
            </a:solidFill>
            <a:prstDash val="solid"/>
          </a:ln>
        </p:spPr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868680" y="1828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E5E9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三、二次标定：3.4 等级二次标定（3/5）</a:t>
            </a:r>
            <a:endParaRPr lang="en-US" sz="2400" dirty="0"/>
          </a:p>
        </p:txBody>
      </p:sp>
      <p:sp>
        <p:nvSpPr>
          <p:cNvPr id="5" name="box-452"/>
          <p:cNvSpPr/>
          <p:nvPr/>
        </p:nvSpPr>
        <p:spPr>
          <a:xfrm>
            <a:off x="694944" y="6217920"/>
            <a:ext cx="868680" cy="27432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南网依据</a:t>
            </a:r>
            <a:endParaRPr lang="en-US" sz="1050" dirty="0"/>
          </a:p>
        </p:txBody>
      </p:sp>
      <p:sp>
        <p:nvSpPr>
          <p:cNvPr id="6" name="text-453"/>
          <p:cNvSpPr txBox="1"/>
          <p:nvPr/>
        </p:nvSpPr>
        <p:spPr>
          <a:xfrm>
            <a:off x="1645920" y="6217920"/>
            <a:ext cx="9848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4E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《分类分级手册》分级原则“合理性”（结合数据安全防护和保护成本之间关系，避免过度定级）、表 4.4</a:t>
            </a:r>
            <a:endParaRPr lang="en-US" sz="1100" dirty="0"/>
          </a:p>
        </p:txBody>
      </p:sp>
      <p:sp>
        <p:nvSpPr>
          <p:cNvPr id="7" name="text-454"/>
          <p:cNvSpPr txBox="1"/>
          <p:nvPr/>
        </p:nvSpPr>
        <p:spPr>
          <a:xfrm>
            <a:off x="694944" y="1143000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➢ </a:t>
            </a:r>
            <a:pPr algn="l"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方法二：模型驱动（GRPO）</a:t>
            </a:r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：由强化学习按效用确定影响程度的折算档位</a:t>
            </a:r>
            <a:endParaRPr lang="en-US" sz="1800" dirty="0"/>
          </a:p>
        </p:txBody>
      </p:sp>
      <p:sp>
        <p:nvSpPr>
          <p:cNvPr id="8" name="box-455"/>
          <p:cNvSpPr/>
          <p:nvPr/>
        </p:nvSpPr>
        <p:spPr>
          <a:xfrm>
            <a:off x="694944" y="1783080"/>
            <a:ext cx="2514600" cy="384048"/>
          </a:xfrm>
          <a:prstGeom prst="rect">
            <a:avLst/>
          </a:prstGeom>
          <a:solidFill>
            <a:srgbClr val="5B9BD5"/>
          </a:solidFill>
          <a:ln w="12700">
            <a:solidFill>
              <a:srgbClr val="5B9BD5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状态</a:t>
            </a:r>
            <a:endParaRPr lang="en-US" sz="1350" dirty="0"/>
          </a:p>
        </p:txBody>
      </p:sp>
      <p:sp>
        <p:nvSpPr>
          <p:cNvPr id="9" name="box-456"/>
          <p:cNvSpPr/>
          <p:nvPr/>
        </p:nvSpPr>
        <p:spPr>
          <a:xfrm>
            <a:off x="694944" y="2167128"/>
            <a:ext cx="25146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5B9BD5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一次等级；推断敏感度 M 及对应的敏感数据；敏感数据的影响对象与影响程度；字段使用代价；披露时点</a:t>
            </a:r>
            <a:endParaRPr lang="en-US" sz="1100" dirty="0"/>
          </a:p>
        </p:txBody>
      </p:sp>
      <p:sp>
        <p:nvSpPr>
          <p:cNvPr id="10" name="arr-457"/>
          <p:cNvSpPr/>
          <p:nvPr/>
        </p:nvSpPr>
        <p:spPr>
          <a:xfrm>
            <a:off x="3227832" y="2331720"/>
            <a:ext cx="210312" cy="274320"/>
          </a:xfrm>
          <a:prstGeom prst="rightArrow">
            <a:avLst/>
          </a:prstGeom>
          <a:solidFill>
            <a:srgbClr val="9DC3E6"/>
          </a:solidFill>
          <a:ln w="12700">
            <a:solidFill>
              <a:srgbClr val="9DC3E6"/>
            </a:solidFill>
            <a:prstDash val="solid"/>
          </a:ln>
        </p:spPr>
      </p:sp>
      <p:sp>
        <p:nvSpPr>
          <p:cNvPr id="11" name="box-458"/>
          <p:cNvSpPr/>
          <p:nvPr/>
        </p:nvSpPr>
        <p:spPr>
          <a:xfrm>
            <a:off x="3456432" y="1783080"/>
            <a:ext cx="2514600" cy="384048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动作</a:t>
            </a:r>
            <a:endParaRPr lang="en-US" sz="1350" dirty="0"/>
          </a:p>
        </p:txBody>
      </p:sp>
      <p:sp>
        <p:nvSpPr>
          <p:cNvPr id="12" name="box-459"/>
          <p:cNvSpPr/>
          <p:nvPr/>
        </p:nvSpPr>
        <p:spPr>
          <a:xfrm>
            <a:off x="3456432" y="2167128"/>
            <a:ext cx="25146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D7D31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影响程度的折算档位：与敏感数据相同 / 降一档 / 降两档 / 不调整</a:t>
            </a:r>
            <a:endParaRPr lang="en-US" sz="1100" dirty="0"/>
          </a:p>
        </p:txBody>
      </p:sp>
      <p:sp>
        <p:nvSpPr>
          <p:cNvPr id="13" name="arr-460"/>
          <p:cNvSpPr/>
          <p:nvPr/>
        </p:nvSpPr>
        <p:spPr>
          <a:xfrm>
            <a:off x="5989320" y="2331720"/>
            <a:ext cx="210312" cy="274320"/>
          </a:xfrm>
          <a:prstGeom prst="rightArrow">
            <a:avLst/>
          </a:prstGeom>
          <a:solidFill>
            <a:srgbClr val="9DC3E6"/>
          </a:solidFill>
          <a:ln w="12700">
            <a:solidFill>
              <a:srgbClr val="9DC3E6"/>
            </a:solidFill>
            <a:prstDash val="solid"/>
          </a:ln>
        </p:spPr>
      </p:sp>
      <p:sp>
        <p:nvSpPr>
          <p:cNvPr id="14" name="box-461"/>
          <p:cNvSpPr/>
          <p:nvPr/>
        </p:nvSpPr>
        <p:spPr>
          <a:xfrm>
            <a:off x="6217920" y="1783080"/>
            <a:ext cx="2514600" cy="384048"/>
          </a:xfrm>
          <a:prstGeom prst="rect">
            <a:avLst/>
          </a:prstGeom>
          <a:solidFill>
            <a:srgbClr val="BF9000"/>
          </a:solidFill>
          <a:ln w="12700">
            <a:solidFill>
              <a:srgbClr val="BF9000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查判定矩阵</a:t>
            </a:r>
            <a:endParaRPr lang="en-US" sz="1350" dirty="0"/>
          </a:p>
        </p:txBody>
      </p:sp>
      <p:sp>
        <p:nvSpPr>
          <p:cNvPr id="15" name="box-462"/>
          <p:cNvSpPr/>
          <p:nvPr/>
        </p:nvSpPr>
        <p:spPr>
          <a:xfrm>
            <a:off x="6217920" y="2167128"/>
            <a:ext cx="25146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BF9000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敏感数据的影响对象 × 折算后的影响程度 → 候选等级 L</a:t>
            </a:r>
            <a:endParaRPr lang="en-US" sz="1100" dirty="0"/>
          </a:p>
        </p:txBody>
      </p:sp>
      <p:sp>
        <p:nvSpPr>
          <p:cNvPr id="16" name="arr-463"/>
          <p:cNvSpPr/>
          <p:nvPr/>
        </p:nvSpPr>
        <p:spPr>
          <a:xfrm>
            <a:off x="8750808" y="2331720"/>
            <a:ext cx="210312" cy="274320"/>
          </a:xfrm>
          <a:prstGeom prst="rightArrow">
            <a:avLst/>
          </a:prstGeom>
          <a:solidFill>
            <a:srgbClr val="9DC3E6"/>
          </a:solidFill>
          <a:ln w="12700">
            <a:solidFill>
              <a:srgbClr val="9DC3E6"/>
            </a:solidFill>
            <a:prstDash val="solid"/>
          </a:ln>
        </p:spPr>
      </p:sp>
      <p:sp>
        <p:nvSpPr>
          <p:cNvPr id="17" name="box-464"/>
          <p:cNvSpPr/>
          <p:nvPr/>
        </p:nvSpPr>
        <p:spPr>
          <a:xfrm>
            <a:off x="8979408" y="1783080"/>
            <a:ext cx="2514600" cy="384048"/>
          </a:xfrm>
          <a:prstGeom prst="rect">
            <a:avLst/>
          </a:prstGeom>
          <a:solidFill>
            <a:srgbClr val="44546A"/>
          </a:solidFill>
          <a:ln w="12700">
            <a:solidFill>
              <a:srgbClr val="44546A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效用</a:t>
            </a:r>
            <a:endParaRPr lang="en-US" sz="1350" dirty="0"/>
          </a:p>
        </p:txBody>
      </p:sp>
      <p:sp>
        <p:nvSpPr>
          <p:cNvPr id="18" name="box-465"/>
          <p:cNvSpPr/>
          <p:nvPr/>
        </p:nvSpPr>
        <p:spPr>
          <a:xfrm>
            <a:off x="8979408" y="2167128"/>
            <a:ext cx="25146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44546A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安全收益 − 可用性成本，取效用最大的候选等级</a:t>
            </a:r>
            <a:endParaRPr lang="en-US" sz="1100" dirty="0"/>
          </a:p>
        </p:txBody>
      </p:sp>
      <p:sp>
        <p:nvSpPr>
          <p:cNvPr id="19" name="text-466"/>
          <p:cNvSpPr txBox="1"/>
          <p:nvPr/>
        </p:nvSpPr>
        <p:spPr>
          <a:xfrm>
            <a:off x="694944" y="342900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效用函数</a:t>
            </a:r>
            <a:endParaRPr lang="en-US" sz="1400" dirty="0"/>
          </a:p>
        </p:txBody>
      </p:sp>
      <p:sp>
        <p:nvSpPr>
          <p:cNvPr id="20" name="box-467"/>
          <p:cNvSpPr/>
          <p:nvPr/>
        </p:nvSpPr>
        <p:spPr>
          <a:xfrm>
            <a:off x="694944" y="3776472"/>
            <a:ext cx="5760720" cy="1005840"/>
          </a:xfrm>
          <a:prstGeom prst="rect">
            <a:avLst/>
          </a:prstGeom>
          <a:solidFill>
            <a:srgbClr val="FBE5D6"/>
          </a:solidFill>
          <a:ln w="19050">
            <a:solidFill>
              <a:srgbClr val="ED7D31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21" name="text-468"/>
          <p:cNvSpPr txBox="1"/>
          <p:nvPr/>
        </p:nvSpPr>
        <p:spPr>
          <a:xfrm>
            <a:off x="694944" y="3794760"/>
            <a:ext cx="5760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C0000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U(L) = − β · M · e</a:t>
            </a:r>
            <a:pPr algn="ctr" indent="0" marL="0">
              <a:buNone/>
            </a:pPr>
            <a:r>
              <a:rPr lang="en-US" sz="1550" b="1" baseline="30000" dirty="0">
                <a:solidFill>
                  <a:srgbClr val="C0000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−λ(L − L₁)</a:t>
            </a:r>
            <a:pPr algn="ctr" indent="0" marL="0">
              <a:buNone/>
            </a:pPr>
            <a:r>
              <a:rPr lang="en-US" sz="1550" b="1" dirty="0">
                <a:solidFill>
                  <a:srgbClr val="C0000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− η · w · ( e</a:t>
            </a:r>
            <a:pPr algn="ctr" indent="0" marL="0">
              <a:buNone/>
            </a:pPr>
            <a:r>
              <a:rPr lang="en-US" sz="1550" b="1" baseline="30000" dirty="0">
                <a:solidFill>
                  <a:srgbClr val="C0000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σ(L − L₁)</a:t>
            </a:r>
            <a:pPr algn="ctr" indent="0" marL="0">
              <a:buNone/>
            </a:pPr>
            <a:r>
              <a:rPr lang="en-US" sz="1550" b="1" dirty="0">
                <a:solidFill>
                  <a:srgbClr val="C0000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− 1 )</a:t>
            </a:r>
            <a:endParaRPr lang="en-US" sz="1550" dirty="0"/>
          </a:p>
        </p:txBody>
      </p:sp>
      <p:sp>
        <p:nvSpPr>
          <p:cNvPr id="22" name="text-469"/>
          <p:cNvSpPr txBox="1"/>
          <p:nvPr/>
        </p:nvSpPr>
        <p:spPr>
          <a:xfrm>
            <a:off x="694944" y="4343400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安全收益：等级越高，剩余推断风险越小　　可用性成本：等级越高，使用代价越大</a:t>
            </a:r>
            <a:endParaRPr lang="en-US" sz="1050" dirty="0"/>
          </a:p>
        </p:txBody>
      </p:sp>
      <p:sp>
        <p:nvSpPr>
          <p:cNvPr id="23" name="text-470"/>
          <p:cNvSpPr txBox="1"/>
          <p:nvPr/>
        </p:nvSpPr>
        <p:spPr>
          <a:xfrm>
            <a:off x="694944" y="484632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 为候选等级，L₁ 为一次等级，w 为字段使用代价；β、λ、η、σ 为权重系数</a:t>
            </a:r>
            <a:endParaRPr lang="en-US" sz="1050" dirty="0"/>
          </a:p>
        </p:txBody>
      </p:sp>
      <p:sp>
        <p:nvSpPr>
          <p:cNvPr id="24" name="text-471"/>
          <p:cNvSpPr txBox="1"/>
          <p:nvPr/>
        </p:nvSpPr>
        <p:spPr>
          <a:xfrm>
            <a:off x="694944" y="5212080"/>
            <a:ext cx="5760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推断敏感度 M 越大，提高等级带来的安全收益越大，策略倾向于较高的候选等级；字段使用代价越大，提高等级的成本越高。</a:t>
            </a:r>
            <a:endParaRPr lang="en-US" sz="1200" dirty="0"/>
          </a:p>
        </p:txBody>
      </p:sp>
      <p:sp>
        <p:nvSpPr>
          <p:cNvPr id="25" name="text-472"/>
          <p:cNvSpPr txBox="1"/>
          <p:nvPr/>
        </p:nvSpPr>
        <p:spPr>
          <a:xfrm>
            <a:off x="6766560" y="3429000"/>
            <a:ext cx="4727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约束（限制可选动作）</a:t>
            </a:r>
            <a:endParaRPr lang="en-US" sz="1400" dirty="0"/>
          </a:p>
        </p:txBody>
      </p:sp>
      <p:sp>
        <p:nvSpPr>
          <p:cNvPr id="26" name="text-473"/>
          <p:cNvSpPr txBox="1"/>
          <p:nvPr/>
        </p:nvSpPr>
        <p:spPr>
          <a:xfrm>
            <a:off x="6903720" y="3794760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500"/>
              </a:spcAft>
              <a:buSzPct val="100000"/>
              <a:buChar char="●"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不低于一次等级，不高于被推断数据的等级</a:t>
            </a:r>
            <a:endParaRPr lang="en-US" sz="1200" dirty="0"/>
          </a:p>
          <a:p>
            <a:pPr algn="l" marL="342900" indent="-342900">
              <a:spcAft>
                <a:spcPts val="500"/>
              </a:spcAft>
              <a:buSzPct val="100000"/>
              <a:buChar char="●"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法定公开字段不调整</a:t>
            </a:r>
            <a:endParaRPr lang="en-US" sz="1200" dirty="0"/>
          </a:p>
          <a:p>
            <a:pPr algn="l" marL="342900" indent="-342900">
              <a:spcAft>
                <a:spcPts val="500"/>
              </a:spcAft>
              <a:buSzPct val="100000"/>
              <a:buChar char="●"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涉及 4、5 级只提出申报建议</a:t>
            </a:r>
            <a:endParaRPr lang="en-US" sz="1200" dirty="0"/>
          </a:p>
          <a:p>
            <a:pPr algn="l" marL="342900" indent="-342900">
              <a:spcAft>
                <a:spcPts val="500"/>
              </a:spcAft>
              <a:buSzPct val="100000"/>
              <a:buChar char="●"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与方法一的结果相差不超过一级</a:t>
            </a:r>
            <a:endParaRPr lang="en-US" sz="1200" dirty="0"/>
          </a:p>
        </p:txBody>
      </p:sp>
      <p:sp>
        <p:nvSpPr>
          <p:cNvPr id="27" name="text-474"/>
          <p:cNvSpPr txBox="1"/>
          <p:nvPr/>
        </p:nvSpPr>
        <p:spPr>
          <a:xfrm>
            <a:off x="6766560" y="5120640"/>
            <a:ext cx="4727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策略训练</a:t>
            </a:r>
            <a:endParaRPr lang="en-US" sz="1400" dirty="0"/>
          </a:p>
        </p:txBody>
      </p:sp>
      <p:sp>
        <p:nvSpPr>
          <p:cNvPr id="28" name="text-475"/>
          <p:cNvSpPr txBox="1"/>
          <p:nvPr/>
        </p:nvSpPr>
        <p:spPr>
          <a:xfrm>
            <a:off x="6766560" y="5440680"/>
            <a:ext cx="4727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对每个字段采样一组候选动作，用组内相对优势估计更新策略，并加入策略偏移约束与熵正则。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92240"/>
            <a:ext cx="6858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F7F7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k-476"/>
          <p:cNvSpPr/>
          <p:nvPr/>
        </p:nvSpPr>
        <p:spPr>
          <a:xfrm>
            <a:off x="155448" y="301752"/>
            <a:ext cx="338328" cy="310896"/>
          </a:xfrm>
          <a:prstGeom prst="chevron">
            <a:avLst/>
          </a:prstGeom>
          <a:solidFill>
            <a:srgbClr val="B50104"/>
          </a:solidFill>
          <a:ln w="12700">
            <a:solidFill>
              <a:srgbClr val="B50104"/>
            </a:solidFill>
            <a:prstDash val="solid"/>
          </a:ln>
        </p:spPr>
      </p:sp>
      <p:sp>
        <p:nvSpPr>
          <p:cNvPr id="3" name="mark-477"/>
          <p:cNvSpPr/>
          <p:nvPr/>
        </p:nvSpPr>
        <p:spPr>
          <a:xfrm>
            <a:off x="438912" y="301752"/>
            <a:ext cx="338328" cy="310896"/>
          </a:xfrm>
          <a:prstGeom prst="chevron">
            <a:avLst/>
          </a:prstGeom>
          <a:solidFill>
            <a:srgbClr val="7F7F7F"/>
          </a:solidFill>
          <a:ln w="12700">
            <a:solidFill>
              <a:srgbClr val="7F7F7F"/>
            </a:solidFill>
            <a:prstDash val="solid"/>
          </a:ln>
        </p:spPr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868680" y="1828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E5E9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三、二次标定：3.4 等级二次标定（4/5）</a:t>
            </a:r>
            <a:endParaRPr lang="en-US" sz="2400" dirty="0"/>
          </a:p>
        </p:txBody>
      </p:sp>
      <p:sp>
        <p:nvSpPr>
          <p:cNvPr id="5" name="box-478"/>
          <p:cNvSpPr/>
          <p:nvPr/>
        </p:nvSpPr>
        <p:spPr>
          <a:xfrm>
            <a:off x="694944" y="6217920"/>
            <a:ext cx="868680" cy="27432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南网依据</a:t>
            </a:r>
            <a:endParaRPr lang="en-US" sz="1050" dirty="0"/>
          </a:p>
        </p:txBody>
      </p:sp>
      <p:sp>
        <p:nvSpPr>
          <p:cNvPr id="6" name="text-479"/>
          <p:cNvSpPr txBox="1"/>
          <p:nvPr/>
        </p:nvSpPr>
        <p:spPr>
          <a:xfrm>
            <a:off x="1645920" y="6217920"/>
            <a:ext cx="9848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4E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《分类分级手册》表 4.4、分级原则“从严性”“合理性”</a:t>
            </a:r>
            <a:endParaRPr lang="en-US" sz="1100" dirty="0"/>
          </a:p>
        </p:txBody>
      </p:sp>
      <p:sp>
        <p:nvSpPr>
          <p:cNvPr id="7" name="text-480"/>
          <p:cNvSpPr txBox="1"/>
          <p:nvPr/>
        </p:nvSpPr>
        <p:spPr>
          <a:xfrm>
            <a:off x="694944" y="1143000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➢ </a:t>
            </a:r>
            <a:pPr algn="l"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方法二：模型驱动（GRPO）</a:t>
            </a:r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：由推断敏感度得到等级的过程</a:t>
            </a:r>
            <a:endParaRPr lang="en-US" sz="1800" dirty="0"/>
          </a:p>
        </p:txBody>
      </p:sp>
      <p:sp>
        <p:nvSpPr>
          <p:cNvPr id="8" name="box-481"/>
          <p:cNvSpPr/>
          <p:nvPr/>
        </p:nvSpPr>
        <p:spPr>
          <a:xfrm>
            <a:off x="694944" y="1737360"/>
            <a:ext cx="1984248" cy="731520"/>
          </a:xfrm>
          <a:prstGeom prst="rect">
            <a:avLst/>
          </a:prstGeom>
          <a:solidFill>
            <a:srgbClr val="FBE5D6"/>
          </a:solidFill>
          <a:ln w="15875">
            <a:solidFill>
              <a:srgbClr val="ED7D31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推断敏感度 M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连续量，0~1</a:t>
            </a:r>
            <a:endParaRPr lang="en-US" sz="1200" dirty="0"/>
          </a:p>
        </p:txBody>
      </p:sp>
      <p:sp>
        <p:nvSpPr>
          <p:cNvPr id="9" name="arr-482"/>
          <p:cNvSpPr/>
          <p:nvPr/>
        </p:nvSpPr>
        <p:spPr>
          <a:xfrm>
            <a:off x="2697480" y="1975104"/>
            <a:ext cx="182880" cy="256032"/>
          </a:xfrm>
          <a:prstGeom prst="rightArrow">
            <a:avLst/>
          </a:prstGeom>
          <a:solidFill>
            <a:srgbClr val="9DC3E6"/>
          </a:solidFill>
          <a:ln w="12700">
            <a:solidFill>
              <a:srgbClr val="9DC3E6"/>
            </a:solidFill>
            <a:prstDash val="solid"/>
          </a:ln>
        </p:spPr>
      </p:sp>
      <p:sp>
        <p:nvSpPr>
          <p:cNvPr id="10" name="box-483"/>
          <p:cNvSpPr/>
          <p:nvPr/>
        </p:nvSpPr>
        <p:spPr>
          <a:xfrm>
            <a:off x="2898648" y="1737360"/>
            <a:ext cx="1984248" cy="731520"/>
          </a:xfrm>
          <a:prstGeom prst="rect">
            <a:avLst/>
          </a:prstGeom>
          <a:solidFill>
            <a:srgbClr val="DEEAF6"/>
          </a:solidFill>
          <a:ln w="15875">
            <a:solidFill>
              <a:srgbClr val="5B9BD5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候选折算档位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动作集合</a:t>
            </a:r>
            <a:endParaRPr lang="en-US" sz="1200" dirty="0"/>
          </a:p>
        </p:txBody>
      </p:sp>
      <p:sp>
        <p:nvSpPr>
          <p:cNvPr id="11" name="arr-484"/>
          <p:cNvSpPr/>
          <p:nvPr/>
        </p:nvSpPr>
        <p:spPr>
          <a:xfrm>
            <a:off x="4901184" y="1975104"/>
            <a:ext cx="182880" cy="256032"/>
          </a:xfrm>
          <a:prstGeom prst="rightArrow">
            <a:avLst/>
          </a:prstGeom>
          <a:solidFill>
            <a:srgbClr val="9DC3E6"/>
          </a:solidFill>
          <a:ln w="12700">
            <a:solidFill>
              <a:srgbClr val="9DC3E6"/>
            </a:solidFill>
            <a:prstDash val="solid"/>
          </a:ln>
        </p:spPr>
      </p:sp>
      <p:sp>
        <p:nvSpPr>
          <p:cNvPr id="12" name="box-485"/>
          <p:cNvSpPr/>
          <p:nvPr/>
        </p:nvSpPr>
        <p:spPr>
          <a:xfrm>
            <a:off x="5102352" y="1737360"/>
            <a:ext cx="1984248" cy="731520"/>
          </a:xfrm>
          <a:prstGeom prst="rect">
            <a:avLst/>
          </a:prstGeom>
          <a:solidFill>
            <a:srgbClr val="DEEAF6"/>
          </a:solidFill>
          <a:ln w="15875">
            <a:solidFill>
              <a:srgbClr val="5B9BD5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候选等级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查判定矩阵</a:t>
            </a:r>
            <a:endParaRPr lang="en-US" sz="1200" dirty="0"/>
          </a:p>
        </p:txBody>
      </p:sp>
      <p:sp>
        <p:nvSpPr>
          <p:cNvPr id="13" name="arr-486"/>
          <p:cNvSpPr/>
          <p:nvPr/>
        </p:nvSpPr>
        <p:spPr>
          <a:xfrm>
            <a:off x="7104888" y="1975104"/>
            <a:ext cx="182880" cy="256032"/>
          </a:xfrm>
          <a:prstGeom prst="rightArrow">
            <a:avLst/>
          </a:prstGeom>
          <a:solidFill>
            <a:srgbClr val="9DC3E6"/>
          </a:solidFill>
          <a:ln w="12700">
            <a:solidFill>
              <a:srgbClr val="9DC3E6"/>
            </a:solidFill>
            <a:prstDash val="solid"/>
          </a:ln>
        </p:spPr>
      </p:sp>
      <p:sp>
        <p:nvSpPr>
          <p:cNvPr id="14" name="box-487"/>
          <p:cNvSpPr/>
          <p:nvPr/>
        </p:nvSpPr>
        <p:spPr>
          <a:xfrm>
            <a:off x="7306056" y="1737360"/>
            <a:ext cx="1984248" cy="731520"/>
          </a:xfrm>
          <a:prstGeom prst="rect">
            <a:avLst/>
          </a:prstGeom>
          <a:solidFill>
            <a:srgbClr val="DEEAF6"/>
          </a:solidFill>
          <a:ln w="15875">
            <a:solidFill>
              <a:srgbClr val="5B9BD5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各候选等级的效用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安全收益 − 可用性成本</a:t>
            </a:r>
            <a:endParaRPr lang="en-US" sz="1200" dirty="0"/>
          </a:p>
        </p:txBody>
      </p:sp>
      <p:sp>
        <p:nvSpPr>
          <p:cNvPr id="15" name="arr-488"/>
          <p:cNvSpPr/>
          <p:nvPr/>
        </p:nvSpPr>
        <p:spPr>
          <a:xfrm>
            <a:off x="9308592" y="1975104"/>
            <a:ext cx="182880" cy="256032"/>
          </a:xfrm>
          <a:prstGeom prst="rightArrow">
            <a:avLst/>
          </a:prstGeom>
          <a:solidFill>
            <a:srgbClr val="9DC3E6"/>
          </a:solidFill>
          <a:ln w="12700">
            <a:solidFill>
              <a:srgbClr val="9DC3E6"/>
            </a:solidFill>
            <a:prstDash val="solid"/>
          </a:ln>
        </p:spPr>
      </p:sp>
      <p:sp>
        <p:nvSpPr>
          <p:cNvPr id="16" name="box-489"/>
          <p:cNvSpPr/>
          <p:nvPr/>
        </p:nvSpPr>
        <p:spPr>
          <a:xfrm>
            <a:off x="9509760" y="1737360"/>
            <a:ext cx="1984248" cy="731520"/>
          </a:xfrm>
          <a:prstGeom prst="rect">
            <a:avLst/>
          </a:prstGeom>
          <a:solidFill>
            <a:srgbClr val="BDD7EE"/>
          </a:solidFill>
          <a:ln w="15875">
            <a:solidFill>
              <a:srgbClr val="1F4E79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二次等级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效用最大者，与一次等级取高</a:t>
            </a:r>
            <a:endParaRPr lang="en-US" sz="1200" dirty="0"/>
          </a:p>
        </p:txBody>
      </p:sp>
      <p:sp>
        <p:nvSpPr>
          <p:cNvPr id="17" name="box-490"/>
          <p:cNvSpPr/>
          <p:nvPr/>
        </p:nvSpPr>
        <p:spPr>
          <a:xfrm>
            <a:off x="694944" y="2697480"/>
            <a:ext cx="10799064" cy="3337560"/>
          </a:xfrm>
          <a:prstGeom prst="rect">
            <a:avLst/>
          </a:prstGeom>
          <a:solidFill>
            <a:srgbClr val="F5F7FA"/>
          </a:solidFill>
          <a:ln w="12700">
            <a:solidFill>
              <a:srgbClr val="7F8FA9"/>
            </a:solidFill>
            <a:prstDash val="dash"/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18" name="box-491"/>
          <p:cNvSpPr/>
          <p:nvPr/>
        </p:nvSpPr>
        <p:spPr>
          <a:xfrm>
            <a:off x="822960" y="2788920"/>
            <a:ext cx="566928" cy="219456"/>
          </a:xfrm>
          <a:prstGeom prst="roundRect">
            <a:avLst>
              <a:gd name="adj" fmla="val 33333"/>
            </a:avLst>
          </a:prstGeom>
          <a:solidFill>
            <a:srgbClr val="5B6B84"/>
          </a:solidFill>
          <a:ln w="12700">
            <a:solidFill>
              <a:srgbClr val="5B6B84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示例</a:t>
            </a:r>
            <a:endParaRPr lang="en-US" sz="1000" dirty="0"/>
          </a:p>
        </p:txBody>
      </p:sp>
      <p:sp>
        <p:nvSpPr>
          <p:cNvPr id="19" name="text-492"/>
          <p:cNvSpPr txBox="1"/>
          <p:nvPr/>
        </p:nvSpPr>
        <p:spPr>
          <a:xfrm>
            <a:off x="1481328" y="2788920"/>
            <a:ext cx="9875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沿用方法一示例中的字段 A、B、C（一次等级均为 1 级）；使用代价 w = 1；系数取 β = 6、λ = 1、η = 1、σ = 0.5（示意）</a:t>
            </a:r>
            <a:endParaRPr lang="en-US" sz="1050" dirty="0"/>
          </a:p>
        </p:txBody>
      </p:sp>
      <p:sp>
        <p:nvSpPr>
          <p:cNvPr id="20" name="text-493"/>
          <p:cNvSpPr txBox="1"/>
          <p:nvPr/>
        </p:nvSpPr>
        <p:spPr>
          <a:xfrm>
            <a:off x="868680" y="31089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35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字段 A：M = 0.68，敏感数据影响公共利益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1F35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候选等级 1、3（公共利益一栏无 2 级）</a:t>
            </a:r>
            <a:endParaRPr lang="en-US" sz="1100" dirty="0"/>
          </a:p>
        </p:txBody>
      </p:sp>
      <p:graphicFrame>
        <p:nvGraphicFramePr>
          <p:cNvPr id="23" name="table-49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68680" y="3611880"/>
          <a:ext cx="3383280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868680"/>
                <a:gridCol w="914400"/>
                <a:gridCol w="73152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5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候选等级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7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5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安全收益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7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5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可用性成本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7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5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效用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7E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 级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−4.08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−4.08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 级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−0.55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−1.72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C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−2.27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</a:tr>
            </a:tbl>
          </a:graphicData>
        </a:graphic>
      </p:graphicFrame>
      <p:sp>
        <p:nvSpPr>
          <p:cNvPr id="22" name="text-495"/>
          <p:cNvSpPr txBox="1"/>
          <p:nvPr/>
        </p:nvSpPr>
        <p:spPr>
          <a:xfrm>
            <a:off x="4407408" y="31089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35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字段 B：M = 0.55，敏感数据影响其他组织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1F35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候选等级 1、2、3</a:t>
            </a:r>
            <a:endParaRPr lang="en-US" sz="1100" dirty="0"/>
          </a:p>
        </p:txBody>
      </p:sp>
      <p:graphicFrame>
        <p:nvGraphicFramePr>
          <p:cNvPr id="45" name="table-49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407408" y="3611880"/>
          <a:ext cx="3383280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868680"/>
                <a:gridCol w="914400"/>
                <a:gridCol w="73152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5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候选等级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7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5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安全收益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7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5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可用性成本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7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5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效用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7E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 级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−3.30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−3.30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 级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−1.21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−0.65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C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−1.86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 级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−0.45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−1.72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−2.17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text-497"/>
          <p:cNvSpPr txBox="1"/>
          <p:nvPr/>
        </p:nvSpPr>
        <p:spPr>
          <a:xfrm>
            <a:off x="7946136" y="31089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35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字段 C：M = 0.08，敏感数据影响其他组织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1F35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候选等级 1、2、3</a:t>
            </a:r>
            <a:endParaRPr lang="en-US" sz="1100" dirty="0"/>
          </a:p>
        </p:txBody>
      </p:sp>
      <p:graphicFrame>
        <p:nvGraphicFramePr>
          <p:cNvPr id="67" name="table-49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946136" y="3611880"/>
          <a:ext cx="3383280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868680"/>
                <a:gridCol w="914400"/>
                <a:gridCol w="73152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5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候选等级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7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5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安全收益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7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5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可用性成本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7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5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效用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7E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 级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−0.48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C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−0.48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 级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−0.18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−0.65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−0.83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 级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−0.06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−1.72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−1.78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text-499"/>
          <p:cNvSpPr txBox="1"/>
          <p:nvPr/>
        </p:nvSpPr>
        <p:spPr>
          <a:xfrm>
            <a:off x="868680" y="5349240"/>
            <a:ext cx="10424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 为 3 级，B 为 2 级，C 保持 1 级。推断敏感度高的字段，提高等级带来的安全收益大于使用代价；推断敏感度低的字段保持原等级。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92240"/>
            <a:ext cx="6858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F7F7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k-500"/>
          <p:cNvSpPr/>
          <p:nvPr/>
        </p:nvSpPr>
        <p:spPr>
          <a:xfrm>
            <a:off x="155448" y="301752"/>
            <a:ext cx="338328" cy="310896"/>
          </a:xfrm>
          <a:prstGeom prst="chevron">
            <a:avLst/>
          </a:prstGeom>
          <a:solidFill>
            <a:srgbClr val="B50104"/>
          </a:solidFill>
          <a:ln w="12700">
            <a:solidFill>
              <a:srgbClr val="B50104"/>
            </a:solidFill>
            <a:prstDash val="solid"/>
          </a:ln>
        </p:spPr>
      </p:sp>
      <p:sp>
        <p:nvSpPr>
          <p:cNvPr id="3" name="mark-501"/>
          <p:cNvSpPr/>
          <p:nvPr/>
        </p:nvSpPr>
        <p:spPr>
          <a:xfrm>
            <a:off x="438912" y="301752"/>
            <a:ext cx="338328" cy="310896"/>
          </a:xfrm>
          <a:prstGeom prst="chevron">
            <a:avLst/>
          </a:prstGeom>
          <a:solidFill>
            <a:srgbClr val="7F7F7F"/>
          </a:solidFill>
          <a:ln w="12700">
            <a:solidFill>
              <a:srgbClr val="7F7F7F"/>
            </a:solidFill>
            <a:prstDash val="solid"/>
          </a:ln>
        </p:spPr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868680" y="1828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E5E9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三、二次标定：3.4 等级二次标定（5/5）</a:t>
            </a:r>
            <a:endParaRPr lang="en-US" sz="2400" dirty="0"/>
          </a:p>
        </p:txBody>
      </p:sp>
      <p:sp>
        <p:nvSpPr>
          <p:cNvPr id="5" name="box-502"/>
          <p:cNvSpPr/>
          <p:nvPr/>
        </p:nvSpPr>
        <p:spPr>
          <a:xfrm>
            <a:off x="694944" y="6217920"/>
            <a:ext cx="868680" cy="27432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南网依据</a:t>
            </a:r>
            <a:endParaRPr lang="en-US" sz="1050" dirty="0"/>
          </a:p>
        </p:txBody>
      </p:sp>
      <p:sp>
        <p:nvSpPr>
          <p:cNvPr id="6" name="text-503"/>
          <p:cNvSpPr txBox="1"/>
          <p:nvPr/>
        </p:nvSpPr>
        <p:spPr>
          <a:xfrm>
            <a:off x="1645920" y="6217920"/>
            <a:ext cx="9848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4E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《分类分级手册》四(四)、表 4.4、分级要素“深度”、附录 D</a:t>
            </a:r>
            <a:endParaRPr lang="en-US" sz="1100" dirty="0"/>
          </a:p>
        </p:txBody>
      </p:sp>
      <p:sp>
        <p:nvSpPr>
          <p:cNvPr id="7" name="text-504"/>
          <p:cNvSpPr txBox="1"/>
          <p:nvPr/>
        </p:nvSpPr>
        <p:spPr>
          <a:xfrm>
            <a:off x="694944" y="1143000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➢ </a:t>
            </a:r>
            <a:pPr algn="l"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标定结果与复核意见</a:t>
            </a:r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：两种方法的结果同时给出，附标定依据</a:t>
            </a:r>
            <a:endParaRPr lang="en-US" sz="1800" dirty="0"/>
          </a:p>
        </p:txBody>
      </p:sp>
      <p:sp>
        <p:nvSpPr>
          <p:cNvPr id="8" name="box-505"/>
          <p:cNvSpPr/>
          <p:nvPr/>
        </p:nvSpPr>
        <p:spPr>
          <a:xfrm>
            <a:off x="694944" y="1737360"/>
            <a:ext cx="6035040" cy="2514600"/>
          </a:xfrm>
          <a:prstGeom prst="rect">
            <a:avLst/>
          </a:prstGeom>
          <a:solidFill>
            <a:srgbClr val="F5F7FA"/>
          </a:solidFill>
          <a:ln w="12700">
            <a:solidFill>
              <a:srgbClr val="7F8FA9"/>
            </a:solidFill>
            <a:prstDash val="dash"/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9" name="box-506"/>
          <p:cNvSpPr/>
          <p:nvPr/>
        </p:nvSpPr>
        <p:spPr>
          <a:xfrm>
            <a:off x="822960" y="1828800"/>
            <a:ext cx="566928" cy="219456"/>
          </a:xfrm>
          <a:prstGeom prst="roundRect">
            <a:avLst>
              <a:gd name="adj" fmla="val 33333"/>
            </a:avLst>
          </a:prstGeom>
          <a:solidFill>
            <a:srgbClr val="5B6B84"/>
          </a:solidFill>
          <a:ln w="12700">
            <a:solidFill>
              <a:srgbClr val="5B6B84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示例</a:t>
            </a:r>
            <a:endParaRPr lang="en-US" sz="1000" dirty="0"/>
          </a:p>
        </p:txBody>
      </p:sp>
      <p:sp>
        <p:nvSpPr>
          <p:cNvPr id="10" name="text-507"/>
          <p:cNvSpPr txBox="1"/>
          <p:nvPr/>
        </p:nvSpPr>
        <p:spPr>
          <a:xfrm>
            <a:off x="1481328" y="182880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两种方法的结果对照</a:t>
            </a:r>
            <a:endParaRPr lang="en-US" sz="1050" dirty="0"/>
          </a:p>
        </p:txBody>
      </p:sp>
      <p:graphicFrame>
        <p:nvGraphicFramePr>
          <p:cNvPr id="24" name="table-50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148840"/>
          <a:ext cx="5779008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914400"/>
                <a:gridCol w="1371600"/>
                <a:gridCol w="868680"/>
                <a:gridCol w="868680"/>
                <a:gridCol w="1024128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5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字段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7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5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一次等级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7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5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最大推断敏感度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7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5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方法一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7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5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方法二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7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5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二次等级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7E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0.68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C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B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0.55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C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0.08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D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0.75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C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-509"/>
          <p:cNvSpPr txBox="1"/>
          <p:nvPr/>
        </p:nvSpPr>
        <p:spPr>
          <a:xfrm>
            <a:off x="822960" y="3822192"/>
            <a:ext cx="5779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若字段 B 的使用代价较高（w = 4），方法二的结果为 1 级，与方法一相差一级，两种结果一并提交审批。</a:t>
            </a:r>
            <a:endParaRPr lang="en-US" sz="1050" dirty="0"/>
          </a:p>
        </p:txBody>
      </p:sp>
      <p:sp>
        <p:nvSpPr>
          <p:cNvPr id="13" name="text-510"/>
          <p:cNvSpPr txBox="1"/>
          <p:nvPr/>
        </p:nvSpPr>
        <p:spPr>
          <a:xfrm>
            <a:off x="6995160" y="1737360"/>
            <a:ext cx="44988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判定矩阵中的对应位置</a:t>
            </a:r>
            <a:endParaRPr lang="en-US" sz="1400" dirty="0"/>
          </a:p>
        </p:txBody>
      </p:sp>
      <p:graphicFrame>
        <p:nvGraphicFramePr>
          <p:cNvPr id="47" name="table-5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95160" y="2084832"/>
          <a:ext cx="4498848" cy="914400"/>
        </p:xfrm>
        <a:graphic>
          <a:graphicData uri="http://schemas.openxmlformats.org/drawingml/2006/table">
            <a:tbl>
              <a:tblPr/>
              <a:tblGrid>
                <a:gridCol w="1063364"/>
                <a:gridCol w="588940"/>
                <a:gridCol w="670737"/>
                <a:gridCol w="670737"/>
                <a:gridCol w="670737"/>
                <a:gridCol w="834332"/>
              </a:tblGrid>
              <a:tr h="2651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影响对象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无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轻微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一般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严重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特别严重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国家安全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 级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4 级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4 级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5 级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5 级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公共利益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 级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 级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 级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C3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4 级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5 级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经济运行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 级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 级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 级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C3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4 级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5 级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社会秩序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 级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 级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 级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C3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4 级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5 级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其他组织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 级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 级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 级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 级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 级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C3E6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公民个人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 级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 级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 级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 级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C3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 级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C3E6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单位自身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 级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 级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 级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 级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C3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 级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C3E6"/>
                    </a:solidFill>
                  </a:tcPr>
                </a:tc>
              </a:tr>
            </a:tbl>
          </a:graphicData>
        </a:graphic>
      </p:graphicFrame>
      <p:sp>
        <p:nvSpPr>
          <p:cNvPr id="15" name="text-512"/>
          <p:cNvSpPr txBox="1"/>
          <p:nvPr/>
        </p:nvSpPr>
        <p:spPr>
          <a:xfrm>
            <a:off x="694944" y="443484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复核意见</a:t>
            </a:r>
            <a:endParaRPr lang="en-US" sz="1400" dirty="0"/>
          </a:p>
        </p:txBody>
      </p:sp>
      <p:sp>
        <p:nvSpPr>
          <p:cNvPr id="16" name="box-513"/>
          <p:cNvSpPr/>
          <p:nvPr/>
        </p:nvSpPr>
        <p:spPr>
          <a:xfrm>
            <a:off x="694944" y="4773168"/>
            <a:ext cx="10799064" cy="1261872"/>
          </a:xfrm>
          <a:prstGeom prst="rect">
            <a:avLst/>
          </a:prstGeom>
          <a:solidFill>
            <a:srgbClr val="F5F7FA"/>
          </a:solidFill>
          <a:ln w="12700">
            <a:solidFill>
              <a:srgbClr val="7F8FA9"/>
            </a:solidFill>
            <a:prstDash val="dash"/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17" name="box-514"/>
          <p:cNvSpPr/>
          <p:nvPr/>
        </p:nvSpPr>
        <p:spPr>
          <a:xfrm>
            <a:off x="822960" y="4864608"/>
            <a:ext cx="566928" cy="219456"/>
          </a:xfrm>
          <a:prstGeom prst="roundRect">
            <a:avLst>
              <a:gd name="adj" fmla="val 33333"/>
            </a:avLst>
          </a:prstGeom>
          <a:solidFill>
            <a:srgbClr val="5B6B84"/>
          </a:solidFill>
          <a:ln w="12700">
            <a:solidFill>
              <a:srgbClr val="5B6B84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示例</a:t>
            </a:r>
            <a:endParaRPr lang="en-US" sz="1000" dirty="0"/>
          </a:p>
        </p:txBody>
      </p:sp>
      <p:sp>
        <p:nvSpPr>
          <p:cNvPr id="18" name="text-515"/>
          <p:cNvSpPr txBox="1"/>
          <p:nvPr/>
        </p:nvSpPr>
        <p:spPr>
          <a:xfrm>
            <a:off x="1508760" y="4809744"/>
            <a:ext cx="9875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字段 A 一次等级为 1 级。在接收方已掌握公开信息和字段 D 的情况下，再获得字段 A 可使 3 级数据 y₁ 的推断精度提高 0.68，贡献显著。依据《分类分级手册》分级要素“深度”和附录 D，按 y₁ 的影响对象（公共利益）和折算后的影响程度（轻微）查表 4.4，建议二次等级为 3 级；模型驱动方法结果一致。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92240"/>
            <a:ext cx="6858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F7F7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k-516"/>
          <p:cNvSpPr/>
          <p:nvPr/>
        </p:nvSpPr>
        <p:spPr>
          <a:xfrm>
            <a:off x="155448" y="301752"/>
            <a:ext cx="338328" cy="310896"/>
          </a:xfrm>
          <a:prstGeom prst="chevron">
            <a:avLst/>
          </a:prstGeom>
          <a:solidFill>
            <a:srgbClr val="B50104"/>
          </a:solidFill>
          <a:ln w="12700">
            <a:solidFill>
              <a:srgbClr val="B50104"/>
            </a:solidFill>
            <a:prstDash val="solid"/>
          </a:ln>
        </p:spPr>
      </p:sp>
      <p:sp>
        <p:nvSpPr>
          <p:cNvPr id="3" name="mark-517"/>
          <p:cNvSpPr/>
          <p:nvPr/>
        </p:nvSpPr>
        <p:spPr>
          <a:xfrm>
            <a:off x="438912" y="301752"/>
            <a:ext cx="338328" cy="310896"/>
          </a:xfrm>
          <a:prstGeom prst="chevron">
            <a:avLst/>
          </a:prstGeom>
          <a:solidFill>
            <a:srgbClr val="7F7F7F"/>
          </a:solidFill>
          <a:ln w="12700">
            <a:solidFill>
              <a:srgbClr val="7F7F7F"/>
            </a:solidFill>
            <a:prstDash val="solid"/>
          </a:ln>
        </p:spPr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868680" y="1828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E5E9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四、审批固化与动态更新</a:t>
            </a:r>
            <a:endParaRPr lang="en-US" sz="2400" dirty="0"/>
          </a:p>
        </p:txBody>
      </p:sp>
      <p:sp>
        <p:nvSpPr>
          <p:cNvPr id="5" name="box-518"/>
          <p:cNvSpPr/>
          <p:nvPr/>
        </p:nvSpPr>
        <p:spPr>
          <a:xfrm>
            <a:off x="694944" y="6217920"/>
            <a:ext cx="868680" cy="27432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南网依据</a:t>
            </a:r>
            <a:endParaRPr lang="en-US" sz="1050" dirty="0"/>
          </a:p>
        </p:txBody>
      </p:sp>
      <p:sp>
        <p:nvSpPr>
          <p:cNvPr id="6" name="text-519"/>
          <p:cNvSpPr txBox="1"/>
          <p:nvPr/>
        </p:nvSpPr>
        <p:spPr>
          <a:xfrm>
            <a:off x="1645920" y="6217920"/>
            <a:ext cx="9848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4E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《分类分级手册》四(四)(五)(七)、附录 E；《风险评估手册》第 138、146、154 项</a:t>
            </a:r>
            <a:endParaRPr lang="en-US" sz="1100" dirty="0"/>
          </a:p>
        </p:txBody>
      </p:sp>
      <p:sp>
        <p:nvSpPr>
          <p:cNvPr id="7" name="text-520"/>
          <p:cNvSpPr txBox="1"/>
          <p:nvPr/>
        </p:nvSpPr>
        <p:spPr>
          <a:xfrm>
            <a:off x="694944" y="1143000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➢ </a:t>
            </a:r>
            <a:pPr algn="l"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4.1 审批与 4.2 结果固化</a:t>
            </a:r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：二次等级经审批后写入数据目录</a:t>
            </a:r>
            <a:endParaRPr lang="en-US" sz="1800" dirty="0"/>
          </a:p>
        </p:txBody>
      </p:sp>
      <p:sp>
        <p:nvSpPr>
          <p:cNvPr id="8" name="box-521"/>
          <p:cNvSpPr/>
          <p:nvPr/>
        </p:nvSpPr>
        <p:spPr>
          <a:xfrm>
            <a:off x="694944" y="1783080"/>
            <a:ext cx="2103120" cy="731520"/>
          </a:xfrm>
          <a:prstGeom prst="rect">
            <a:avLst/>
          </a:prstGeom>
          <a:solidFill>
            <a:srgbClr val="FFF2CC"/>
          </a:solidFill>
          <a:ln w="12700">
            <a:solidFill>
              <a:srgbClr val="BF9000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二次等级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复核意见与推断证据</a:t>
            </a:r>
            <a:endParaRPr lang="en-US" sz="1200" dirty="0"/>
          </a:p>
        </p:txBody>
      </p:sp>
      <p:sp>
        <p:nvSpPr>
          <p:cNvPr id="9" name="arr-522"/>
          <p:cNvSpPr/>
          <p:nvPr/>
        </p:nvSpPr>
        <p:spPr>
          <a:xfrm>
            <a:off x="2862072" y="2011680"/>
            <a:ext cx="411480" cy="274320"/>
          </a:xfrm>
          <a:prstGeom prst="rightArrow">
            <a:avLst/>
          </a:prstGeom>
          <a:solidFill>
            <a:srgbClr val="9DC3E6"/>
          </a:solidFill>
          <a:ln w="12700">
            <a:solidFill>
              <a:srgbClr val="9DC3E6"/>
            </a:solidFill>
            <a:prstDash val="solid"/>
          </a:ln>
        </p:spPr>
      </p:sp>
      <p:sp>
        <p:nvSpPr>
          <p:cNvPr id="10" name="chev-523"/>
          <p:cNvSpPr/>
          <p:nvPr/>
        </p:nvSpPr>
        <p:spPr>
          <a:xfrm>
            <a:off x="3337560" y="1783080"/>
            <a:ext cx="2130552" cy="731520"/>
          </a:xfrm>
          <a:prstGeom prst="homePlate">
            <a:avLst/>
          </a:prstGeom>
          <a:solidFill>
            <a:srgbClr val="5B9BD5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4.1 审批</a:t>
            </a:r>
            <a:endParaRPr lang="en-US" sz="1300" dirty="0"/>
          </a:p>
        </p:txBody>
      </p:sp>
      <p:sp>
        <p:nvSpPr>
          <p:cNvPr id="11" name="chev-524"/>
          <p:cNvSpPr/>
          <p:nvPr/>
        </p:nvSpPr>
        <p:spPr>
          <a:xfrm>
            <a:off x="5330952" y="1783080"/>
            <a:ext cx="2130552" cy="731520"/>
          </a:xfrm>
          <a:prstGeom prst="chevron">
            <a:avLst/>
          </a:prstGeom>
          <a:solidFill>
            <a:srgbClr val="5B9BD5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4.2 结果固化到数据目录</a:t>
            </a:r>
            <a:endParaRPr lang="en-US" sz="1300" dirty="0"/>
          </a:p>
        </p:txBody>
      </p:sp>
      <p:sp>
        <p:nvSpPr>
          <p:cNvPr id="12" name="chev-525"/>
          <p:cNvSpPr/>
          <p:nvPr/>
        </p:nvSpPr>
        <p:spPr>
          <a:xfrm>
            <a:off x="7324344" y="1783080"/>
            <a:ext cx="2130552" cy="731520"/>
          </a:xfrm>
          <a:prstGeom prst="chevron">
            <a:avLst/>
          </a:prstGeom>
          <a:solidFill>
            <a:srgbClr val="5B9BD5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技术管控</a:t>
            </a:r>
            <a:endParaRPr lang="en-US" sz="1300" dirty="0"/>
          </a:p>
        </p:txBody>
      </p:sp>
      <p:sp>
        <p:nvSpPr>
          <p:cNvPr id="13" name="chev-526"/>
          <p:cNvSpPr/>
          <p:nvPr/>
        </p:nvSpPr>
        <p:spPr>
          <a:xfrm>
            <a:off x="9317736" y="1783080"/>
            <a:ext cx="2130552" cy="731520"/>
          </a:xfrm>
          <a:prstGeom prst="chevron">
            <a:avLst/>
          </a:prstGeom>
          <a:solidFill>
            <a:srgbClr val="1F4E79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4.3 动态更新</a:t>
            </a:r>
            <a:endParaRPr lang="en-US" sz="1300" dirty="0"/>
          </a:p>
        </p:txBody>
      </p:sp>
      <p:sp>
        <p:nvSpPr>
          <p:cNvPr id="14" name="text-527"/>
          <p:cNvSpPr txBox="1"/>
          <p:nvPr/>
        </p:nvSpPr>
        <p:spPr>
          <a:xfrm>
            <a:off x="694944" y="27432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4E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数据目录增加的列</a:t>
            </a:r>
            <a:endParaRPr lang="en-US" sz="1250" dirty="0"/>
          </a:p>
        </p:txBody>
      </p:sp>
      <p:sp>
        <p:nvSpPr>
          <p:cNvPr id="15" name="box-528"/>
          <p:cNvSpPr/>
          <p:nvPr/>
        </p:nvSpPr>
        <p:spPr>
          <a:xfrm>
            <a:off x="2514600" y="2743200"/>
            <a:ext cx="1060704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5B9BD5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一次等级</a:t>
            </a:r>
            <a:endParaRPr lang="en-US" sz="1100" dirty="0"/>
          </a:p>
        </p:txBody>
      </p:sp>
      <p:sp>
        <p:nvSpPr>
          <p:cNvPr id="16" name="box-529"/>
          <p:cNvSpPr/>
          <p:nvPr/>
        </p:nvSpPr>
        <p:spPr>
          <a:xfrm>
            <a:off x="3643884" y="2743200"/>
            <a:ext cx="1060704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5B9BD5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二次等级</a:t>
            </a:r>
            <a:endParaRPr lang="en-US" sz="1100" dirty="0"/>
          </a:p>
        </p:txBody>
      </p:sp>
      <p:sp>
        <p:nvSpPr>
          <p:cNvPr id="17" name="box-530"/>
          <p:cNvSpPr/>
          <p:nvPr/>
        </p:nvSpPr>
        <p:spPr>
          <a:xfrm>
            <a:off x="4773168" y="2743200"/>
            <a:ext cx="1060704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5B9BD5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标定依据</a:t>
            </a:r>
            <a:endParaRPr lang="en-US" sz="1100" dirty="0"/>
          </a:p>
        </p:txBody>
      </p:sp>
      <p:sp>
        <p:nvSpPr>
          <p:cNvPr id="18" name="box-531"/>
          <p:cNvSpPr/>
          <p:nvPr/>
        </p:nvSpPr>
        <p:spPr>
          <a:xfrm>
            <a:off x="5902452" y="2743200"/>
            <a:ext cx="1060704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5B9BD5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背景</a:t>
            </a:r>
            <a:endParaRPr lang="en-US" sz="1100" dirty="0"/>
          </a:p>
        </p:txBody>
      </p:sp>
      <p:sp>
        <p:nvSpPr>
          <p:cNvPr id="19" name="box-532"/>
          <p:cNvSpPr/>
          <p:nvPr/>
        </p:nvSpPr>
        <p:spPr>
          <a:xfrm>
            <a:off x="7031736" y="2743200"/>
            <a:ext cx="1060704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5B9BD5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推断敏感度</a:t>
            </a:r>
            <a:endParaRPr lang="en-US" sz="1100" dirty="0"/>
          </a:p>
        </p:txBody>
      </p:sp>
      <p:sp>
        <p:nvSpPr>
          <p:cNvPr id="20" name="box-533"/>
          <p:cNvSpPr/>
          <p:nvPr/>
        </p:nvSpPr>
        <p:spPr>
          <a:xfrm>
            <a:off x="8161020" y="2743200"/>
            <a:ext cx="1060704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5B9BD5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适用角色与时点</a:t>
            </a:r>
            <a:endParaRPr lang="en-US" sz="1100" dirty="0"/>
          </a:p>
        </p:txBody>
      </p:sp>
      <p:sp>
        <p:nvSpPr>
          <p:cNvPr id="21" name="box-534"/>
          <p:cNvSpPr/>
          <p:nvPr/>
        </p:nvSpPr>
        <p:spPr>
          <a:xfrm>
            <a:off x="9290304" y="2743200"/>
            <a:ext cx="1060704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5B9BD5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复评条件</a:t>
            </a:r>
            <a:endParaRPr lang="en-US" sz="1100" dirty="0"/>
          </a:p>
        </p:txBody>
      </p:sp>
      <p:sp>
        <p:nvSpPr>
          <p:cNvPr id="22" name="box-535"/>
          <p:cNvSpPr/>
          <p:nvPr/>
        </p:nvSpPr>
        <p:spPr>
          <a:xfrm>
            <a:off x="10419588" y="2743200"/>
            <a:ext cx="1060704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5B9BD5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审批结论</a:t>
            </a:r>
            <a:endParaRPr lang="en-US" sz="1100" dirty="0"/>
          </a:p>
        </p:txBody>
      </p:sp>
      <p:sp>
        <p:nvSpPr>
          <p:cNvPr id="23" name="text-536"/>
          <p:cNvSpPr txBox="1"/>
          <p:nvPr/>
        </p:nvSpPr>
        <p:spPr>
          <a:xfrm>
            <a:off x="694944" y="3429000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➢ </a:t>
            </a:r>
            <a:pPr algn="l"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4.3 动态更新</a:t>
            </a:r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：由事件触发，从已审批的等级出发增量重算</a:t>
            </a:r>
            <a:endParaRPr lang="en-US" sz="1800" dirty="0"/>
          </a:p>
        </p:txBody>
      </p:sp>
      <p:graphicFrame>
        <p:nvGraphicFramePr>
          <p:cNvPr id="25" name="table-53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4944" y="4023360"/>
          <a:ext cx="10799064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3840480"/>
                <a:gridCol w="3300984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触发事件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影响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依据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体量变化、聚合合并、脱敏、加工、安全事件等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一次等级与推断敏感度均可能变化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4E7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《分类分级手册》附录 E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新批次数据开放、字段转为公开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接收方已掌握的信息增加，其余字段的推断敏感度可能上升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4E7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《数据开放目录》；《风险评估手册》第 138 项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披露时点到达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敏感数据已披露，相应的上调可以解除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4E7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《披露细则》2.7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制度修订、历史数据累积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规则库、推断场景与推断敏感度需更新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4E7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《分类分级手册》四(七)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92240"/>
            <a:ext cx="6858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F7F7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k-538"/>
          <p:cNvSpPr/>
          <p:nvPr/>
        </p:nvSpPr>
        <p:spPr>
          <a:xfrm>
            <a:off x="155448" y="301752"/>
            <a:ext cx="338328" cy="310896"/>
          </a:xfrm>
          <a:prstGeom prst="chevron">
            <a:avLst/>
          </a:prstGeom>
          <a:solidFill>
            <a:srgbClr val="B50104"/>
          </a:solidFill>
          <a:ln w="12700">
            <a:solidFill>
              <a:srgbClr val="B50104"/>
            </a:solidFill>
            <a:prstDash val="solid"/>
          </a:ln>
        </p:spPr>
      </p:sp>
      <p:sp>
        <p:nvSpPr>
          <p:cNvPr id="3" name="mark-539"/>
          <p:cNvSpPr/>
          <p:nvPr/>
        </p:nvSpPr>
        <p:spPr>
          <a:xfrm>
            <a:off x="438912" y="301752"/>
            <a:ext cx="338328" cy="310896"/>
          </a:xfrm>
          <a:prstGeom prst="chevron">
            <a:avLst/>
          </a:prstGeom>
          <a:solidFill>
            <a:srgbClr val="7F7F7F"/>
          </a:solidFill>
          <a:ln w="12700">
            <a:solidFill>
              <a:srgbClr val="7F7F7F"/>
            </a:solidFill>
            <a:prstDash val="solid"/>
          </a:ln>
        </p:spPr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868680" y="1828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E5E9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小结：与任务要求、南网文件的对应</a:t>
            </a:r>
            <a:endParaRPr lang="en-US" sz="2400" dirty="0"/>
          </a:p>
        </p:txBody>
      </p:sp>
      <p:sp>
        <p:nvSpPr>
          <p:cNvPr id="5" name="text-540"/>
          <p:cNvSpPr txBox="1"/>
          <p:nvPr/>
        </p:nvSpPr>
        <p:spPr>
          <a:xfrm>
            <a:off x="694944" y="1143000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➢ </a:t>
            </a:r>
            <a:pPr algn="l"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体系各部分与课题任务、南网文件的对应关系</a:t>
            </a:r>
            <a:endParaRPr lang="en-US" sz="1800" dirty="0"/>
          </a:p>
        </p:txBody>
      </p:sp>
      <p:graphicFrame>
        <p:nvGraphicFramePr>
          <p:cNvPr id="26" name="table-54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4944" y="1737360"/>
          <a:ext cx="10799064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3657600"/>
                <a:gridCol w="3575304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课题任务要求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体系中的对应部分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南网依据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归纳电力信息类型，提出异构信息的结构化处理方法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一、信息类型归纳与结构化处理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4E7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《分类分级手册》四(一)(二)、附录 A；《披露细则》2.7、5.1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面向本体安全威胁的安全等级一次标定方法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二、一次标定：规则库构建、影响分析、等级判定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4E7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《分类分级手册》四(三)、表 4.1~4.4、附录 C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面向多源跨域融合推断安全威胁的安全等级二次标定方法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三、二次标定：3.1 融合推断场景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4E7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《披露细则》5.1~5.7；《分类分级手册》表 4.1~4.3；《数据开放目录》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三、二次标定：3.2 字段推断敏感度　3.3 计算与验证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4E7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《分类分级手册》要素“深度”；《风险评估手册》第 382、330、351 项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三、二次标定：3.4 等级二次标定（方法一规则驱动、方法二模型驱动）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4E7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《分类分级手册》表 4.4、“从严性”“合理性”、附录 D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电力信息敏感度的科学评估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字段推断敏感度表、分类分级清单；审批固化与动态更新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4E7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《分类分级手册》四(四)(五)(七)、附录 E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box-542"/>
          <p:cNvSpPr/>
          <p:nvPr/>
        </p:nvSpPr>
        <p:spPr>
          <a:xfrm>
            <a:off x="694944" y="5440680"/>
            <a:ext cx="10799064" cy="685800"/>
          </a:xfrm>
          <a:prstGeom prst="rect">
            <a:avLst/>
          </a:prstGeom>
          <a:ln w="15875">
            <a:solidFill>
              <a:srgbClr val="5B9BD5"/>
            </a:solidFill>
            <a:prstDash val="dash"/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8" name="text-543"/>
          <p:cNvSpPr txBox="1"/>
          <p:nvPr/>
        </p:nvSpPr>
        <p:spPr>
          <a:xfrm>
            <a:off x="868680" y="5458968"/>
            <a:ext cx="1046988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与现行规定保持一致的处理：等级采用</a:t>
            </a:r>
            <a:pPr algn="l" indent="0" marL="0">
              <a:buNone/>
            </a:pPr>
            <a:r>
              <a:rPr lang="en-US" sz="1300" b="1" dirty="0">
                <a:solidFill>
                  <a:srgbClr val="C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南网五级</a:t>
            </a:r>
            <a:pPr algn="l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并由</a:t>
            </a:r>
            <a:pPr algn="l" indent="0" marL="0">
              <a:buNone/>
            </a:pPr>
            <a:r>
              <a:rPr lang="en-US" sz="1300" b="1" dirty="0">
                <a:solidFill>
                  <a:srgbClr val="C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判定矩阵</a:t>
            </a:r>
            <a:pPr algn="l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给出；二次等级</a:t>
            </a:r>
            <a:pPr algn="l" indent="0" marL="0">
              <a:buNone/>
            </a:pPr>
            <a:r>
              <a:rPr lang="en-US" sz="1300" b="1" dirty="0">
                <a:solidFill>
                  <a:srgbClr val="C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不低于一次等级</a:t>
            </a:r>
            <a:pPr algn="l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；</a:t>
            </a:r>
            <a:pPr algn="l" indent="0" marL="0">
              <a:buNone/>
            </a:pPr>
            <a:r>
              <a:rPr lang="en-US" sz="1300" b="1" dirty="0">
                <a:solidFill>
                  <a:srgbClr val="C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法定公开字段不调整</a:t>
            </a:r>
            <a:pPr algn="l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；重要、核心数据只提出申报建议；定级结论以审批为准。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92240"/>
            <a:ext cx="6858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F7F7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-544"/>
          <p:cNvSpPr txBox="1"/>
          <p:nvPr/>
        </p:nvSpPr>
        <p:spPr>
          <a:xfrm>
            <a:off x="155448" y="201168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4454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汇报提纲</a:t>
            </a:r>
            <a:endParaRPr lang="en-US" sz="2800" dirty="0"/>
          </a:p>
        </p:txBody>
      </p:sp>
      <p:pic>
        <p:nvPicPr>
          <p:cNvPr id="3" name="img-545" descr="/data1/duhaocun/projects/GNN_Aggresvation/reports/南网/南网claude/V11/assets/outline_map.jpeg">    </p:cNvPr>
          <p:cNvPicPr>
            <a:picLocks noChangeAspect="1"/>
          </p:cNvPicPr>
          <p:nvPr/>
        </p:nvPicPr>
        <p:blipFill>
          <a:blip r:embed="rId1">
            <a:alphaModFix amt="65000"/>
          </a:blip>
          <a:stretch>
            <a:fillRect/>
          </a:stretch>
        </p:blipFill>
        <p:spPr>
          <a:xfrm>
            <a:off x="2423160" y="1828800"/>
            <a:ext cx="7534656" cy="3630168"/>
          </a:xfrm>
          <a:prstGeom prst="rect">
            <a:avLst/>
          </a:prstGeom>
        </p:spPr>
      </p:pic>
      <p:sp>
        <p:nvSpPr>
          <p:cNvPr id="4" name="num-546"/>
          <p:cNvSpPr/>
          <p:nvPr/>
        </p:nvSpPr>
        <p:spPr>
          <a:xfrm>
            <a:off x="3840480" y="2057400"/>
            <a:ext cx="566928" cy="566928"/>
          </a:xfrm>
          <a:prstGeom prst="ellipse">
            <a:avLst/>
          </a:prstGeom>
          <a:solidFill>
            <a:srgbClr val="F2F2F2"/>
          </a:solidFill>
          <a:ln w="19050">
            <a:solidFill>
              <a:srgbClr val="D9D9D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FB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ln-547"/>
          <p:cNvSpPr/>
          <p:nvPr/>
        </p:nvSpPr>
        <p:spPr>
          <a:xfrm>
            <a:off x="4480560" y="2340864"/>
            <a:ext cx="548640" cy="0"/>
          </a:xfrm>
          <a:prstGeom prst="line">
            <a:avLst/>
          </a:prstGeom>
          <a:noFill/>
          <a:ln w="15875">
            <a:solidFill>
              <a:srgbClr val="BFBFBF"/>
            </a:solidFill>
            <a:prstDash val="dash"/>
            <a:tailEnd type="none"/>
          </a:ln>
        </p:spPr>
      </p:sp>
      <p:sp>
        <p:nvSpPr>
          <p:cNvPr id="6" name="text-548"/>
          <p:cNvSpPr txBox="1"/>
          <p:nvPr/>
        </p:nvSpPr>
        <p:spPr>
          <a:xfrm>
            <a:off x="5166360" y="2057400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BFBFB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问题与依据</a:t>
            </a:r>
            <a:endParaRPr lang="en-US" sz="2400" dirty="0"/>
          </a:p>
        </p:txBody>
      </p:sp>
      <p:sp>
        <p:nvSpPr>
          <p:cNvPr id="7" name="num-549"/>
          <p:cNvSpPr/>
          <p:nvPr/>
        </p:nvSpPr>
        <p:spPr>
          <a:xfrm>
            <a:off x="3840480" y="2926080"/>
            <a:ext cx="566928" cy="566928"/>
          </a:xfrm>
          <a:prstGeom prst="ellipse">
            <a:avLst/>
          </a:prstGeom>
          <a:solidFill>
            <a:srgbClr val="F2F2F2"/>
          </a:solidFill>
          <a:ln w="19050">
            <a:solidFill>
              <a:srgbClr val="D9D9D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FB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8" name="ln-550"/>
          <p:cNvSpPr/>
          <p:nvPr/>
        </p:nvSpPr>
        <p:spPr>
          <a:xfrm>
            <a:off x="4480560" y="3209544"/>
            <a:ext cx="548640" cy="0"/>
          </a:xfrm>
          <a:prstGeom prst="line">
            <a:avLst/>
          </a:prstGeom>
          <a:noFill/>
          <a:ln w="15875">
            <a:solidFill>
              <a:srgbClr val="BFBFBF"/>
            </a:solidFill>
            <a:prstDash val="dash"/>
            <a:tailEnd type="none"/>
          </a:ln>
        </p:spPr>
      </p:sp>
      <p:sp>
        <p:nvSpPr>
          <p:cNvPr id="9" name="text-551"/>
          <p:cNvSpPr txBox="1"/>
          <p:nvPr/>
        </p:nvSpPr>
        <p:spPr>
          <a:xfrm>
            <a:off x="5166360" y="2926080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BFBFB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体系框架</a:t>
            </a:r>
            <a:endParaRPr lang="en-US" sz="2400" dirty="0"/>
          </a:p>
        </p:txBody>
      </p:sp>
      <p:sp>
        <p:nvSpPr>
          <p:cNvPr id="10" name="num-552"/>
          <p:cNvSpPr/>
          <p:nvPr/>
        </p:nvSpPr>
        <p:spPr>
          <a:xfrm>
            <a:off x="3840480" y="3794760"/>
            <a:ext cx="566928" cy="566928"/>
          </a:xfrm>
          <a:prstGeom prst="ellipse">
            <a:avLst/>
          </a:prstGeom>
          <a:solidFill>
            <a:srgbClr val="F2F2F2"/>
          </a:solidFill>
          <a:ln w="19050">
            <a:solidFill>
              <a:srgbClr val="D9D9D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FB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1" name="ln-553"/>
          <p:cNvSpPr/>
          <p:nvPr/>
        </p:nvSpPr>
        <p:spPr>
          <a:xfrm>
            <a:off x="4480560" y="4078224"/>
            <a:ext cx="548640" cy="0"/>
          </a:xfrm>
          <a:prstGeom prst="line">
            <a:avLst/>
          </a:prstGeom>
          <a:noFill/>
          <a:ln w="15875">
            <a:solidFill>
              <a:srgbClr val="BFBFBF"/>
            </a:solidFill>
            <a:prstDash val="dash"/>
            <a:tailEnd type="none"/>
          </a:ln>
        </p:spPr>
      </p:sp>
      <p:sp>
        <p:nvSpPr>
          <p:cNvPr id="12" name="text-554"/>
          <p:cNvSpPr txBox="1"/>
          <p:nvPr/>
        </p:nvSpPr>
        <p:spPr>
          <a:xfrm>
            <a:off x="5166360" y="3794760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BFBFB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关键方法</a:t>
            </a:r>
            <a:endParaRPr lang="en-US" sz="2400" dirty="0"/>
          </a:p>
        </p:txBody>
      </p:sp>
      <p:sp>
        <p:nvSpPr>
          <p:cNvPr id="13" name="num-555"/>
          <p:cNvSpPr/>
          <p:nvPr/>
        </p:nvSpPr>
        <p:spPr>
          <a:xfrm>
            <a:off x="3840480" y="4663440"/>
            <a:ext cx="566928" cy="56692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7F7F7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14" name="ln-556"/>
          <p:cNvSpPr/>
          <p:nvPr/>
        </p:nvSpPr>
        <p:spPr>
          <a:xfrm>
            <a:off x="4480560" y="4946904"/>
            <a:ext cx="548640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dash"/>
            <a:tailEnd type="none"/>
          </a:ln>
        </p:spPr>
      </p:sp>
      <p:sp>
        <p:nvSpPr>
          <p:cNvPr id="15" name="text-557"/>
          <p:cNvSpPr txBox="1"/>
          <p:nvPr/>
        </p:nvSpPr>
        <p:spPr>
          <a:xfrm>
            <a:off x="5166360" y="4663440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下一步工作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92240"/>
            <a:ext cx="6858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F7F7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k-558"/>
          <p:cNvSpPr/>
          <p:nvPr/>
        </p:nvSpPr>
        <p:spPr>
          <a:xfrm>
            <a:off x="155448" y="301752"/>
            <a:ext cx="338328" cy="310896"/>
          </a:xfrm>
          <a:prstGeom prst="chevron">
            <a:avLst/>
          </a:prstGeom>
          <a:solidFill>
            <a:srgbClr val="B50104"/>
          </a:solidFill>
          <a:ln w="12700">
            <a:solidFill>
              <a:srgbClr val="B50104"/>
            </a:solidFill>
            <a:prstDash val="solid"/>
          </a:ln>
        </p:spPr>
      </p:sp>
      <p:sp>
        <p:nvSpPr>
          <p:cNvPr id="3" name="mark-559"/>
          <p:cNvSpPr/>
          <p:nvPr/>
        </p:nvSpPr>
        <p:spPr>
          <a:xfrm>
            <a:off x="438912" y="301752"/>
            <a:ext cx="338328" cy="310896"/>
          </a:xfrm>
          <a:prstGeom prst="chevron">
            <a:avLst/>
          </a:prstGeom>
          <a:solidFill>
            <a:srgbClr val="7F7F7F"/>
          </a:solidFill>
          <a:ln w="12700">
            <a:solidFill>
              <a:srgbClr val="7F7F7F"/>
            </a:solidFill>
            <a:prstDash val="solid"/>
          </a:ln>
        </p:spPr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868680" y="1828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E5E9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下一步工作</a:t>
            </a:r>
            <a:endParaRPr lang="en-US" sz="2400" dirty="0"/>
          </a:p>
        </p:txBody>
      </p:sp>
      <p:sp>
        <p:nvSpPr>
          <p:cNvPr id="5" name="text-560"/>
          <p:cNvSpPr txBox="1"/>
          <p:nvPr/>
        </p:nvSpPr>
        <p:spPr>
          <a:xfrm>
            <a:off x="694944" y="128016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1、确认关键口径</a:t>
            </a:r>
            <a:endParaRPr lang="en-US" sz="2000" dirty="0"/>
          </a:p>
        </p:txBody>
      </p:sp>
      <p:sp>
        <p:nvSpPr>
          <p:cNvPr id="6" name="text-561"/>
          <p:cNvSpPr txBox="1"/>
          <p:nvPr/>
        </p:nvSpPr>
        <p:spPr>
          <a:xfrm>
            <a:off x="1097280" y="178308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与南网确认敏感目标清单及其影响对象与影响程度、推断敏感度的分档界限、接收方角色与法定公开字段清单。</a:t>
            </a:r>
            <a:endParaRPr lang="en-US" sz="1700" dirty="0"/>
          </a:p>
        </p:txBody>
      </p:sp>
      <p:sp>
        <p:nvSpPr>
          <p:cNvPr id="7" name="text-562"/>
          <p:cNvSpPr txBox="1"/>
          <p:nvPr/>
        </p:nvSpPr>
        <p:spPr>
          <a:xfrm>
            <a:off x="694944" y="288036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2、完善二次标定方法</a:t>
            </a:r>
            <a:endParaRPr lang="en-US" sz="2000" dirty="0"/>
          </a:p>
        </p:txBody>
      </p:sp>
      <p:sp>
        <p:nvSpPr>
          <p:cNvPr id="8" name="text-563"/>
          <p:cNvSpPr txBox="1"/>
          <p:nvPr/>
        </p:nvSpPr>
        <p:spPr>
          <a:xfrm>
            <a:off x="1097280" y="338328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在公开电力数据集上验证折算分档界限、背景字段数上限和效用函数系数的取值；研究多个字段共同作用时的等级联合调整方法。</a:t>
            </a:r>
            <a:endParaRPr lang="en-US" sz="1700" dirty="0"/>
          </a:p>
        </p:txBody>
      </p:sp>
      <p:sp>
        <p:nvSpPr>
          <p:cNvPr id="9" name="text-564"/>
          <p:cNvSpPr txBox="1"/>
          <p:nvPr/>
        </p:nvSpPr>
        <p:spPr>
          <a:xfrm>
            <a:off x="694944" y="448056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3、开展试点应用</a:t>
            </a:r>
            <a:endParaRPr lang="en-US" sz="2000" dirty="0"/>
          </a:p>
        </p:txBody>
      </p:sp>
      <p:sp>
        <p:nvSpPr>
          <p:cNvPr id="10" name="text-565"/>
          <p:cNvSpPr txBox="1"/>
          <p:nvPr/>
        </p:nvSpPr>
        <p:spPr>
          <a:xfrm>
            <a:off x="1097280" y="498348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优先选取系统运行域与电力市场披露数据开展试点，需协调提供字段级历史样本数据。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92240"/>
            <a:ext cx="6858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F7F7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-566"/>
          <p:cNvSpPr/>
          <p:nvPr/>
        </p:nvSpPr>
        <p:spPr>
          <a:xfrm>
            <a:off x="7955280" y="2514600"/>
            <a:ext cx="4233672" cy="1828800"/>
          </a:xfrm>
          <a:prstGeom prst="rect">
            <a:avLst/>
          </a:prstGeom>
          <a:solidFill>
            <a:srgbClr val="404040"/>
          </a:solidFill>
          <a:ln w="12700">
            <a:solidFill>
              <a:srgbClr val="404040"/>
            </a:solidFill>
            <a:prstDash val="solid"/>
          </a:ln>
        </p:spPr>
      </p:sp>
      <p:sp>
        <p:nvSpPr>
          <p:cNvPr id="3" name="red-567"/>
          <p:cNvSpPr/>
          <p:nvPr/>
        </p:nvSpPr>
        <p:spPr>
          <a:xfrm>
            <a:off x="0" y="1737360"/>
            <a:ext cx="8046720" cy="2606040"/>
          </a:xfrm>
          <a:prstGeom prst="rect">
            <a:avLst/>
          </a:prstGeom>
          <a:solidFill>
            <a:srgbClr val="BA0000"/>
          </a:solidFill>
          <a:ln w="12700">
            <a:solidFill>
              <a:srgbClr val="BA0000"/>
            </a:solidFill>
            <a:prstDash val="solid"/>
          </a:ln>
        </p:spPr>
      </p:sp>
      <p:sp>
        <p:nvSpPr>
          <p:cNvPr id="4" name="ln-568"/>
          <p:cNvSpPr/>
          <p:nvPr/>
        </p:nvSpPr>
        <p:spPr>
          <a:xfrm>
            <a:off x="868680" y="2011680"/>
            <a:ext cx="822960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  <a:tailEnd type="none"/>
          </a:ln>
        </p:spPr>
      </p:sp>
      <p:sp>
        <p:nvSpPr>
          <p:cNvPr id="5" name="ln-569"/>
          <p:cNvSpPr/>
          <p:nvPr/>
        </p:nvSpPr>
        <p:spPr>
          <a:xfrm>
            <a:off x="868680" y="2011680"/>
            <a:ext cx="0" cy="205740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  <a:tailEnd type="none"/>
          </a:ln>
        </p:spPr>
      </p:sp>
      <p:sp>
        <p:nvSpPr>
          <p:cNvPr id="6" name="ln-570"/>
          <p:cNvSpPr/>
          <p:nvPr/>
        </p:nvSpPr>
        <p:spPr>
          <a:xfrm>
            <a:off x="868680" y="4069080"/>
            <a:ext cx="822960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  <a:tailEnd type="none"/>
          </a:ln>
        </p:spPr>
      </p:sp>
      <p:sp>
        <p:nvSpPr>
          <p:cNvPr id="7" name="text-571"/>
          <p:cNvSpPr txBox="1"/>
          <p:nvPr/>
        </p:nvSpPr>
        <p:spPr>
          <a:xfrm>
            <a:off x="1097280" y="2103120"/>
            <a:ext cx="6766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谢谢大家</a:t>
            </a: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92240"/>
            <a:ext cx="6858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F7F7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微软雅黑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微软雅黑"/>
        <a:ea typeface="微软雅黑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南网电力数据分类分级体系框架</dc:title>
  <dc:subject>PptxGenJS Presentation</dc:subject>
  <dc:creator>PptxGenJS</dc:creator>
  <cp:lastModifiedBy>PptxGenJS</cp:lastModifiedBy>
  <cp:revision>1</cp:revision>
  <dcterms:created xsi:type="dcterms:W3CDTF">2026-10-08T13:50:06Z</dcterms:created>
  <dcterms:modified xsi:type="dcterms:W3CDTF">2026-10-08T13:50:06Z</dcterms:modified>
</cp:coreProperties>
</file>