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南网的分类分级工作手册是本体系的基线。它规定了七步工作流程、八个分级要素，以及按影响对象和影响程度判定一到五级的方法。每一级数据还对应着共享开放的要求，后面的等级优化会用到这一点。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这一页列出体系依据的五份南网文件和各自的作用。后面的每一页都会用这里的简称标注对应条款。需要说明的是，这些文件目前是征求意见稿或审议稿。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行分级看的是数据本身泄露后的影响。但在开放共享场景下，几个等级不高的字段组合起来，可能推断出更高等级的数据。南网文件在五处提出了相关要求，但没有配套的计算方法和判定标准，这是本体系要补充的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体系按课题任务书分为三部分：信息类型归纳与结构化处理、一次标定、二次标定，最后接南网的审批固化流程。中间一列是每一部分的产出，右侧是对应的南网依据。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这一页说明体系的输入、输出和约束。输入是南网规则文件、数据资产清单、样本数据和由主管部门确定的敏感目标。输出是分类分级清单、字段推断敏感度表、复核意见和更新记录。底部是四条约束。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部分对应任务书里的信息类型归纳和结构化处理。从业务流角度，按企业级业务架构分类到字段；从数据流角度，标注每个字段的披露层级和披露时点；规则文件和字段说明用大语言模型加检索增强解析成结构化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一次标定面向本体安全威胁，也就是数据本身泄露的后果。按影响对象、影响范围、影响程度做分析，查南网的判定矩阵得到一次等级。这一步完全执行南网现行规则。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二次标定面向多源跨域融合推断威胁。分四步：先确定各类接收方已经掌握什么；再定义字段推断敏感度；然后计算并验证；最后按敏感度折算影响程度，查南网判定矩阵得到二次等级。每一步下面的灰框是它的产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推断风险取决于接收方已经掌握的信息，所以先要构建推断场景。第一步按披露细则划分信息层级；第二步为每类接收方确定公开基底、背景池和背景预算；第三步按披露时点更新公开基底。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定义字段推断敏感度。基础量是集合推断能力V：只用某个字段集合，能把敏感数据推断到多准。字段推断敏感度M是：在接收方已掌握的信息和不超过K个其他字段的基础上，再获得这个字段，推断精度最多能提高多少。右边灰色部分是示例：字段A在已掌握字段D的情况下提高最多，为0.68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计算分三步。关联分析用来解释字段关系和排优先级。集合扫描用一个通用推断模型估计各字段组合的推断能力，得到每个字段的推断敏感度。对敏感度较高的字段再重训验证。产出是字段推断敏感度表。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二次标定的规则。把被推断数据的影响程度按字段推断敏感度折算：敏感度在0.7以上，影响程度与被推断数据相同；0.4到0.7降一档；0.1到0.4降两档；0.1以下不调整。然后用被推断数据的影响对象和折算后的影响程度查判定矩阵，与一次等级取高，得到二次等级。等级仍由南网的矩阵给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一个示例。两个敏感数据都是3级。字段A对y1的推断敏感度是0.68，影响程度由一般降为轻微，公共利益乘轻微查表是3级，所以A的二次等级是3级。字段B对y2的敏感度是0.55，严重降为一般，其他组织乘一般是2级。字段C的敏感度都低于0.1，不调整。下面是据此生成的复核意见示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第四部分执行南网的审批和固化流程。方法给出的是二次等级，定级结论以审批为准。数据目录增加八列，记录标定依据和证据。动态更新由事件触发，表中列出了四类触发事件及其依据。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最后用一张表小结：左边是课题任务书的要求，中间是体系里对应的部分，右边是南网依据。下方是与现行规定保持一致的几项处理。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1/duhaocun/projects/GNN_Aggresvation/reports/南网/南网claude/V9/assets/csg_banner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4528" y="9144"/>
            <a:ext cx="7964424" cy="72237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88952" cy="0"/>
          </a:xfrm>
          <a:prstGeom prst="line">
            <a:avLst/>
          </a:prstGeom>
          <a:noFill/>
          <a:ln w="12700">
            <a:solidFill>
              <a:srgbClr val="00377B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155448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©CSG 2020. All Rights Reserved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1/duhaocun/projects/GNN_Aggresvation/reports/南网/南网claude/V9/assets/csg_banner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4528" y="9144"/>
            <a:ext cx="7964424" cy="72237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88952" cy="0"/>
          </a:xfrm>
          <a:prstGeom prst="line">
            <a:avLst/>
          </a:prstGeom>
          <a:noFill/>
          <a:ln w="12700">
            <a:solidFill>
              <a:srgbClr val="00377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55448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6A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©CSG 2020. All Rights Reserved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-1"/>
          <p:cNvSpPr/>
          <p:nvPr/>
        </p:nvSpPr>
        <p:spPr>
          <a:xfrm>
            <a:off x="7955280" y="2514600"/>
            <a:ext cx="4233672" cy="182880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3" name="red-2"/>
          <p:cNvSpPr/>
          <p:nvPr/>
        </p:nvSpPr>
        <p:spPr>
          <a:xfrm>
            <a:off x="0" y="1737360"/>
            <a:ext cx="8046720" cy="2606040"/>
          </a:xfrm>
          <a:prstGeom prst="rect">
            <a:avLst/>
          </a:prstGeom>
          <a:solidFill>
            <a:srgbClr val="BA0000"/>
          </a:solidFill>
          <a:ln w="12700">
            <a:solidFill>
              <a:srgbClr val="BA0000"/>
            </a:solidFill>
            <a:prstDash val="solid"/>
          </a:ln>
        </p:spPr>
      </p:sp>
      <p:sp>
        <p:nvSpPr>
          <p:cNvPr id="4" name="ln-3"/>
          <p:cNvSpPr/>
          <p:nvPr/>
        </p:nvSpPr>
        <p:spPr>
          <a:xfrm>
            <a:off x="868680" y="2011680"/>
            <a:ext cx="8229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none"/>
          </a:ln>
        </p:spPr>
      </p:sp>
      <p:sp>
        <p:nvSpPr>
          <p:cNvPr id="5" name="ln-4"/>
          <p:cNvSpPr/>
          <p:nvPr/>
        </p:nvSpPr>
        <p:spPr>
          <a:xfrm>
            <a:off x="868680" y="2011680"/>
            <a:ext cx="0" cy="20574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none"/>
          </a:ln>
        </p:spPr>
      </p:sp>
      <p:sp>
        <p:nvSpPr>
          <p:cNvPr id="6" name="ln-5"/>
          <p:cNvSpPr/>
          <p:nvPr/>
        </p:nvSpPr>
        <p:spPr>
          <a:xfrm>
            <a:off x="868680" y="4069080"/>
            <a:ext cx="8229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none"/>
          </a:ln>
        </p:spPr>
      </p:sp>
      <p:sp>
        <p:nvSpPr>
          <p:cNvPr id="7" name="text-6"/>
          <p:cNvSpPr txBox="1"/>
          <p:nvPr/>
        </p:nvSpPr>
        <p:spPr>
          <a:xfrm>
            <a:off x="1097280" y="210312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南网电力数据分类分级体系框架</a:t>
            </a:r>
            <a:endParaRPr lang="en-US" sz="3400" dirty="0"/>
          </a:p>
        </p:txBody>
      </p:sp>
      <p:sp>
        <p:nvSpPr>
          <p:cNvPr id="8" name="text-7"/>
          <p:cNvSpPr txBox="1"/>
          <p:nvPr/>
        </p:nvSpPr>
        <p:spPr>
          <a:xfrm>
            <a:off x="1097280" y="361188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数据分类分级专题汇报</a:t>
            </a:r>
            <a:endParaRPr lang="en-US" sz="2200" dirty="0"/>
          </a:p>
        </p:txBody>
      </p:sp>
      <p:sp>
        <p:nvSpPr>
          <p:cNvPr id="9" name="text-8"/>
          <p:cNvSpPr txBox="1"/>
          <p:nvPr/>
        </p:nvSpPr>
        <p:spPr>
          <a:xfrm>
            <a:off x="1371600" y="4709160"/>
            <a:ext cx="9445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西安交通大学 网络空间学院</a:t>
            </a:r>
            <a:endParaRPr lang="en-US" sz="2400" dirty="0"/>
          </a:p>
        </p:txBody>
      </p:sp>
      <p:sp>
        <p:nvSpPr>
          <p:cNvPr id="10" name="text-9"/>
          <p:cNvSpPr txBox="1"/>
          <p:nvPr/>
        </p:nvSpPr>
        <p:spPr>
          <a:xfrm>
            <a:off x="1371600" y="5257800"/>
            <a:ext cx="9445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 10 月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0"/>
          <p:cNvSpPr txBox="1"/>
          <p:nvPr/>
        </p:nvSpPr>
        <p:spPr>
          <a:xfrm>
            <a:off x="155448" y="2011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汇报提纲</a:t>
            </a:r>
            <a:endParaRPr lang="en-US" sz="2800" dirty="0"/>
          </a:p>
        </p:txBody>
      </p:sp>
      <p:pic>
        <p:nvPicPr>
          <p:cNvPr id="3" name="img-11" descr="/data1/duhaocun/projects/GNN_Aggresvation/reports/南网/南网claude/V9/assets/outline_map.jpe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2423160" y="1828800"/>
            <a:ext cx="7534656" cy="3630168"/>
          </a:xfrm>
          <a:prstGeom prst="rect">
            <a:avLst/>
          </a:prstGeom>
        </p:spPr>
      </p:pic>
      <p:sp>
        <p:nvSpPr>
          <p:cNvPr id="4" name="num-12"/>
          <p:cNvSpPr/>
          <p:nvPr/>
        </p:nvSpPr>
        <p:spPr>
          <a:xfrm>
            <a:off x="3840480" y="2057400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F7F7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ln-13"/>
          <p:cNvSpPr/>
          <p:nvPr/>
        </p:nvSpPr>
        <p:spPr>
          <a:xfrm>
            <a:off x="4480560" y="2340864"/>
            <a:ext cx="5486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dash"/>
            <a:tailEnd type="none"/>
          </a:ln>
        </p:spPr>
      </p:sp>
      <p:sp>
        <p:nvSpPr>
          <p:cNvPr id="6" name="text-14"/>
          <p:cNvSpPr txBox="1"/>
          <p:nvPr/>
        </p:nvSpPr>
        <p:spPr>
          <a:xfrm>
            <a:off x="5166360" y="20574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背景与依据</a:t>
            </a:r>
            <a:endParaRPr lang="en-US" sz="2400" dirty="0"/>
          </a:p>
        </p:txBody>
      </p:sp>
      <p:sp>
        <p:nvSpPr>
          <p:cNvPr id="7" name="num-15"/>
          <p:cNvSpPr/>
          <p:nvPr/>
        </p:nvSpPr>
        <p:spPr>
          <a:xfrm>
            <a:off x="3840480" y="292608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ln-16"/>
          <p:cNvSpPr/>
          <p:nvPr/>
        </p:nvSpPr>
        <p:spPr>
          <a:xfrm>
            <a:off x="4480560" y="320954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9" name="text-17"/>
          <p:cNvSpPr txBox="1"/>
          <p:nvPr/>
        </p:nvSpPr>
        <p:spPr>
          <a:xfrm>
            <a:off x="5166360" y="29260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体系框架</a:t>
            </a:r>
            <a:endParaRPr lang="en-US" sz="2400" dirty="0"/>
          </a:p>
        </p:txBody>
      </p:sp>
      <p:sp>
        <p:nvSpPr>
          <p:cNvPr id="10" name="num-18"/>
          <p:cNvSpPr/>
          <p:nvPr/>
        </p:nvSpPr>
        <p:spPr>
          <a:xfrm>
            <a:off x="3840480" y="379476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ln-19"/>
          <p:cNvSpPr/>
          <p:nvPr/>
        </p:nvSpPr>
        <p:spPr>
          <a:xfrm>
            <a:off x="4480560" y="407822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12" name="text-20"/>
          <p:cNvSpPr txBox="1"/>
          <p:nvPr/>
        </p:nvSpPr>
        <p:spPr>
          <a:xfrm>
            <a:off x="5166360" y="37947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关键方法</a:t>
            </a:r>
            <a:endParaRPr lang="en-US" sz="2400" dirty="0"/>
          </a:p>
        </p:txBody>
      </p:sp>
      <p:sp>
        <p:nvSpPr>
          <p:cNvPr id="13" name="num-21"/>
          <p:cNvSpPr/>
          <p:nvPr/>
        </p:nvSpPr>
        <p:spPr>
          <a:xfrm>
            <a:off x="3840480" y="466344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ln-22"/>
          <p:cNvSpPr/>
          <p:nvPr/>
        </p:nvSpPr>
        <p:spPr>
          <a:xfrm>
            <a:off x="4480560" y="494690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15" name="text-23"/>
          <p:cNvSpPr txBox="1"/>
          <p:nvPr/>
        </p:nvSpPr>
        <p:spPr>
          <a:xfrm>
            <a:off x="5166360" y="46634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下一步工作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24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25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南网数据分类分级要求</a:t>
            </a:r>
            <a:endParaRPr lang="en-US" sz="2400" dirty="0"/>
          </a:p>
        </p:txBody>
      </p:sp>
      <p:sp>
        <p:nvSpPr>
          <p:cNvPr id="5" name="box-26"/>
          <p:cNvSpPr/>
          <p:nvPr/>
        </p:nvSpPr>
        <p:spPr>
          <a:xfrm>
            <a:off x="694944" y="1188720"/>
            <a:ext cx="10799064" cy="868680"/>
          </a:xfrm>
          <a:prstGeom prst="rect">
            <a:avLst/>
          </a:prstGeom>
          <a:ln w="15875">
            <a:solidFill>
              <a:srgbClr val="5B9BD5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" name="text-27"/>
          <p:cNvSpPr txBox="1"/>
          <p:nvPr/>
        </p:nvSpPr>
        <p:spPr>
          <a:xfrm>
            <a:off x="868680" y="1225296"/>
            <a:ext cx="10469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《分类分级手册》按</a:t>
            </a:r>
            <a:pPr algn="l" indent="0" marL="0">
              <a:buNone/>
            </a:pPr>
            <a:r>
              <a:rPr lang="en-US" sz="16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影响对象</a:t>
            </a:r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</a:t>
            </a:r>
            <a:pPr algn="l" indent="0" marL="0">
              <a:buNone/>
            </a:pPr>
            <a:r>
              <a:rPr lang="en-US" sz="16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影响程度</a:t>
            </a:r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将数据划分为 </a:t>
            </a:r>
            <a:pPr algn="l" indent="0" marL="0">
              <a:buNone/>
            </a:pPr>
            <a:r>
              <a:rPr lang="en-US" sz="16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1~5 级</a:t>
            </a:r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，多因素时</a:t>
            </a:r>
            <a:pPr algn="l" indent="0" marL="0">
              <a:buNone/>
            </a:pPr>
            <a:r>
              <a:rPr lang="en-US" sz="16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就高不就低</a:t>
            </a:r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；分类细化至数据字段，分级结果经审批后固化到数据目录，并随业务与数据变化动态更新。</a:t>
            </a:r>
            <a:endParaRPr lang="en-US" sz="1650" dirty="0"/>
          </a:p>
        </p:txBody>
      </p:sp>
      <p:sp>
        <p:nvSpPr>
          <p:cNvPr id="7" name="text-28"/>
          <p:cNvSpPr txBox="1"/>
          <p:nvPr/>
        </p:nvSpPr>
        <p:spPr>
          <a:xfrm>
            <a:off x="694944" y="22128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工作流程（《分类分级手册》第四部分）</a:t>
            </a:r>
            <a:endParaRPr lang="en-US" sz="1400" dirty="0"/>
          </a:p>
        </p:txBody>
      </p:sp>
      <p:sp>
        <p:nvSpPr>
          <p:cNvPr id="8" name="chev-29"/>
          <p:cNvSpPr/>
          <p:nvPr/>
        </p:nvSpPr>
        <p:spPr>
          <a:xfrm>
            <a:off x="694944" y="2560320"/>
            <a:ext cx="1627632" cy="475488"/>
          </a:xfrm>
          <a:prstGeom prst="homePlate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数据资产梳理</a:t>
            </a:r>
            <a:endParaRPr lang="en-US" sz="1200" dirty="0"/>
          </a:p>
        </p:txBody>
      </p:sp>
      <p:sp>
        <p:nvSpPr>
          <p:cNvPr id="9" name="chev-30"/>
          <p:cNvSpPr/>
          <p:nvPr/>
        </p:nvSpPr>
        <p:spPr>
          <a:xfrm>
            <a:off x="2240280" y="2560320"/>
            <a:ext cx="1627632" cy="475488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数据分类</a:t>
            </a:r>
            <a:endParaRPr lang="en-US" sz="1200" dirty="0"/>
          </a:p>
        </p:txBody>
      </p:sp>
      <p:sp>
        <p:nvSpPr>
          <p:cNvPr id="10" name="chev-31"/>
          <p:cNvSpPr/>
          <p:nvPr/>
        </p:nvSpPr>
        <p:spPr>
          <a:xfrm>
            <a:off x="3785616" y="2560320"/>
            <a:ext cx="1627632" cy="475488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数据分级</a:t>
            </a:r>
            <a:endParaRPr lang="en-US" sz="1200" dirty="0"/>
          </a:p>
        </p:txBody>
      </p:sp>
      <p:sp>
        <p:nvSpPr>
          <p:cNvPr id="11" name="chev-32"/>
          <p:cNvSpPr/>
          <p:nvPr/>
        </p:nvSpPr>
        <p:spPr>
          <a:xfrm>
            <a:off x="5330952" y="2560320"/>
            <a:ext cx="1627632" cy="475488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</a:t>
            </a:r>
            <a:endParaRPr lang="en-US" sz="1200" dirty="0"/>
          </a:p>
        </p:txBody>
      </p:sp>
      <p:sp>
        <p:nvSpPr>
          <p:cNvPr id="12" name="chev-33"/>
          <p:cNvSpPr/>
          <p:nvPr/>
        </p:nvSpPr>
        <p:spPr>
          <a:xfrm>
            <a:off x="6876288" y="2560320"/>
            <a:ext cx="1627632" cy="475488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结果固化</a:t>
            </a:r>
            <a:endParaRPr lang="en-US" sz="1200" dirty="0"/>
          </a:p>
        </p:txBody>
      </p:sp>
      <p:sp>
        <p:nvSpPr>
          <p:cNvPr id="13" name="chev-34"/>
          <p:cNvSpPr/>
          <p:nvPr/>
        </p:nvSpPr>
        <p:spPr>
          <a:xfrm>
            <a:off x="8421624" y="2560320"/>
            <a:ext cx="1627632" cy="475488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技术管控</a:t>
            </a:r>
            <a:endParaRPr lang="en-US" sz="1200" dirty="0"/>
          </a:p>
        </p:txBody>
      </p:sp>
      <p:sp>
        <p:nvSpPr>
          <p:cNvPr id="14" name="chev-35"/>
          <p:cNvSpPr/>
          <p:nvPr/>
        </p:nvSpPr>
        <p:spPr>
          <a:xfrm>
            <a:off x="9966960" y="2560320"/>
            <a:ext cx="1627632" cy="475488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动态更新</a:t>
            </a:r>
            <a:endParaRPr lang="en-US" sz="1200" dirty="0"/>
          </a:p>
        </p:txBody>
      </p:sp>
      <p:sp>
        <p:nvSpPr>
          <p:cNvPr id="15" name="text-36"/>
          <p:cNvSpPr txBox="1"/>
          <p:nvPr/>
        </p:nvSpPr>
        <p:spPr>
          <a:xfrm>
            <a:off x="694944" y="32461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分级判定方法（《分类分级手册》四(三)、表 4.4）</a:t>
            </a:r>
            <a:endParaRPr lang="en-US" sz="1400" dirty="0"/>
          </a:p>
        </p:txBody>
      </p:sp>
      <p:sp>
        <p:nvSpPr>
          <p:cNvPr id="16" name="box-37"/>
          <p:cNvSpPr/>
          <p:nvPr/>
        </p:nvSpPr>
        <p:spPr>
          <a:xfrm>
            <a:off x="694944" y="3593592"/>
            <a:ext cx="2468880" cy="114300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分级要素（8 个）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领域、群体、区域、重要性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精度、规模、覆盖度、</a:t>
            </a:r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深度</a:t>
            </a:r>
            <a:endParaRPr lang="en-US" sz="1200" dirty="0"/>
          </a:p>
        </p:txBody>
      </p:sp>
      <p:sp>
        <p:nvSpPr>
          <p:cNvPr id="17" name="arr-38"/>
          <p:cNvSpPr/>
          <p:nvPr/>
        </p:nvSpPr>
        <p:spPr>
          <a:xfrm>
            <a:off x="3218688" y="4023360"/>
            <a:ext cx="411480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8" name="box-39"/>
          <p:cNvSpPr/>
          <p:nvPr/>
        </p:nvSpPr>
        <p:spPr>
          <a:xfrm>
            <a:off x="3685032" y="3593592"/>
            <a:ext cx="2468880" cy="114300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影响对象</a:t>
            </a:r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群体：国家安全、公共利益、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经济运行、社会秩序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个体：个人、其他组织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单位自身</a:t>
            </a:r>
            <a:endParaRPr lang="en-US" sz="1100" dirty="0"/>
          </a:p>
        </p:txBody>
      </p:sp>
      <p:sp>
        <p:nvSpPr>
          <p:cNvPr id="19" name="text-40"/>
          <p:cNvSpPr txBox="1"/>
          <p:nvPr/>
        </p:nvSpPr>
        <p:spPr>
          <a:xfrm>
            <a:off x="6172200" y="3977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×</a:t>
            </a:r>
            <a:endParaRPr lang="en-US" sz="2000" dirty="0"/>
          </a:p>
        </p:txBody>
      </p:sp>
      <p:sp>
        <p:nvSpPr>
          <p:cNvPr id="20" name="box-41"/>
          <p:cNvSpPr/>
          <p:nvPr/>
        </p:nvSpPr>
        <p:spPr>
          <a:xfrm>
            <a:off x="6510528" y="3593592"/>
            <a:ext cx="1828800" cy="114300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影响程度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 / 轻微 / 一般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严重 / 特别严重</a:t>
            </a:r>
            <a:endParaRPr lang="en-US" sz="1200" dirty="0"/>
          </a:p>
        </p:txBody>
      </p:sp>
      <p:sp>
        <p:nvSpPr>
          <p:cNvPr id="21" name="arr-42"/>
          <p:cNvSpPr/>
          <p:nvPr/>
        </p:nvSpPr>
        <p:spPr>
          <a:xfrm>
            <a:off x="8394192" y="4023360"/>
            <a:ext cx="411480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2" name="box-43"/>
          <p:cNvSpPr/>
          <p:nvPr/>
        </p:nvSpPr>
        <p:spPr>
          <a:xfrm>
            <a:off x="8869680" y="3593592"/>
            <a:ext cx="525780" cy="548640"/>
          </a:xfrm>
          <a:prstGeom prst="rect">
            <a:avLst/>
          </a:prstGeom>
          <a:solidFill>
            <a:srgbClr val="DEEAF6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级</a:t>
            </a:r>
            <a:endParaRPr lang="en-US" sz="1200" dirty="0"/>
          </a:p>
        </p:txBody>
      </p:sp>
      <p:sp>
        <p:nvSpPr>
          <p:cNvPr id="23" name="box-44"/>
          <p:cNvSpPr/>
          <p:nvPr/>
        </p:nvSpPr>
        <p:spPr>
          <a:xfrm>
            <a:off x="9395460" y="3593592"/>
            <a:ext cx="525780" cy="548640"/>
          </a:xfrm>
          <a:prstGeom prst="rect">
            <a:avLst/>
          </a:prstGeom>
          <a:solidFill>
            <a:srgbClr val="BDD7EE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级</a:t>
            </a:r>
            <a:endParaRPr lang="en-US" sz="1200" dirty="0"/>
          </a:p>
        </p:txBody>
      </p:sp>
      <p:sp>
        <p:nvSpPr>
          <p:cNvPr id="24" name="box-45"/>
          <p:cNvSpPr/>
          <p:nvPr/>
        </p:nvSpPr>
        <p:spPr>
          <a:xfrm>
            <a:off x="9921240" y="3593592"/>
            <a:ext cx="525780" cy="548640"/>
          </a:xfrm>
          <a:prstGeom prst="rect">
            <a:avLst/>
          </a:prstGeom>
          <a:solidFill>
            <a:srgbClr val="9DC3E6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级</a:t>
            </a:r>
            <a:endParaRPr lang="en-US" sz="1200" dirty="0"/>
          </a:p>
        </p:txBody>
      </p:sp>
      <p:sp>
        <p:nvSpPr>
          <p:cNvPr id="25" name="box-46"/>
          <p:cNvSpPr/>
          <p:nvPr/>
        </p:nvSpPr>
        <p:spPr>
          <a:xfrm>
            <a:off x="10447020" y="3593592"/>
            <a:ext cx="525780" cy="548640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级</a:t>
            </a:r>
            <a:endParaRPr lang="en-US" sz="1200" dirty="0"/>
          </a:p>
        </p:txBody>
      </p:sp>
      <p:sp>
        <p:nvSpPr>
          <p:cNvPr id="26" name="box-47"/>
          <p:cNvSpPr/>
          <p:nvPr/>
        </p:nvSpPr>
        <p:spPr>
          <a:xfrm>
            <a:off x="10972800" y="3593592"/>
            <a:ext cx="525780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级</a:t>
            </a:r>
            <a:endParaRPr lang="en-US" sz="1200" dirty="0"/>
          </a:p>
        </p:txBody>
      </p:sp>
      <p:sp>
        <p:nvSpPr>
          <p:cNvPr id="27" name="box-48"/>
          <p:cNvSpPr/>
          <p:nvPr/>
        </p:nvSpPr>
        <p:spPr>
          <a:xfrm>
            <a:off x="8869680" y="4187952"/>
            <a:ext cx="157734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一般数据</a:t>
            </a:r>
            <a:endParaRPr lang="en-US" sz="1200" dirty="0"/>
          </a:p>
        </p:txBody>
      </p:sp>
      <p:sp>
        <p:nvSpPr>
          <p:cNvPr id="28" name="box-49"/>
          <p:cNvSpPr/>
          <p:nvPr/>
        </p:nvSpPr>
        <p:spPr>
          <a:xfrm>
            <a:off x="10447020" y="4187952"/>
            <a:ext cx="5257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重要</a:t>
            </a:r>
            <a:endParaRPr lang="en-US" sz="1100" dirty="0"/>
          </a:p>
        </p:txBody>
      </p:sp>
      <p:sp>
        <p:nvSpPr>
          <p:cNvPr id="29" name="box-50"/>
          <p:cNvSpPr/>
          <p:nvPr/>
        </p:nvSpPr>
        <p:spPr>
          <a:xfrm>
            <a:off x="10972800" y="4187952"/>
            <a:ext cx="5257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</a:t>
            </a:r>
            <a:endParaRPr lang="en-US" sz="1100" dirty="0"/>
          </a:p>
        </p:txBody>
      </p:sp>
      <p:sp>
        <p:nvSpPr>
          <p:cNvPr id="30" name="text-51"/>
          <p:cNvSpPr txBox="1"/>
          <p:nvPr/>
        </p:nvSpPr>
        <p:spPr>
          <a:xfrm>
            <a:off x="694944" y="49377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各级数据的共享开放要求（《分类分级手册》表 4.1~4.3）</a:t>
            </a:r>
            <a:endParaRPr lang="en-US" sz="1400" dirty="0"/>
          </a:p>
        </p:txBody>
      </p:sp>
      <p:graphicFrame>
        <p:nvGraphicFramePr>
          <p:cNvPr id="4" name="table-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5303520"/>
          <a:ext cx="10799064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651760"/>
                <a:gridCol w="1737360"/>
                <a:gridCol w="2651760"/>
                <a:gridCol w="2478024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等级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4、5 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共享开放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一般对象无条件共享、开放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有条件开放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仅特定对象有条件共享、开放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原则上不共享、不开放；须由主管部门认定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53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54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编制依据</a:t>
            </a:r>
            <a:endParaRPr lang="en-US" sz="2400" dirty="0"/>
          </a:p>
        </p:txBody>
      </p:sp>
      <p:sp>
        <p:nvSpPr>
          <p:cNvPr id="5" name="text-55"/>
          <p:cNvSpPr txBox="1"/>
          <p:nvPr/>
        </p:nvSpPr>
        <p:spPr>
          <a:xfrm>
            <a:off x="694944" y="1097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本体系依据的南网文件及其作用（后文按简称标注对应条款）</a:t>
            </a:r>
            <a:endParaRPr lang="en-US" sz="1800" dirty="0"/>
          </a:p>
        </p:txBody>
      </p:sp>
      <p:graphicFrame>
        <p:nvGraphicFramePr>
          <p:cNvPr id="5" name="table-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1600200"/>
          <a:ext cx="10799064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383280"/>
                <a:gridCol w="1463040"/>
                <a:gridCol w="4581144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简称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文件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版本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在本体系中的作用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数据分类分级工作手册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 年 7 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征求意见稿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分类方法、分级要素、等级判定矩阵、各级共享开放要求、审批固化与动态更新流程；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体系基线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《风险评估手册》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数据安全风险评估工作手册（2026 年修订版）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 年 7 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征求意见稿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数据公开、汇聚、加工环节的风险评估项，其中第 382 项要求开展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聚合性推断测试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《数据开放目录》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数据开放目录（第二批）及目录说明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2025 年 11 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征求意见稿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开放策略与等级的对应关系、开放对象、561 项开放数据资源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《披露细则》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南方区域电力市场信息披露实施细则（2026 年 V1.0 版）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 年 8 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审议稿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公众信息、公开信息、特定信息三类及其披露时点；用于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确定各类接收方已掌握的信息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《注册细则》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南方区域电力市场注册实施细则（2026 年 V1.0 版）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 年 8 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审议稿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市场成员登记和持有的信息范围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box-57"/>
          <p:cNvSpPr/>
          <p:nvPr/>
        </p:nvSpPr>
        <p:spPr>
          <a:xfrm>
            <a:off x="694944" y="5486400"/>
            <a:ext cx="10799064" cy="685800"/>
          </a:xfrm>
          <a:prstGeom prst="rect">
            <a:avLst/>
          </a:prstGeom>
          <a:ln w="15875">
            <a:solidFill>
              <a:srgbClr val="5B9BD5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8" name="text-58"/>
          <p:cNvSpPr txBox="1"/>
          <p:nvPr/>
        </p:nvSpPr>
        <p:spPr>
          <a:xfrm>
            <a:off x="868680" y="5513832"/>
            <a:ext cx="104698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上位依据：《数据安全法》《网络数据安全管理条例》《能源行业数据分类分级指南（2026 年版）》、GB/T 43697-2024《数据安全技术 数据分类分级规则》。上述南网文件为征求意见稿或审议稿，正式印发后条款编号以正式版为准。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59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60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问题分析：数据关联带来的推断风险</a:t>
            </a:r>
            <a:endParaRPr lang="en-US" sz="2400" dirty="0"/>
          </a:p>
        </p:txBody>
      </p:sp>
      <p:sp>
        <p:nvSpPr>
          <p:cNvPr id="5" name="box-61"/>
          <p:cNvSpPr/>
          <p:nvPr/>
        </p:nvSpPr>
        <p:spPr>
          <a:xfrm>
            <a:off x="694944" y="1188720"/>
            <a:ext cx="10799064" cy="868680"/>
          </a:xfrm>
          <a:prstGeom prst="rect">
            <a:avLst/>
          </a:prstGeom>
          <a:ln w="15875">
            <a:solidFill>
              <a:srgbClr val="5B9BD5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" name="text-62"/>
          <p:cNvSpPr txBox="1"/>
          <p:nvPr/>
        </p:nvSpPr>
        <p:spPr>
          <a:xfrm>
            <a:off x="868680" y="1225296"/>
            <a:ext cx="10469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现行分级依据的是</a:t>
            </a:r>
            <a:pPr algn="l" indent="0" marL="0">
              <a:buNone/>
            </a:pPr>
            <a:r>
              <a:rPr lang="en-US" sz="16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数据本身泄露后的影响</a:t>
            </a:r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。在数据开放和共享场景下，接收方可以把新获得的数据与已掌握的数据关联起来：若干等级不高的字段组合后，</a:t>
            </a:r>
            <a:pPr algn="l" indent="0" marL="0">
              <a:buNone/>
            </a:pPr>
            <a:r>
              <a:rPr lang="en-US" sz="16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可能推断出更高等级的数据</a:t>
            </a:r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650" dirty="0"/>
          </a:p>
        </p:txBody>
      </p:sp>
      <p:sp>
        <p:nvSpPr>
          <p:cNvPr id="7" name="text-63"/>
          <p:cNvSpPr txBox="1"/>
          <p:nvPr/>
        </p:nvSpPr>
        <p:spPr>
          <a:xfrm>
            <a:off x="694944" y="224028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组合推断示意</a:t>
            </a:r>
            <a:endParaRPr lang="en-US" sz="1400" dirty="0"/>
          </a:p>
        </p:txBody>
      </p:sp>
      <p:sp>
        <p:nvSpPr>
          <p:cNvPr id="8" name="box-64"/>
          <p:cNvSpPr/>
          <p:nvPr/>
        </p:nvSpPr>
        <p:spPr>
          <a:xfrm>
            <a:off x="694944" y="2651760"/>
            <a:ext cx="2148840" cy="68580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出清电价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级，法定公开</a:t>
            </a:r>
            <a:endParaRPr lang="en-US" sz="1200" dirty="0"/>
          </a:p>
        </p:txBody>
      </p:sp>
      <p:sp>
        <p:nvSpPr>
          <p:cNvPr id="9" name="ln-65"/>
          <p:cNvSpPr/>
          <p:nvPr/>
        </p:nvSpPr>
        <p:spPr>
          <a:xfrm>
            <a:off x="2843784" y="2994660"/>
            <a:ext cx="585216" cy="864108"/>
          </a:xfrm>
          <a:prstGeom prst="line">
            <a:avLst/>
          </a:prstGeom>
          <a:noFill/>
          <a:ln w="19050">
            <a:solidFill>
              <a:srgbClr val="5B9BD5"/>
            </a:solidFill>
            <a:prstDash val="solid"/>
            <a:tailEnd type="triangle"/>
          </a:ln>
        </p:spPr>
      </p:sp>
      <p:sp>
        <p:nvSpPr>
          <p:cNvPr id="10" name="box-66"/>
          <p:cNvSpPr/>
          <p:nvPr/>
        </p:nvSpPr>
        <p:spPr>
          <a:xfrm>
            <a:off x="694944" y="3520440"/>
            <a:ext cx="2148840" cy="68580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机组日发电量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级</a:t>
            </a:r>
            <a:endParaRPr lang="en-US" sz="1200" dirty="0"/>
          </a:p>
        </p:txBody>
      </p:sp>
      <p:sp>
        <p:nvSpPr>
          <p:cNvPr id="11" name="ln-67"/>
          <p:cNvSpPr/>
          <p:nvPr/>
        </p:nvSpPr>
        <p:spPr>
          <a:xfrm flipV="1">
            <a:off x="2843784" y="3858768"/>
            <a:ext cx="585216" cy="4572"/>
          </a:xfrm>
          <a:prstGeom prst="line">
            <a:avLst/>
          </a:prstGeom>
          <a:noFill/>
          <a:ln w="19050">
            <a:solidFill>
              <a:srgbClr val="5B9BD5"/>
            </a:solidFill>
            <a:prstDash val="solid"/>
            <a:tailEnd type="triangle"/>
          </a:ln>
        </p:spPr>
      </p:sp>
      <p:sp>
        <p:nvSpPr>
          <p:cNvPr id="12" name="box-68"/>
          <p:cNvSpPr/>
          <p:nvPr/>
        </p:nvSpPr>
        <p:spPr>
          <a:xfrm>
            <a:off x="694944" y="4389120"/>
            <a:ext cx="2148840" cy="68580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新能源出力预测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级</a:t>
            </a:r>
            <a:endParaRPr lang="en-US" sz="1200" dirty="0"/>
          </a:p>
        </p:txBody>
      </p:sp>
      <p:sp>
        <p:nvSpPr>
          <p:cNvPr id="13" name="ln-69"/>
          <p:cNvSpPr/>
          <p:nvPr/>
        </p:nvSpPr>
        <p:spPr>
          <a:xfrm flipV="1">
            <a:off x="2843784" y="3858768"/>
            <a:ext cx="585216" cy="873252"/>
          </a:xfrm>
          <a:prstGeom prst="line">
            <a:avLst/>
          </a:prstGeom>
          <a:noFill/>
          <a:ln w="19050">
            <a:solidFill>
              <a:srgbClr val="5B9BD5"/>
            </a:solidFill>
            <a:prstDash val="solid"/>
            <a:tailEnd type="triangle"/>
          </a:ln>
        </p:spPr>
      </p:sp>
      <p:sp>
        <p:nvSpPr>
          <p:cNvPr id="14" name="box-70"/>
          <p:cNvSpPr/>
          <p:nvPr/>
        </p:nvSpPr>
        <p:spPr>
          <a:xfrm>
            <a:off x="3429000" y="3493008"/>
            <a:ext cx="822960" cy="731520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推断</a:t>
            </a:r>
            <a:endParaRPr lang="en-US" sz="1400" dirty="0"/>
          </a:p>
        </p:txBody>
      </p:sp>
      <p:sp>
        <p:nvSpPr>
          <p:cNvPr id="15" name="arr-71"/>
          <p:cNvSpPr/>
          <p:nvPr/>
        </p:nvSpPr>
        <p:spPr>
          <a:xfrm>
            <a:off x="4315968" y="3721608"/>
            <a:ext cx="457200" cy="274320"/>
          </a:xfrm>
          <a:prstGeom prst="rightArrow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6" name="box-72"/>
          <p:cNvSpPr/>
          <p:nvPr/>
        </p:nvSpPr>
        <p:spPr>
          <a:xfrm>
            <a:off x="4828032" y="3493008"/>
            <a:ext cx="1463040" cy="7315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机组报价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级，特定信息</a:t>
            </a:r>
            <a:endParaRPr lang="en-US" sz="1200" dirty="0"/>
          </a:p>
        </p:txBody>
      </p:sp>
      <p:sp>
        <p:nvSpPr>
          <p:cNvPr id="17" name="text-73"/>
          <p:cNvSpPr txBox="1"/>
          <p:nvPr/>
        </p:nvSpPr>
        <p:spPr>
          <a:xfrm>
            <a:off x="694944" y="52578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各字段单独对目标的推断能力很低；组合后推断精度可超过泄露判定线</a:t>
            </a:r>
            <a:endParaRPr lang="en-US" sz="1300" dirty="0"/>
          </a:p>
        </p:txBody>
      </p:sp>
      <p:sp>
        <p:nvSpPr>
          <p:cNvPr id="18" name="text-74"/>
          <p:cNvSpPr txBox="1"/>
          <p:nvPr/>
        </p:nvSpPr>
        <p:spPr>
          <a:xfrm>
            <a:off x="6355080" y="2240280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南网文件中的相关要求</a:t>
            </a:r>
            <a:endParaRPr lang="en-US" sz="1400" dirty="0"/>
          </a:p>
        </p:txBody>
      </p:sp>
      <p:graphicFrame>
        <p:nvGraphicFramePr>
          <p:cNvPr id="6" name="table-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651760"/>
          <a:ext cx="5138928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61488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出处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要求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《分类分级手册》分级原则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从严性：多因素时按可能造成的最高影响定级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《分类分级手册》分级要素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深度：关联、挖掘、融合对隐含信息的刻画程度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《分类分级手册》附录 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分析挖掘出更敏感、更深度的衍生数据应提高级别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《分类分级手册》附录 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应分析数据汇聚后是否可获得更多信息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《风险评估手册》第 382 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基于已公开数据，尝试能否推断出未公开的关联信息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-76"/>
          <p:cNvSpPr txBox="1"/>
          <p:nvPr/>
        </p:nvSpPr>
        <p:spPr>
          <a:xfrm>
            <a:off x="6355080" y="5577840"/>
            <a:ext cx="5138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上述要求尚无配套的计算方法与判定标准，本体系在此处给出</a:t>
            </a:r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可计算、可复核</a:t>
            </a:r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的做法。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77"/>
          <p:cNvSpPr txBox="1"/>
          <p:nvPr/>
        </p:nvSpPr>
        <p:spPr>
          <a:xfrm>
            <a:off x="155448" y="2011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汇报提纲</a:t>
            </a:r>
            <a:endParaRPr lang="en-US" sz="2800" dirty="0"/>
          </a:p>
        </p:txBody>
      </p:sp>
      <p:pic>
        <p:nvPicPr>
          <p:cNvPr id="3" name="img-78" descr="/data1/duhaocun/projects/GNN_Aggresvation/reports/南网/南网claude/V9/assets/outline_map.jpe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2423160" y="1828800"/>
            <a:ext cx="7534656" cy="3630168"/>
          </a:xfrm>
          <a:prstGeom prst="rect">
            <a:avLst/>
          </a:prstGeom>
        </p:spPr>
      </p:pic>
      <p:sp>
        <p:nvSpPr>
          <p:cNvPr id="4" name="num-79"/>
          <p:cNvSpPr/>
          <p:nvPr/>
        </p:nvSpPr>
        <p:spPr>
          <a:xfrm>
            <a:off x="3840480" y="205740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ln-80"/>
          <p:cNvSpPr/>
          <p:nvPr/>
        </p:nvSpPr>
        <p:spPr>
          <a:xfrm>
            <a:off x="4480560" y="234086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6" name="text-81"/>
          <p:cNvSpPr txBox="1"/>
          <p:nvPr/>
        </p:nvSpPr>
        <p:spPr>
          <a:xfrm>
            <a:off x="5166360" y="20574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背景与依据</a:t>
            </a:r>
            <a:endParaRPr lang="en-US" sz="2400" dirty="0"/>
          </a:p>
        </p:txBody>
      </p:sp>
      <p:sp>
        <p:nvSpPr>
          <p:cNvPr id="7" name="num-82"/>
          <p:cNvSpPr/>
          <p:nvPr/>
        </p:nvSpPr>
        <p:spPr>
          <a:xfrm>
            <a:off x="3840480" y="2926080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F7F7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ln-83"/>
          <p:cNvSpPr/>
          <p:nvPr/>
        </p:nvSpPr>
        <p:spPr>
          <a:xfrm>
            <a:off x="4480560" y="3209544"/>
            <a:ext cx="5486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dash"/>
            <a:tailEnd type="none"/>
          </a:ln>
        </p:spPr>
      </p:sp>
      <p:sp>
        <p:nvSpPr>
          <p:cNvPr id="9" name="text-84"/>
          <p:cNvSpPr txBox="1"/>
          <p:nvPr/>
        </p:nvSpPr>
        <p:spPr>
          <a:xfrm>
            <a:off x="5166360" y="29260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体系框架</a:t>
            </a:r>
            <a:endParaRPr lang="en-US" sz="2400" dirty="0"/>
          </a:p>
        </p:txBody>
      </p:sp>
      <p:sp>
        <p:nvSpPr>
          <p:cNvPr id="10" name="num-85"/>
          <p:cNvSpPr/>
          <p:nvPr/>
        </p:nvSpPr>
        <p:spPr>
          <a:xfrm>
            <a:off x="3840480" y="379476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ln-86"/>
          <p:cNvSpPr/>
          <p:nvPr/>
        </p:nvSpPr>
        <p:spPr>
          <a:xfrm>
            <a:off x="4480560" y="407822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12" name="text-87"/>
          <p:cNvSpPr txBox="1"/>
          <p:nvPr/>
        </p:nvSpPr>
        <p:spPr>
          <a:xfrm>
            <a:off x="5166360" y="37947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关键方法</a:t>
            </a:r>
            <a:endParaRPr lang="en-US" sz="2400" dirty="0"/>
          </a:p>
        </p:txBody>
      </p:sp>
      <p:sp>
        <p:nvSpPr>
          <p:cNvPr id="13" name="num-88"/>
          <p:cNvSpPr/>
          <p:nvPr/>
        </p:nvSpPr>
        <p:spPr>
          <a:xfrm>
            <a:off x="3840480" y="466344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ln-89"/>
          <p:cNvSpPr/>
          <p:nvPr/>
        </p:nvSpPr>
        <p:spPr>
          <a:xfrm>
            <a:off x="4480560" y="494690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15" name="text-90"/>
          <p:cNvSpPr txBox="1"/>
          <p:nvPr/>
        </p:nvSpPr>
        <p:spPr>
          <a:xfrm>
            <a:off x="5166360" y="46634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下一步工作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91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92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体系框架：总体结构</a:t>
            </a:r>
            <a:endParaRPr lang="en-US" sz="2400" dirty="0"/>
          </a:p>
        </p:txBody>
      </p:sp>
      <p:sp>
        <p:nvSpPr>
          <p:cNvPr id="5" name="text-93"/>
          <p:cNvSpPr txBox="1"/>
          <p:nvPr/>
        </p:nvSpPr>
        <p:spPr>
          <a:xfrm>
            <a:off x="694944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体系组成与各步骤</a:t>
            </a:r>
            <a:endParaRPr lang="en-US" sz="1300" dirty="0"/>
          </a:p>
        </p:txBody>
      </p:sp>
      <p:sp>
        <p:nvSpPr>
          <p:cNvPr id="6" name="text-94"/>
          <p:cNvSpPr txBox="1"/>
          <p:nvPr/>
        </p:nvSpPr>
        <p:spPr>
          <a:xfrm>
            <a:off x="8174736" y="1097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产出</a:t>
            </a:r>
            <a:endParaRPr lang="en-US" sz="1300" dirty="0"/>
          </a:p>
        </p:txBody>
      </p:sp>
      <p:sp>
        <p:nvSpPr>
          <p:cNvPr id="7" name="text-95"/>
          <p:cNvSpPr txBox="1"/>
          <p:nvPr/>
        </p:nvSpPr>
        <p:spPr>
          <a:xfrm>
            <a:off x="9564624" y="1097280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300" dirty="0"/>
          </a:p>
        </p:txBody>
      </p:sp>
      <p:sp>
        <p:nvSpPr>
          <p:cNvPr id="8" name="box-96"/>
          <p:cNvSpPr/>
          <p:nvPr/>
        </p:nvSpPr>
        <p:spPr>
          <a:xfrm>
            <a:off x="694944" y="1444752"/>
            <a:ext cx="2011680" cy="91440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text-97"/>
          <p:cNvSpPr txBox="1"/>
          <p:nvPr/>
        </p:nvSpPr>
        <p:spPr>
          <a:xfrm>
            <a:off x="768096" y="1499616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一、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信息归纳与结构化</a:t>
            </a:r>
            <a:endParaRPr lang="en-US" sz="1600" dirty="0"/>
          </a:p>
        </p:txBody>
      </p:sp>
      <p:sp>
        <p:nvSpPr>
          <p:cNvPr id="10" name="text-98"/>
          <p:cNvSpPr txBox="1"/>
          <p:nvPr/>
        </p:nvSpPr>
        <p:spPr>
          <a:xfrm>
            <a:off x="768096" y="1975104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从业务流、数据流归纳信息类型</a:t>
            </a:r>
            <a:endParaRPr lang="en-US" sz="1000" dirty="0"/>
          </a:p>
        </p:txBody>
      </p:sp>
      <p:sp>
        <p:nvSpPr>
          <p:cNvPr id="11" name="box-99"/>
          <p:cNvSpPr/>
          <p:nvPr/>
        </p:nvSpPr>
        <p:spPr>
          <a:xfrm>
            <a:off x="2706624" y="1444752"/>
            <a:ext cx="5212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2" name="box-100"/>
          <p:cNvSpPr/>
          <p:nvPr/>
        </p:nvSpPr>
        <p:spPr>
          <a:xfrm>
            <a:off x="2798064" y="1554480"/>
            <a:ext cx="1542288" cy="694944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1.1 业务流归类</a:t>
            </a:r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分类到字段</a:t>
            </a:r>
            <a:endParaRPr lang="en-US" sz="1050" dirty="0"/>
          </a:p>
        </p:txBody>
      </p:sp>
      <p:sp>
        <p:nvSpPr>
          <p:cNvPr id="13" name="arr-101"/>
          <p:cNvSpPr/>
          <p:nvPr/>
        </p:nvSpPr>
        <p:spPr>
          <a:xfrm>
            <a:off x="4358640" y="1810512"/>
            <a:ext cx="164592" cy="18288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4" name="box-102"/>
          <p:cNvSpPr/>
          <p:nvPr/>
        </p:nvSpPr>
        <p:spPr>
          <a:xfrm>
            <a:off x="4541520" y="1554480"/>
            <a:ext cx="1542288" cy="694944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1.2 数据流标注</a:t>
            </a:r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披露层级与时点</a:t>
            </a:r>
            <a:endParaRPr lang="en-US" sz="1050" dirty="0"/>
          </a:p>
        </p:txBody>
      </p:sp>
      <p:sp>
        <p:nvSpPr>
          <p:cNvPr id="15" name="arr-103"/>
          <p:cNvSpPr/>
          <p:nvPr/>
        </p:nvSpPr>
        <p:spPr>
          <a:xfrm>
            <a:off x="6102096" y="1810512"/>
            <a:ext cx="164592" cy="18288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6" name="box-104"/>
          <p:cNvSpPr/>
          <p:nvPr/>
        </p:nvSpPr>
        <p:spPr>
          <a:xfrm>
            <a:off x="6284976" y="1554480"/>
            <a:ext cx="1542288" cy="694944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1.3 异构信息结构化</a:t>
            </a:r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 + 检索增强</a:t>
            </a:r>
            <a:endParaRPr lang="en-US" sz="1050" dirty="0"/>
          </a:p>
        </p:txBody>
      </p:sp>
      <p:sp>
        <p:nvSpPr>
          <p:cNvPr id="17" name="arr-105"/>
          <p:cNvSpPr/>
          <p:nvPr/>
        </p:nvSpPr>
        <p:spPr>
          <a:xfrm>
            <a:off x="7955280" y="1792224"/>
            <a:ext cx="182880" cy="219456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8" name="box-106"/>
          <p:cNvSpPr/>
          <p:nvPr/>
        </p:nvSpPr>
        <p:spPr>
          <a:xfrm>
            <a:off x="8174736" y="1444752"/>
            <a:ext cx="1280160" cy="914400"/>
          </a:xfrm>
          <a:prstGeom prst="rect">
            <a:avLst/>
          </a:prstGeom>
          <a:solidFill>
            <a:srgbClr val="E7E6E6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字段清单</a:t>
            </a:r>
            <a:endParaRPr lang="en-US" sz="1050" dirty="0"/>
          </a:p>
        </p:txBody>
      </p:sp>
      <p:sp>
        <p:nvSpPr>
          <p:cNvPr id="19" name="box-107"/>
          <p:cNvSpPr/>
          <p:nvPr/>
        </p:nvSpPr>
        <p:spPr>
          <a:xfrm>
            <a:off x="9564624" y="1444752"/>
            <a:ext cx="1929384" cy="914400"/>
          </a:xfrm>
          <a:prstGeom prst="rect">
            <a:avLst/>
          </a:prstGeom>
          <a:solidFill>
            <a:srgbClr val="F7F7F7"/>
          </a:solidFill>
          <a:ln w="12700">
            <a:solidFill>
              <a:srgbClr val="A6A6A6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0" name="text-108"/>
          <p:cNvSpPr txBox="1"/>
          <p:nvPr/>
        </p:nvSpPr>
        <p:spPr>
          <a:xfrm>
            <a:off x="9619488" y="1472184"/>
            <a:ext cx="1828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《分类分级手册》四(一)(二)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《披露细则》2.7、5.1</a:t>
            </a:r>
            <a:endParaRPr lang="en-US" sz="850" dirty="0"/>
          </a:p>
        </p:txBody>
      </p:sp>
      <p:sp>
        <p:nvSpPr>
          <p:cNvPr id="21" name="arr-109"/>
          <p:cNvSpPr/>
          <p:nvPr/>
        </p:nvSpPr>
        <p:spPr>
          <a:xfrm>
            <a:off x="1517904" y="2368296"/>
            <a:ext cx="365760" cy="146304"/>
          </a:xfrm>
          <a:prstGeom prst="down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2" name="box-110"/>
          <p:cNvSpPr/>
          <p:nvPr/>
        </p:nvSpPr>
        <p:spPr>
          <a:xfrm>
            <a:off x="694944" y="2532888"/>
            <a:ext cx="2011680" cy="91440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3" name="text-111"/>
          <p:cNvSpPr txBox="1"/>
          <p:nvPr/>
        </p:nvSpPr>
        <p:spPr>
          <a:xfrm>
            <a:off x="768096" y="258775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二、</a:t>
            </a:r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一次标定</a:t>
            </a:r>
            <a:endParaRPr lang="en-US" sz="1600" dirty="0"/>
          </a:p>
        </p:txBody>
      </p:sp>
      <p:sp>
        <p:nvSpPr>
          <p:cNvPr id="24" name="text-112"/>
          <p:cNvSpPr txBox="1"/>
          <p:nvPr/>
        </p:nvSpPr>
        <p:spPr>
          <a:xfrm>
            <a:off x="768096" y="306324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面向本体安全威胁</a:t>
            </a:r>
            <a:endParaRPr lang="en-US" sz="1000" dirty="0"/>
          </a:p>
        </p:txBody>
      </p:sp>
      <p:sp>
        <p:nvSpPr>
          <p:cNvPr id="25" name="box-113"/>
          <p:cNvSpPr/>
          <p:nvPr/>
        </p:nvSpPr>
        <p:spPr>
          <a:xfrm>
            <a:off x="2706624" y="2532888"/>
            <a:ext cx="5212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6" name="box-114"/>
          <p:cNvSpPr/>
          <p:nvPr/>
        </p:nvSpPr>
        <p:spPr>
          <a:xfrm>
            <a:off x="2798064" y="2642616"/>
            <a:ext cx="2414016" cy="694944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2.1 影响分析</a:t>
            </a:r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影响对象、范围、程度</a:t>
            </a:r>
            <a:endParaRPr lang="en-US" sz="1050" dirty="0"/>
          </a:p>
        </p:txBody>
      </p:sp>
      <p:sp>
        <p:nvSpPr>
          <p:cNvPr id="27" name="arr-115"/>
          <p:cNvSpPr/>
          <p:nvPr/>
        </p:nvSpPr>
        <p:spPr>
          <a:xfrm>
            <a:off x="5230368" y="2898648"/>
            <a:ext cx="164592" cy="182880"/>
          </a:xfrm>
          <a:prstGeom prst="rightArrow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8" name="box-116"/>
          <p:cNvSpPr/>
          <p:nvPr/>
        </p:nvSpPr>
        <p:spPr>
          <a:xfrm>
            <a:off x="5413248" y="2642616"/>
            <a:ext cx="2414016" cy="694944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2.2 等级判定</a:t>
            </a:r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判定矩阵，就高不就低</a:t>
            </a:r>
            <a:endParaRPr lang="en-US" sz="1050" dirty="0"/>
          </a:p>
        </p:txBody>
      </p:sp>
      <p:sp>
        <p:nvSpPr>
          <p:cNvPr id="29" name="arr-117"/>
          <p:cNvSpPr/>
          <p:nvPr/>
        </p:nvSpPr>
        <p:spPr>
          <a:xfrm>
            <a:off x="7955280" y="2880360"/>
            <a:ext cx="182880" cy="219456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0" name="box-118"/>
          <p:cNvSpPr/>
          <p:nvPr/>
        </p:nvSpPr>
        <p:spPr>
          <a:xfrm>
            <a:off x="8174736" y="2532888"/>
            <a:ext cx="1280160" cy="914400"/>
          </a:xfrm>
          <a:prstGeom prst="rect">
            <a:avLst/>
          </a:prstGeom>
          <a:solidFill>
            <a:srgbClr val="E7E6E6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一次等级</a:t>
            </a:r>
            <a:endParaRPr lang="en-US" sz="1050" dirty="0"/>
          </a:p>
        </p:txBody>
      </p:sp>
      <p:sp>
        <p:nvSpPr>
          <p:cNvPr id="31" name="box-119"/>
          <p:cNvSpPr/>
          <p:nvPr/>
        </p:nvSpPr>
        <p:spPr>
          <a:xfrm>
            <a:off x="9564624" y="2532888"/>
            <a:ext cx="1929384" cy="914400"/>
          </a:xfrm>
          <a:prstGeom prst="rect">
            <a:avLst/>
          </a:prstGeom>
          <a:solidFill>
            <a:srgbClr val="F7F7F7"/>
          </a:solidFill>
          <a:ln w="12700">
            <a:solidFill>
              <a:srgbClr val="A6A6A6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2" name="text-120"/>
          <p:cNvSpPr txBox="1"/>
          <p:nvPr/>
        </p:nvSpPr>
        <p:spPr>
          <a:xfrm>
            <a:off x="9619488" y="2560320"/>
            <a:ext cx="1828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《分类分级手册》四(三)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 4.1~4.4</a:t>
            </a:r>
            <a:endParaRPr lang="en-US" sz="850" dirty="0"/>
          </a:p>
        </p:txBody>
      </p:sp>
      <p:sp>
        <p:nvSpPr>
          <p:cNvPr id="33" name="arr-121"/>
          <p:cNvSpPr/>
          <p:nvPr/>
        </p:nvSpPr>
        <p:spPr>
          <a:xfrm>
            <a:off x="1517904" y="3456432"/>
            <a:ext cx="365760" cy="146304"/>
          </a:xfrm>
          <a:prstGeom prst="down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4" name="box-122"/>
          <p:cNvSpPr/>
          <p:nvPr/>
        </p:nvSpPr>
        <p:spPr>
          <a:xfrm>
            <a:off x="694944" y="3621024"/>
            <a:ext cx="2011680" cy="1325880"/>
          </a:xfrm>
          <a:prstGeom prst="rect">
            <a:avLst/>
          </a:prstGeom>
          <a:solidFill>
            <a:srgbClr val="BF9000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5" name="text-123"/>
          <p:cNvSpPr txBox="1"/>
          <p:nvPr/>
        </p:nvSpPr>
        <p:spPr>
          <a:xfrm>
            <a:off x="768096" y="367588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</a:t>
            </a:r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二次标定</a:t>
            </a:r>
            <a:endParaRPr lang="en-US" sz="1600" dirty="0"/>
          </a:p>
        </p:txBody>
      </p:sp>
      <p:sp>
        <p:nvSpPr>
          <p:cNvPr id="36" name="text-124"/>
          <p:cNvSpPr txBox="1"/>
          <p:nvPr/>
        </p:nvSpPr>
        <p:spPr>
          <a:xfrm>
            <a:off x="768096" y="415137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面向多源跨域融合推断威胁</a:t>
            </a:r>
            <a:endParaRPr lang="en-US" sz="1000" dirty="0"/>
          </a:p>
        </p:txBody>
      </p:sp>
      <p:sp>
        <p:nvSpPr>
          <p:cNvPr id="37" name="box-125"/>
          <p:cNvSpPr/>
          <p:nvPr/>
        </p:nvSpPr>
        <p:spPr>
          <a:xfrm>
            <a:off x="2706624" y="3621024"/>
            <a:ext cx="5212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8" name="box-126"/>
          <p:cNvSpPr/>
          <p:nvPr/>
        </p:nvSpPr>
        <p:spPr>
          <a:xfrm>
            <a:off x="2798064" y="3730752"/>
            <a:ext cx="1106424" cy="1106424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3.1 融合推断场景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接收方已掌握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的信息</a:t>
            </a:r>
            <a:endParaRPr lang="en-US" sz="1000" dirty="0"/>
          </a:p>
        </p:txBody>
      </p:sp>
      <p:sp>
        <p:nvSpPr>
          <p:cNvPr id="39" name="arr-127"/>
          <p:cNvSpPr/>
          <p:nvPr/>
        </p:nvSpPr>
        <p:spPr>
          <a:xfrm>
            <a:off x="3922776" y="4192524"/>
            <a:ext cx="164592" cy="182880"/>
          </a:xfrm>
          <a:prstGeom prst="rightArrow">
            <a:avLst/>
          </a:prstGeom>
          <a:solidFill>
            <a:srgbClr val="BF9000"/>
          </a:solidFill>
          <a:ln w="12700">
            <a:solidFill>
              <a:srgbClr val="BF9000"/>
            </a:solidFill>
            <a:prstDash val="solid"/>
          </a:ln>
        </p:spPr>
      </p:sp>
      <p:sp>
        <p:nvSpPr>
          <p:cNvPr id="40" name="box-128"/>
          <p:cNvSpPr/>
          <p:nvPr/>
        </p:nvSpPr>
        <p:spPr>
          <a:xfrm>
            <a:off x="4105656" y="3730752"/>
            <a:ext cx="1106424" cy="1106424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3.2 推断敏感度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字段对推断的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最大贡献</a:t>
            </a:r>
            <a:endParaRPr lang="en-US" sz="1000" dirty="0"/>
          </a:p>
        </p:txBody>
      </p:sp>
      <p:sp>
        <p:nvSpPr>
          <p:cNvPr id="41" name="arr-129"/>
          <p:cNvSpPr/>
          <p:nvPr/>
        </p:nvSpPr>
        <p:spPr>
          <a:xfrm>
            <a:off x="5230368" y="4192524"/>
            <a:ext cx="164592" cy="182880"/>
          </a:xfrm>
          <a:prstGeom prst="rightArrow">
            <a:avLst/>
          </a:prstGeom>
          <a:solidFill>
            <a:srgbClr val="BF9000"/>
          </a:solidFill>
          <a:ln w="12700">
            <a:solidFill>
              <a:srgbClr val="BF9000"/>
            </a:solidFill>
            <a:prstDash val="solid"/>
          </a:ln>
        </p:spPr>
      </p:sp>
      <p:sp>
        <p:nvSpPr>
          <p:cNvPr id="42" name="box-130"/>
          <p:cNvSpPr/>
          <p:nvPr/>
        </p:nvSpPr>
        <p:spPr>
          <a:xfrm>
            <a:off x="5413248" y="3730752"/>
            <a:ext cx="1106424" cy="1106424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3.3 计算与验证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关联分析、集合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扫描、重训验证</a:t>
            </a:r>
            <a:endParaRPr lang="en-US" sz="1000" dirty="0"/>
          </a:p>
        </p:txBody>
      </p:sp>
      <p:sp>
        <p:nvSpPr>
          <p:cNvPr id="43" name="arr-131"/>
          <p:cNvSpPr/>
          <p:nvPr/>
        </p:nvSpPr>
        <p:spPr>
          <a:xfrm>
            <a:off x="6537960" y="4192524"/>
            <a:ext cx="164592" cy="182880"/>
          </a:xfrm>
          <a:prstGeom prst="rightArrow">
            <a:avLst/>
          </a:prstGeom>
          <a:solidFill>
            <a:srgbClr val="BF9000"/>
          </a:solidFill>
          <a:ln w="12700">
            <a:solidFill>
              <a:srgbClr val="BF9000"/>
            </a:solidFill>
            <a:prstDash val="solid"/>
          </a:ln>
        </p:spPr>
      </p:sp>
      <p:sp>
        <p:nvSpPr>
          <p:cNvPr id="44" name="box-132"/>
          <p:cNvSpPr/>
          <p:nvPr/>
        </p:nvSpPr>
        <p:spPr>
          <a:xfrm>
            <a:off x="6720840" y="3730752"/>
            <a:ext cx="1106424" cy="1106424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3.4 二次标定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折算影响程度，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查判定矩阵</a:t>
            </a:r>
            <a:endParaRPr lang="en-US" sz="1000" dirty="0"/>
          </a:p>
        </p:txBody>
      </p:sp>
      <p:sp>
        <p:nvSpPr>
          <p:cNvPr id="45" name="arr-133"/>
          <p:cNvSpPr/>
          <p:nvPr/>
        </p:nvSpPr>
        <p:spPr>
          <a:xfrm>
            <a:off x="7955280" y="4174236"/>
            <a:ext cx="182880" cy="219456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6" name="box-134"/>
          <p:cNvSpPr/>
          <p:nvPr/>
        </p:nvSpPr>
        <p:spPr>
          <a:xfrm>
            <a:off x="8174736" y="3621024"/>
            <a:ext cx="1280160" cy="1325880"/>
          </a:xfrm>
          <a:prstGeom prst="rect">
            <a:avLst/>
          </a:prstGeom>
          <a:solidFill>
            <a:srgbClr val="E7E6E6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字段推断敏感度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二次等级</a:t>
            </a:r>
            <a:endParaRPr lang="en-US" sz="1050" dirty="0"/>
          </a:p>
        </p:txBody>
      </p:sp>
      <p:sp>
        <p:nvSpPr>
          <p:cNvPr id="47" name="box-135"/>
          <p:cNvSpPr/>
          <p:nvPr/>
        </p:nvSpPr>
        <p:spPr>
          <a:xfrm>
            <a:off x="9564624" y="3621024"/>
            <a:ext cx="1929384" cy="1325880"/>
          </a:xfrm>
          <a:prstGeom prst="rect">
            <a:avLst/>
          </a:prstGeom>
          <a:solidFill>
            <a:srgbClr val="F7F7F7"/>
          </a:solidFill>
          <a:ln w="12700">
            <a:solidFill>
              <a:srgbClr val="A6A6A6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8" name="text-136"/>
          <p:cNvSpPr txBox="1"/>
          <p:nvPr/>
        </p:nvSpPr>
        <p:spPr>
          <a:xfrm>
            <a:off x="9619488" y="3648456"/>
            <a:ext cx="182880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《分类分级手册》要素“深度”、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“从严性”、附录 D、E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《风险评估手册》第 382 项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《披露细则》5.2~5.7</a:t>
            </a:r>
            <a:endParaRPr lang="en-US" sz="850" dirty="0"/>
          </a:p>
        </p:txBody>
      </p:sp>
      <p:sp>
        <p:nvSpPr>
          <p:cNvPr id="49" name="arr-137"/>
          <p:cNvSpPr/>
          <p:nvPr/>
        </p:nvSpPr>
        <p:spPr>
          <a:xfrm>
            <a:off x="1517904" y="4956048"/>
            <a:ext cx="365760" cy="146304"/>
          </a:xfrm>
          <a:prstGeom prst="down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50" name="box-138"/>
          <p:cNvSpPr/>
          <p:nvPr/>
        </p:nvSpPr>
        <p:spPr>
          <a:xfrm>
            <a:off x="694944" y="5120640"/>
            <a:ext cx="2011680" cy="868680"/>
          </a:xfrm>
          <a:prstGeom prst="rect">
            <a:avLst/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51" name="text-139"/>
          <p:cNvSpPr txBox="1"/>
          <p:nvPr/>
        </p:nvSpPr>
        <p:spPr>
          <a:xfrm>
            <a:off x="768096" y="5175504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四、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审批固化与更新</a:t>
            </a:r>
            <a:endParaRPr lang="en-US" sz="1600" dirty="0"/>
          </a:p>
        </p:txBody>
      </p:sp>
      <p:sp>
        <p:nvSpPr>
          <p:cNvPr id="52" name="text-140"/>
          <p:cNvSpPr txBox="1"/>
          <p:nvPr/>
        </p:nvSpPr>
        <p:spPr>
          <a:xfrm>
            <a:off x="768096" y="5650992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南网既有流程</a:t>
            </a:r>
            <a:endParaRPr lang="en-US" sz="1000" dirty="0"/>
          </a:p>
        </p:txBody>
      </p:sp>
      <p:sp>
        <p:nvSpPr>
          <p:cNvPr id="53" name="box-141"/>
          <p:cNvSpPr/>
          <p:nvPr/>
        </p:nvSpPr>
        <p:spPr>
          <a:xfrm>
            <a:off x="2706624" y="5120640"/>
            <a:ext cx="5212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546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54" name="box-142"/>
          <p:cNvSpPr/>
          <p:nvPr/>
        </p:nvSpPr>
        <p:spPr>
          <a:xfrm>
            <a:off x="2798064" y="5230368"/>
            <a:ext cx="1542288" cy="649224"/>
          </a:xfrm>
          <a:prstGeom prst="rect">
            <a:avLst/>
          </a:prstGeom>
          <a:solidFill>
            <a:srgbClr val="D9E2F3"/>
          </a:solidFill>
          <a:ln w="12700">
            <a:solidFill>
              <a:srgbClr val="44546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4.1 审批</a:t>
            </a:r>
            <a:endParaRPr lang="en-US" sz="1050" dirty="0"/>
          </a:p>
        </p:txBody>
      </p:sp>
      <p:sp>
        <p:nvSpPr>
          <p:cNvPr id="55" name="arr-143"/>
          <p:cNvSpPr/>
          <p:nvPr/>
        </p:nvSpPr>
        <p:spPr>
          <a:xfrm>
            <a:off x="4358640" y="5463540"/>
            <a:ext cx="164592" cy="182880"/>
          </a:xfrm>
          <a:prstGeom prst="rightArrow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56" name="box-144"/>
          <p:cNvSpPr/>
          <p:nvPr/>
        </p:nvSpPr>
        <p:spPr>
          <a:xfrm>
            <a:off x="4541520" y="5230368"/>
            <a:ext cx="1542288" cy="649224"/>
          </a:xfrm>
          <a:prstGeom prst="rect">
            <a:avLst/>
          </a:prstGeom>
          <a:solidFill>
            <a:srgbClr val="D9E2F3"/>
          </a:solidFill>
          <a:ln w="12700">
            <a:solidFill>
              <a:srgbClr val="44546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4.2 结果固化</a:t>
            </a:r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写入数据目录</a:t>
            </a:r>
            <a:endParaRPr lang="en-US" sz="1050" dirty="0"/>
          </a:p>
        </p:txBody>
      </p:sp>
      <p:sp>
        <p:nvSpPr>
          <p:cNvPr id="57" name="arr-145"/>
          <p:cNvSpPr/>
          <p:nvPr/>
        </p:nvSpPr>
        <p:spPr>
          <a:xfrm>
            <a:off x="6102096" y="5463540"/>
            <a:ext cx="164592" cy="182880"/>
          </a:xfrm>
          <a:prstGeom prst="rightArrow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58" name="box-146"/>
          <p:cNvSpPr/>
          <p:nvPr/>
        </p:nvSpPr>
        <p:spPr>
          <a:xfrm>
            <a:off x="6284976" y="5230368"/>
            <a:ext cx="1542288" cy="649224"/>
          </a:xfrm>
          <a:prstGeom prst="rect">
            <a:avLst/>
          </a:prstGeom>
          <a:solidFill>
            <a:srgbClr val="D9E2F3"/>
          </a:solidFill>
          <a:ln w="12700">
            <a:solidFill>
              <a:srgbClr val="44546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4.3 动态更新</a:t>
            </a:r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事件触发</a:t>
            </a:r>
            <a:endParaRPr lang="en-US" sz="1050" dirty="0"/>
          </a:p>
        </p:txBody>
      </p:sp>
      <p:sp>
        <p:nvSpPr>
          <p:cNvPr id="59" name="arr-147"/>
          <p:cNvSpPr/>
          <p:nvPr/>
        </p:nvSpPr>
        <p:spPr>
          <a:xfrm>
            <a:off x="7955280" y="5445252"/>
            <a:ext cx="182880" cy="219456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60" name="box-148"/>
          <p:cNvSpPr/>
          <p:nvPr/>
        </p:nvSpPr>
        <p:spPr>
          <a:xfrm>
            <a:off x="8174736" y="5120640"/>
            <a:ext cx="1280160" cy="868680"/>
          </a:xfrm>
          <a:prstGeom prst="rect">
            <a:avLst/>
          </a:prstGeom>
          <a:solidFill>
            <a:srgbClr val="E7E6E6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分类分级清单</a:t>
            </a:r>
            <a:endParaRPr lang="en-US" sz="1050" dirty="0"/>
          </a:p>
        </p:txBody>
      </p:sp>
      <p:sp>
        <p:nvSpPr>
          <p:cNvPr id="61" name="box-149"/>
          <p:cNvSpPr/>
          <p:nvPr/>
        </p:nvSpPr>
        <p:spPr>
          <a:xfrm>
            <a:off x="9564624" y="5120640"/>
            <a:ext cx="1929384" cy="868680"/>
          </a:xfrm>
          <a:prstGeom prst="rect">
            <a:avLst/>
          </a:prstGeom>
          <a:solidFill>
            <a:srgbClr val="F7F7F7"/>
          </a:solidFill>
          <a:ln w="12700">
            <a:solidFill>
              <a:srgbClr val="A6A6A6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2" name="text-150"/>
          <p:cNvSpPr txBox="1"/>
          <p:nvPr/>
        </p:nvSpPr>
        <p:spPr>
          <a:xfrm>
            <a:off x="9619488" y="5148072"/>
            <a:ext cx="18288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《分类分级手册》四(四)(五)(七)、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附录 E</a:t>
            </a:r>
            <a:endParaRPr lang="en-US" sz="850" dirty="0"/>
          </a:p>
        </p:txBody>
      </p:sp>
      <p:sp>
        <p:nvSpPr>
          <p:cNvPr id="63" name="text-151"/>
          <p:cNvSpPr txBox="1"/>
          <p:nvPr/>
        </p:nvSpPr>
        <p:spPr>
          <a:xfrm>
            <a:off x="694944" y="6172200"/>
            <a:ext cx="10799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一次标定执行南网现行规则；二次标定在一次等级的基础上，针对融合推断威胁对等级进行复核。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152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153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体系框架：输入、输出与约束</a:t>
            </a:r>
            <a:endParaRPr lang="en-US" sz="2400" dirty="0"/>
          </a:p>
        </p:txBody>
      </p:sp>
      <p:sp>
        <p:nvSpPr>
          <p:cNvPr id="5" name="text-154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体系的输入、输出与约束条件</a:t>
            </a:r>
            <a:endParaRPr lang="en-US" sz="1800" dirty="0"/>
          </a:p>
        </p:txBody>
      </p:sp>
      <p:sp>
        <p:nvSpPr>
          <p:cNvPr id="6" name="box-155"/>
          <p:cNvSpPr/>
          <p:nvPr/>
        </p:nvSpPr>
        <p:spPr>
          <a:xfrm>
            <a:off x="694944" y="1783080"/>
            <a:ext cx="2834640" cy="365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</a:t>
            </a:r>
            <a:endParaRPr lang="en-US" sz="1300" dirty="0"/>
          </a:p>
        </p:txBody>
      </p:sp>
      <p:sp>
        <p:nvSpPr>
          <p:cNvPr id="7" name="box-156"/>
          <p:cNvSpPr/>
          <p:nvPr/>
        </p:nvSpPr>
        <p:spPr>
          <a:xfrm>
            <a:off x="694944" y="2240280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南网规则文件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五份文件的条款、表格与示例</a:t>
            </a:r>
            <a:endParaRPr lang="en-US" sz="1200" dirty="0"/>
          </a:p>
        </p:txBody>
      </p:sp>
      <p:sp>
        <p:nvSpPr>
          <p:cNvPr id="8" name="box-157"/>
          <p:cNvSpPr/>
          <p:nvPr/>
        </p:nvSpPr>
        <p:spPr>
          <a:xfrm>
            <a:off x="694944" y="2990088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数据资产清单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字段的业务归属、名称与描述</a:t>
            </a:r>
            <a:endParaRPr lang="en-US" sz="1200" dirty="0"/>
          </a:p>
        </p:txBody>
      </p:sp>
      <p:sp>
        <p:nvSpPr>
          <p:cNvPr id="9" name="box-158"/>
          <p:cNvSpPr/>
          <p:nvPr/>
        </p:nvSpPr>
        <p:spPr>
          <a:xfrm>
            <a:off x="694944" y="3739896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样本数据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字段级历史样本</a:t>
            </a:r>
            <a:endParaRPr lang="en-US" sz="1200" dirty="0"/>
          </a:p>
        </p:txBody>
      </p:sp>
      <p:sp>
        <p:nvSpPr>
          <p:cNvPr id="10" name="box-159"/>
          <p:cNvSpPr/>
          <p:nvPr/>
        </p:nvSpPr>
        <p:spPr>
          <a:xfrm>
            <a:off x="694944" y="4489704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敏感目标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由数据主管部门确定</a:t>
            </a:r>
            <a:endParaRPr lang="en-US" sz="1200" dirty="0"/>
          </a:p>
        </p:txBody>
      </p:sp>
      <p:sp>
        <p:nvSpPr>
          <p:cNvPr id="11" name="arr-160"/>
          <p:cNvSpPr/>
          <p:nvPr/>
        </p:nvSpPr>
        <p:spPr>
          <a:xfrm>
            <a:off x="3611880" y="3429000"/>
            <a:ext cx="411480" cy="329184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2" name="box-161"/>
          <p:cNvSpPr/>
          <p:nvPr/>
        </p:nvSpPr>
        <p:spPr>
          <a:xfrm>
            <a:off x="4114800" y="1783080"/>
            <a:ext cx="3959352" cy="365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</a:t>
            </a:r>
            <a:endParaRPr lang="en-US" sz="1300" dirty="0"/>
          </a:p>
        </p:txBody>
      </p:sp>
      <p:sp>
        <p:nvSpPr>
          <p:cNvPr id="13" name="box-162"/>
          <p:cNvSpPr/>
          <p:nvPr/>
        </p:nvSpPr>
        <p:spPr>
          <a:xfrm>
            <a:off x="4114800" y="2240280"/>
            <a:ext cx="731520" cy="658368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</a:t>
            </a:r>
            <a:endParaRPr lang="en-US" sz="1400" dirty="0"/>
          </a:p>
        </p:txBody>
      </p:sp>
      <p:sp>
        <p:nvSpPr>
          <p:cNvPr id="14" name="box-163"/>
          <p:cNvSpPr/>
          <p:nvPr/>
        </p:nvSpPr>
        <p:spPr>
          <a:xfrm>
            <a:off x="4846320" y="2240280"/>
            <a:ext cx="3227832" cy="658368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信息类型归纳与结构化处理</a:t>
            </a:r>
            <a:endParaRPr lang="en-US" sz="1300" dirty="0"/>
          </a:p>
        </p:txBody>
      </p:sp>
      <p:sp>
        <p:nvSpPr>
          <p:cNvPr id="15" name="box-164"/>
          <p:cNvSpPr/>
          <p:nvPr/>
        </p:nvSpPr>
        <p:spPr>
          <a:xfrm>
            <a:off x="4114800" y="2990088"/>
            <a:ext cx="731520" cy="65836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</a:t>
            </a:r>
            <a:endParaRPr lang="en-US" sz="1400" dirty="0"/>
          </a:p>
        </p:txBody>
      </p:sp>
      <p:sp>
        <p:nvSpPr>
          <p:cNvPr id="16" name="box-165"/>
          <p:cNvSpPr/>
          <p:nvPr/>
        </p:nvSpPr>
        <p:spPr>
          <a:xfrm>
            <a:off x="4846320" y="2990088"/>
            <a:ext cx="3227832" cy="658368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一次标定</a:t>
            </a:r>
            <a:endParaRPr lang="en-US" sz="1300" dirty="0"/>
          </a:p>
        </p:txBody>
      </p:sp>
      <p:sp>
        <p:nvSpPr>
          <p:cNvPr id="17" name="box-166"/>
          <p:cNvSpPr/>
          <p:nvPr/>
        </p:nvSpPr>
        <p:spPr>
          <a:xfrm>
            <a:off x="4114800" y="3739896"/>
            <a:ext cx="731520" cy="658368"/>
          </a:xfrm>
          <a:prstGeom prst="rect">
            <a:avLst/>
          </a:prstGeom>
          <a:solidFill>
            <a:srgbClr val="BF9000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</a:t>
            </a:r>
            <a:endParaRPr lang="en-US" sz="1400" dirty="0"/>
          </a:p>
        </p:txBody>
      </p:sp>
      <p:sp>
        <p:nvSpPr>
          <p:cNvPr id="18" name="box-167"/>
          <p:cNvSpPr/>
          <p:nvPr/>
        </p:nvSpPr>
        <p:spPr>
          <a:xfrm>
            <a:off x="4846320" y="3739896"/>
            <a:ext cx="3227832" cy="658368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二次标定</a:t>
            </a:r>
            <a:endParaRPr lang="en-US" sz="1300" dirty="0"/>
          </a:p>
        </p:txBody>
      </p:sp>
      <p:sp>
        <p:nvSpPr>
          <p:cNvPr id="19" name="box-168"/>
          <p:cNvSpPr/>
          <p:nvPr/>
        </p:nvSpPr>
        <p:spPr>
          <a:xfrm>
            <a:off x="4114800" y="4489704"/>
            <a:ext cx="731520" cy="658368"/>
          </a:xfrm>
          <a:prstGeom prst="rect">
            <a:avLst/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</a:t>
            </a:r>
            <a:endParaRPr lang="en-US" sz="1400" dirty="0"/>
          </a:p>
        </p:txBody>
      </p:sp>
      <p:sp>
        <p:nvSpPr>
          <p:cNvPr id="20" name="box-169"/>
          <p:cNvSpPr/>
          <p:nvPr/>
        </p:nvSpPr>
        <p:spPr>
          <a:xfrm>
            <a:off x="4846320" y="4489704"/>
            <a:ext cx="3227832" cy="658368"/>
          </a:xfrm>
          <a:prstGeom prst="rect">
            <a:avLst/>
          </a:prstGeom>
          <a:solidFill>
            <a:srgbClr val="D9E2F3"/>
          </a:solidFill>
          <a:ln w="12700">
            <a:solidFill>
              <a:srgbClr val="44546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审批固化与动态更新</a:t>
            </a:r>
            <a:endParaRPr lang="en-US" sz="1300" dirty="0"/>
          </a:p>
        </p:txBody>
      </p:sp>
      <p:sp>
        <p:nvSpPr>
          <p:cNvPr id="21" name="arr-170"/>
          <p:cNvSpPr/>
          <p:nvPr/>
        </p:nvSpPr>
        <p:spPr>
          <a:xfrm>
            <a:off x="8156448" y="3429000"/>
            <a:ext cx="411480" cy="329184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2" name="box-171"/>
          <p:cNvSpPr/>
          <p:nvPr/>
        </p:nvSpPr>
        <p:spPr>
          <a:xfrm>
            <a:off x="8659368" y="1783080"/>
            <a:ext cx="2834640" cy="365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</a:t>
            </a:r>
            <a:endParaRPr lang="en-US" sz="1300" dirty="0"/>
          </a:p>
        </p:txBody>
      </p:sp>
      <p:sp>
        <p:nvSpPr>
          <p:cNvPr id="23" name="box-172"/>
          <p:cNvSpPr/>
          <p:nvPr/>
        </p:nvSpPr>
        <p:spPr>
          <a:xfrm>
            <a:off x="8659368" y="2240280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分类分级清单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分类路径、一次等级、二次等级</a:t>
            </a:r>
            <a:endParaRPr lang="en-US" sz="1200" dirty="0"/>
          </a:p>
        </p:txBody>
      </p:sp>
      <p:sp>
        <p:nvSpPr>
          <p:cNvPr id="24" name="box-173"/>
          <p:cNvSpPr/>
          <p:nvPr/>
        </p:nvSpPr>
        <p:spPr>
          <a:xfrm>
            <a:off x="8659368" y="2990088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字段推断敏感度表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被推断的数据、背景、敏感度</a:t>
            </a:r>
            <a:endParaRPr lang="en-US" sz="1200" dirty="0"/>
          </a:p>
        </p:txBody>
      </p:sp>
      <p:sp>
        <p:nvSpPr>
          <p:cNvPr id="25" name="box-174"/>
          <p:cNvSpPr/>
          <p:nvPr/>
        </p:nvSpPr>
        <p:spPr>
          <a:xfrm>
            <a:off x="8659368" y="3739896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等级复核意见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二次标定的依据说明</a:t>
            </a:r>
            <a:endParaRPr lang="en-US" sz="1200" dirty="0"/>
          </a:p>
        </p:txBody>
      </p:sp>
      <p:sp>
        <p:nvSpPr>
          <p:cNvPr id="26" name="box-175"/>
          <p:cNvSpPr/>
          <p:nvPr/>
        </p:nvSpPr>
        <p:spPr>
          <a:xfrm>
            <a:off x="8659368" y="4489704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更新记录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触发事件、等级变动及原因</a:t>
            </a:r>
            <a:endParaRPr lang="en-US" sz="1200" dirty="0"/>
          </a:p>
        </p:txBody>
      </p:sp>
      <p:sp>
        <p:nvSpPr>
          <p:cNvPr id="27" name="box-176"/>
          <p:cNvSpPr/>
          <p:nvPr/>
        </p:nvSpPr>
        <p:spPr>
          <a:xfrm>
            <a:off x="694944" y="5394960"/>
            <a:ext cx="10799064" cy="731520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8" name="text-177"/>
          <p:cNvSpPr txBox="1"/>
          <p:nvPr/>
        </p:nvSpPr>
        <p:spPr>
          <a:xfrm>
            <a:off x="822960" y="5394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约束</a:t>
            </a:r>
            <a:endParaRPr lang="en-US" sz="1400" dirty="0"/>
          </a:p>
        </p:txBody>
      </p:sp>
      <p:sp>
        <p:nvSpPr>
          <p:cNvPr id="29" name="text-178"/>
          <p:cNvSpPr txBox="1"/>
          <p:nvPr/>
        </p:nvSpPr>
        <p:spPr>
          <a:xfrm>
            <a:off x="1554480" y="5413248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二次等级不低于一次等级</a:t>
            </a:r>
            <a:endParaRPr lang="en-US" sz="1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《分类分级手册》“从严性”</a:t>
            </a:r>
            <a:endParaRPr lang="en-US" sz="1600" dirty="0"/>
          </a:p>
        </p:txBody>
      </p:sp>
      <p:sp>
        <p:nvSpPr>
          <p:cNvPr id="30" name="text-179"/>
          <p:cNvSpPr txBox="1"/>
          <p:nvPr/>
        </p:nvSpPr>
        <p:spPr>
          <a:xfrm>
            <a:off x="4041648" y="5413248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法定公开字段等级不调整</a:t>
            </a:r>
            <a:endParaRPr lang="en-US" sz="1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《披露细则》第 5 部分</a:t>
            </a:r>
            <a:endParaRPr lang="en-US" sz="1600" dirty="0"/>
          </a:p>
        </p:txBody>
      </p:sp>
      <p:sp>
        <p:nvSpPr>
          <p:cNvPr id="31" name="text-180"/>
          <p:cNvSpPr txBox="1"/>
          <p:nvPr/>
        </p:nvSpPr>
        <p:spPr>
          <a:xfrm>
            <a:off x="6528816" y="5413248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4、5 级只提出申报建议</a:t>
            </a:r>
            <a:endParaRPr lang="en-US" sz="1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《分类分级手册》级别定义</a:t>
            </a:r>
            <a:endParaRPr lang="en-US" sz="1600" dirty="0"/>
          </a:p>
        </p:txBody>
      </p:sp>
      <p:sp>
        <p:nvSpPr>
          <p:cNvPr id="32" name="text-181"/>
          <p:cNvSpPr txBox="1"/>
          <p:nvPr/>
        </p:nvSpPr>
        <p:spPr>
          <a:xfrm>
            <a:off x="9015984" y="5413248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定级结论以审批为准</a:t>
            </a:r>
            <a:endParaRPr lang="en-US" sz="1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《分类分级手册》四(四)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82"/>
          <p:cNvSpPr txBox="1"/>
          <p:nvPr/>
        </p:nvSpPr>
        <p:spPr>
          <a:xfrm>
            <a:off x="155448" y="2011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汇报提纲</a:t>
            </a:r>
            <a:endParaRPr lang="en-US" sz="2800" dirty="0"/>
          </a:p>
        </p:txBody>
      </p:sp>
      <p:pic>
        <p:nvPicPr>
          <p:cNvPr id="3" name="img-183" descr="/data1/duhaocun/projects/GNN_Aggresvation/reports/南网/南网claude/V9/assets/outline_map.jpe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2423160" y="1828800"/>
            <a:ext cx="7534656" cy="3630168"/>
          </a:xfrm>
          <a:prstGeom prst="rect">
            <a:avLst/>
          </a:prstGeom>
        </p:spPr>
      </p:pic>
      <p:sp>
        <p:nvSpPr>
          <p:cNvPr id="4" name="num-184"/>
          <p:cNvSpPr/>
          <p:nvPr/>
        </p:nvSpPr>
        <p:spPr>
          <a:xfrm>
            <a:off x="3840480" y="205740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ln-185"/>
          <p:cNvSpPr/>
          <p:nvPr/>
        </p:nvSpPr>
        <p:spPr>
          <a:xfrm>
            <a:off x="4480560" y="234086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6" name="text-186"/>
          <p:cNvSpPr txBox="1"/>
          <p:nvPr/>
        </p:nvSpPr>
        <p:spPr>
          <a:xfrm>
            <a:off x="5166360" y="20574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背景与依据</a:t>
            </a:r>
            <a:endParaRPr lang="en-US" sz="2400" dirty="0"/>
          </a:p>
        </p:txBody>
      </p:sp>
      <p:sp>
        <p:nvSpPr>
          <p:cNvPr id="7" name="num-187"/>
          <p:cNvSpPr/>
          <p:nvPr/>
        </p:nvSpPr>
        <p:spPr>
          <a:xfrm>
            <a:off x="3840480" y="292608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ln-188"/>
          <p:cNvSpPr/>
          <p:nvPr/>
        </p:nvSpPr>
        <p:spPr>
          <a:xfrm>
            <a:off x="4480560" y="320954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9" name="text-189"/>
          <p:cNvSpPr txBox="1"/>
          <p:nvPr/>
        </p:nvSpPr>
        <p:spPr>
          <a:xfrm>
            <a:off x="5166360" y="29260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体系框架</a:t>
            </a:r>
            <a:endParaRPr lang="en-US" sz="2400" dirty="0"/>
          </a:p>
        </p:txBody>
      </p:sp>
      <p:sp>
        <p:nvSpPr>
          <p:cNvPr id="10" name="num-190"/>
          <p:cNvSpPr/>
          <p:nvPr/>
        </p:nvSpPr>
        <p:spPr>
          <a:xfrm>
            <a:off x="3840480" y="3794760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F7F7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ln-191"/>
          <p:cNvSpPr/>
          <p:nvPr/>
        </p:nvSpPr>
        <p:spPr>
          <a:xfrm>
            <a:off x="4480560" y="4078224"/>
            <a:ext cx="5486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dash"/>
            <a:tailEnd type="none"/>
          </a:ln>
        </p:spPr>
      </p:sp>
      <p:sp>
        <p:nvSpPr>
          <p:cNvPr id="12" name="text-192"/>
          <p:cNvSpPr txBox="1"/>
          <p:nvPr/>
        </p:nvSpPr>
        <p:spPr>
          <a:xfrm>
            <a:off x="5166360" y="37947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关键方法</a:t>
            </a:r>
            <a:endParaRPr lang="en-US" sz="2400" dirty="0"/>
          </a:p>
        </p:txBody>
      </p:sp>
      <p:sp>
        <p:nvSpPr>
          <p:cNvPr id="13" name="num-193"/>
          <p:cNvSpPr/>
          <p:nvPr/>
        </p:nvSpPr>
        <p:spPr>
          <a:xfrm>
            <a:off x="3840480" y="466344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ln-194"/>
          <p:cNvSpPr/>
          <p:nvPr/>
        </p:nvSpPr>
        <p:spPr>
          <a:xfrm>
            <a:off x="4480560" y="494690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15" name="text-195"/>
          <p:cNvSpPr txBox="1"/>
          <p:nvPr/>
        </p:nvSpPr>
        <p:spPr>
          <a:xfrm>
            <a:off x="5166360" y="46634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下一步工作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196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197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一、信息类型归纳与结构化处理</a:t>
            </a:r>
            <a:endParaRPr lang="en-US" sz="2400" dirty="0"/>
          </a:p>
        </p:txBody>
      </p:sp>
      <p:sp>
        <p:nvSpPr>
          <p:cNvPr id="5" name="box-198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199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《分类分级手册》四(一)(二)、附录 A；《披露细则》2.7、5.1</a:t>
            </a:r>
            <a:endParaRPr lang="en-US" sz="1100" dirty="0"/>
          </a:p>
        </p:txBody>
      </p:sp>
      <p:sp>
        <p:nvSpPr>
          <p:cNvPr id="7" name="text-200"/>
          <p:cNvSpPr txBox="1"/>
          <p:nvPr/>
        </p:nvSpPr>
        <p:spPr>
          <a:xfrm>
            <a:off x="694944" y="109728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1.1 业务流归类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：按企业级业务架构分类到字段</a:t>
            </a:r>
            <a:endParaRPr lang="en-US" sz="1800" dirty="0"/>
          </a:p>
        </p:txBody>
      </p:sp>
      <p:sp>
        <p:nvSpPr>
          <p:cNvPr id="8" name="chev-201"/>
          <p:cNvSpPr/>
          <p:nvPr/>
        </p:nvSpPr>
        <p:spPr>
          <a:xfrm>
            <a:off x="694944" y="1600200"/>
            <a:ext cx="1682496" cy="457200"/>
          </a:xfrm>
          <a:prstGeom prst="homePlate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专业域</a:t>
            </a:r>
            <a:endParaRPr lang="en-US" sz="1250" dirty="0"/>
          </a:p>
        </p:txBody>
      </p:sp>
      <p:sp>
        <p:nvSpPr>
          <p:cNvPr id="9" name="chev-202"/>
          <p:cNvSpPr/>
          <p:nvPr/>
        </p:nvSpPr>
        <p:spPr>
          <a:xfrm>
            <a:off x="2267712" y="1600200"/>
            <a:ext cx="1682496" cy="457200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专业级流程组</a:t>
            </a:r>
            <a:endParaRPr lang="en-US" sz="1250" dirty="0"/>
          </a:p>
        </p:txBody>
      </p:sp>
      <p:sp>
        <p:nvSpPr>
          <p:cNvPr id="10" name="chev-203"/>
          <p:cNvSpPr/>
          <p:nvPr/>
        </p:nvSpPr>
        <p:spPr>
          <a:xfrm>
            <a:off x="3840480" y="1600200"/>
            <a:ext cx="1682496" cy="457200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操作级流程</a:t>
            </a:r>
            <a:endParaRPr lang="en-US" sz="1250" dirty="0"/>
          </a:p>
        </p:txBody>
      </p:sp>
      <p:sp>
        <p:nvSpPr>
          <p:cNvPr id="11" name="chev-204"/>
          <p:cNvSpPr/>
          <p:nvPr/>
        </p:nvSpPr>
        <p:spPr>
          <a:xfrm>
            <a:off x="5413248" y="1600200"/>
            <a:ext cx="1682496" cy="457200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业务对象</a:t>
            </a:r>
            <a:endParaRPr lang="en-US" sz="1250" dirty="0"/>
          </a:p>
        </p:txBody>
      </p:sp>
      <p:sp>
        <p:nvSpPr>
          <p:cNvPr id="12" name="chev-205"/>
          <p:cNvSpPr/>
          <p:nvPr/>
        </p:nvSpPr>
        <p:spPr>
          <a:xfrm>
            <a:off x="6986016" y="1600200"/>
            <a:ext cx="1682496" cy="457200"/>
          </a:xfrm>
          <a:prstGeom prst="chevron">
            <a:avLst/>
          </a:prstGeom>
          <a:solidFill>
            <a:srgbClr val="1F4E7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数据字段</a:t>
            </a:r>
            <a:endParaRPr lang="en-US" sz="1250" dirty="0"/>
          </a:p>
        </p:txBody>
      </p:sp>
      <p:sp>
        <p:nvSpPr>
          <p:cNvPr id="13" name="box-206"/>
          <p:cNvSpPr/>
          <p:nvPr/>
        </p:nvSpPr>
        <p:spPr>
          <a:xfrm>
            <a:off x="8915400" y="1481328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7F7F7F"/>
          </a:solidFill>
          <a:ln w="12700">
            <a:solidFill>
              <a:srgbClr val="7F7F7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</a:t>
            </a:r>
            <a:endParaRPr lang="en-US" sz="1000" dirty="0"/>
          </a:p>
        </p:txBody>
      </p:sp>
      <p:graphicFrame>
        <p:nvGraphicFramePr>
          <p:cNvPr id="11" name="table-2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15400" y="1737360"/>
          <a:ext cx="2578608" cy="914400"/>
        </p:xfrm>
        <a:graphic>
          <a:graphicData uri="http://schemas.openxmlformats.org/drawingml/2006/table">
            <a:tbl>
              <a:tblPr/>
              <a:tblGrid>
                <a:gridCol w="257860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人力资源域 → 规划与计划管理 → 人力资源综合计划业务 → 单位工作计划信息 → 生效日期、单位等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15" name="text-208"/>
          <p:cNvSpPr txBox="1"/>
          <p:nvPr/>
        </p:nvSpPr>
        <p:spPr>
          <a:xfrm>
            <a:off x="694944" y="25146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1.2 数据流标注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：标注每个字段流向谁、何时公开</a:t>
            </a:r>
            <a:endParaRPr lang="en-US" sz="1800" dirty="0"/>
          </a:p>
        </p:txBody>
      </p:sp>
      <p:graphicFrame>
        <p:nvGraphicFramePr>
          <p:cNvPr id="21" name="table-2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3017520"/>
          <a:ext cx="10799064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035040"/>
                <a:gridCol w="3026664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标注项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取值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依据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披露层级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公众信息 / 公开信息 / 特定信息 / 内部数据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《披露细则》5.1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披露时点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预测类：交易申报前；出清类：交易日；运行类：运行日次日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《披露细则》2.7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是否法定公开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法定公开字段的等级不作调整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《披露细则》第 5 部分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-210"/>
          <p:cNvSpPr txBox="1"/>
          <p:nvPr/>
        </p:nvSpPr>
        <p:spPr>
          <a:xfrm>
            <a:off x="694944" y="46177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1.3 异构信息结构化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：将规则文件与字段说明解析为结构化记录</a:t>
            </a:r>
            <a:endParaRPr lang="en-US" sz="1800" dirty="0"/>
          </a:p>
        </p:txBody>
      </p:sp>
      <p:sp>
        <p:nvSpPr>
          <p:cNvPr id="18" name="box-211"/>
          <p:cNvSpPr/>
          <p:nvPr/>
        </p:nvSpPr>
        <p:spPr>
          <a:xfrm>
            <a:off x="694944" y="5120640"/>
            <a:ext cx="2286000" cy="777240"/>
          </a:xfrm>
          <a:prstGeom prst="rect">
            <a:avLst/>
          </a:prstGeom>
          <a:solidFill>
            <a:srgbClr val="E7E6E6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规则文件、字段说明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条款、表格与文本</a:t>
            </a:r>
            <a:endParaRPr lang="en-US" sz="1200" dirty="0"/>
          </a:p>
        </p:txBody>
      </p:sp>
      <p:sp>
        <p:nvSpPr>
          <p:cNvPr id="19" name="arr-212"/>
          <p:cNvSpPr/>
          <p:nvPr/>
        </p:nvSpPr>
        <p:spPr>
          <a:xfrm>
            <a:off x="3044952" y="5376672"/>
            <a:ext cx="411480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0" name="box-213"/>
          <p:cNvSpPr/>
          <p:nvPr/>
        </p:nvSpPr>
        <p:spPr>
          <a:xfrm>
            <a:off x="3520440" y="5120640"/>
            <a:ext cx="2651760" cy="77724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大语言模型 + 检索增强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按字段约束抽取并校验</a:t>
            </a:r>
            <a:endParaRPr lang="en-US" sz="1200" dirty="0"/>
          </a:p>
        </p:txBody>
      </p:sp>
      <p:sp>
        <p:nvSpPr>
          <p:cNvPr id="21" name="arr-214"/>
          <p:cNvSpPr/>
          <p:nvPr/>
        </p:nvSpPr>
        <p:spPr>
          <a:xfrm>
            <a:off x="6236208" y="5376672"/>
            <a:ext cx="411480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2" name="box-215"/>
          <p:cNvSpPr/>
          <p:nvPr/>
        </p:nvSpPr>
        <p:spPr>
          <a:xfrm>
            <a:off x="6711696" y="5120640"/>
            <a:ext cx="2651760" cy="777240"/>
          </a:xfrm>
          <a:prstGeom prst="rect">
            <a:avLst/>
          </a:prstGeom>
          <a:solidFill>
            <a:srgbClr val="BDD7EE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结构化规则库与字段清单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可检索、可追溯到条款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216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217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二、一次标定：面向本体安全威胁</a:t>
            </a:r>
            <a:endParaRPr lang="en-US" sz="2400" dirty="0"/>
          </a:p>
        </p:txBody>
      </p:sp>
      <p:sp>
        <p:nvSpPr>
          <p:cNvPr id="5" name="box-218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219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《分类分级手册》四(三)、表 4.1~4.4、附录 C</a:t>
            </a:r>
            <a:endParaRPr lang="en-US" sz="1100" dirty="0"/>
          </a:p>
        </p:txBody>
      </p:sp>
      <p:sp>
        <p:nvSpPr>
          <p:cNvPr id="7" name="text-220"/>
          <p:cNvSpPr txBox="1"/>
          <p:nvPr/>
        </p:nvSpPr>
        <p:spPr>
          <a:xfrm>
            <a:off x="694944" y="11430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2.1 影响分析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：数据本身泄露后的影响</a:t>
            </a:r>
            <a:endParaRPr lang="en-US" sz="1800" dirty="0"/>
          </a:p>
        </p:txBody>
      </p:sp>
      <p:sp>
        <p:nvSpPr>
          <p:cNvPr id="8" name="box-221"/>
          <p:cNvSpPr/>
          <p:nvPr/>
        </p:nvSpPr>
        <p:spPr>
          <a:xfrm>
            <a:off x="694944" y="1783080"/>
            <a:ext cx="128016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影响对象</a:t>
            </a:r>
            <a:endParaRPr lang="en-US" sz="1300" dirty="0"/>
          </a:p>
        </p:txBody>
      </p:sp>
      <p:sp>
        <p:nvSpPr>
          <p:cNvPr id="9" name="box-222"/>
          <p:cNvSpPr/>
          <p:nvPr/>
        </p:nvSpPr>
        <p:spPr>
          <a:xfrm>
            <a:off x="1975104" y="178308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群体：国家安全、公共利益、经济运行、社会秩序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个体：个人、其他组织；单位自身</a:t>
            </a:r>
            <a:endParaRPr lang="en-US" sz="1150" dirty="0"/>
          </a:p>
        </p:txBody>
      </p:sp>
      <p:sp>
        <p:nvSpPr>
          <p:cNvPr id="10" name="box-223"/>
          <p:cNvSpPr/>
          <p:nvPr/>
        </p:nvSpPr>
        <p:spPr>
          <a:xfrm>
            <a:off x="694944" y="2743200"/>
            <a:ext cx="128016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影响范围</a:t>
            </a:r>
            <a:endParaRPr lang="en-US" sz="1300" dirty="0"/>
          </a:p>
        </p:txBody>
      </p:sp>
      <p:sp>
        <p:nvSpPr>
          <p:cNvPr id="11" name="box-224"/>
          <p:cNvSpPr/>
          <p:nvPr/>
        </p:nvSpPr>
        <p:spPr>
          <a:xfrm>
            <a:off x="1975104" y="274320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区域、规模、覆盖度</a:t>
            </a:r>
            <a:endParaRPr lang="en-US" sz="1150" dirty="0"/>
          </a:p>
        </p:txBody>
      </p:sp>
      <p:sp>
        <p:nvSpPr>
          <p:cNvPr id="12" name="box-225"/>
          <p:cNvSpPr/>
          <p:nvPr/>
        </p:nvSpPr>
        <p:spPr>
          <a:xfrm>
            <a:off x="694944" y="3703320"/>
            <a:ext cx="1280160" cy="8229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影响程度</a:t>
            </a:r>
            <a:endParaRPr lang="en-US" sz="1300" dirty="0"/>
          </a:p>
        </p:txBody>
      </p:sp>
      <p:sp>
        <p:nvSpPr>
          <p:cNvPr id="13" name="box-226"/>
          <p:cNvSpPr/>
          <p:nvPr/>
        </p:nvSpPr>
        <p:spPr>
          <a:xfrm>
            <a:off x="1975104" y="370332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 / 轻微 / 一般 / 严重 / 特别严重</a:t>
            </a:r>
            <a:endParaRPr lang="en-US" sz="1150" dirty="0"/>
          </a:p>
        </p:txBody>
      </p:sp>
      <p:sp>
        <p:nvSpPr>
          <p:cNvPr id="14" name="arr-227"/>
          <p:cNvSpPr/>
          <p:nvPr/>
        </p:nvSpPr>
        <p:spPr>
          <a:xfrm>
            <a:off x="5724144" y="2971800"/>
            <a:ext cx="365760" cy="310896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5" name="text-228"/>
          <p:cNvSpPr txBox="1"/>
          <p:nvPr/>
        </p:nvSpPr>
        <p:spPr>
          <a:xfrm>
            <a:off x="694944" y="4846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一次等级是二次标定的起点，也是等级的下限。</a:t>
            </a:r>
            <a:endParaRPr lang="en-US" sz="1300" dirty="0"/>
          </a:p>
        </p:txBody>
      </p:sp>
      <p:sp>
        <p:nvSpPr>
          <p:cNvPr id="16" name="text-229"/>
          <p:cNvSpPr txBox="1"/>
          <p:nvPr/>
        </p:nvSpPr>
        <p:spPr>
          <a:xfrm>
            <a:off x="6217920" y="1143000"/>
            <a:ext cx="5276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2.2 等级判定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：查判定矩阵，就高不就低</a:t>
            </a:r>
            <a:endParaRPr lang="en-US" sz="1800" dirty="0"/>
          </a:p>
        </p:txBody>
      </p:sp>
      <p:graphicFrame>
        <p:nvGraphicFramePr>
          <p:cNvPr id="12" name="table-2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783080"/>
          <a:ext cx="5276088" cy="914400"/>
        </p:xfrm>
        <a:graphic>
          <a:graphicData uri="http://schemas.openxmlformats.org/drawingml/2006/table">
            <a:tbl>
              <a:tblPr/>
              <a:tblGrid>
                <a:gridCol w="1247075"/>
                <a:gridCol w="690688"/>
                <a:gridCol w="786617"/>
                <a:gridCol w="786617"/>
                <a:gridCol w="786617"/>
                <a:gridCol w="978475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影响对象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轻微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一般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严重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特别严重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国家安全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公共利益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经济运行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社会秩序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其他组织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公民个人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单位自身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</a:tr>
            </a:tbl>
          </a:graphicData>
        </a:graphic>
      </p:graphicFrame>
      <p:sp>
        <p:nvSpPr>
          <p:cNvPr id="18" name="text-231"/>
          <p:cNvSpPr txBox="1"/>
          <p:nvPr/>
        </p:nvSpPr>
        <p:spPr>
          <a:xfrm>
            <a:off x="6217920" y="4937760"/>
            <a:ext cx="5276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1~3 级为一般数据，4 级为重要数据，5 级为核心数据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232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233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三、二次标定：面向多源跨域融合推断威胁（1/6）</a:t>
            </a:r>
            <a:endParaRPr lang="en-US" sz="2400" dirty="0"/>
          </a:p>
        </p:txBody>
      </p:sp>
      <p:sp>
        <p:nvSpPr>
          <p:cNvPr id="5" name="box-234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235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《分类分级手册》分级要素“深度”、附录 D（分析挖掘出更敏感的衍生数据应提高级别）；《风险评估手册》第 382 项</a:t>
            </a:r>
            <a:endParaRPr lang="en-US" sz="1100" dirty="0"/>
          </a:p>
        </p:txBody>
      </p:sp>
      <p:sp>
        <p:nvSpPr>
          <p:cNvPr id="7" name="text-236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总体流程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：评估字段在融合推断中的敏感度，据此复核等级</a:t>
            </a:r>
            <a:endParaRPr lang="en-US" sz="1800" dirty="0"/>
          </a:p>
        </p:txBody>
      </p:sp>
      <p:sp>
        <p:nvSpPr>
          <p:cNvPr id="8" name="box-237"/>
          <p:cNvSpPr/>
          <p:nvPr/>
        </p:nvSpPr>
        <p:spPr>
          <a:xfrm>
            <a:off x="694944" y="1691640"/>
            <a:ext cx="10799064" cy="685800"/>
          </a:xfrm>
          <a:prstGeom prst="rect">
            <a:avLst/>
          </a:prstGeom>
          <a:ln w="15875">
            <a:solidFill>
              <a:srgbClr val="5B9BD5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text-238"/>
          <p:cNvSpPr txBox="1"/>
          <p:nvPr/>
        </p:nvSpPr>
        <p:spPr>
          <a:xfrm>
            <a:off x="841248" y="1709928"/>
            <a:ext cx="105156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一次等级反映数据本身泄露的后果。部分字段单独泄露影响有限，但与接收方已掌握的数据融合后，可</a:t>
            </a:r>
            <a:pPr algn="l"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推断出更高等级的数据</a:t>
            </a:r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，其等级需要在一次标定的基础上复核。</a:t>
            </a:r>
            <a:endParaRPr lang="en-US" sz="1350" dirty="0"/>
          </a:p>
        </p:txBody>
      </p:sp>
      <p:sp>
        <p:nvSpPr>
          <p:cNvPr id="10" name="box-239"/>
          <p:cNvSpPr/>
          <p:nvPr/>
        </p:nvSpPr>
        <p:spPr>
          <a:xfrm>
            <a:off x="694944" y="2697480"/>
            <a:ext cx="251460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box-240"/>
          <p:cNvSpPr/>
          <p:nvPr/>
        </p:nvSpPr>
        <p:spPr>
          <a:xfrm>
            <a:off x="694944" y="2697480"/>
            <a:ext cx="2514600" cy="41148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3.1</a:t>
            </a:r>
            <a:endParaRPr lang="en-US" sz="1500" dirty="0"/>
          </a:p>
        </p:txBody>
      </p:sp>
      <p:sp>
        <p:nvSpPr>
          <p:cNvPr id="12" name="text-241"/>
          <p:cNvSpPr txBox="1"/>
          <p:nvPr/>
        </p:nvSpPr>
        <p:spPr>
          <a:xfrm>
            <a:off x="786384" y="3200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融合推断场景</a:t>
            </a:r>
            <a:endParaRPr lang="en-US" sz="1500" dirty="0"/>
          </a:p>
        </p:txBody>
      </p:sp>
      <p:sp>
        <p:nvSpPr>
          <p:cNvPr id="13" name="text-242"/>
          <p:cNvSpPr txBox="1"/>
          <p:nvPr/>
        </p:nvSpPr>
        <p:spPr>
          <a:xfrm>
            <a:off x="786384" y="363931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各类接收方已掌握、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可能获得的信息</a:t>
            </a:r>
            <a:endParaRPr lang="en-US" sz="1150" dirty="0"/>
          </a:p>
        </p:txBody>
      </p:sp>
      <p:sp>
        <p:nvSpPr>
          <p:cNvPr id="14" name="arr-243"/>
          <p:cNvSpPr/>
          <p:nvPr/>
        </p:nvSpPr>
        <p:spPr>
          <a:xfrm>
            <a:off x="3227832" y="3611880"/>
            <a:ext cx="210312" cy="274320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5" name="arr-244"/>
          <p:cNvSpPr/>
          <p:nvPr/>
        </p:nvSpPr>
        <p:spPr>
          <a:xfrm>
            <a:off x="1764792" y="4846320"/>
            <a:ext cx="365760" cy="201168"/>
          </a:xfrm>
          <a:prstGeom prst="down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6" name="box-245"/>
          <p:cNvSpPr/>
          <p:nvPr/>
        </p:nvSpPr>
        <p:spPr>
          <a:xfrm>
            <a:off x="694944" y="5093208"/>
            <a:ext cx="2514600" cy="457200"/>
          </a:xfrm>
          <a:prstGeom prst="rect">
            <a:avLst/>
          </a:prstGeom>
          <a:solidFill>
            <a:srgbClr val="E7E6E6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推断场景</a:t>
            </a:r>
            <a:endParaRPr lang="en-US" sz="1200" dirty="0"/>
          </a:p>
        </p:txBody>
      </p:sp>
      <p:sp>
        <p:nvSpPr>
          <p:cNvPr id="17" name="box-246"/>
          <p:cNvSpPr/>
          <p:nvPr/>
        </p:nvSpPr>
        <p:spPr>
          <a:xfrm>
            <a:off x="3456432" y="2697480"/>
            <a:ext cx="251460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8" name="box-247"/>
          <p:cNvSpPr/>
          <p:nvPr/>
        </p:nvSpPr>
        <p:spPr>
          <a:xfrm>
            <a:off x="3456432" y="2697480"/>
            <a:ext cx="2514600" cy="41148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3.2</a:t>
            </a:r>
            <a:endParaRPr lang="en-US" sz="1500" dirty="0"/>
          </a:p>
        </p:txBody>
      </p:sp>
      <p:sp>
        <p:nvSpPr>
          <p:cNvPr id="19" name="text-248"/>
          <p:cNvSpPr txBox="1"/>
          <p:nvPr/>
        </p:nvSpPr>
        <p:spPr>
          <a:xfrm>
            <a:off x="3547872" y="3200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字段推断敏感度</a:t>
            </a:r>
            <a:endParaRPr lang="en-US" sz="1500" dirty="0"/>
          </a:p>
        </p:txBody>
      </p:sp>
      <p:sp>
        <p:nvSpPr>
          <p:cNvPr id="20" name="text-249"/>
          <p:cNvSpPr txBox="1"/>
          <p:nvPr/>
        </p:nvSpPr>
        <p:spPr>
          <a:xfrm>
            <a:off x="3547872" y="363931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字段在已有信息基础上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对敏感数据推断的最大贡献</a:t>
            </a:r>
            <a:endParaRPr lang="en-US" sz="1150" dirty="0"/>
          </a:p>
        </p:txBody>
      </p:sp>
      <p:sp>
        <p:nvSpPr>
          <p:cNvPr id="21" name="arr-250"/>
          <p:cNvSpPr/>
          <p:nvPr/>
        </p:nvSpPr>
        <p:spPr>
          <a:xfrm>
            <a:off x="5989320" y="3611880"/>
            <a:ext cx="210312" cy="274320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2" name="arr-251"/>
          <p:cNvSpPr/>
          <p:nvPr/>
        </p:nvSpPr>
        <p:spPr>
          <a:xfrm>
            <a:off x="4526280" y="4846320"/>
            <a:ext cx="365760" cy="201168"/>
          </a:xfrm>
          <a:prstGeom prst="down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3" name="box-252"/>
          <p:cNvSpPr/>
          <p:nvPr/>
        </p:nvSpPr>
        <p:spPr>
          <a:xfrm>
            <a:off x="3456432" y="5093208"/>
            <a:ext cx="2514600" cy="457200"/>
          </a:xfrm>
          <a:prstGeom prst="rect">
            <a:avLst/>
          </a:prstGeom>
          <a:solidFill>
            <a:srgbClr val="E7E6E6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度量定义 M</a:t>
            </a:r>
            <a:endParaRPr lang="en-US" sz="1200" dirty="0"/>
          </a:p>
        </p:txBody>
      </p:sp>
      <p:sp>
        <p:nvSpPr>
          <p:cNvPr id="24" name="box-253"/>
          <p:cNvSpPr/>
          <p:nvPr/>
        </p:nvSpPr>
        <p:spPr>
          <a:xfrm>
            <a:off x="6217920" y="2697480"/>
            <a:ext cx="251460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5" name="box-254"/>
          <p:cNvSpPr/>
          <p:nvPr/>
        </p:nvSpPr>
        <p:spPr>
          <a:xfrm>
            <a:off x="6217920" y="2697480"/>
            <a:ext cx="2514600" cy="411480"/>
          </a:xfrm>
          <a:prstGeom prst="rect">
            <a:avLst/>
          </a:prstGeom>
          <a:solidFill>
            <a:srgbClr val="BF9000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3.3</a:t>
            </a:r>
            <a:endParaRPr lang="en-US" sz="1500" dirty="0"/>
          </a:p>
        </p:txBody>
      </p:sp>
      <p:sp>
        <p:nvSpPr>
          <p:cNvPr id="26" name="text-255"/>
          <p:cNvSpPr txBox="1"/>
          <p:nvPr/>
        </p:nvSpPr>
        <p:spPr>
          <a:xfrm>
            <a:off x="6309360" y="3200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计算与验证</a:t>
            </a:r>
            <a:endParaRPr lang="en-US" sz="1500" dirty="0"/>
          </a:p>
        </p:txBody>
      </p:sp>
      <p:sp>
        <p:nvSpPr>
          <p:cNvPr id="27" name="text-256"/>
          <p:cNvSpPr txBox="1"/>
          <p:nvPr/>
        </p:nvSpPr>
        <p:spPr>
          <a:xfrm>
            <a:off x="6309360" y="363931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关联分析、集合扫描、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重训验证</a:t>
            </a:r>
            <a:endParaRPr lang="en-US" sz="1150" dirty="0"/>
          </a:p>
        </p:txBody>
      </p:sp>
      <p:sp>
        <p:nvSpPr>
          <p:cNvPr id="28" name="arr-257"/>
          <p:cNvSpPr/>
          <p:nvPr/>
        </p:nvSpPr>
        <p:spPr>
          <a:xfrm>
            <a:off x="8750808" y="3611880"/>
            <a:ext cx="210312" cy="274320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9" name="arr-258"/>
          <p:cNvSpPr/>
          <p:nvPr/>
        </p:nvSpPr>
        <p:spPr>
          <a:xfrm>
            <a:off x="7287768" y="4846320"/>
            <a:ext cx="365760" cy="201168"/>
          </a:xfrm>
          <a:prstGeom prst="down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0" name="box-259"/>
          <p:cNvSpPr/>
          <p:nvPr/>
        </p:nvSpPr>
        <p:spPr>
          <a:xfrm>
            <a:off x="6217920" y="5093208"/>
            <a:ext cx="2514600" cy="457200"/>
          </a:xfrm>
          <a:prstGeom prst="rect">
            <a:avLst/>
          </a:prstGeom>
          <a:solidFill>
            <a:srgbClr val="E7E6E6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字段推断敏感度表</a:t>
            </a:r>
            <a:endParaRPr lang="en-US" sz="1200" dirty="0"/>
          </a:p>
        </p:txBody>
      </p:sp>
      <p:sp>
        <p:nvSpPr>
          <p:cNvPr id="31" name="box-260"/>
          <p:cNvSpPr/>
          <p:nvPr/>
        </p:nvSpPr>
        <p:spPr>
          <a:xfrm>
            <a:off x="8979408" y="2697480"/>
            <a:ext cx="251460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44546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2" name="box-261"/>
          <p:cNvSpPr/>
          <p:nvPr/>
        </p:nvSpPr>
        <p:spPr>
          <a:xfrm>
            <a:off x="8979408" y="2697480"/>
            <a:ext cx="2514600" cy="411480"/>
          </a:xfrm>
          <a:prstGeom prst="rect">
            <a:avLst/>
          </a:prstGeom>
          <a:solidFill>
            <a:srgbClr val="44546A"/>
          </a:solidFill>
          <a:ln w="12700">
            <a:solidFill>
              <a:srgbClr val="44546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3.4</a:t>
            </a:r>
            <a:endParaRPr lang="en-US" sz="1500" dirty="0"/>
          </a:p>
        </p:txBody>
      </p:sp>
      <p:sp>
        <p:nvSpPr>
          <p:cNvPr id="33" name="text-262"/>
          <p:cNvSpPr txBox="1"/>
          <p:nvPr/>
        </p:nvSpPr>
        <p:spPr>
          <a:xfrm>
            <a:off x="9070848" y="3200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等级二次标定</a:t>
            </a:r>
            <a:endParaRPr lang="en-US" sz="1500" dirty="0"/>
          </a:p>
        </p:txBody>
      </p:sp>
      <p:sp>
        <p:nvSpPr>
          <p:cNvPr id="34" name="text-263"/>
          <p:cNvSpPr txBox="1"/>
          <p:nvPr/>
        </p:nvSpPr>
        <p:spPr>
          <a:xfrm>
            <a:off x="9070848" y="363931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按敏感度折算影响程度，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查判定矩阵</a:t>
            </a:r>
            <a:endParaRPr lang="en-US" sz="1150" dirty="0"/>
          </a:p>
        </p:txBody>
      </p:sp>
      <p:sp>
        <p:nvSpPr>
          <p:cNvPr id="35" name="arr-264"/>
          <p:cNvSpPr/>
          <p:nvPr/>
        </p:nvSpPr>
        <p:spPr>
          <a:xfrm>
            <a:off x="10049256" y="4846320"/>
            <a:ext cx="365760" cy="201168"/>
          </a:xfrm>
          <a:prstGeom prst="down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6" name="box-265"/>
          <p:cNvSpPr/>
          <p:nvPr/>
        </p:nvSpPr>
        <p:spPr>
          <a:xfrm>
            <a:off x="8979408" y="5093208"/>
            <a:ext cx="2514600" cy="457200"/>
          </a:xfrm>
          <a:prstGeom prst="rect">
            <a:avLst/>
          </a:prstGeom>
          <a:solidFill>
            <a:srgbClr val="E7E6E6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二次等级</a:t>
            </a:r>
            <a:endParaRPr lang="en-US" sz="1200" dirty="0"/>
          </a:p>
        </p:txBody>
      </p:sp>
      <p:sp>
        <p:nvSpPr>
          <p:cNvPr id="37" name="text-266"/>
          <p:cNvSpPr txBox="1"/>
          <p:nvPr/>
        </p:nvSpPr>
        <p:spPr>
          <a:xfrm>
            <a:off x="694944" y="5715000"/>
            <a:ext cx="10799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输入：字段清单、一次等级、敏感目标及其影响对象与影响程度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267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268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三、二次标定（2/6）</a:t>
            </a:r>
            <a:endParaRPr lang="en-US" sz="2400" dirty="0"/>
          </a:p>
        </p:txBody>
      </p:sp>
      <p:sp>
        <p:nvSpPr>
          <p:cNvPr id="5" name="box-269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270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《披露细则》5.1~5.7、2.7；《分类分级手册》表 4.1~4.3；《数据开放目录》说明二(三)；《注册细则》5.10~5.12</a:t>
            </a:r>
            <a:endParaRPr lang="en-US" sz="1100" dirty="0"/>
          </a:p>
        </p:txBody>
      </p:sp>
      <p:sp>
        <p:nvSpPr>
          <p:cNvPr id="7" name="text-271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3.1 融合推断场景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：确定各类接收方已掌握和可能获得的信息</a:t>
            </a:r>
            <a:endParaRPr lang="en-US" sz="1800" dirty="0"/>
          </a:p>
        </p:txBody>
      </p:sp>
      <p:sp>
        <p:nvSpPr>
          <p:cNvPr id="8" name="text-272"/>
          <p:cNvSpPr txBox="1"/>
          <p:nvPr/>
        </p:nvSpPr>
        <p:spPr>
          <a:xfrm>
            <a:off x="694944" y="17830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划分信息层级</a:t>
            </a:r>
            <a:endParaRPr lang="en-US" sz="1400" dirty="0"/>
          </a:p>
        </p:txBody>
      </p:sp>
      <p:sp>
        <p:nvSpPr>
          <p:cNvPr id="9" name="box-273"/>
          <p:cNvSpPr/>
          <p:nvPr/>
        </p:nvSpPr>
        <p:spPr>
          <a:xfrm>
            <a:off x="694944" y="2167128"/>
            <a:ext cx="3749040" cy="3291840"/>
          </a:xfrm>
          <a:prstGeom prst="rect">
            <a:avLst/>
          </a:prstGeom>
          <a:solidFill>
            <a:srgbClr val="F2F2F2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text-274"/>
          <p:cNvSpPr txBox="1"/>
          <p:nvPr/>
        </p:nvSpPr>
        <p:spPr>
          <a:xfrm>
            <a:off x="804672" y="22037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内部数据（未披露）</a:t>
            </a:r>
            <a:endParaRPr lang="en-US" sz="1150" dirty="0"/>
          </a:p>
        </p:txBody>
      </p:sp>
      <p:sp>
        <p:nvSpPr>
          <p:cNvPr id="11" name="box-275"/>
          <p:cNvSpPr/>
          <p:nvPr/>
        </p:nvSpPr>
        <p:spPr>
          <a:xfrm>
            <a:off x="877824" y="2514600"/>
            <a:ext cx="3383280" cy="2834640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2" name="text-276"/>
          <p:cNvSpPr txBox="1"/>
          <p:nvPr/>
        </p:nvSpPr>
        <p:spPr>
          <a:xfrm>
            <a:off x="987552" y="25511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特定信息：申报量价、机组实际出力等</a:t>
            </a:r>
            <a:endParaRPr lang="en-US" sz="1150" dirty="0"/>
          </a:p>
        </p:txBody>
      </p:sp>
      <p:sp>
        <p:nvSpPr>
          <p:cNvPr id="13" name="box-277"/>
          <p:cNvSpPr/>
          <p:nvPr/>
        </p:nvSpPr>
        <p:spPr>
          <a:xfrm>
            <a:off x="1060704" y="2862072"/>
            <a:ext cx="3017520" cy="237744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4" name="text-278"/>
          <p:cNvSpPr txBox="1"/>
          <p:nvPr/>
        </p:nvSpPr>
        <p:spPr>
          <a:xfrm>
            <a:off x="1170432" y="28986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公开信息：预测类、出清类、运行类</a:t>
            </a:r>
            <a:endParaRPr lang="en-US" sz="1150" dirty="0"/>
          </a:p>
        </p:txBody>
      </p:sp>
      <p:sp>
        <p:nvSpPr>
          <p:cNvPr id="15" name="box-279"/>
          <p:cNvSpPr/>
          <p:nvPr/>
        </p:nvSpPr>
        <p:spPr>
          <a:xfrm>
            <a:off x="1243584" y="3227832"/>
            <a:ext cx="265176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6" name="text-280"/>
          <p:cNvSpPr txBox="1"/>
          <p:nvPr/>
        </p:nvSpPr>
        <p:spPr>
          <a:xfrm>
            <a:off x="1353312" y="32644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公众信息</a:t>
            </a:r>
            <a:endParaRPr lang="en-US" sz="1150" dirty="0"/>
          </a:p>
        </p:txBody>
      </p:sp>
      <p:sp>
        <p:nvSpPr>
          <p:cNvPr id="17" name="text-281"/>
          <p:cNvSpPr txBox="1"/>
          <p:nvPr/>
        </p:nvSpPr>
        <p:spPr>
          <a:xfrm>
            <a:off x="1353312" y="35661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企业基本信息、交易规则、市场运行总体情况；无条件开放的数据；外部公开数据</a:t>
            </a:r>
            <a:endParaRPr lang="en-US" sz="1100" dirty="0"/>
          </a:p>
        </p:txBody>
      </p:sp>
      <p:sp>
        <p:nvSpPr>
          <p:cNvPr id="18" name="text-282"/>
          <p:cNvSpPr txBox="1"/>
          <p:nvPr/>
        </p:nvSpPr>
        <p:spPr>
          <a:xfrm>
            <a:off x="694944" y="5513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外层接收方可见内层全部信息</a:t>
            </a:r>
            <a:endParaRPr lang="en-US" sz="1100" dirty="0"/>
          </a:p>
        </p:txBody>
      </p:sp>
      <p:sp>
        <p:nvSpPr>
          <p:cNvPr id="19" name="arr-283"/>
          <p:cNvSpPr/>
          <p:nvPr/>
        </p:nvSpPr>
        <p:spPr>
          <a:xfrm>
            <a:off x="4517136" y="3611880"/>
            <a:ext cx="274320" cy="292608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0" name="text-284"/>
          <p:cNvSpPr txBox="1"/>
          <p:nvPr/>
        </p:nvSpPr>
        <p:spPr>
          <a:xfrm>
            <a:off x="4864608" y="178308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确定场景要素</a:t>
            </a:r>
            <a:endParaRPr lang="en-US" sz="1400" dirty="0"/>
          </a:p>
        </p:txBody>
      </p:sp>
      <p:graphicFrame>
        <p:nvGraphicFramePr>
          <p:cNvPr id="14" name="table-2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64608" y="2167128"/>
          <a:ext cx="3977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18745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接收方角色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可见层级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公开基底 B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社会公众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公众信息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协议接收方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≤ 2 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公众 + 公开信息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特定对象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≤ 3 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再加获准的特定信息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box-286"/>
          <p:cNvSpPr/>
          <p:nvPr/>
        </p:nvSpPr>
        <p:spPr>
          <a:xfrm>
            <a:off x="4864608" y="3886200"/>
            <a:ext cx="118872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公开基底 B</a:t>
            </a:r>
            <a:endParaRPr lang="en-US" sz="1200" dirty="0"/>
          </a:p>
        </p:txBody>
      </p:sp>
      <p:sp>
        <p:nvSpPr>
          <p:cNvPr id="23" name="box-287"/>
          <p:cNvSpPr/>
          <p:nvPr/>
        </p:nvSpPr>
        <p:spPr>
          <a:xfrm>
            <a:off x="6053328" y="3886200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该角色已掌握的信息</a:t>
            </a:r>
            <a:endParaRPr lang="en-US" sz="1150" dirty="0"/>
          </a:p>
        </p:txBody>
      </p:sp>
      <p:sp>
        <p:nvSpPr>
          <p:cNvPr id="24" name="box-288"/>
          <p:cNvSpPr/>
          <p:nvPr/>
        </p:nvSpPr>
        <p:spPr>
          <a:xfrm>
            <a:off x="4864608" y="4434840"/>
            <a:ext cx="118872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背景池 H</a:t>
            </a:r>
            <a:endParaRPr lang="en-US" sz="1200" dirty="0"/>
          </a:p>
        </p:txBody>
      </p:sp>
      <p:sp>
        <p:nvSpPr>
          <p:cNvPr id="25" name="box-289"/>
          <p:cNvSpPr/>
          <p:nvPr/>
        </p:nvSpPr>
        <p:spPr>
          <a:xfrm>
            <a:off x="6053328" y="4434840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该角色还可能获得的字段</a:t>
            </a:r>
            <a:endParaRPr lang="en-US" sz="1150" dirty="0"/>
          </a:p>
        </p:txBody>
      </p:sp>
      <p:sp>
        <p:nvSpPr>
          <p:cNvPr id="26" name="box-290"/>
          <p:cNvSpPr/>
          <p:nvPr/>
        </p:nvSpPr>
        <p:spPr>
          <a:xfrm>
            <a:off x="4864608" y="4983480"/>
            <a:ext cx="118872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背景预算 K</a:t>
            </a:r>
            <a:endParaRPr lang="en-US" sz="1200" dirty="0"/>
          </a:p>
        </p:txBody>
      </p:sp>
      <p:sp>
        <p:nvSpPr>
          <p:cNvPr id="27" name="box-291"/>
          <p:cNvSpPr/>
          <p:nvPr/>
        </p:nvSpPr>
        <p:spPr>
          <a:xfrm>
            <a:off x="6053328" y="4983480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推断时在 B 之外最多使用的字段数</a:t>
            </a:r>
            <a:endParaRPr lang="en-US" sz="1150" dirty="0"/>
          </a:p>
        </p:txBody>
      </p:sp>
      <p:sp>
        <p:nvSpPr>
          <p:cNvPr id="28" name="arr-292"/>
          <p:cNvSpPr/>
          <p:nvPr/>
        </p:nvSpPr>
        <p:spPr>
          <a:xfrm>
            <a:off x="8915400" y="3611880"/>
            <a:ext cx="274320" cy="292608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9" name="text-293"/>
          <p:cNvSpPr txBox="1"/>
          <p:nvPr/>
        </p:nvSpPr>
        <p:spPr>
          <a:xfrm>
            <a:off x="9262872" y="178308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按披露时点更新</a:t>
            </a:r>
            <a:endParaRPr lang="en-US" sz="1400" dirty="0"/>
          </a:p>
        </p:txBody>
      </p:sp>
      <p:sp>
        <p:nvSpPr>
          <p:cNvPr id="30" name="box-294"/>
          <p:cNvSpPr/>
          <p:nvPr/>
        </p:nvSpPr>
        <p:spPr>
          <a:xfrm>
            <a:off x="9262872" y="2167128"/>
            <a:ext cx="2231136" cy="841248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交易申报前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预测类信息已知</a:t>
            </a:r>
            <a:endParaRPr lang="en-US" sz="1200" dirty="0"/>
          </a:p>
        </p:txBody>
      </p:sp>
      <p:sp>
        <p:nvSpPr>
          <p:cNvPr id="31" name="arr-295"/>
          <p:cNvSpPr/>
          <p:nvPr/>
        </p:nvSpPr>
        <p:spPr>
          <a:xfrm>
            <a:off x="10195560" y="3044952"/>
            <a:ext cx="365760" cy="201168"/>
          </a:xfrm>
          <a:prstGeom prst="down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32" name="box-296"/>
          <p:cNvSpPr/>
          <p:nvPr/>
        </p:nvSpPr>
        <p:spPr>
          <a:xfrm>
            <a:off x="9262872" y="3282696"/>
            <a:ext cx="2231136" cy="841248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交易日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出清类信息已知</a:t>
            </a:r>
            <a:endParaRPr lang="en-US" sz="1200" dirty="0"/>
          </a:p>
        </p:txBody>
      </p:sp>
      <p:sp>
        <p:nvSpPr>
          <p:cNvPr id="33" name="arr-297"/>
          <p:cNvSpPr/>
          <p:nvPr/>
        </p:nvSpPr>
        <p:spPr>
          <a:xfrm>
            <a:off x="10195560" y="4160520"/>
            <a:ext cx="365760" cy="201168"/>
          </a:xfrm>
          <a:prstGeom prst="down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34" name="box-298"/>
          <p:cNvSpPr/>
          <p:nvPr/>
        </p:nvSpPr>
        <p:spPr>
          <a:xfrm>
            <a:off x="9262872" y="4398264"/>
            <a:ext cx="2231136" cy="841248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运行日次日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运行类信息已知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299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300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三、二次标定（3/6）</a:t>
            </a:r>
            <a:endParaRPr lang="en-US" sz="2400" dirty="0"/>
          </a:p>
        </p:txBody>
      </p:sp>
      <p:sp>
        <p:nvSpPr>
          <p:cNvPr id="5" name="box-301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302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《分类分级手册》分级要素“深度”、分级原则“从严性”（取最大值）</a:t>
            </a:r>
            <a:endParaRPr lang="en-US" sz="1100" dirty="0"/>
          </a:p>
        </p:txBody>
      </p:sp>
      <p:sp>
        <p:nvSpPr>
          <p:cNvPr id="7" name="text-303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3.2 字段推断敏感度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：字段在已有信息基础上对敏感数据推断的最大贡献</a:t>
            </a:r>
            <a:endParaRPr lang="en-US" sz="1800" dirty="0"/>
          </a:p>
        </p:txBody>
      </p:sp>
      <p:sp>
        <p:nvSpPr>
          <p:cNvPr id="8" name="box-304"/>
          <p:cNvSpPr/>
          <p:nvPr/>
        </p:nvSpPr>
        <p:spPr>
          <a:xfrm>
            <a:off x="694944" y="1783080"/>
            <a:ext cx="9144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基础量</a:t>
            </a:r>
            <a:endParaRPr lang="en-US" sz="1300" dirty="0"/>
          </a:p>
        </p:txBody>
      </p:sp>
      <p:sp>
        <p:nvSpPr>
          <p:cNvPr id="9" name="box-305"/>
          <p:cNvSpPr/>
          <p:nvPr/>
        </p:nvSpPr>
        <p:spPr>
          <a:xfrm>
            <a:off x="1609344" y="1783080"/>
            <a:ext cx="524865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text-306"/>
          <p:cNvSpPr txBox="1"/>
          <p:nvPr/>
        </p:nvSpPr>
        <p:spPr>
          <a:xfrm>
            <a:off x="1737360" y="181965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集合推断能力  V</a:t>
            </a:r>
            <a:pPr algn="l" indent="0" marL="0">
              <a:buNone/>
            </a:pPr>
            <a:r>
              <a:rPr lang="en-US" sz="1600" b="1" baseline="-40000" dirty="0">
                <a:solidFill>
                  <a:srgbClr val="1F4E7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</a:t>
            </a:r>
            <a:pPr algn="l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(S)</a:t>
            </a:r>
            <a:endParaRPr lang="en-US" sz="1600" dirty="0"/>
          </a:p>
        </p:txBody>
      </p:sp>
      <p:sp>
        <p:nvSpPr>
          <p:cNvPr id="11" name="text-307"/>
          <p:cNvSpPr txBox="1"/>
          <p:nvPr/>
        </p:nvSpPr>
        <p:spPr>
          <a:xfrm>
            <a:off x="1737360" y="2212848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仅用字段集合 S 推断敏感数据 y 所能达到的精度（R²，0~1）</a:t>
            </a:r>
            <a:endParaRPr lang="en-US" sz="1150" dirty="0"/>
          </a:p>
        </p:txBody>
      </p:sp>
      <p:sp>
        <p:nvSpPr>
          <p:cNvPr id="12" name="arr-308"/>
          <p:cNvSpPr/>
          <p:nvPr/>
        </p:nvSpPr>
        <p:spPr>
          <a:xfrm>
            <a:off x="3566160" y="2743200"/>
            <a:ext cx="402336" cy="219456"/>
          </a:xfrm>
          <a:prstGeom prst="down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3" name="box-309"/>
          <p:cNvSpPr/>
          <p:nvPr/>
        </p:nvSpPr>
        <p:spPr>
          <a:xfrm>
            <a:off x="694944" y="3017520"/>
            <a:ext cx="914400" cy="178308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指标</a:t>
            </a:r>
            <a:endParaRPr lang="en-US" sz="1300" dirty="0"/>
          </a:p>
        </p:txBody>
      </p:sp>
      <p:sp>
        <p:nvSpPr>
          <p:cNvPr id="14" name="box-310"/>
          <p:cNvSpPr/>
          <p:nvPr/>
        </p:nvSpPr>
        <p:spPr>
          <a:xfrm>
            <a:off x="1609344" y="3017520"/>
            <a:ext cx="5248656" cy="1783080"/>
          </a:xfrm>
          <a:prstGeom prst="rect">
            <a:avLst/>
          </a:prstGeom>
          <a:solidFill>
            <a:srgbClr val="FBE5D6"/>
          </a:solidFill>
          <a:ln w="1905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5" name="text-311"/>
          <p:cNvSpPr txBox="1"/>
          <p:nvPr/>
        </p:nvSpPr>
        <p:spPr>
          <a:xfrm>
            <a:off x="1737360" y="305409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字段推断敏感度</a:t>
            </a:r>
            <a:endParaRPr lang="en-US" sz="1500" dirty="0"/>
          </a:p>
        </p:txBody>
      </p:sp>
      <p:sp>
        <p:nvSpPr>
          <p:cNvPr id="16" name="text-312"/>
          <p:cNvSpPr txBox="1"/>
          <p:nvPr/>
        </p:nvSpPr>
        <p:spPr>
          <a:xfrm>
            <a:off x="1737360" y="3401568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</a:t>
            </a:r>
            <a:pPr algn="l" indent="0" marL="0">
              <a:buNone/>
            </a:pPr>
            <a:r>
              <a:rPr lang="en-US" sz="1450" b="1" baseline="-40000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i→y</a:t>
            </a:r>
            <a:pPr algn="l" indent="0" marL="0">
              <a:buNone/>
            </a:pPr>
            <a:r>
              <a:rPr lang="en-US" sz="1450" b="1" baseline="30000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(K)</a:t>
            </a:r>
            <a:pPr algn="l" indent="0" marL="0">
              <a:buNone/>
            </a:pPr>
            <a:r>
              <a:rPr lang="en-US" sz="1450" b="1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max [ V</a:t>
            </a:r>
            <a:pPr algn="l" indent="0" marL="0">
              <a:buNone/>
            </a:pPr>
            <a:r>
              <a:rPr lang="en-US" sz="1450" b="1" baseline="-40000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</a:t>
            </a:r>
            <a:pPr algn="l" indent="0" marL="0">
              <a:buNone/>
            </a:pPr>
            <a:r>
              <a:rPr lang="en-US" sz="1450" b="1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(B∪T∪{i}) − V</a:t>
            </a:r>
            <a:pPr algn="l" indent="0" marL="0">
              <a:buNone/>
            </a:pPr>
            <a:r>
              <a:rPr lang="en-US" sz="1450" b="1" baseline="-40000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</a:t>
            </a:r>
            <a:pPr algn="l" indent="0" marL="0">
              <a:buNone/>
            </a:pPr>
            <a:r>
              <a:rPr lang="en-US" sz="1450" b="1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(B∪T) ]，T ⊆ H，|T| ≤ K</a:t>
            </a:r>
            <a:endParaRPr lang="en-US" sz="1450" dirty="0"/>
          </a:p>
        </p:txBody>
      </p:sp>
      <p:sp>
        <p:nvSpPr>
          <p:cNvPr id="17" name="text-313"/>
          <p:cNvSpPr txBox="1"/>
          <p:nvPr/>
        </p:nvSpPr>
        <p:spPr>
          <a:xfrm>
            <a:off x="1737360" y="38404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在接收方已掌握的信息 B 和不超过 K 个其他字段 T 的基础上，再获得字段 i，对 y 的推断精度最多提高多少。取值 0~1；取到最大值的 T 称为背景。</a:t>
            </a:r>
            <a:endParaRPr lang="en-US" sz="1150" dirty="0"/>
          </a:p>
        </p:txBody>
      </p:sp>
      <p:sp>
        <p:nvSpPr>
          <p:cNvPr id="18" name="text-314"/>
          <p:cNvSpPr txBox="1"/>
          <p:nvPr/>
        </p:nvSpPr>
        <p:spPr>
          <a:xfrm>
            <a:off x="694944" y="498348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 为背景字段数的上限，取 2；可逐步增大至 M 不再明显变化。</a:t>
            </a:r>
            <a:endParaRPr lang="en-US" sz="1200" dirty="0"/>
          </a:p>
        </p:txBody>
      </p:sp>
      <p:sp>
        <p:nvSpPr>
          <p:cNvPr id="19" name="text-315"/>
          <p:cNvSpPr txBox="1"/>
          <p:nvPr/>
        </p:nvSpPr>
        <p:spPr>
          <a:xfrm>
            <a:off x="694944" y="536752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与关联强度相比：M 衡量可推断的程度，并计入接收方已有的信息。</a:t>
            </a:r>
            <a:endParaRPr lang="en-US" sz="1200" dirty="0"/>
          </a:p>
        </p:txBody>
      </p:sp>
      <p:sp>
        <p:nvSpPr>
          <p:cNvPr id="20" name="box-316"/>
          <p:cNvSpPr/>
          <p:nvPr/>
        </p:nvSpPr>
        <p:spPr>
          <a:xfrm>
            <a:off x="7178040" y="1783080"/>
            <a:ext cx="4315968" cy="4023360"/>
          </a:xfrm>
          <a:prstGeom prst="rect">
            <a:avLst/>
          </a:prstGeom>
          <a:solidFill>
            <a:srgbClr val="F7F7F7"/>
          </a:solidFill>
          <a:ln w="12700">
            <a:solidFill>
              <a:srgbClr val="A6A6A6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1" name="box-317"/>
          <p:cNvSpPr/>
          <p:nvPr/>
        </p:nvSpPr>
        <p:spPr>
          <a:xfrm>
            <a:off x="7315200" y="1901952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7F7F7F"/>
          </a:solidFill>
          <a:ln w="12700">
            <a:solidFill>
              <a:srgbClr val="7F7F7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</a:t>
            </a:r>
            <a:endParaRPr lang="en-US" sz="1000" dirty="0"/>
          </a:p>
        </p:txBody>
      </p:sp>
      <p:sp>
        <p:nvSpPr>
          <p:cNvPr id="22" name="text-318"/>
          <p:cNvSpPr txBox="1"/>
          <p:nvPr/>
        </p:nvSpPr>
        <p:spPr>
          <a:xfrm>
            <a:off x="7973568" y="190195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评估字段 A 对敏感数据 y 的推断敏感度，K = 2</a:t>
            </a:r>
            <a:endParaRPr lang="en-US" sz="1050" dirty="0"/>
          </a:p>
        </p:txBody>
      </p:sp>
      <p:graphicFrame>
        <p:nvGraphicFramePr>
          <p:cNvPr id="15" name="table-3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2240280"/>
          <a:ext cx="4041648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68680"/>
                <a:gridCol w="1207008"/>
                <a:gridCol w="9601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背景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V(背景)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V(背景∪{A})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提高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0.45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0.35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B∪{C}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0.14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0.74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B∪{D}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0.12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0.68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B∪{C,D}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0.82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0.52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-320"/>
          <p:cNvSpPr txBox="1"/>
          <p:nvPr/>
        </p:nvSpPr>
        <p:spPr>
          <a:xfrm>
            <a:off x="7406640" y="4206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040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</a:t>
            </a:r>
            <a:pPr algn="l" indent="0" marL="0">
              <a:buNone/>
            </a:pPr>
            <a:r>
              <a:rPr lang="en-US" sz="1400" b="1" baseline="-40000" dirty="0">
                <a:solidFill>
                  <a:srgbClr val="4040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A→y</a:t>
            </a:r>
            <a:pPr algn="l" indent="0" marL="0">
              <a:buNone/>
            </a:pPr>
            <a:r>
              <a:rPr lang="en-US" sz="1400" b="1" baseline="30000" dirty="0">
                <a:solidFill>
                  <a:srgbClr val="4040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(2)</a:t>
            </a:r>
            <a:pPr algn="l" indent="0" marL="0">
              <a:buNone/>
            </a:pPr>
            <a:r>
              <a:rPr lang="en-US" sz="1400" b="1" dirty="0">
                <a:solidFill>
                  <a:srgbClr val="4040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0.68，背景为 B∪{D}</a:t>
            </a:r>
            <a:endParaRPr lang="en-US" sz="1400" dirty="0"/>
          </a:p>
        </p:txBody>
      </p:sp>
      <p:sp>
        <p:nvSpPr>
          <p:cNvPr id="25" name="text-321"/>
          <p:cNvSpPr txBox="1"/>
          <p:nvPr/>
        </p:nvSpPr>
        <p:spPr>
          <a:xfrm>
            <a:off x="7406640" y="46634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 A 单独可将推断精度提高 0.35；接收方已掌握字段 D 时可提高 0.68。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322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323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三、二次标定（4/6）</a:t>
            </a:r>
            <a:endParaRPr lang="en-US" sz="2400" dirty="0"/>
          </a:p>
        </p:txBody>
      </p:sp>
      <p:sp>
        <p:nvSpPr>
          <p:cNvPr id="5" name="box-324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325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《风险评估手册》第 382 项（聚合性推断测试）、第 330、351 项；《分类分级手册》附录 E</a:t>
            </a:r>
            <a:endParaRPr lang="en-US" sz="1100" dirty="0"/>
          </a:p>
        </p:txBody>
      </p:sp>
      <p:sp>
        <p:nvSpPr>
          <p:cNvPr id="7" name="text-326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3.3 敏感度计算与验证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：关联分析、集合扫描、重训验证</a:t>
            </a:r>
            <a:endParaRPr lang="en-US" sz="1800" dirty="0"/>
          </a:p>
        </p:txBody>
      </p:sp>
      <p:sp>
        <p:nvSpPr>
          <p:cNvPr id="8" name="box-327"/>
          <p:cNvSpPr/>
          <p:nvPr/>
        </p:nvSpPr>
        <p:spPr>
          <a:xfrm>
            <a:off x="694944" y="1737360"/>
            <a:ext cx="3429000" cy="1874520"/>
          </a:xfrm>
          <a:prstGeom prst="rect">
            <a:avLst/>
          </a:prstGeom>
          <a:ln w="12700">
            <a:solidFill>
              <a:srgbClr val="40404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box-328"/>
          <p:cNvSpPr/>
          <p:nvPr/>
        </p:nvSpPr>
        <p:spPr>
          <a:xfrm>
            <a:off x="1952244" y="1828800"/>
            <a:ext cx="914400" cy="329184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-329"/>
          <p:cNvSpPr txBox="1"/>
          <p:nvPr/>
        </p:nvSpPr>
        <p:spPr>
          <a:xfrm>
            <a:off x="768096" y="2212848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关联分析</a:t>
            </a:r>
            <a:endParaRPr lang="en-US" sz="1400" dirty="0"/>
          </a:p>
        </p:txBody>
      </p:sp>
      <p:sp>
        <p:nvSpPr>
          <p:cNvPr id="11" name="text-330"/>
          <p:cNvSpPr txBox="1"/>
          <p:nvPr/>
        </p:nvSpPr>
        <p:spPr>
          <a:xfrm>
            <a:off x="822960" y="2560320"/>
            <a:ext cx="3172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计算字段间的线性、秩和非线性关联并融合，构建关联图，用于解释字段关系和排定计算优先级。</a:t>
            </a:r>
            <a:endParaRPr lang="en-US" sz="1200" dirty="0"/>
          </a:p>
        </p:txBody>
      </p:sp>
      <p:sp>
        <p:nvSpPr>
          <p:cNvPr id="12" name="box-331"/>
          <p:cNvSpPr/>
          <p:nvPr/>
        </p:nvSpPr>
        <p:spPr>
          <a:xfrm>
            <a:off x="4379976" y="1737360"/>
            <a:ext cx="3429000" cy="1874520"/>
          </a:xfrm>
          <a:prstGeom prst="rect">
            <a:avLst/>
          </a:prstGeom>
          <a:ln w="12700">
            <a:solidFill>
              <a:srgbClr val="40404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3" name="box-332"/>
          <p:cNvSpPr/>
          <p:nvPr/>
        </p:nvSpPr>
        <p:spPr>
          <a:xfrm>
            <a:off x="5637276" y="1828800"/>
            <a:ext cx="914400" cy="329184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-333"/>
          <p:cNvSpPr txBox="1"/>
          <p:nvPr/>
        </p:nvSpPr>
        <p:spPr>
          <a:xfrm>
            <a:off x="4453128" y="2212848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集合扫描</a:t>
            </a:r>
            <a:endParaRPr lang="en-US" sz="1400" dirty="0"/>
          </a:p>
        </p:txBody>
      </p:sp>
      <p:sp>
        <p:nvSpPr>
          <p:cNvPr id="15" name="text-334"/>
          <p:cNvSpPr txBox="1"/>
          <p:nvPr/>
        </p:nvSpPr>
        <p:spPr>
          <a:xfrm>
            <a:off x="4507992" y="2560320"/>
            <a:ext cx="3172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用通用推断模型估计各字段组合对敏感数据的推断能力，得到每个字段的推断敏感度及其背景。</a:t>
            </a:r>
            <a:endParaRPr lang="en-US" sz="1200" dirty="0"/>
          </a:p>
        </p:txBody>
      </p:sp>
      <p:sp>
        <p:nvSpPr>
          <p:cNvPr id="16" name="box-335"/>
          <p:cNvSpPr/>
          <p:nvPr/>
        </p:nvSpPr>
        <p:spPr>
          <a:xfrm>
            <a:off x="8065008" y="1737360"/>
            <a:ext cx="3429000" cy="1874520"/>
          </a:xfrm>
          <a:prstGeom prst="rect">
            <a:avLst/>
          </a:prstGeom>
          <a:ln w="12700">
            <a:solidFill>
              <a:srgbClr val="40404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7" name="box-336"/>
          <p:cNvSpPr/>
          <p:nvPr/>
        </p:nvSpPr>
        <p:spPr>
          <a:xfrm>
            <a:off x="9322308" y="1828800"/>
            <a:ext cx="914400" cy="329184"/>
          </a:xfrm>
          <a:prstGeom prst="rect">
            <a:avLst/>
          </a:prstGeom>
          <a:solidFill>
            <a:srgbClr val="BF9000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-337"/>
          <p:cNvSpPr txBox="1"/>
          <p:nvPr/>
        </p:nvSpPr>
        <p:spPr>
          <a:xfrm>
            <a:off x="8138160" y="2212848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重训验证</a:t>
            </a:r>
            <a:endParaRPr lang="en-US" sz="1400" dirty="0"/>
          </a:p>
        </p:txBody>
      </p:sp>
      <p:sp>
        <p:nvSpPr>
          <p:cNvPr id="19" name="text-338"/>
          <p:cNvSpPr txBox="1"/>
          <p:nvPr/>
        </p:nvSpPr>
        <p:spPr>
          <a:xfrm>
            <a:off x="8193024" y="2560320"/>
            <a:ext cx="3172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对敏感度较高的字段，按其背景组合重新训练推断模型，确认敏感度数值。</a:t>
            </a:r>
            <a:endParaRPr lang="en-US" sz="1200" dirty="0"/>
          </a:p>
        </p:txBody>
      </p:sp>
      <p:sp>
        <p:nvSpPr>
          <p:cNvPr id="20" name="arr-339"/>
          <p:cNvSpPr/>
          <p:nvPr/>
        </p:nvSpPr>
        <p:spPr>
          <a:xfrm>
            <a:off x="4142232" y="2560320"/>
            <a:ext cx="219456" cy="237744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1" name="arr-340"/>
          <p:cNvSpPr/>
          <p:nvPr/>
        </p:nvSpPr>
        <p:spPr>
          <a:xfrm>
            <a:off x="7827264" y="2560320"/>
            <a:ext cx="219456" cy="237744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2" name="text-341"/>
          <p:cNvSpPr txBox="1"/>
          <p:nvPr/>
        </p:nvSpPr>
        <p:spPr>
          <a:xfrm>
            <a:off x="694944" y="3886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产出：字段推断敏感度表</a:t>
            </a:r>
            <a:endParaRPr lang="en-US" sz="1400" dirty="0"/>
          </a:p>
        </p:txBody>
      </p:sp>
      <p:graphicFrame>
        <p:nvGraphicFramePr>
          <p:cNvPr id="16" name="table-3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4297680"/>
          <a:ext cx="10799064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914400"/>
                <a:gridCol w="960120"/>
                <a:gridCol w="1188720"/>
                <a:gridCol w="1280160"/>
                <a:gridCol w="1005840"/>
                <a:gridCol w="1097280"/>
                <a:gridCol w="1097280"/>
                <a:gridCol w="1325880"/>
                <a:gridCol w="1197864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一次等级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敏感数据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敏感数据等级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接收方角色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背景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获得前精度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获得后精度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推断敏感度 M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验证方式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y₁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协议接收方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B∪{D}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0.12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0.68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重训验证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24" name="box-343"/>
          <p:cNvSpPr/>
          <p:nvPr/>
        </p:nvSpPr>
        <p:spPr>
          <a:xfrm>
            <a:off x="694944" y="5230368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7F7F7F"/>
          </a:solidFill>
          <a:ln w="12700">
            <a:solidFill>
              <a:srgbClr val="7F7F7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</a:t>
            </a:r>
            <a:endParaRPr lang="en-US" sz="1000" dirty="0"/>
          </a:p>
        </p:txBody>
      </p:sp>
      <p:sp>
        <p:nvSpPr>
          <p:cNvPr id="25" name="text-344"/>
          <p:cNvSpPr txBox="1"/>
          <p:nvPr/>
        </p:nvSpPr>
        <p:spPr>
          <a:xfrm>
            <a:off x="1335024" y="52303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表中一行为示例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345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346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三、二次标定（5/6）</a:t>
            </a:r>
            <a:endParaRPr lang="en-US" sz="2400" dirty="0"/>
          </a:p>
        </p:txBody>
      </p:sp>
      <p:sp>
        <p:nvSpPr>
          <p:cNvPr id="5" name="box-347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348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《分类分级手册》表 4.4、分级原则“从严性”“合理性”、附录 D；重要、核心数据须按主管部门要求识别申报</a:t>
            </a:r>
            <a:endParaRPr lang="en-US" sz="1100" dirty="0"/>
          </a:p>
        </p:txBody>
      </p:sp>
      <p:sp>
        <p:nvSpPr>
          <p:cNvPr id="7" name="text-349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3.4 等级二次标定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：按推断敏感度折算影响程度，查判定矩阵</a:t>
            </a:r>
            <a:endParaRPr lang="en-US" sz="1800" dirty="0"/>
          </a:p>
        </p:txBody>
      </p:sp>
      <p:sp>
        <p:nvSpPr>
          <p:cNvPr id="8" name="box-350"/>
          <p:cNvSpPr/>
          <p:nvPr/>
        </p:nvSpPr>
        <p:spPr>
          <a:xfrm>
            <a:off x="694944" y="1737360"/>
            <a:ext cx="2514600" cy="777240"/>
          </a:xfrm>
          <a:prstGeom prst="rect">
            <a:avLst/>
          </a:prstGeom>
          <a:solidFill>
            <a:srgbClr val="FBE5D6"/>
          </a:solidFill>
          <a:ln w="15875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字段推断敏感度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M（对敏感数据 y）</a:t>
            </a:r>
            <a:endParaRPr lang="en-US" sz="1200" dirty="0"/>
          </a:p>
        </p:txBody>
      </p:sp>
      <p:sp>
        <p:nvSpPr>
          <p:cNvPr id="9" name="arr-351"/>
          <p:cNvSpPr/>
          <p:nvPr/>
        </p:nvSpPr>
        <p:spPr>
          <a:xfrm>
            <a:off x="3227832" y="1993392"/>
            <a:ext cx="210312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0" name="box-352"/>
          <p:cNvSpPr/>
          <p:nvPr/>
        </p:nvSpPr>
        <p:spPr>
          <a:xfrm>
            <a:off x="3456432" y="1737360"/>
            <a:ext cx="2514600" cy="777240"/>
          </a:xfrm>
          <a:prstGeom prst="rect">
            <a:avLst/>
          </a:prstGeom>
          <a:solidFill>
            <a:srgbClr val="DEEAF6"/>
          </a:solidFill>
          <a:ln w="15875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影响程度折算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 的影响程度按 M 降档</a:t>
            </a:r>
            <a:endParaRPr lang="en-US" sz="1200" dirty="0"/>
          </a:p>
        </p:txBody>
      </p:sp>
      <p:sp>
        <p:nvSpPr>
          <p:cNvPr id="11" name="arr-353"/>
          <p:cNvSpPr/>
          <p:nvPr/>
        </p:nvSpPr>
        <p:spPr>
          <a:xfrm>
            <a:off x="5989320" y="1993392"/>
            <a:ext cx="210312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2" name="box-354"/>
          <p:cNvSpPr/>
          <p:nvPr/>
        </p:nvSpPr>
        <p:spPr>
          <a:xfrm>
            <a:off x="6217920" y="1737360"/>
            <a:ext cx="2514600" cy="777240"/>
          </a:xfrm>
          <a:prstGeom prst="rect">
            <a:avLst/>
          </a:prstGeom>
          <a:solidFill>
            <a:srgbClr val="DEEAF6"/>
          </a:solidFill>
          <a:ln w="15875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查判定矩阵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 的影响对象 × 折算后的影响程度</a:t>
            </a:r>
            <a:endParaRPr lang="en-US" sz="1200" dirty="0"/>
          </a:p>
        </p:txBody>
      </p:sp>
      <p:sp>
        <p:nvSpPr>
          <p:cNvPr id="13" name="arr-355"/>
          <p:cNvSpPr/>
          <p:nvPr/>
        </p:nvSpPr>
        <p:spPr>
          <a:xfrm>
            <a:off x="8750808" y="1993392"/>
            <a:ext cx="210312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4" name="box-356"/>
          <p:cNvSpPr/>
          <p:nvPr/>
        </p:nvSpPr>
        <p:spPr>
          <a:xfrm>
            <a:off x="8979408" y="1737360"/>
            <a:ext cx="2514600" cy="777240"/>
          </a:xfrm>
          <a:prstGeom prst="rect">
            <a:avLst/>
          </a:prstGeom>
          <a:solidFill>
            <a:srgbClr val="BDD7EE"/>
          </a:solidFill>
          <a:ln w="15875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二次等级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与一次等级取高</a:t>
            </a:r>
            <a:endParaRPr lang="en-US" sz="1200" dirty="0"/>
          </a:p>
        </p:txBody>
      </p:sp>
      <p:sp>
        <p:nvSpPr>
          <p:cNvPr id="15" name="text-357"/>
          <p:cNvSpPr txBox="1"/>
          <p:nvPr/>
        </p:nvSpPr>
        <p:spPr>
          <a:xfrm>
            <a:off x="694944" y="27432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折算规则</a:t>
            </a:r>
            <a:endParaRPr lang="en-US" sz="1400" dirty="0"/>
          </a:p>
        </p:txBody>
      </p:sp>
      <p:graphicFrame>
        <p:nvGraphicFramePr>
          <p:cNvPr id="17" name="table-3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3108960"/>
          <a:ext cx="49377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92024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字段推断敏感度 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影响程度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 以上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基本决定 y 能否被推断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与 y 相同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 ~ 0.7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贡献显著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降一档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 ~ 0.4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有一定贡献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降两档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 以下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可忽略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不调整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-359"/>
          <p:cNvSpPr txBox="1"/>
          <p:nvPr/>
        </p:nvSpPr>
        <p:spPr>
          <a:xfrm>
            <a:off x="694944" y="50749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分档界限需结合业务确认</a:t>
            </a:r>
            <a:endParaRPr lang="en-US" sz="1050" dirty="0"/>
          </a:p>
        </p:txBody>
      </p:sp>
      <p:sp>
        <p:nvSpPr>
          <p:cNvPr id="18" name="text-360"/>
          <p:cNvSpPr txBox="1"/>
          <p:nvPr/>
        </p:nvSpPr>
        <p:spPr>
          <a:xfrm>
            <a:off x="5943600" y="2743200"/>
            <a:ext cx="5550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标定规则</a:t>
            </a:r>
            <a:endParaRPr lang="en-US" sz="1400" dirty="0"/>
          </a:p>
        </p:txBody>
      </p:sp>
      <p:sp>
        <p:nvSpPr>
          <p:cNvPr id="19" name="box-361"/>
          <p:cNvSpPr/>
          <p:nvPr/>
        </p:nvSpPr>
        <p:spPr>
          <a:xfrm>
            <a:off x="5943600" y="3108960"/>
            <a:ext cx="5550408" cy="868680"/>
          </a:xfrm>
          <a:prstGeom prst="rect">
            <a:avLst/>
          </a:prstGeom>
          <a:solidFill>
            <a:srgbClr val="FBE5D6"/>
          </a:solidFill>
          <a:ln w="1905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0" name="text-362"/>
          <p:cNvSpPr txBox="1"/>
          <p:nvPr/>
        </p:nvSpPr>
        <p:spPr>
          <a:xfrm>
            <a:off x="5943600" y="3108960"/>
            <a:ext cx="5550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二次等级 = max（一次等级，折算后查判定矩阵所得等级）</a:t>
            </a:r>
            <a:endParaRPr lang="en-US" sz="1550" dirty="0"/>
          </a:p>
        </p:txBody>
      </p:sp>
      <p:sp>
        <p:nvSpPr>
          <p:cNvPr id="21" name="text-363"/>
          <p:cNvSpPr txBox="1"/>
          <p:nvPr/>
        </p:nvSpPr>
        <p:spPr>
          <a:xfrm>
            <a:off x="6080760" y="416052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字段涉及多个敏感数据时，分别折算，取最高等级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折算只降不升，二次等级不超过被推断数据的等级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涉及重要数据、核心数据（4、5 级）时，只提出申报建议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法定公开字段的等级不调整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364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365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三、二次标定（6/6）</a:t>
            </a:r>
            <a:endParaRPr lang="en-US" sz="2400" dirty="0"/>
          </a:p>
        </p:txBody>
      </p:sp>
      <p:sp>
        <p:nvSpPr>
          <p:cNvPr id="5" name="box-366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367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《分类分级手册》表 4.4、分级要素“深度”、附录 D</a:t>
            </a:r>
            <a:endParaRPr lang="en-US" sz="1100" dirty="0"/>
          </a:p>
        </p:txBody>
      </p:sp>
      <p:sp>
        <p:nvSpPr>
          <p:cNvPr id="7" name="text-368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3.4 等级二次标定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：示例与复核意见</a:t>
            </a:r>
            <a:endParaRPr lang="en-US" sz="1800" dirty="0"/>
          </a:p>
        </p:txBody>
      </p:sp>
      <p:sp>
        <p:nvSpPr>
          <p:cNvPr id="8" name="box-369"/>
          <p:cNvSpPr/>
          <p:nvPr/>
        </p:nvSpPr>
        <p:spPr>
          <a:xfrm>
            <a:off x="694944" y="1737360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7F7F7F"/>
          </a:solidFill>
          <a:ln w="12700">
            <a:solidFill>
              <a:srgbClr val="7F7F7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</a:t>
            </a:r>
            <a:endParaRPr lang="en-US" sz="1000" dirty="0"/>
          </a:p>
        </p:txBody>
      </p:sp>
      <p:sp>
        <p:nvSpPr>
          <p:cNvPr id="9" name="text-370"/>
          <p:cNvSpPr txBox="1"/>
          <p:nvPr/>
        </p:nvSpPr>
        <p:spPr>
          <a:xfrm>
            <a:off x="1335024" y="17373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敏感数据 y₁：影响公共利益、一般影响（3 级）；y₂：影响其他组织、严重影响（3 级）</a:t>
            </a:r>
            <a:endParaRPr lang="en-US" sz="1100" dirty="0"/>
          </a:p>
        </p:txBody>
      </p:sp>
      <p:graphicFrame>
        <p:nvGraphicFramePr>
          <p:cNvPr id="18" name="table-3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2057400"/>
          <a:ext cx="64008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731520"/>
                <a:gridCol w="868680"/>
                <a:gridCol w="868680"/>
                <a:gridCol w="2743200"/>
                <a:gridCol w="7315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一次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M（y₁）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M（y₂）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折算与查表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二次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0.68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0.05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y₁：一般 → 轻微；公共利益 × 轻微 = 3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0.15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0.55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y₂：严重 → 一般；其他组织 × 一般 = 2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0.06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0.08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均低于 0.1，不调整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0.75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y₂：严重（不降档）；其他组织 × 严重 = 3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table-3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2057400"/>
          <a:ext cx="4178808" cy="914400"/>
        </p:xfrm>
        <a:graphic>
          <a:graphicData uri="http://schemas.openxmlformats.org/drawingml/2006/table">
            <a:tbl>
              <a:tblPr/>
              <a:tblGrid>
                <a:gridCol w="987718"/>
                <a:gridCol w="547044"/>
                <a:gridCol w="623022"/>
                <a:gridCol w="623022"/>
                <a:gridCol w="623022"/>
                <a:gridCol w="774979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影响对象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轻微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一般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严重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特别严重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国家安全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公共利益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经济运行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社会秩序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其他组织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公民个人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单位自身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</a:tr>
            </a:tbl>
          </a:graphicData>
        </a:graphic>
      </p:graphicFrame>
      <p:sp>
        <p:nvSpPr>
          <p:cNvPr id="12" name="text-373"/>
          <p:cNvSpPr txBox="1"/>
          <p:nvPr/>
        </p:nvSpPr>
        <p:spPr>
          <a:xfrm>
            <a:off x="7315200" y="4297680"/>
            <a:ext cx="4178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判定矩阵中的对应位置（橙色）</a:t>
            </a:r>
            <a:endParaRPr lang="en-US" sz="1050" dirty="0"/>
          </a:p>
        </p:txBody>
      </p:sp>
      <p:sp>
        <p:nvSpPr>
          <p:cNvPr id="13" name="text-374"/>
          <p:cNvSpPr txBox="1"/>
          <p:nvPr/>
        </p:nvSpPr>
        <p:spPr>
          <a:xfrm>
            <a:off x="694944" y="4572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复核意见</a:t>
            </a:r>
            <a:endParaRPr lang="en-US" sz="1400" dirty="0"/>
          </a:p>
        </p:txBody>
      </p:sp>
      <p:sp>
        <p:nvSpPr>
          <p:cNvPr id="14" name="box-375"/>
          <p:cNvSpPr/>
          <p:nvPr/>
        </p:nvSpPr>
        <p:spPr>
          <a:xfrm>
            <a:off x="694944" y="4919472"/>
            <a:ext cx="10799064" cy="1170432"/>
          </a:xfrm>
          <a:prstGeom prst="rect">
            <a:avLst/>
          </a:prstGeom>
          <a:solidFill>
            <a:srgbClr val="F7F7F7"/>
          </a:solidFill>
          <a:ln w="12700">
            <a:solidFill>
              <a:srgbClr val="A6A6A6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5" name="box-376"/>
          <p:cNvSpPr/>
          <p:nvPr/>
        </p:nvSpPr>
        <p:spPr>
          <a:xfrm>
            <a:off x="822960" y="5010912"/>
            <a:ext cx="566928" cy="219456"/>
          </a:xfrm>
          <a:prstGeom prst="roundRect">
            <a:avLst>
              <a:gd name="adj" fmla="val 33333"/>
            </a:avLst>
          </a:prstGeom>
          <a:solidFill>
            <a:srgbClr val="7F7F7F"/>
          </a:solidFill>
          <a:ln w="12700">
            <a:solidFill>
              <a:srgbClr val="7F7F7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</a:t>
            </a:r>
            <a:endParaRPr lang="en-US" sz="1000" dirty="0"/>
          </a:p>
        </p:txBody>
      </p:sp>
      <p:sp>
        <p:nvSpPr>
          <p:cNvPr id="16" name="text-377"/>
          <p:cNvSpPr txBox="1"/>
          <p:nvPr/>
        </p:nvSpPr>
        <p:spPr>
          <a:xfrm>
            <a:off x="1508760" y="4956048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 A 一次等级为 1 级。在接收方已掌握公开信息和字段 D 的情况下，再获得字段 A 可使 3 级数据 y₁ 的推断精度提高 0.68，贡献显著。依据《分类分级手册》分级要素“深度”和附录 D，按 y₁ 的影响对象（公共利益）和折算后的影响程度（轻微）查表 4.4，建议二次等级为 3 级。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378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379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四、审批固化与动态更新</a:t>
            </a:r>
            <a:endParaRPr lang="en-US" sz="2400" dirty="0"/>
          </a:p>
        </p:txBody>
      </p:sp>
      <p:sp>
        <p:nvSpPr>
          <p:cNvPr id="5" name="box-380"/>
          <p:cNvSpPr/>
          <p:nvPr/>
        </p:nvSpPr>
        <p:spPr>
          <a:xfrm>
            <a:off x="694944" y="6217920"/>
            <a:ext cx="86868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南网依据</a:t>
            </a:r>
            <a:endParaRPr lang="en-US" sz="1050" dirty="0"/>
          </a:p>
        </p:txBody>
      </p:sp>
      <p:sp>
        <p:nvSpPr>
          <p:cNvPr id="6" name="text-381"/>
          <p:cNvSpPr txBox="1"/>
          <p:nvPr/>
        </p:nvSpPr>
        <p:spPr>
          <a:xfrm>
            <a:off x="1645920" y="6217920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《分类分级手册》四(四)(五)(七)、附录 E；《风险评估手册》第 138、146、154 项</a:t>
            </a:r>
            <a:endParaRPr lang="en-US" sz="1100" dirty="0"/>
          </a:p>
        </p:txBody>
      </p:sp>
      <p:sp>
        <p:nvSpPr>
          <p:cNvPr id="7" name="text-382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4.1 审批与 4.2 结果固化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：二次等级经审批后写入数据目录</a:t>
            </a:r>
            <a:endParaRPr lang="en-US" sz="1800" dirty="0"/>
          </a:p>
        </p:txBody>
      </p:sp>
      <p:sp>
        <p:nvSpPr>
          <p:cNvPr id="8" name="box-383"/>
          <p:cNvSpPr/>
          <p:nvPr/>
        </p:nvSpPr>
        <p:spPr>
          <a:xfrm>
            <a:off x="694944" y="1783080"/>
            <a:ext cx="2103120" cy="73152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二次等级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复核意见与推断证据</a:t>
            </a:r>
            <a:endParaRPr lang="en-US" sz="1200" dirty="0"/>
          </a:p>
        </p:txBody>
      </p:sp>
      <p:sp>
        <p:nvSpPr>
          <p:cNvPr id="9" name="arr-384"/>
          <p:cNvSpPr/>
          <p:nvPr/>
        </p:nvSpPr>
        <p:spPr>
          <a:xfrm>
            <a:off x="2862072" y="2011680"/>
            <a:ext cx="411480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0" name="chev-385"/>
          <p:cNvSpPr/>
          <p:nvPr/>
        </p:nvSpPr>
        <p:spPr>
          <a:xfrm>
            <a:off x="3337560" y="1783080"/>
            <a:ext cx="2130552" cy="731520"/>
          </a:xfrm>
          <a:prstGeom prst="homePlate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4.1 审批</a:t>
            </a:r>
            <a:endParaRPr lang="en-US" sz="1300" dirty="0"/>
          </a:p>
        </p:txBody>
      </p:sp>
      <p:sp>
        <p:nvSpPr>
          <p:cNvPr id="11" name="chev-386"/>
          <p:cNvSpPr/>
          <p:nvPr/>
        </p:nvSpPr>
        <p:spPr>
          <a:xfrm>
            <a:off x="5330952" y="1783080"/>
            <a:ext cx="2130552" cy="731520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4.2 结果固化到数据目录</a:t>
            </a:r>
            <a:endParaRPr lang="en-US" sz="1300" dirty="0"/>
          </a:p>
        </p:txBody>
      </p:sp>
      <p:sp>
        <p:nvSpPr>
          <p:cNvPr id="12" name="chev-387"/>
          <p:cNvSpPr/>
          <p:nvPr/>
        </p:nvSpPr>
        <p:spPr>
          <a:xfrm>
            <a:off x="7324344" y="1783080"/>
            <a:ext cx="2130552" cy="731520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技术管控</a:t>
            </a:r>
            <a:endParaRPr lang="en-US" sz="1300" dirty="0"/>
          </a:p>
        </p:txBody>
      </p:sp>
      <p:sp>
        <p:nvSpPr>
          <p:cNvPr id="13" name="chev-388"/>
          <p:cNvSpPr/>
          <p:nvPr/>
        </p:nvSpPr>
        <p:spPr>
          <a:xfrm>
            <a:off x="9317736" y="1783080"/>
            <a:ext cx="2130552" cy="731520"/>
          </a:xfrm>
          <a:prstGeom prst="chevron">
            <a:avLst/>
          </a:prstGeom>
          <a:solidFill>
            <a:srgbClr val="1F4E7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4.3 动态更新</a:t>
            </a:r>
            <a:endParaRPr lang="en-US" sz="1300" dirty="0"/>
          </a:p>
        </p:txBody>
      </p:sp>
      <p:sp>
        <p:nvSpPr>
          <p:cNvPr id="14" name="text-389"/>
          <p:cNvSpPr txBox="1"/>
          <p:nvPr/>
        </p:nvSpPr>
        <p:spPr>
          <a:xfrm>
            <a:off x="694944" y="2743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数据目录增加的列</a:t>
            </a:r>
            <a:endParaRPr lang="en-US" sz="1250" dirty="0"/>
          </a:p>
        </p:txBody>
      </p:sp>
      <p:sp>
        <p:nvSpPr>
          <p:cNvPr id="15" name="box-390"/>
          <p:cNvSpPr/>
          <p:nvPr/>
        </p:nvSpPr>
        <p:spPr>
          <a:xfrm>
            <a:off x="2514600" y="2743200"/>
            <a:ext cx="106070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一次等级</a:t>
            </a:r>
            <a:endParaRPr lang="en-US" sz="1100" dirty="0"/>
          </a:p>
        </p:txBody>
      </p:sp>
      <p:sp>
        <p:nvSpPr>
          <p:cNvPr id="16" name="box-391"/>
          <p:cNvSpPr/>
          <p:nvPr/>
        </p:nvSpPr>
        <p:spPr>
          <a:xfrm>
            <a:off x="3643884" y="2743200"/>
            <a:ext cx="106070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二次等级</a:t>
            </a:r>
            <a:endParaRPr lang="en-US" sz="1100" dirty="0"/>
          </a:p>
        </p:txBody>
      </p:sp>
      <p:sp>
        <p:nvSpPr>
          <p:cNvPr id="17" name="box-392"/>
          <p:cNvSpPr/>
          <p:nvPr/>
        </p:nvSpPr>
        <p:spPr>
          <a:xfrm>
            <a:off x="4773168" y="2743200"/>
            <a:ext cx="106070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标定依据</a:t>
            </a:r>
            <a:endParaRPr lang="en-US" sz="1100" dirty="0"/>
          </a:p>
        </p:txBody>
      </p:sp>
      <p:sp>
        <p:nvSpPr>
          <p:cNvPr id="18" name="box-393"/>
          <p:cNvSpPr/>
          <p:nvPr/>
        </p:nvSpPr>
        <p:spPr>
          <a:xfrm>
            <a:off x="5902452" y="2743200"/>
            <a:ext cx="106070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</a:t>
            </a:r>
            <a:endParaRPr lang="en-US" sz="1100" dirty="0"/>
          </a:p>
        </p:txBody>
      </p:sp>
      <p:sp>
        <p:nvSpPr>
          <p:cNvPr id="19" name="box-394"/>
          <p:cNvSpPr/>
          <p:nvPr/>
        </p:nvSpPr>
        <p:spPr>
          <a:xfrm>
            <a:off x="7031736" y="2743200"/>
            <a:ext cx="106070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推断敏感度</a:t>
            </a:r>
            <a:endParaRPr lang="en-US" sz="1100" dirty="0"/>
          </a:p>
        </p:txBody>
      </p:sp>
      <p:sp>
        <p:nvSpPr>
          <p:cNvPr id="20" name="box-395"/>
          <p:cNvSpPr/>
          <p:nvPr/>
        </p:nvSpPr>
        <p:spPr>
          <a:xfrm>
            <a:off x="8161020" y="2743200"/>
            <a:ext cx="106070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适用角色与时点</a:t>
            </a:r>
            <a:endParaRPr lang="en-US" sz="1100" dirty="0"/>
          </a:p>
        </p:txBody>
      </p:sp>
      <p:sp>
        <p:nvSpPr>
          <p:cNvPr id="21" name="box-396"/>
          <p:cNvSpPr/>
          <p:nvPr/>
        </p:nvSpPr>
        <p:spPr>
          <a:xfrm>
            <a:off x="9290304" y="2743200"/>
            <a:ext cx="106070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复评条件</a:t>
            </a:r>
            <a:endParaRPr lang="en-US" sz="1100" dirty="0"/>
          </a:p>
        </p:txBody>
      </p:sp>
      <p:sp>
        <p:nvSpPr>
          <p:cNvPr id="22" name="box-397"/>
          <p:cNvSpPr/>
          <p:nvPr/>
        </p:nvSpPr>
        <p:spPr>
          <a:xfrm>
            <a:off x="10419588" y="2743200"/>
            <a:ext cx="106070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审批结论</a:t>
            </a:r>
            <a:endParaRPr lang="en-US" sz="1100" dirty="0"/>
          </a:p>
        </p:txBody>
      </p:sp>
      <p:sp>
        <p:nvSpPr>
          <p:cNvPr id="23" name="text-398"/>
          <p:cNvSpPr txBox="1"/>
          <p:nvPr/>
        </p:nvSpPr>
        <p:spPr>
          <a:xfrm>
            <a:off x="694944" y="3429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4.3 动态更新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：由事件触发，从已审批的等级出发增量重算</a:t>
            </a:r>
            <a:endParaRPr lang="en-US" sz="1800" dirty="0"/>
          </a:p>
        </p:txBody>
      </p:sp>
      <p:graphicFrame>
        <p:nvGraphicFramePr>
          <p:cNvPr id="19" name="table-3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4023360"/>
          <a:ext cx="10799064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840480"/>
                <a:gridCol w="3300984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触发事件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影响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依据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体量变化、聚合合并、脱敏、加工、安全事件等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一次等级与推断敏感度均可能变化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《分类分级手册》附录 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新批次数据开放、字段转为公开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接收方已掌握的信息增加，其余字段的推断敏感度可能上升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《数据开放目录》；《风险评估手册》第 138 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披露时点到达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敏感数据已披露，相应的上调可以解除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《披露细则》2.7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制度修订、历史数据累积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规则库、推断场景与推断敏感度需更新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《分类分级手册》四(七)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400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401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小结：与任务要求、南网文件的对应</a:t>
            </a:r>
            <a:endParaRPr lang="en-US" sz="2400" dirty="0"/>
          </a:p>
        </p:txBody>
      </p:sp>
      <p:sp>
        <p:nvSpPr>
          <p:cNvPr id="5" name="text-402"/>
          <p:cNvSpPr txBox="1"/>
          <p:nvPr/>
        </p:nvSpPr>
        <p:spPr>
          <a:xfrm>
            <a:off x="694944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体系各部分与课题任务、南网文件的对应关系</a:t>
            </a:r>
            <a:endParaRPr lang="en-US" sz="1800" dirty="0"/>
          </a:p>
        </p:txBody>
      </p:sp>
      <p:graphicFrame>
        <p:nvGraphicFramePr>
          <p:cNvPr id="20" name="table-4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1737360"/>
          <a:ext cx="10799064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657600"/>
                <a:gridCol w="3575304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课题任务要求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体系中的对应部分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南网依据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归纳电力信息类型，提出异构信息的结构化处理方法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一、信息类型归纳与结构化处理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《分类分级手册》四(一)(二)、附录 A；《披露细则》2.7、5.1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面向本体安全威胁的安全等级一次标定方法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二、一次标定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《分类分级手册》四(三)、表 4.1~4.4、附录 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面向多源跨域融合推断安全威胁的安全等级二次标定方法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三、二次标定：3.1 融合推断场景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《披露细则》5.1~5.7；《分类分级手册》表 4.1~4.3；《数据开放目录》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三、二次标定：3.2 字段推断敏感度　3.3 计算与验证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《分类分级手册》要素“深度”；《风险评估手册》第 382、330、351 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三、二次标定：3.4 等级二次标定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《分类分级手册》表 4.4、“从严性”“合理性”、附录 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电力信息敏感度的科学评估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字段推断敏感度表、分类分级清单；审批固化与动态更新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4E7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《分类分级手册》四(四)(五)(七)、附录 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box-404"/>
          <p:cNvSpPr/>
          <p:nvPr/>
        </p:nvSpPr>
        <p:spPr>
          <a:xfrm>
            <a:off x="694944" y="5440680"/>
            <a:ext cx="10799064" cy="685800"/>
          </a:xfrm>
          <a:prstGeom prst="rect">
            <a:avLst/>
          </a:prstGeom>
          <a:ln w="15875">
            <a:solidFill>
              <a:srgbClr val="5B9BD5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8" name="text-405"/>
          <p:cNvSpPr txBox="1"/>
          <p:nvPr/>
        </p:nvSpPr>
        <p:spPr>
          <a:xfrm>
            <a:off x="868680" y="5458968"/>
            <a:ext cx="104698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与现行规定保持一致的处理：等级采用</a:t>
            </a:r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南网五级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并由</a:t>
            </a:r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判定矩阵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给出；二次等级</a:t>
            </a:r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不低于一次等级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</a:t>
            </a:r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法定公开字段不调整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；重要、核心数据只提出申报建议；定级结论以审批为准。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406"/>
          <p:cNvSpPr txBox="1"/>
          <p:nvPr/>
        </p:nvSpPr>
        <p:spPr>
          <a:xfrm>
            <a:off x="155448" y="2011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4546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汇报提纲</a:t>
            </a:r>
            <a:endParaRPr lang="en-US" sz="2800" dirty="0"/>
          </a:p>
        </p:txBody>
      </p:sp>
      <p:pic>
        <p:nvPicPr>
          <p:cNvPr id="3" name="img-407" descr="/data1/duhaocun/projects/GNN_Aggresvation/reports/南网/南网claude/V9/assets/outline_map.jpe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2423160" y="1828800"/>
            <a:ext cx="7534656" cy="3630168"/>
          </a:xfrm>
          <a:prstGeom prst="rect">
            <a:avLst/>
          </a:prstGeom>
        </p:spPr>
      </p:pic>
      <p:sp>
        <p:nvSpPr>
          <p:cNvPr id="4" name="num-408"/>
          <p:cNvSpPr/>
          <p:nvPr/>
        </p:nvSpPr>
        <p:spPr>
          <a:xfrm>
            <a:off x="3840480" y="205740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ln-409"/>
          <p:cNvSpPr/>
          <p:nvPr/>
        </p:nvSpPr>
        <p:spPr>
          <a:xfrm>
            <a:off x="4480560" y="234086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6" name="text-410"/>
          <p:cNvSpPr txBox="1"/>
          <p:nvPr/>
        </p:nvSpPr>
        <p:spPr>
          <a:xfrm>
            <a:off x="5166360" y="20574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背景与依据</a:t>
            </a:r>
            <a:endParaRPr lang="en-US" sz="2400" dirty="0"/>
          </a:p>
        </p:txBody>
      </p:sp>
      <p:sp>
        <p:nvSpPr>
          <p:cNvPr id="7" name="num-411"/>
          <p:cNvSpPr/>
          <p:nvPr/>
        </p:nvSpPr>
        <p:spPr>
          <a:xfrm>
            <a:off x="3840480" y="292608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ln-412"/>
          <p:cNvSpPr/>
          <p:nvPr/>
        </p:nvSpPr>
        <p:spPr>
          <a:xfrm>
            <a:off x="4480560" y="320954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9" name="text-413"/>
          <p:cNvSpPr txBox="1"/>
          <p:nvPr/>
        </p:nvSpPr>
        <p:spPr>
          <a:xfrm>
            <a:off x="5166360" y="29260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体系框架</a:t>
            </a:r>
            <a:endParaRPr lang="en-US" sz="2400" dirty="0"/>
          </a:p>
        </p:txBody>
      </p:sp>
      <p:sp>
        <p:nvSpPr>
          <p:cNvPr id="10" name="num-414"/>
          <p:cNvSpPr/>
          <p:nvPr/>
        </p:nvSpPr>
        <p:spPr>
          <a:xfrm>
            <a:off x="3840480" y="3794760"/>
            <a:ext cx="566928" cy="566928"/>
          </a:xfrm>
          <a:prstGeom prst="ellipse">
            <a:avLst/>
          </a:prstGeom>
          <a:solidFill>
            <a:srgbClr val="F2F2F2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ln-415"/>
          <p:cNvSpPr/>
          <p:nvPr/>
        </p:nvSpPr>
        <p:spPr>
          <a:xfrm>
            <a:off x="4480560" y="4078224"/>
            <a:ext cx="5486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dash"/>
            <a:tailEnd type="none"/>
          </a:ln>
        </p:spPr>
      </p:sp>
      <p:sp>
        <p:nvSpPr>
          <p:cNvPr id="12" name="text-416"/>
          <p:cNvSpPr txBox="1"/>
          <p:nvPr/>
        </p:nvSpPr>
        <p:spPr>
          <a:xfrm>
            <a:off x="5166360" y="37947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关键方法</a:t>
            </a:r>
            <a:endParaRPr lang="en-US" sz="2400" dirty="0"/>
          </a:p>
        </p:txBody>
      </p:sp>
      <p:sp>
        <p:nvSpPr>
          <p:cNvPr id="13" name="num-417"/>
          <p:cNvSpPr/>
          <p:nvPr/>
        </p:nvSpPr>
        <p:spPr>
          <a:xfrm>
            <a:off x="3840480" y="4663440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F7F7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ln-418"/>
          <p:cNvSpPr/>
          <p:nvPr/>
        </p:nvSpPr>
        <p:spPr>
          <a:xfrm>
            <a:off x="4480560" y="4946904"/>
            <a:ext cx="5486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dash"/>
            <a:tailEnd type="none"/>
          </a:ln>
        </p:spPr>
      </p:sp>
      <p:sp>
        <p:nvSpPr>
          <p:cNvPr id="15" name="text-419"/>
          <p:cNvSpPr txBox="1"/>
          <p:nvPr/>
        </p:nvSpPr>
        <p:spPr>
          <a:xfrm>
            <a:off x="5166360" y="46634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下一步工作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k-420"/>
          <p:cNvSpPr/>
          <p:nvPr/>
        </p:nvSpPr>
        <p:spPr>
          <a:xfrm>
            <a:off x="155448" y="301752"/>
            <a:ext cx="338328" cy="310896"/>
          </a:xfrm>
          <a:prstGeom prst="chevron">
            <a:avLst/>
          </a:prstGeom>
          <a:solidFill>
            <a:srgbClr val="B50104"/>
          </a:solidFill>
          <a:ln w="12700">
            <a:solidFill>
              <a:srgbClr val="B50104"/>
            </a:solidFill>
            <a:prstDash val="solid"/>
          </a:ln>
        </p:spPr>
      </p:sp>
      <p:sp>
        <p:nvSpPr>
          <p:cNvPr id="3" name="mark-421"/>
          <p:cNvSpPr/>
          <p:nvPr/>
        </p:nvSpPr>
        <p:spPr>
          <a:xfrm>
            <a:off x="438912" y="301752"/>
            <a:ext cx="338328" cy="310896"/>
          </a:xfrm>
          <a:prstGeom prst="chevron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6868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E9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下一步工作</a:t>
            </a:r>
            <a:endParaRPr lang="en-US" sz="2400" dirty="0"/>
          </a:p>
        </p:txBody>
      </p:sp>
      <p:sp>
        <p:nvSpPr>
          <p:cNvPr id="5" name="text-422"/>
          <p:cNvSpPr txBox="1"/>
          <p:nvPr/>
        </p:nvSpPr>
        <p:spPr>
          <a:xfrm>
            <a:off x="694944" y="12801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1、确认关键口径</a:t>
            </a:r>
            <a:endParaRPr lang="en-US" sz="2000" dirty="0"/>
          </a:p>
        </p:txBody>
      </p:sp>
      <p:sp>
        <p:nvSpPr>
          <p:cNvPr id="6" name="text-423"/>
          <p:cNvSpPr txBox="1"/>
          <p:nvPr/>
        </p:nvSpPr>
        <p:spPr>
          <a:xfrm>
            <a:off x="1097280" y="17830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与南网确认敏感目标清单及其影响对象与影响程度、推断敏感度的分档界限、接收方角色与法定公开字段清单。</a:t>
            </a:r>
            <a:endParaRPr lang="en-US" sz="1700" dirty="0"/>
          </a:p>
        </p:txBody>
      </p:sp>
      <p:sp>
        <p:nvSpPr>
          <p:cNvPr id="7" name="text-424"/>
          <p:cNvSpPr txBox="1"/>
          <p:nvPr/>
        </p:nvSpPr>
        <p:spPr>
          <a:xfrm>
            <a:off x="694944" y="28803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2、完善二次标定方法</a:t>
            </a:r>
            <a:endParaRPr lang="en-US" sz="2000" dirty="0"/>
          </a:p>
        </p:txBody>
      </p:sp>
      <p:sp>
        <p:nvSpPr>
          <p:cNvPr id="8" name="text-425"/>
          <p:cNvSpPr txBox="1"/>
          <p:nvPr/>
        </p:nvSpPr>
        <p:spPr>
          <a:xfrm>
            <a:off x="1097280" y="33832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在公开电力数据集上验证分档界限和背景字段数上限的取值；研究多个字段共同作用时的等级联合调整方法。</a:t>
            </a:r>
            <a:endParaRPr lang="en-US" sz="1700" dirty="0"/>
          </a:p>
        </p:txBody>
      </p:sp>
      <p:sp>
        <p:nvSpPr>
          <p:cNvPr id="9" name="text-426"/>
          <p:cNvSpPr txBox="1"/>
          <p:nvPr/>
        </p:nvSpPr>
        <p:spPr>
          <a:xfrm>
            <a:off x="694944" y="44805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3、开展试点应用</a:t>
            </a:r>
            <a:endParaRPr lang="en-US" sz="2000" dirty="0"/>
          </a:p>
        </p:txBody>
      </p:sp>
      <p:sp>
        <p:nvSpPr>
          <p:cNvPr id="10" name="text-427"/>
          <p:cNvSpPr txBox="1"/>
          <p:nvPr/>
        </p:nvSpPr>
        <p:spPr>
          <a:xfrm>
            <a:off x="1097280" y="49834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优先选取系统运行域与电力市场披露数据开展试点，需协调提供字段级历史样本数据。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-428"/>
          <p:cNvSpPr/>
          <p:nvPr/>
        </p:nvSpPr>
        <p:spPr>
          <a:xfrm>
            <a:off x="7955280" y="2514600"/>
            <a:ext cx="4233672" cy="1828800"/>
          </a:xfrm>
          <a:prstGeom prst="rect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3" name="red-429"/>
          <p:cNvSpPr/>
          <p:nvPr/>
        </p:nvSpPr>
        <p:spPr>
          <a:xfrm>
            <a:off x="0" y="1737360"/>
            <a:ext cx="8046720" cy="2606040"/>
          </a:xfrm>
          <a:prstGeom prst="rect">
            <a:avLst/>
          </a:prstGeom>
          <a:solidFill>
            <a:srgbClr val="BA0000"/>
          </a:solidFill>
          <a:ln w="12700">
            <a:solidFill>
              <a:srgbClr val="BA0000"/>
            </a:solidFill>
            <a:prstDash val="solid"/>
          </a:ln>
        </p:spPr>
      </p:sp>
      <p:sp>
        <p:nvSpPr>
          <p:cNvPr id="4" name="ln-430"/>
          <p:cNvSpPr/>
          <p:nvPr/>
        </p:nvSpPr>
        <p:spPr>
          <a:xfrm>
            <a:off x="868680" y="2011680"/>
            <a:ext cx="8229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none"/>
          </a:ln>
        </p:spPr>
      </p:sp>
      <p:sp>
        <p:nvSpPr>
          <p:cNvPr id="5" name="ln-431"/>
          <p:cNvSpPr/>
          <p:nvPr/>
        </p:nvSpPr>
        <p:spPr>
          <a:xfrm>
            <a:off x="868680" y="2011680"/>
            <a:ext cx="0" cy="20574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none"/>
          </a:ln>
        </p:spPr>
      </p:sp>
      <p:sp>
        <p:nvSpPr>
          <p:cNvPr id="6" name="ln-432"/>
          <p:cNvSpPr/>
          <p:nvPr/>
        </p:nvSpPr>
        <p:spPr>
          <a:xfrm>
            <a:off x="868680" y="4069080"/>
            <a:ext cx="8229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none"/>
          </a:ln>
        </p:spPr>
      </p:sp>
      <p:sp>
        <p:nvSpPr>
          <p:cNvPr id="7" name="text-433"/>
          <p:cNvSpPr txBox="1"/>
          <p:nvPr/>
        </p:nvSpPr>
        <p:spPr>
          <a:xfrm>
            <a:off x="1097280" y="210312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谢谢大家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微软雅黑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软雅黑"/>
        <a:ea typeface="微软雅黑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南网电力数据分类分级体系框架</dc:title>
  <dc:subject>PptxGenJS Presentation</dc:subject>
  <dc:creator>PptxGenJS</dc:creator>
  <cp:lastModifiedBy>PptxGenJS</cp:lastModifiedBy>
  <cp:revision>1</cp:revision>
  <dcterms:created xsi:type="dcterms:W3CDTF">2026-10-08T12:06:45Z</dcterms:created>
  <dcterms:modified xsi:type="dcterms:W3CDTF">2026-10-08T12:06:45Z</dcterms:modified>
</cp:coreProperties>
</file>