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南网2026年的分类分级工作手册是整个体系的基线。它规定了七步流程、八个分级要素，以及按影响对象和影响程度定一到五级的判定矩阵。每一级还绑定了共享开放的口径，这一点在后面的等级优化里会用到。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现行分级看的是数据本身。但几个单看都是一级的字段，放在同一个接收方手里，可能把一份三级数据推出来。南网文件在五处提到了这类要求，但都没有给出怎么算、算到什么程度算有风险。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总体思路是三句话：南网规则是基线；师兄的体系框架保留；风险识别这一环升级。图中左边是原体系，右边是本框架，中间标出每个环节是保留、替换还是升级。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这是体系的总图，分四个阶段。第一和第四阶段是南网已有流程；第二阶段是推断风险识别，是本研究新增的部分，师兄的关联图并联使用；第三阶段用师兄的GRPO做等级优化，南网规则作为硬约束。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阶段一完全按南网手册执行。师兄的大模型加检索增强用来解析南网规则；定级用南网的判定矩阵。多做的一步是给每个字段标注披露层级和披露时点。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做推断风险评估先要确定场景。披露细则把市场信息分成公众、公开、特定三层，外层能看到内层的一切；分级手册规定了每一级数据可以给谁。由此得到每类接收方默认已知什么。披露时点决定什么时候已知。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风险量化的核心是集合推断能力V：只用某个字段集合，最强的攻击模型能把目标推到多准。在它之上得到三个字段级的量。计算上先用通用模型扫描所有组合，再对当前可见范围内的组合重训验证。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这是一个受控市场算例。左图是两两关联图，每个电价与目标之间都没有可报警的边；右图以组合为单位，机组出力和电价合起来才能反推报价。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南网每一级都绑定了共享开放口径。字段被上调后，更宽的角色就拿不到它，其他字段的风险随之下降。所以上调谁、调几级是相互牵制的。右边的示例里，四个字段都参与了越线组合，全部上调要七级次，只调必要的字段只需三级次。表中是示意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求解沿用师兄的GRPO算法。状态里的风险量换成了本研究的M；动作是把某个字段上调一级；环境会重算风险，所以状态随动作变化。南网规则全部作为硬约束，不进奖励。右下角的表列出了相对师兄原设定的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算法给出的是建议等级和证据，定级仍走南网审批并固化到数据目录。动态更新是事件触发的。除了分级手册附录E的场景，新增了公开范围变化和披露时点到达两类触发。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这张表逐步列出了体系与南网条款的对应关系，下方是已经处理的潜在冲突点。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COVER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" y="1014984"/>
            <a:ext cx="10799064" cy="0"/>
          </a:xfrm>
          <a:prstGeom prst="line">
            <a:avLst/>
          </a:prstGeom>
          <a:noFill/>
          <a:ln w="12700">
            <a:solidFill>
              <a:srgbClr val="3B4681"/>
            </a:solidFill>
            <a:prstDash val="solid"/>
          </a:ln>
        </p:spPr>
      </p:sp>
      <p:pic>
        <p:nvPicPr>
          <p:cNvPr id="3" name="Image 0" descr="/data1/duhaocun/projects/GNN_Aggresvation/reports/南网/南网claude/V3/assets/logo_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365760"/>
            <a:ext cx="2112264" cy="566928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1/duhaocun/projects/GNN_Aggresvation/reports/南网/南网claude/V3/assets/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65776" y="594360"/>
            <a:ext cx="2057400" cy="5486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UT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1/duhaocun/projects/GNN_Aggresvation/reports/南网/南网claude/V3/assets/outline_hea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224942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822960" y="132588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C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南网电力数据分类分级体系框架</a:t>
            </a:r>
            <a:endParaRPr lang="en-US" sz="5000" dirty="0"/>
          </a:p>
        </p:txBody>
      </p:sp>
      <p:sp>
        <p:nvSpPr>
          <p:cNvPr id="3" name="text-2"/>
          <p:cNvSpPr txBox="1"/>
          <p:nvPr/>
        </p:nvSpPr>
        <p:spPr>
          <a:xfrm>
            <a:off x="822960" y="228600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融合关联推断风险的分类分级方法</a:t>
            </a:r>
            <a:endParaRPr lang="en-US" sz="3200" dirty="0"/>
          </a:p>
        </p:txBody>
      </p:sp>
      <p:sp>
        <p:nvSpPr>
          <p:cNvPr id="4" name="ln-3"/>
          <p:cNvSpPr/>
          <p:nvPr/>
        </p:nvSpPr>
        <p:spPr>
          <a:xfrm>
            <a:off x="2011680" y="3401568"/>
            <a:ext cx="20116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ln-4"/>
          <p:cNvSpPr/>
          <p:nvPr/>
        </p:nvSpPr>
        <p:spPr>
          <a:xfrm>
            <a:off x="8165592" y="3401568"/>
            <a:ext cx="201168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6" name="text-5"/>
          <p:cNvSpPr txBox="1"/>
          <p:nvPr/>
        </p:nvSpPr>
        <p:spPr>
          <a:xfrm>
            <a:off x="4023360" y="3218688"/>
            <a:ext cx="4142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数据分类分级专题汇报</a:t>
            </a:r>
            <a:endParaRPr lang="en-US" sz="2000" dirty="0"/>
          </a:p>
        </p:txBody>
      </p:sp>
      <p:sp>
        <p:nvSpPr>
          <p:cNvPr id="7" name="text-6"/>
          <p:cNvSpPr txBox="1"/>
          <p:nvPr/>
        </p:nvSpPr>
        <p:spPr>
          <a:xfrm>
            <a:off x="3108960" y="3749040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西安交通大学 网络空间学院</a:t>
            </a:r>
            <a:endParaRPr lang="en-US" sz="1800" dirty="0"/>
          </a:p>
        </p:txBody>
      </p:sp>
      <p:sp>
        <p:nvSpPr>
          <p:cNvPr id="8" name="text-7"/>
          <p:cNvSpPr txBox="1"/>
          <p:nvPr/>
        </p:nvSpPr>
        <p:spPr>
          <a:xfrm>
            <a:off x="3108960" y="4160520"/>
            <a:ext cx="5971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年 10 月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"/>
          <p:cNvSpPr txBox="1"/>
          <p:nvPr/>
        </p:nvSpPr>
        <p:spPr>
          <a:xfrm>
            <a:off x="2743200" y="685800"/>
            <a:ext cx="670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4000" dirty="0"/>
          </a:p>
        </p:txBody>
      </p:sp>
      <p:sp>
        <p:nvSpPr>
          <p:cNvPr id="3" name="ln-9"/>
          <p:cNvSpPr/>
          <p:nvPr/>
        </p:nvSpPr>
        <p:spPr>
          <a:xfrm>
            <a:off x="3566160" y="114300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4" name="ln-10"/>
          <p:cNvSpPr/>
          <p:nvPr/>
        </p:nvSpPr>
        <p:spPr>
          <a:xfrm>
            <a:off x="7708392" y="114300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num-11"/>
          <p:cNvSpPr/>
          <p:nvPr/>
        </p:nvSpPr>
        <p:spPr>
          <a:xfrm>
            <a:off x="3904488" y="2697480"/>
            <a:ext cx="603504" cy="603504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-12"/>
          <p:cNvSpPr txBox="1"/>
          <p:nvPr/>
        </p:nvSpPr>
        <p:spPr>
          <a:xfrm>
            <a:off x="4818888" y="269748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背景与问题</a:t>
            </a:r>
            <a:endParaRPr lang="en-US" sz="2800" dirty="0"/>
          </a:p>
        </p:txBody>
      </p:sp>
      <p:sp>
        <p:nvSpPr>
          <p:cNvPr id="7" name="num-13"/>
          <p:cNvSpPr/>
          <p:nvPr/>
        </p:nvSpPr>
        <p:spPr>
          <a:xfrm>
            <a:off x="3904488" y="3630168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-14"/>
          <p:cNvSpPr txBox="1"/>
          <p:nvPr/>
        </p:nvSpPr>
        <p:spPr>
          <a:xfrm>
            <a:off x="4818888" y="363016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800" dirty="0"/>
          </a:p>
        </p:txBody>
      </p:sp>
      <p:sp>
        <p:nvSpPr>
          <p:cNvPr id="9" name="num-15"/>
          <p:cNvSpPr/>
          <p:nvPr/>
        </p:nvSpPr>
        <p:spPr>
          <a:xfrm>
            <a:off x="3904488" y="4562856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-16"/>
          <p:cNvSpPr txBox="1"/>
          <p:nvPr/>
        </p:nvSpPr>
        <p:spPr>
          <a:xfrm>
            <a:off x="4818888" y="456285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800" dirty="0"/>
          </a:p>
        </p:txBody>
      </p:sp>
      <p:sp>
        <p:nvSpPr>
          <p:cNvPr id="11" name="num-17"/>
          <p:cNvSpPr/>
          <p:nvPr/>
        </p:nvSpPr>
        <p:spPr>
          <a:xfrm>
            <a:off x="3904488" y="5495544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-18"/>
          <p:cNvSpPr txBox="1"/>
          <p:nvPr/>
        </p:nvSpPr>
        <p:spPr>
          <a:xfrm>
            <a:off x="4818888" y="549554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研究背景：南网数据分类分级要求</a:t>
            </a:r>
            <a:endParaRPr lang="en-US" sz="2800" dirty="0"/>
          </a:p>
        </p:txBody>
      </p:sp>
      <p:sp>
        <p:nvSpPr>
          <p:cNvPr id="3" name="box-19"/>
          <p:cNvSpPr/>
          <p:nvPr/>
        </p:nvSpPr>
        <p:spPr>
          <a:xfrm>
            <a:off x="694944" y="1188720"/>
            <a:ext cx="10799064" cy="9144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text-20"/>
          <p:cNvSpPr txBox="1"/>
          <p:nvPr/>
        </p:nvSpPr>
        <p:spPr>
          <a:xfrm>
            <a:off x="868680" y="1243584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 2026 年《数据分类分级工作手册》按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和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把数据定为 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1~5 级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，遵循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“就高不就低”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；分类一直细到数据字段，结果经审批后固化到数据目录并动态更新。</a:t>
            </a:r>
            <a:endParaRPr lang="en-US" sz="1700" dirty="0"/>
          </a:p>
        </p:txBody>
      </p:sp>
      <p:sp>
        <p:nvSpPr>
          <p:cNvPr id="5" name="text-21"/>
          <p:cNvSpPr txBox="1"/>
          <p:nvPr/>
        </p:nvSpPr>
        <p:spPr>
          <a:xfrm>
            <a:off x="694944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工作流程</a:t>
            </a:r>
            <a:endParaRPr lang="en-US" sz="1500" dirty="0"/>
          </a:p>
        </p:txBody>
      </p:sp>
      <p:sp>
        <p:nvSpPr>
          <p:cNvPr id="6" name="chev-22"/>
          <p:cNvSpPr/>
          <p:nvPr/>
        </p:nvSpPr>
        <p:spPr>
          <a:xfrm>
            <a:off x="694944" y="2651760"/>
            <a:ext cx="1627632" cy="502920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数据资产梳理</a:t>
            </a:r>
            <a:endParaRPr lang="en-US" sz="1200" dirty="0"/>
          </a:p>
        </p:txBody>
      </p:sp>
      <p:sp>
        <p:nvSpPr>
          <p:cNvPr id="7" name="chev-23"/>
          <p:cNvSpPr/>
          <p:nvPr/>
        </p:nvSpPr>
        <p:spPr>
          <a:xfrm>
            <a:off x="2240280" y="2651760"/>
            <a:ext cx="1627632" cy="5029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数据分类</a:t>
            </a:r>
            <a:endParaRPr lang="en-US" sz="1200" dirty="0"/>
          </a:p>
        </p:txBody>
      </p:sp>
      <p:sp>
        <p:nvSpPr>
          <p:cNvPr id="8" name="chev-24"/>
          <p:cNvSpPr/>
          <p:nvPr/>
        </p:nvSpPr>
        <p:spPr>
          <a:xfrm>
            <a:off x="3785616" y="2651760"/>
            <a:ext cx="1627632" cy="50292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数据分级</a:t>
            </a:r>
            <a:endParaRPr lang="en-US" sz="1200" dirty="0"/>
          </a:p>
        </p:txBody>
      </p:sp>
      <p:sp>
        <p:nvSpPr>
          <p:cNvPr id="9" name="chev-25"/>
          <p:cNvSpPr/>
          <p:nvPr/>
        </p:nvSpPr>
        <p:spPr>
          <a:xfrm>
            <a:off x="5330952" y="2651760"/>
            <a:ext cx="1627632" cy="5029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</a:t>
            </a:r>
            <a:endParaRPr lang="en-US" sz="1200" dirty="0"/>
          </a:p>
        </p:txBody>
      </p:sp>
      <p:sp>
        <p:nvSpPr>
          <p:cNvPr id="10" name="chev-26"/>
          <p:cNvSpPr/>
          <p:nvPr/>
        </p:nvSpPr>
        <p:spPr>
          <a:xfrm>
            <a:off x="6876288" y="2651760"/>
            <a:ext cx="1627632" cy="5029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结果固化</a:t>
            </a:r>
            <a:endParaRPr lang="en-US" sz="1200" dirty="0"/>
          </a:p>
        </p:txBody>
      </p:sp>
      <p:sp>
        <p:nvSpPr>
          <p:cNvPr id="11" name="chev-27"/>
          <p:cNvSpPr/>
          <p:nvPr/>
        </p:nvSpPr>
        <p:spPr>
          <a:xfrm>
            <a:off x="8421624" y="2651760"/>
            <a:ext cx="1627632" cy="5029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技术管控</a:t>
            </a:r>
            <a:endParaRPr lang="en-US" sz="1200" dirty="0"/>
          </a:p>
        </p:txBody>
      </p:sp>
      <p:sp>
        <p:nvSpPr>
          <p:cNvPr id="12" name="chev-28"/>
          <p:cNvSpPr/>
          <p:nvPr/>
        </p:nvSpPr>
        <p:spPr>
          <a:xfrm>
            <a:off x="9966960" y="2651760"/>
            <a:ext cx="1627632" cy="50292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动态更新</a:t>
            </a:r>
            <a:endParaRPr lang="en-US" sz="1200" dirty="0"/>
          </a:p>
        </p:txBody>
      </p:sp>
      <p:sp>
        <p:nvSpPr>
          <p:cNvPr id="13" name="text-29"/>
          <p:cNvSpPr txBox="1"/>
          <p:nvPr/>
        </p:nvSpPr>
        <p:spPr>
          <a:xfrm>
            <a:off x="694944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分级判定方法</a:t>
            </a:r>
            <a:endParaRPr lang="en-US" sz="1500" dirty="0"/>
          </a:p>
        </p:txBody>
      </p:sp>
      <p:sp>
        <p:nvSpPr>
          <p:cNvPr id="14" name="box-30"/>
          <p:cNvSpPr/>
          <p:nvPr/>
        </p:nvSpPr>
        <p:spPr>
          <a:xfrm>
            <a:off x="694944" y="3749040"/>
            <a:ext cx="246888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个分级要素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领域、群体、区域、重要性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精度、规模、覆盖度、</a:t>
            </a:r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</a:t>
            </a:r>
            <a:endParaRPr lang="en-US" sz="1200" dirty="0"/>
          </a:p>
        </p:txBody>
      </p:sp>
      <p:sp>
        <p:nvSpPr>
          <p:cNvPr id="15" name="arr-31"/>
          <p:cNvSpPr/>
          <p:nvPr/>
        </p:nvSpPr>
        <p:spPr>
          <a:xfrm>
            <a:off x="3218688" y="4178808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6" name="box-32"/>
          <p:cNvSpPr/>
          <p:nvPr/>
        </p:nvSpPr>
        <p:spPr>
          <a:xfrm>
            <a:off x="3685032" y="3749040"/>
            <a:ext cx="246888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群体：国家安全、公共利益、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经济运行、社会秩序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个体：个人、其他组织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单位自身</a:t>
            </a:r>
            <a:endParaRPr lang="en-US" sz="1100" dirty="0"/>
          </a:p>
        </p:txBody>
      </p:sp>
      <p:sp>
        <p:nvSpPr>
          <p:cNvPr id="17" name="text-33"/>
          <p:cNvSpPr txBox="1"/>
          <p:nvPr/>
        </p:nvSpPr>
        <p:spPr>
          <a:xfrm>
            <a:off x="6172200" y="41148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</a:t>
            </a:r>
            <a:endParaRPr lang="en-US" sz="2000" dirty="0"/>
          </a:p>
        </p:txBody>
      </p:sp>
      <p:sp>
        <p:nvSpPr>
          <p:cNvPr id="18" name="box-34"/>
          <p:cNvSpPr/>
          <p:nvPr/>
        </p:nvSpPr>
        <p:spPr>
          <a:xfrm>
            <a:off x="6510528" y="3749040"/>
            <a:ext cx="1828800" cy="11430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影响程度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 / 轻微 / 一般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严重 / 特别严重</a:t>
            </a:r>
            <a:endParaRPr lang="en-US" sz="1200" dirty="0"/>
          </a:p>
        </p:txBody>
      </p:sp>
      <p:sp>
        <p:nvSpPr>
          <p:cNvPr id="19" name="arr-35"/>
          <p:cNvSpPr/>
          <p:nvPr/>
        </p:nvSpPr>
        <p:spPr>
          <a:xfrm>
            <a:off x="8394192" y="4178808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box-36"/>
          <p:cNvSpPr/>
          <p:nvPr/>
        </p:nvSpPr>
        <p:spPr>
          <a:xfrm>
            <a:off x="8869680" y="3749040"/>
            <a:ext cx="525780" cy="548640"/>
          </a:xfrm>
          <a:prstGeom prst="rect">
            <a:avLst/>
          </a:prstGeom>
          <a:solidFill>
            <a:srgbClr val="DEEAF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</a:t>
            </a:r>
            <a:endParaRPr lang="en-US" sz="1200" dirty="0"/>
          </a:p>
        </p:txBody>
      </p:sp>
      <p:sp>
        <p:nvSpPr>
          <p:cNvPr id="21" name="box-37"/>
          <p:cNvSpPr/>
          <p:nvPr/>
        </p:nvSpPr>
        <p:spPr>
          <a:xfrm>
            <a:off x="9395460" y="3749040"/>
            <a:ext cx="525780" cy="548640"/>
          </a:xfrm>
          <a:prstGeom prst="rect">
            <a:avLst/>
          </a:prstGeom>
          <a:solidFill>
            <a:srgbClr val="BDD7EE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级</a:t>
            </a:r>
            <a:endParaRPr lang="en-US" sz="1200" dirty="0"/>
          </a:p>
        </p:txBody>
      </p:sp>
      <p:sp>
        <p:nvSpPr>
          <p:cNvPr id="22" name="box-38"/>
          <p:cNvSpPr/>
          <p:nvPr/>
        </p:nvSpPr>
        <p:spPr>
          <a:xfrm>
            <a:off x="9921240" y="3749040"/>
            <a:ext cx="525780" cy="548640"/>
          </a:xfrm>
          <a:prstGeom prst="rect">
            <a:avLst/>
          </a:prstGeom>
          <a:solidFill>
            <a:srgbClr val="9DC3E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级</a:t>
            </a:r>
            <a:endParaRPr lang="en-US" sz="1200" dirty="0"/>
          </a:p>
        </p:txBody>
      </p:sp>
      <p:sp>
        <p:nvSpPr>
          <p:cNvPr id="23" name="box-39"/>
          <p:cNvSpPr/>
          <p:nvPr/>
        </p:nvSpPr>
        <p:spPr>
          <a:xfrm>
            <a:off x="10447020" y="3749040"/>
            <a:ext cx="52578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级</a:t>
            </a:r>
            <a:endParaRPr lang="en-US" sz="1200" dirty="0"/>
          </a:p>
        </p:txBody>
      </p:sp>
      <p:sp>
        <p:nvSpPr>
          <p:cNvPr id="24" name="box-40"/>
          <p:cNvSpPr/>
          <p:nvPr/>
        </p:nvSpPr>
        <p:spPr>
          <a:xfrm>
            <a:off x="10972800" y="3749040"/>
            <a:ext cx="525780" cy="548640"/>
          </a:xfrm>
          <a:prstGeom prst="rect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级</a:t>
            </a:r>
            <a:endParaRPr lang="en-US" sz="1200" dirty="0"/>
          </a:p>
        </p:txBody>
      </p:sp>
      <p:sp>
        <p:nvSpPr>
          <p:cNvPr id="25" name="box-41"/>
          <p:cNvSpPr/>
          <p:nvPr/>
        </p:nvSpPr>
        <p:spPr>
          <a:xfrm>
            <a:off x="8869680" y="4343400"/>
            <a:ext cx="157734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一般数据</a:t>
            </a:r>
            <a:endParaRPr lang="en-US" sz="1200" dirty="0"/>
          </a:p>
        </p:txBody>
      </p:sp>
      <p:sp>
        <p:nvSpPr>
          <p:cNvPr id="26" name="box-42"/>
          <p:cNvSpPr/>
          <p:nvPr/>
        </p:nvSpPr>
        <p:spPr>
          <a:xfrm>
            <a:off x="10447020" y="4343400"/>
            <a:ext cx="5257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重要</a:t>
            </a:r>
            <a:endParaRPr lang="en-US" sz="1100" dirty="0"/>
          </a:p>
        </p:txBody>
      </p:sp>
      <p:sp>
        <p:nvSpPr>
          <p:cNvPr id="27" name="box-43"/>
          <p:cNvSpPr/>
          <p:nvPr/>
        </p:nvSpPr>
        <p:spPr>
          <a:xfrm>
            <a:off x="10972800" y="4343400"/>
            <a:ext cx="52578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</a:t>
            </a:r>
            <a:endParaRPr lang="en-US" sz="1100" dirty="0"/>
          </a:p>
        </p:txBody>
      </p:sp>
      <p:sp>
        <p:nvSpPr>
          <p:cNvPr id="28" name="text-44"/>
          <p:cNvSpPr txBox="1"/>
          <p:nvPr/>
        </p:nvSpPr>
        <p:spPr>
          <a:xfrm>
            <a:off x="694944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各级的共享开放口径</a:t>
            </a:r>
            <a:endParaRPr lang="en-US" sz="1500" dirty="0"/>
          </a:p>
        </p:txBody>
      </p:sp>
      <p:graphicFrame>
        <p:nvGraphicFramePr>
          <p:cNvPr id="4" name="table-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5486400"/>
          <a:ext cx="10799064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1737360"/>
                <a:gridCol w="2651760"/>
                <a:gridCol w="2478024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4、5 级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共享开放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一般对象无条件共享、开放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有条件开放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仅特定对象有条件共享、开放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原则上不共享、不开放；须由主管部门认定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问题：数据关联带来的推断风险</a:t>
            </a:r>
            <a:endParaRPr lang="en-US" sz="2800" dirty="0"/>
          </a:p>
        </p:txBody>
      </p:sp>
      <p:sp>
        <p:nvSpPr>
          <p:cNvPr id="3" name="box-46"/>
          <p:cNvSpPr/>
          <p:nvPr/>
        </p:nvSpPr>
        <p:spPr>
          <a:xfrm>
            <a:off x="694944" y="1188720"/>
            <a:ext cx="10799064" cy="9144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text-47"/>
          <p:cNvSpPr txBox="1"/>
          <p:nvPr/>
        </p:nvSpPr>
        <p:spPr>
          <a:xfrm>
            <a:off x="868680" y="1243584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现行分级回答“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这份数据本身泄露了有多严重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”，没有回答“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它和接收方已有的数据放在一起，能推出什么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”：若干单看等级不高的字段，组合后可能还原出高等级数据。</a:t>
            </a:r>
            <a:endParaRPr lang="en-US" sz="1700" dirty="0"/>
          </a:p>
        </p:txBody>
      </p:sp>
      <p:sp>
        <p:nvSpPr>
          <p:cNvPr id="5" name="text-48"/>
          <p:cNvSpPr txBox="1"/>
          <p:nvPr/>
        </p:nvSpPr>
        <p:spPr>
          <a:xfrm>
            <a:off x="694944" y="22860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低等级字段的组合推断（示意）</a:t>
            </a:r>
            <a:endParaRPr lang="en-US" sz="1500" dirty="0"/>
          </a:p>
        </p:txBody>
      </p:sp>
      <p:sp>
        <p:nvSpPr>
          <p:cNvPr id="6" name="box-49"/>
          <p:cNvSpPr/>
          <p:nvPr/>
        </p:nvSpPr>
        <p:spPr>
          <a:xfrm>
            <a:off x="694944" y="2697480"/>
            <a:ext cx="2148840" cy="6858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A：出清电价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 · 法定公开</a:t>
            </a:r>
            <a:endParaRPr lang="en-US" sz="1200" dirty="0"/>
          </a:p>
        </p:txBody>
      </p:sp>
      <p:sp>
        <p:nvSpPr>
          <p:cNvPr id="7" name="ln-50"/>
          <p:cNvSpPr/>
          <p:nvPr/>
        </p:nvSpPr>
        <p:spPr>
          <a:xfrm>
            <a:off x="2843784" y="3040380"/>
            <a:ext cx="585216" cy="864108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8" name="box-51"/>
          <p:cNvSpPr/>
          <p:nvPr/>
        </p:nvSpPr>
        <p:spPr>
          <a:xfrm>
            <a:off x="694944" y="3566160"/>
            <a:ext cx="2148840" cy="6858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B：机组日发电量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</a:t>
            </a:r>
            <a:endParaRPr lang="en-US" sz="1200" dirty="0"/>
          </a:p>
        </p:txBody>
      </p:sp>
      <p:sp>
        <p:nvSpPr>
          <p:cNvPr id="9" name="ln-52"/>
          <p:cNvSpPr/>
          <p:nvPr/>
        </p:nvSpPr>
        <p:spPr>
          <a:xfrm flipV="1">
            <a:off x="2843784" y="3904488"/>
            <a:ext cx="585216" cy="4572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0" name="box-53"/>
          <p:cNvSpPr/>
          <p:nvPr/>
        </p:nvSpPr>
        <p:spPr>
          <a:xfrm>
            <a:off x="694944" y="4434840"/>
            <a:ext cx="2148840" cy="6858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 C：新能源出力预测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级</a:t>
            </a:r>
            <a:endParaRPr lang="en-US" sz="1200" dirty="0"/>
          </a:p>
        </p:txBody>
      </p:sp>
      <p:sp>
        <p:nvSpPr>
          <p:cNvPr id="11" name="ln-54"/>
          <p:cNvSpPr/>
          <p:nvPr/>
        </p:nvSpPr>
        <p:spPr>
          <a:xfrm flipV="1">
            <a:off x="2843784" y="3904488"/>
            <a:ext cx="585216" cy="873252"/>
          </a:xfrm>
          <a:prstGeom prst="line">
            <a:avLst/>
          </a:prstGeom>
          <a:noFill/>
          <a:ln w="19050">
            <a:solidFill>
              <a:srgbClr val="5B9BD5"/>
            </a:solidFill>
            <a:prstDash val="solid"/>
            <a:tailEnd type="triangle"/>
          </a:ln>
        </p:spPr>
      </p:sp>
      <p:sp>
        <p:nvSpPr>
          <p:cNvPr id="12" name="box-55"/>
          <p:cNvSpPr/>
          <p:nvPr/>
        </p:nvSpPr>
        <p:spPr>
          <a:xfrm>
            <a:off x="3429000" y="3538728"/>
            <a:ext cx="822960" cy="731520"/>
          </a:xfrm>
          <a:prstGeom prst="roundRect">
            <a:avLst>
              <a:gd name="adj" fmla="val 10000"/>
            </a:avLst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</a:t>
            </a:r>
            <a:endParaRPr lang="en-US" sz="1400" dirty="0"/>
          </a:p>
        </p:txBody>
      </p:sp>
      <p:sp>
        <p:nvSpPr>
          <p:cNvPr id="13" name="arr-56"/>
          <p:cNvSpPr/>
          <p:nvPr/>
        </p:nvSpPr>
        <p:spPr>
          <a:xfrm>
            <a:off x="4315968" y="3767328"/>
            <a:ext cx="457200" cy="274320"/>
          </a:xfrm>
          <a:prstGeom prst="rightArrow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4" name="box-57"/>
          <p:cNvSpPr/>
          <p:nvPr/>
        </p:nvSpPr>
        <p:spPr>
          <a:xfrm>
            <a:off x="4828032" y="3538728"/>
            <a:ext cx="1691640" cy="7315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敏感目标：机组报价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级 · 特定信息</a:t>
            </a:r>
            <a:endParaRPr lang="en-US" sz="1200" dirty="0"/>
          </a:p>
        </p:txBody>
      </p:sp>
      <p:sp>
        <p:nvSpPr>
          <p:cNvPr id="15" name="text-58"/>
          <p:cNvSpPr txBox="1"/>
          <p:nvPr/>
        </p:nvSpPr>
        <p:spPr>
          <a:xfrm>
            <a:off x="694944" y="525780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单看：每个字段对目标的推断能力都很低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合起来：推断精度可越过“视为泄露”的界线</a:t>
            </a:r>
            <a:endParaRPr lang="en-US" sz="1300" dirty="0"/>
          </a:p>
        </p:txBody>
      </p:sp>
      <p:sp>
        <p:nvSpPr>
          <p:cNvPr id="16" name="text-59"/>
          <p:cNvSpPr txBox="1"/>
          <p:nvPr/>
        </p:nvSpPr>
        <p:spPr>
          <a:xfrm>
            <a:off x="6629400" y="2286000"/>
            <a:ext cx="48646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南网文件已提出要求，但未给出方法与判定标准</a:t>
            </a:r>
            <a:endParaRPr lang="en-US" sz="1500" dirty="0"/>
          </a:p>
        </p:txBody>
      </p:sp>
      <p:graphicFrame>
        <p:nvGraphicFramePr>
          <p:cNvPr id="5" name="table-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9400" y="2697480"/>
          <a:ext cx="4864608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081528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出处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分级原则“从严性”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多因素时按可能造成的最高影响定级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分级要素“深度”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关联、挖掘、融合对隐含信息的刻画程度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附录 D 衍生数据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挖掘出更敏感、更深度的数据应提高级别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附录 E 聚合场景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须分析汇聚后能否获得更多信息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风险评估第 382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基于已公开数据，尝试能否推断出未公开的关联信息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-61"/>
          <p:cNvSpPr txBox="1"/>
          <p:nvPr/>
        </p:nvSpPr>
        <p:spPr>
          <a:xfrm>
            <a:off x="6629400" y="5669280"/>
            <a:ext cx="48646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本框架的目标：把这一原则性要求变成</a:t>
            </a:r>
            <a:pPr algn="ctr"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可计算、可复核</a:t>
            </a:r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的定级依据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2"/>
          <p:cNvSpPr txBox="1"/>
          <p:nvPr/>
        </p:nvSpPr>
        <p:spPr>
          <a:xfrm>
            <a:off x="2743200" y="685800"/>
            <a:ext cx="670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4000" dirty="0"/>
          </a:p>
        </p:txBody>
      </p:sp>
      <p:sp>
        <p:nvSpPr>
          <p:cNvPr id="3" name="ln-63"/>
          <p:cNvSpPr/>
          <p:nvPr/>
        </p:nvSpPr>
        <p:spPr>
          <a:xfrm>
            <a:off x="3566160" y="114300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4" name="ln-64"/>
          <p:cNvSpPr/>
          <p:nvPr/>
        </p:nvSpPr>
        <p:spPr>
          <a:xfrm>
            <a:off x="7708392" y="114300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num-65"/>
          <p:cNvSpPr/>
          <p:nvPr/>
        </p:nvSpPr>
        <p:spPr>
          <a:xfrm>
            <a:off x="3904488" y="2697480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-66"/>
          <p:cNvSpPr txBox="1"/>
          <p:nvPr/>
        </p:nvSpPr>
        <p:spPr>
          <a:xfrm>
            <a:off x="4818888" y="269748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背景与问题</a:t>
            </a:r>
            <a:endParaRPr lang="en-US" sz="2800" dirty="0"/>
          </a:p>
        </p:txBody>
      </p:sp>
      <p:sp>
        <p:nvSpPr>
          <p:cNvPr id="7" name="num-67"/>
          <p:cNvSpPr/>
          <p:nvPr/>
        </p:nvSpPr>
        <p:spPr>
          <a:xfrm>
            <a:off x="3904488" y="3630168"/>
            <a:ext cx="603504" cy="603504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-68"/>
          <p:cNvSpPr txBox="1"/>
          <p:nvPr/>
        </p:nvSpPr>
        <p:spPr>
          <a:xfrm>
            <a:off x="4818888" y="363016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800" dirty="0"/>
          </a:p>
        </p:txBody>
      </p:sp>
      <p:sp>
        <p:nvSpPr>
          <p:cNvPr id="9" name="num-69"/>
          <p:cNvSpPr/>
          <p:nvPr/>
        </p:nvSpPr>
        <p:spPr>
          <a:xfrm>
            <a:off x="3904488" y="4562856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-70"/>
          <p:cNvSpPr txBox="1"/>
          <p:nvPr/>
        </p:nvSpPr>
        <p:spPr>
          <a:xfrm>
            <a:off x="4818888" y="456285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800" dirty="0"/>
          </a:p>
        </p:txBody>
      </p:sp>
      <p:sp>
        <p:nvSpPr>
          <p:cNvPr id="11" name="num-71"/>
          <p:cNvSpPr/>
          <p:nvPr/>
        </p:nvSpPr>
        <p:spPr>
          <a:xfrm>
            <a:off x="3904488" y="5495544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-72"/>
          <p:cNvSpPr txBox="1"/>
          <p:nvPr/>
        </p:nvSpPr>
        <p:spPr>
          <a:xfrm>
            <a:off x="4818888" y="549554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总体思路</a:t>
            </a:r>
            <a:endParaRPr lang="en-US" sz="2800" dirty="0"/>
          </a:p>
        </p:txBody>
      </p:sp>
      <p:sp>
        <p:nvSpPr>
          <p:cNvPr id="3" name="box-73"/>
          <p:cNvSpPr/>
          <p:nvPr/>
        </p:nvSpPr>
        <p:spPr>
          <a:xfrm>
            <a:off x="694944" y="1188720"/>
            <a:ext cx="10799064" cy="91440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" name="text-74"/>
          <p:cNvSpPr txBox="1"/>
          <p:nvPr/>
        </p:nvSpPr>
        <p:spPr>
          <a:xfrm>
            <a:off x="868680" y="1243584"/>
            <a:ext cx="10469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南网分类分级规则为基线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，继承师兄“规则初始分级—关联风险识别—动态定级”的体系框架，把推断风险由字段两两关联升级为</a:t>
            </a:r>
            <a:pPr algn="l"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集合与背景条件下的推断风险</a:t>
            </a:r>
            <a:pPr algn="l"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，形成符合南网规则的分类分级体系。</a:t>
            </a:r>
            <a:endParaRPr lang="en-US" sz="1700" dirty="0"/>
          </a:p>
        </p:txBody>
      </p:sp>
      <p:sp>
        <p:nvSpPr>
          <p:cNvPr id="5" name="text-75"/>
          <p:cNvSpPr txBox="1"/>
          <p:nvPr/>
        </p:nvSpPr>
        <p:spPr>
          <a:xfrm>
            <a:off x="694944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原体系（师兄论文）</a:t>
            </a:r>
            <a:endParaRPr lang="en-US" sz="1500" dirty="0"/>
          </a:p>
        </p:txBody>
      </p:sp>
      <p:sp>
        <p:nvSpPr>
          <p:cNvPr id="6" name="text-76"/>
          <p:cNvSpPr txBox="1"/>
          <p:nvPr/>
        </p:nvSpPr>
        <p:spPr>
          <a:xfrm>
            <a:off x="6739128" y="2286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本框架</a:t>
            </a:r>
            <a:endParaRPr lang="en-US" sz="1500" dirty="0"/>
          </a:p>
        </p:txBody>
      </p:sp>
      <p:sp>
        <p:nvSpPr>
          <p:cNvPr id="7" name="box-77"/>
          <p:cNvSpPr/>
          <p:nvPr/>
        </p:nvSpPr>
        <p:spPr>
          <a:xfrm>
            <a:off x="694944" y="2697480"/>
            <a:ext cx="1097280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规则理解</a:t>
            </a:r>
            <a:endParaRPr lang="en-US" sz="1200" dirty="0"/>
          </a:p>
        </p:txBody>
      </p:sp>
      <p:sp>
        <p:nvSpPr>
          <p:cNvPr id="8" name="box-78"/>
          <p:cNvSpPr/>
          <p:nvPr/>
        </p:nvSpPr>
        <p:spPr>
          <a:xfrm>
            <a:off x="1828800" y="2697480"/>
            <a:ext cx="3621024" cy="60350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 + 检索增强抽取规则</a:t>
            </a:r>
            <a:endParaRPr lang="en-US" sz="1200" dirty="0"/>
          </a:p>
        </p:txBody>
      </p:sp>
      <p:sp>
        <p:nvSpPr>
          <p:cNvPr id="9" name="arr-79"/>
          <p:cNvSpPr/>
          <p:nvPr/>
        </p:nvSpPr>
        <p:spPr>
          <a:xfrm>
            <a:off x="5532120" y="2862072"/>
            <a:ext cx="45720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text-80"/>
          <p:cNvSpPr txBox="1"/>
          <p:nvPr/>
        </p:nvSpPr>
        <p:spPr>
          <a:xfrm>
            <a:off x="5257800" y="258775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</a:t>
            </a:r>
            <a:endParaRPr lang="en-US" sz="1000" dirty="0"/>
          </a:p>
        </p:txBody>
      </p:sp>
      <p:sp>
        <p:nvSpPr>
          <p:cNvPr id="11" name="box-81"/>
          <p:cNvSpPr/>
          <p:nvPr/>
        </p:nvSpPr>
        <p:spPr>
          <a:xfrm>
            <a:off x="6080760" y="2697480"/>
            <a:ext cx="5413248" cy="60350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语料换为南网手册与细则</a:t>
            </a:r>
            <a:endParaRPr lang="en-US" sz="1200" dirty="0"/>
          </a:p>
        </p:txBody>
      </p:sp>
      <p:sp>
        <p:nvSpPr>
          <p:cNvPr id="12" name="box-82"/>
          <p:cNvSpPr/>
          <p:nvPr/>
        </p:nvSpPr>
        <p:spPr>
          <a:xfrm>
            <a:off x="694944" y="3410712"/>
            <a:ext cx="1097280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初始定级</a:t>
            </a:r>
            <a:endParaRPr lang="en-US" sz="1200" dirty="0"/>
          </a:p>
        </p:txBody>
      </p:sp>
      <p:sp>
        <p:nvSpPr>
          <p:cNvPr id="13" name="box-83"/>
          <p:cNvSpPr/>
          <p:nvPr/>
        </p:nvSpPr>
        <p:spPr>
          <a:xfrm>
            <a:off x="1828800" y="3410712"/>
            <a:ext cx="3621024" cy="60350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频繁模式支持度 → 四级</a:t>
            </a:r>
            <a:endParaRPr lang="en-US" sz="1200" dirty="0"/>
          </a:p>
        </p:txBody>
      </p:sp>
      <p:sp>
        <p:nvSpPr>
          <p:cNvPr id="14" name="arr-84"/>
          <p:cNvSpPr/>
          <p:nvPr/>
        </p:nvSpPr>
        <p:spPr>
          <a:xfrm>
            <a:off x="5532120" y="3575304"/>
            <a:ext cx="45720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5" name="text-85"/>
          <p:cNvSpPr txBox="1"/>
          <p:nvPr/>
        </p:nvSpPr>
        <p:spPr>
          <a:xfrm>
            <a:off x="5257800" y="33009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按南网替换</a:t>
            </a:r>
            <a:endParaRPr lang="en-US" sz="1000" dirty="0"/>
          </a:p>
        </p:txBody>
      </p:sp>
      <p:sp>
        <p:nvSpPr>
          <p:cNvPr id="16" name="box-86"/>
          <p:cNvSpPr/>
          <p:nvPr/>
        </p:nvSpPr>
        <p:spPr>
          <a:xfrm>
            <a:off x="6080760" y="3410712"/>
            <a:ext cx="5413248" cy="60350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南网影响矩阵 → 五级</a:t>
            </a:r>
            <a:endParaRPr lang="en-US" sz="1200" dirty="0"/>
          </a:p>
        </p:txBody>
      </p:sp>
      <p:sp>
        <p:nvSpPr>
          <p:cNvPr id="17" name="box-87"/>
          <p:cNvSpPr/>
          <p:nvPr/>
        </p:nvSpPr>
        <p:spPr>
          <a:xfrm>
            <a:off x="694944" y="4123944"/>
            <a:ext cx="1097280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风险识别</a:t>
            </a:r>
            <a:endParaRPr lang="en-US" sz="1200" dirty="0"/>
          </a:p>
        </p:txBody>
      </p:sp>
      <p:sp>
        <p:nvSpPr>
          <p:cNvPr id="18" name="box-88"/>
          <p:cNvSpPr/>
          <p:nvPr/>
        </p:nvSpPr>
        <p:spPr>
          <a:xfrm>
            <a:off x="1828800" y="4123944"/>
            <a:ext cx="3621024" cy="60350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Pearson/Spearman/MIC 关联图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DNN、GAT 推断验证</a:t>
            </a:r>
            <a:endParaRPr lang="en-US" sz="1200" dirty="0"/>
          </a:p>
        </p:txBody>
      </p:sp>
      <p:sp>
        <p:nvSpPr>
          <p:cNvPr id="19" name="arr-89"/>
          <p:cNvSpPr/>
          <p:nvPr/>
        </p:nvSpPr>
        <p:spPr>
          <a:xfrm>
            <a:off x="5532120" y="4288536"/>
            <a:ext cx="45720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0" name="text-90"/>
          <p:cNvSpPr txBox="1"/>
          <p:nvPr/>
        </p:nvSpPr>
        <p:spPr>
          <a:xfrm>
            <a:off x="5257800" y="401421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</a:t>
            </a:r>
            <a:endParaRPr lang="en-US" sz="1000" dirty="0"/>
          </a:p>
        </p:txBody>
      </p:sp>
      <p:sp>
        <p:nvSpPr>
          <p:cNvPr id="21" name="box-91"/>
          <p:cNvSpPr/>
          <p:nvPr/>
        </p:nvSpPr>
        <p:spPr>
          <a:xfrm>
            <a:off x="6080760" y="4123944"/>
            <a:ext cx="5413248" cy="603504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关联图与推断验证保留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集合推断能力与字段级风险</a:t>
            </a:r>
            <a:endParaRPr lang="en-US" sz="1200" dirty="0"/>
          </a:p>
        </p:txBody>
      </p:sp>
      <p:sp>
        <p:nvSpPr>
          <p:cNvPr id="22" name="box-92"/>
          <p:cNvSpPr/>
          <p:nvPr/>
        </p:nvSpPr>
        <p:spPr>
          <a:xfrm>
            <a:off x="694944" y="4837176"/>
            <a:ext cx="1097280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等级决策</a:t>
            </a:r>
            <a:endParaRPr lang="en-US" sz="1200" dirty="0"/>
          </a:p>
        </p:txBody>
      </p:sp>
      <p:sp>
        <p:nvSpPr>
          <p:cNvPr id="23" name="box-93"/>
          <p:cNvSpPr/>
          <p:nvPr/>
        </p:nvSpPr>
        <p:spPr>
          <a:xfrm>
            <a:off x="1828800" y="4837176"/>
            <a:ext cx="3621024" cy="60350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GRPO 逐字段选等级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合规为罚项</a:t>
            </a:r>
            <a:endParaRPr lang="en-US" sz="1200" dirty="0"/>
          </a:p>
        </p:txBody>
      </p:sp>
      <p:sp>
        <p:nvSpPr>
          <p:cNvPr id="24" name="arr-94"/>
          <p:cNvSpPr/>
          <p:nvPr/>
        </p:nvSpPr>
        <p:spPr>
          <a:xfrm>
            <a:off x="5532120" y="5001768"/>
            <a:ext cx="45720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5" name="text-95"/>
          <p:cNvSpPr txBox="1"/>
          <p:nvPr/>
        </p:nvSpPr>
        <p:spPr>
          <a:xfrm>
            <a:off x="5257800" y="4727448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保留并改造</a:t>
            </a:r>
            <a:endParaRPr lang="en-US" sz="1000" dirty="0"/>
          </a:p>
        </p:txBody>
      </p:sp>
      <p:sp>
        <p:nvSpPr>
          <p:cNvPr id="26" name="box-96"/>
          <p:cNvSpPr/>
          <p:nvPr/>
        </p:nvSpPr>
        <p:spPr>
          <a:xfrm>
            <a:off x="6080760" y="4837176"/>
            <a:ext cx="5413248" cy="60350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GRPO 求上调最少的一致等级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南网规则为硬约束</a:t>
            </a:r>
            <a:endParaRPr lang="en-US" sz="1200" dirty="0"/>
          </a:p>
        </p:txBody>
      </p:sp>
      <p:sp>
        <p:nvSpPr>
          <p:cNvPr id="27" name="box-97"/>
          <p:cNvSpPr/>
          <p:nvPr/>
        </p:nvSpPr>
        <p:spPr>
          <a:xfrm>
            <a:off x="694944" y="5550408"/>
            <a:ext cx="1097280" cy="60350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结果输出</a:t>
            </a:r>
            <a:endParaRPr lang="en-US" sz="1200" dirty="0"/>
          </a:p>
        </p:txBody>
      </p:sp>
      <p:sp>
        <p:nvSpPr>
          <p:cNvPr id="28" name="box-98"/>
          <p:cNvSpPr/>
          <p:nvPr/>
        </p:nvSpPr>
        <p:spPr>
          <a:xfrm>
            <a:off x="1828800" y="5550408"/>
            <a:ext cx="3621024" cy="603504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算法直接给出等级</a:t>
            </a:r>
            <a:endParaRPr lang="en-US" sz="1200" dirty="0"/>
          </a:p>
        </p:txBody>
      </p:sp>
      <p:sp>
        <p:nvSpPr>
          <p:cNvPr id="29" name="arr-99"/>
          <p:cNvSpPr/>
          <p:nvPr/>
        </p:nvSpPr>
        <p:spPr>
          <a:xfrm>
            <a:off x="5532120" y="5715000"/>
            <a:ext cx="45720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0" name="text-100"/>
          <p:cNvSpPr txBox="1"/>
          <p:nvPr/>
        </p:nvSpPr>
        <p:spPr>
          <a:xfrm>
            <a:off x="5257800" y="544068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按南网对齐</a:t>
            </a:r>
            <a:endParaRPr lang="en-US" sz="1000" dirty="0"/>
          </a:p>
        </p:txBody>
      </p:sp>
      <p:sp>
        <p:nvSpPr>
          <p:cNvPr id="31" name="box-101"/>
          <p:cNvSpPr/>
          <p:nvPr/>
        </p:nvSpPr>
        <p:spPr>
          <a:xfrm>
            <a:off x="6080760" y="5550408"/>
            <a:ext cx="5413248" cy="603504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建议等级 + 推断证据 → 审批固化</a:t>
            </a:r>
            <a:endParaRPr lang="en-US" sz="1200" dirty="0"/>
          </a:p>
        </p:txBody>
      </p:sp>
      <p:sp>
        <p:nvSpPr>
          <p:cNvPr id="32" name="box-102"/>
          <p:cNvSpPr/>
          <p:nvPr/>
        </p:nvSpPr>
        <p:spPr>
          <a:xfrm>
            <a:off x="694944" y="6364224"/>
            <a:ext cx="274320" cy="18288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3" name="text-103"/>
          <p:cNvSpPr txBox="1"/>
          <p:nvPr/>
        </p:nvSpPr>
        <p:spPr>
          <a:xfrm>
            <a:off x="1042416" y="6327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南网规则与流程</a:t>
            </a:r>
            <a:endParaRPr lang="en-US" sz="1100" dirty="0"/>
          </a:p>
        </p:txBody>
      </p:sp>
      <p:sp>
        <p:nvSpPr>
          <p:cNvPr id="34" name="box-104"/>
          <p:cNvSpPr/>
          <p:nvPr/>
        </p:nvSpPr>
        <p:spPr>
          <a:xfrm>
            <a:off x="2752344" y="6364224"/>
            <a:ext cx="274320" cy="18288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5" name="text-105"/>
          <p:cNvSpPr txBox="1"/>
          <p:nvPr/>
        </p:nvSpPr>
        <p:spPr>
          <a:xfrm>
            <a:off x="3099816" y="6327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师兄论文方法</a:t>
            </a:r>
            <a:endParaRPr lang="en-US" sz="1100" dirty="0"/>
          </a:p>
        </p:txBody>
      </p:sp>
      <p:sp>
        <p:nvSpPr>
          <p:cNvPr id="36" name="box-106"/>
          <p:cNvSpPr/>
          <p:nvPr/>
        </p:nvSpPr>
        <p:spPr>
          <a:xfrm>
            <a:off x="4809744" y="6364224"/>
            <a:ext cx="274320" cy="18288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7" name="text-107"/>
          <p:cNvSpPr txBox="1"/>
          <p:nvPr/>
        </p:nvSpPr>
        <p:spPr>
          <a:xfrm>
            <a:off x="5157216" y="6327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本研究新增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体系框架：四个阶段</a:t>
            </a:r>
            <a:endParaRPr lang="en-US" sz="2800" dirty="0"/>
          </a:p>
        </p:txBody>
      </p:sp>
      <p:sp>
        <p:nvSpPr>
          <p:cNvPr id="3" name="box-108"/>
          <p:cNvSpPr/>
          <p:nvPr/>
        </p:nvSpPr>
        <p:spPr>
          <a:xfrm>
            <a:off x="694944" y="1133856"/>
            <a:ext cx="384048" cy="102412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级</a:t>
            </a:r>
            <a:endParaRPr lang="en-US" sz="1200" dirty="0"/>
          </a:p>
        </p:txBody>
      </p:sp>
      <p:sp>
        <p:nvSpPr>
          <p:cNvPr id="4" name="box-109"/>
          <p:cNvSpPr/>
          <p:nvPr/>
        </p:nvSpPr>
        <p:spPr>
          <a:xfrm>
            <a:off x="1078992" y="1133856"/>
            <a:ext cx="10415016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" name="box-110"/>
          <p:cNvSpPr/>
          <p:nvPr/>
        </p:nvSpPr>
        <p:spPr>
          <a:xfrm>
            <a:off x="1243584" y="1280160"/>
            <a:ext cx="2233422" cy="73152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规则库构建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 + 检索增强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解析南网手册与细则</a:t>
            </a:r>
            <a:endParaRPr lang="en-US" sz="1150" dirty="0"/>
          </a:p>
        </p:txBody>
      </p:sp>
      <p:sp>
        <p:nvSpPr>
          <p:cNvPr id="6" name="arr-111"/>
          <p:cNvSpPr/>
          <p:nvPr/>
        </p:nvSpPr>
        <p:spPr>
          <a:xfrm>
            <a:off x="3513582" y="1527048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box-112"/>
          <p:cNvSpPr/>
          <p:nvPr/>
        </p:nvSpPr>
        <p:spPr>
          <a:xfrm>
            <a:off x="3861054" y="1280160"/>
            <a:ext cx="2233422" cy="73152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分类到字段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专业域—流程—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业务对象—字段</a:t>
            </a:r>
            <a:endParaRPr lang="en-US" sz="1150" dirty="0"/>
          </a:p>
        </p:txBody>
      </p:sp>
      <p:sp>
        <p:nvSpPr>
          <p:cNvPr id="8" name="arr-113"/>
          <p:cNvSpPr/>
          <p:nvPr/>
        </p:nvSpPr>
        <p:spPr>
          <a:xfrm>
            <a:off x="6131052" y="1527048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9" name="box-114"/>
          <p:cNvSpPr/>
          <p:nvPr/>
        </p:nvSpPr>
        <p:spPr>
          <a:xfrm>
            <a:off x="6478524" y="1280160"/>
            <a:ext cx="2233422" cy="73152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规则定级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 × 影响程度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 1~5 级</a:t>
            </a:r>
            <a:endParaRPr lang="en-US" sz="1150" dirty="0"/>
          </a:p>
        </p:txBody>
      </p:sp>
      <p:sp>
        <p:nvSpPr>
          <p:cNvPr id="10" name="arr-115"/>
          <p:cNvSpPr/>
          <p:nvPr/>
        </p:nvSpPr>
        <p:spPr>
          <a:xfrm>
            <a:off x="8748522" y="1527048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1" name="box-116"/>
          <p:cNvSpPr/>
          <p:nvPr/>
        </p:nvSpPr>
        <p:spPr>
          <a:xfrm>
            <a:off x="9095994" y="1280160"/>
            <a:ext cx="2233422" cy="73152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场景标注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披露层级、披露时点、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是否法定公开</a:t>
            </a:r>
            <a:endParaRPr lang="en-US" sz="1150" dirty="0"/>
          </a:p>
        </p:txBody>
      </p:sp>
      <p:sp>
        <p:nvSpPr>
          <p:cNvPr id="12" name="arr-117"/>
          <p:cNvSpPr/>
          <p:nvPr/>
        </p:nvSpPr>
        <p:spPr>
          <a:xfrm>
            <a:off x="5897880" y="2176272"/>
            <a:ext cx="402336" cy="201168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3" name="box-118"/>
          <p:cNvSpPr/>
          <p:nvPr/>
        </p:nvSpPr>
        <p:spPr>
          <a:xfrm>
            <a:off x="694944" y="2395728"/>
            <a:ext cx="384048" cy="10972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险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别</a:t>
            </a:r>
            <a:endParaRPr lang="en-US" sz="1200" dirty="0"/>
          </a:p>
        </p:txBody>
      </p:sp>
      <p:sp>
        <p:nvSpPr>
          <p:cNvPr id="14" name="box-119"/>
          <p:cNvSpPr/>
          <p:nvPr/>
        </p:nvSpPr>
        <p:spPr>
          <a:xfrm>
            <a:off x="1078992" y="2395728"/>
            <a:ext cx="10415016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5" name="box-120"/>
          <p:cNvSpPr/>
          <p:nvPr/>
        </p:nvSpPr>
        <p:spPr>
          <a:xfrm>
            <a:off x="1243584" y="2542032"/>
            <a:ext cx="2233422" cy="804672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场景确定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各类接收方已知什么、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还能拿到什么</a:t>
            </a:r>
            <a:endParaRPr lang="en-US" sz="1150" dirty="0"/>
          </a:p>
        </p:txBody>
      </p:sp>
      <p:sp>
        <p:nvSpPr>
          <p:cNvPr id="16" name="arr-121"/>
          <p:cNvSpPr/>
          <p:nvPr/>
        </p:nvSpPr>
        <p:spPr>
          <a:xfrm>
            <a:off x="3513582" y="2825496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7" name="box-122"/>
          <p:cNvSpPr/>
          <p:nvPr/>
        </p:nvSpPr>
        <p:spPr>
          <a:xfrm>
            <a:off x="3861054" y="2542032"/>
            <a:ext cx="2233422" cy="804672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集合推断能力 V(S)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通用模型扫描字段组合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（DNN/GAT 为其特例）</a:t>
            </a:r>
            <a:endParaRPr lang="en-US" sz="1150" dirty="0"/>
          </a:p>
        </p:txBody>
      </p:sp>
      <p:sp>
        <p:nvSpPr>
          <p:cNvPr id="18" name="arr-123"/>
          <p:cNvSpPr/>
          <p:nvPr/>
        </p:nvSpPr>
        <p:spPr>
          <a:xfrm>
            <a:off x="6131052" y="2825496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9" name="box-124"/>
          <p:cNvSpPr/>
          <p:nvPr/>
        </p:nvSpPr>
        <p:spPr>
          <a:xfrm>
            <a:off x="6478524" y="2542032"/>
            <a:ext cx="2233422" cy="804672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字段级风险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M(0) 单独 · M(K) 最坏背景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Γ(K) 背景放大</a:t>
            </a:r>
            <a:endParaRPr lang="en-US" sz="1150" dirty="0"/>
          </a:p>
        </p:txBody>
      </p:sp>
      <p:sp>
        <p:nvSpPr>
          <p:cNvPr id="20" name="arr-125"/>
          <p:cNvSpPr/>
          <p:nvPr/>
        </p:nvSpPr>
        <p:spPr>
          <a:xfrm>
            <a:off x="8748522" y="2825496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1" name="box-126"/>
          <p:cNvSpPr/>
          <p:nvPr/>
        </p:nvSpPr>
        <p:spPr>
          <a:xfrm>
            <a:off x="9095994" y="2542032"/>
            <a:ext cx="2233422" cy="804672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重训验证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最强攻击模型、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全量数据</a:t>
            </a:r>
            <a:endParaRPr lang="en-US" sz="1150" dirty="0"/>
          </a:p>
        </p:txBody>
      </p:sp>
      <p:sp>
        <p:nvSpPr>
          <p:cNvPr id="22" name="box-127"/>
          <p:cNvSpPr/>
          <p:nvPr/>
        </p:nvSpPr>
        <p:spPr>
          <a:xfrm>
            <a:off x="3950208" y="3529584"/>
            <a:ext cx="3291840" cy="256032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风险关联图（并联）：解释与先验</a:t>
            </a:r>
            <a:endParaRPr lang="en-US" sz="1050" dirty="0"/>
          </a:p>
        </p:txBody>
      </p:sp>
      <p:sp>
        <p:nvSpPr>
          <p:cNvPr id="23" name="arr-128"/>
          <p:cNvSpPr/>
          <p:nvPr/>
        </p:nvSpPr>
        <p:spPr>
          <a:xfrm>
            <a:off x="5897880" y="3803904"/>
            <a:ext cx="402336" cy="201168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4" name="box-129"/>
          <p:cNvSpPr/>
          <p:nvPr/>
        </p:nvSpPr>
        <p:spPr>
          <a:xfrm>
            <a:off x="694944" y="4023360"/>
            <a:ext cx="384048" cy="105156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化</a:t>
            </a:r>
            <a:endParaRPr lang="en-US" sz="1200" dirty="0"/>
          </a:p>
        </p:txBody>
      </p:sp>
      <p:sp>
        <p:nvSpPr>
          <p:cNvPr id="25" name="box-130"/>
          <p:cNvSpPr/>
          <p:nvPr/>
        </p:nvSpPr>
        <p:spPr>
          <a:xfrm>
            <a:off x="1078992" y="4023360"/>
            <a:ext cx="10415016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6" name="box-131"/>
          <p:cNvSpPr/>
          <p:nvPr/>
        </p:nvSpPr>
        <p:spPr>
          <a:xfrm>
            <a:off x="1243584" y="4169664"/>
            <a:ext cx="3105912" cy="758952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一致性检查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任何角色都不能把高于其权限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的目标推过泄露线</a:t>
            </a:r>
            <a:endParaRPr lang="en-US" sz="1150" dirty="0"/>
          </a:p>
        </p:txBody>
      </p:sp>
      <p:sp>
        <p:nvSpPr>
          <p:cNvPr id="27" name="arr-132"/>
          <p:cNvSpPr/>
          <p:nvPr/>
        </p:nvSpPr>
        <p:spPr>
          <a:xfrm>
            <a:off x="4386072" y="4430268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8" name="box-133"/>
          <p:cNvSpPr/>
          <p:nvPr/>
        </p:nvSpPr>
        <p:spPr>
          <a:xfrm>
            <a:off x="4733544" y="4169664"/>
            <a:ext cx="3105912" cy="758952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等级优化（GRPO）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上调某字段 → 可见范围收窄 → 风险重算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目标：一致的前提下上调最少</a:t>
            </a:r>
            <a:endParaRPr lang="en-US" sz="1150" dirty="0"/>
          </a:p>
        </p:txBody>
      </p:sp>
      <p:sp>
        <p:nvSpPr>
          <p:cNvPr id="29" name="arr-134"/>
          <p:cNvSpPr/>
          <p:nvPr/>
        </p:nvSpPr>
        <p:spPr>
          <a:xfrm>
            <a:off x="7876032" y="4430268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0" name="box-135"/>
          <p:cNvSpPr/>
          <p:nvPr/>
        </p:nvSpPr>
        <p:spPr>
          <a:xfrm>
            <a:off x="8223504" y="4169664"/>
            <a:ext cx="3105912" cy="758952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建议等级 + 推断证据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写入“深度”要素与影响程度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按矩阵复核</a:t>
            </a:r>
            <a:endParaRPr lang="en-US" sz="1150" dirty="0"/>
          </a:p>
        </p:txBody>
      </p:sp>
      <p:sp>
        <p:nvSpPr>
          <p:cNvPr id="31" name="arr-136"/>
          <p:cNvSpPr/>
          <p:nvPr/>
        </p:nvSpPr>
        <p:spPr>
          <a:xfrm>
            <a:off x="5897880" y="5093208"/>
            <a:ext cx="402336" cy="201168"/>
          </a:xfrm>
          <a:prstGeom prst="down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2" name="box-137"/>
          <p:cNvSpPr/>
          <p:nvPr/>
        </p:nvSpPr>
        <p:spPr>
          <a:xfrm>
            <a:off x="694944" y="5312664"/>
            <a:ext cx="384048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</a:t>
            </a:r>
            <a:endParaRPr lang="en-US" sz="1200" dirty="0"/>
          </a:p>
        </p:txBody>
      </p:sp>
      <p:sp>
        <p:nvSpPr>
          <p:cNvPr id="33" name="box-138"/>
          <p:cNvSpPr/>
          <p:nvPr/>
        </p:nvSpPr>
        <p:spPr>
          <a:xfrm>
            <a:off x="1078992" y="5312664"/>
            <a:ext cx="10415016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34" name="box-139"/>
          <p:cNvSpPr/>
          <p:nvPr/>
        </p:nvSpPr>
        <p:spPr>
          <a:xfrm>
            <a:off x="1243584" y="5458968"/>
            <a:ext cx="3105912" cy="621792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</a:t>
            </a:r>
            <a:endParaRPr lang="en-US" sz="1150" dirty="0"/>
          </a:p>
        </p:txBody>
      </p:sp>
      <p:sp>
        <p:nvSpPr>
          <p:cNvPr id="35" name="arr-140"/>
          <p:cNvSpPr/>
          <p:nvPr/>
        </p:nvSpPr>
        <p:spPr>
          <a:xfrm>
            <a:off x="4386072" y="5650992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6" name="box-141"/>
          <p:cNvSpPr/>
          <p:nvPr/>
        </p:nvSpPr>
        <p:spPr>
          <a:xfrm>
            <a:off x="4733544" y="5458968"/>
            <a:ext cx="3105912" cy="621792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固化到数据目录</a:t>
            </a:r>
            <a:endParaRPr lang="en-US" sz="1150" dirty="0"/>
          </a:p>
        </p:txBody>
      </p:sp>
      <p:sp>
        <p:nvSpPr>
          <p:cNvPr id="37" name="arr-142"/>
          <p:cNvSpPr/>
          <p:nvPr/>
        </p:nvSpPr>
        <p:spPr>
          <a:xfrm>
            <a:off x="7876032" y="5650992"/>
            <a:ext cx="310896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38" name="box-143"/>
          <p:cNvSpPr/>
          <p:nvPr/>
        </p:nvSpPr>
        <p:spPr>
          <a:xfrm>
            <a:off x="8223504" y="5458968"/>
            <a:ext cx="3105912" cy="621792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事件触发复评</a:t>
            </a:r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（附录 E 场景、新批次开放、披露时点到达）</a:t>
            </a:r>
            <a:endParaRPr lang="en-US" sz="1150" dirty="0"/>
          </a:p>
        </p:txBody>
      </p:sp>
      <p:sp>
        <p:nvSpPr>
          <p:cNvPr id="39" name="box-144"/>
          <p:cNvSpPr/>
          <p:nvPr/>
        </p:nvSpPr>
        <p:spPr>
          <a:xfrm>
            <a:off x="694944" y="6391656"/>
            <a:ext cx="274320" cy="18288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0" name="text-145"/>
          <p:cNvSpPr txBox="1"/>
          <p:nvPr/>
        </p:nvSpPr>
        <p:spPr>
          <a:xfrm>
            <a:off x="1042416" y="6355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南网规则与流程</a:t>
            </a:r>
            <a:endParaRPr lang="en-US" sz="1100" dirty="0"/>
          </a:p>
        </p:txBody>
      </p:sp>
      <p:sp>
        <p:nvSpPr>
          <p:cNvPr id="41" name="box-146"/>
          <p:cNvSpPr/>
          <p:nvPr/>
        </p:nvSpPr>
        <p:spPr>
          <a:xfrm>
            <a:off x="2752344" y="6391656"/>
            <a:ext cx="274320" cy="18288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2" name="text-147"/>
          <p:cNvSpPr txBox="1"/>
          <p:nvPr/>
        </p:nvSpPr>
        <p:spPr>
          <a:xfrm>
            <a:off x="3099816" y="6355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师兄论文方法</a:t>
            </a:r>
            <a:endParaRPr lang="en-US" sz="1100" dirty="0"/>
          </a:p>
        </p:txBody>
      </p:sp>
      <p:sp>
        <p:nvSpPr>
          <p:cNvPr id="43" name="box-148"/>
          <p:cNvSpPr/>
          <p:nvPr/>
        </p:nvSpPr>
        <p:spPr>
          <a:xfrm>
            <a:off x="4809744" y="6391656"/>
            <a:ext cx="274320" cy="18288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44" name="text-149"/>
          <p:cNvSpPr txBox="1"/>
          <p:nvPr/>
        </p:nvSpPr>
        <p:spPr>
          <a:xfrm>
            <a:off x="5157216" y="63550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本研究新增</a:t>
            </a:r>
            <a:endParaRPr lang="en-US" sz="1100" dirty="0"/>
          </a:p>
        </p:txBody>
      </p:sp>
      <p:sp>
        <p:nvSpPr>
          <p:cNvPr id="45" name="text-150"/>
          <p:cNvSpPr txBox="1"/>
          <p:nvPr/>
        </p:nvSpPr>
        <p:spPr>
          <a:xfrm>
            <a:off x="6400800" y="6355080"/>
            <a:ext cx="5093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硬约束：不低于规则等级 · 法定公开字段不调整 · 4、5 级只出申报建议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51"/>
          <p:cNvSpPr txBox="1"/>
          <p:nvPr/>
        </p:nvSpPr>
        <p:spPr>
          <a:xfrm>
            <a:off x="2743200" y="685800"/>
            <a:ext cx="670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4000" dirty="0"/>
          </a:p>
        </p:txBody>
      </p:sp>
      <p:sp>
        <p:nvSpPr>
          <p:cNvPr id="3" name="ln-152"/>
          <p:cNvSpPr/>
          <p:nvPr/>
        </p:nvSpPr>
        <p:spPr>
          <a:xfrm>
            <a:off x="3566160" y="114300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4" name="ln-153"/>
          <p:cNvSpPr/>
          <p:nvPr/>
        </p:nvSpPr>
        <p:spPr>
          <a:xfrm>
            <a:off x="7708392" y="114300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num-154"/>
          <p:cNvSpPr/>
          <p:nvPr/>
        </p:nvSpPr>
        <p:spPr>
          <a:xfrm>
            <a:off x="3904488" y="2697480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-155"/>
          <p:cNvSpPr txBox="1"/>
          <p:nvPr/>
        </p:nvSpPr>
        <p:spPr>
          <a:xfrm>
            <a:off x="4818888" y="269748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背景与问题</a:t>
            </a:r>
            <a:endParaRPr lang="en-US" sz="2800" dirty="0"/>
          </a:p>
        </p:txBody>
      </p:sp>
      <p:sp>
        <p:nvSpPr>
          <p:cNvPr id="7" name="num-156"/>
          <p:cNvSpPr/>
          <p:nvPr/>
        </p:nvSpPr>
        <p:spPr>
          <a:xfrm>
            <a:off x="3904488" y="3630168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-157"/>
          <p:cNvSpPr txBox="1"/>
          <p:nvPr/>
        </p:nvSpPr>
        <p:spPr>
          <a:xfrm>
            <a:off x="4818888" y="363016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800" dirty="0"/>
          </a:p>
        </p:txBody>
      </p:sp>
      <p:sp>
        <p:nvSpPr>
          <p:cNvPr id="9" name="num-158"/>
          <p:cNvSpPr/>
          <p:nvPr/>
        </p:nvSpPr>
        <p:spPr>
          <a:xfrm>
            <a:off x="3904488" y="4562856"/>
            <a:ext cx="603504" cy="603504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-159"/>
          <p:cNvSpPr txBox="1"/>
          <p:nvPr/>
        </p:nvSpPr>
        <p:spPr>
          <a:xfrm>
            <a:off x="4818888" y="456285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800" dirty="0"/>
          </a:p>
        </p:txBody>
      </p:sp>
      <p:sp>
        <p:nvSpPr>
          <p:cNvPr id="11" name="num-160"/>
          <p:cNvSpPr/>
          <p:nvPr/>
        </p:nvSpPr>
        <p:spPr>
          <a:xfrm>
            <a:off x="3904488" y="5495544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-161"/>
          <p:cNvSpPr txBox="1"/>
          <p:nvPr/>
        </p:nvSpPr>
        <p:spPr>
          <a:xfrm>
            <a:off x="4818888" y="549554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阶段一：按南网规则完成基础分类分级</a:t>
            </a:r>
            <a:endParaRPr lang="en-US" sz="2800" dirty="0"/>
          </a:p>
        </p:txBody>
      </p:sp>
      <p:sp>
        <p:nvSpPr>
          <p:cNvPr id="3" name="text-162"/>
          <p:cNvSpPr txBox="1"/>
          <p:nvPr/>
        </p:nvSpPr>
        <p:spPr>
          <a:xfrm>
            <a:off x="694944" y="1143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规则解析 → 分类 → 定级 → 场景标注</a:t>
            </a:r>
            <a:endParaRPr lang="en-US" sz="2000" dirty="0"/>
          </a:p>
        </p:txBody>
      </p:sp>
      <p:sp>
        <p:nvSpPr>
          <p:cNvPr id="4" name="text-163"/>
          <p:cNvSpPr txBox="1"/>
          <p:nvPr/>
        </p:nvSpPr>
        <p:spPr>
          <a:xfrm>
            <a:off x="914400" y="16002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沿用师兄的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 + 检索增强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方法，把南网手册、披露细则等解析为结构化规则库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按业务架构线分类到字段，用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 × 影响程度矩阵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判定规则等级，替换原来的支持度定级</a:t>
            </a:r>
            <a:endParaRPr lang="en-US" sz="150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同时标注每个字段的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5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披露层级、披露时点、是否法定公开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，供下一阶段使用</a:t>
            </a:r>
            <a:endParaRPr lang="en-US" sz="1500" dirty="0"/>
          </a:p>
        </p:txBody>
      </p:sp>
      <p:sp>
        <p:nvSpPr>
          <p:cNvPr id="5" name="box-164"/>
          <p:cNvSpPr/>
          <p:nvPr/>
        </p:nvSpPr>
        <p:spPr>
          <a:xfrm>
            <a:off x="694944" y="3017520"/>
            <a:ext cx="1737360" cy="100584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南网文件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分级手册 · 风险手册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披露细则 · 开放目录</a:t>
            </a:r>
            <a:endParaRPr lang="en-US" sz="1100" dirty="0"/>
          </a:p>
        </p:txBody>
      </p:sp>
      <p:sp>
        <p:nvSpPr>
          <p:cNvPr id="6" name="arr-165"/>
          <p:cNvSpPr/>
          <p:nvPr/>
        </p:nvSpPr>
        <p:spPr>
          <a:xfrm>
            <a:off x="2487168" y="338328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7" name="box-166"/>
          <p:cNvSpPr/>
          <p:nvPr/>
        </p:nvSpPr>
        <p:spPr>
          <a:xfrm>
            <a:off x="2953512" y="3017520"/>
            <a:ext cx="1828800" cy="100584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大模型 + 检索增强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提示约束 · JSON 输出</a:t>
            </a:r>
            <a:endParaRPr lang="en-US" sz="1100" dirty="0"/>
          </a:p>
        </p:txBody>
      </p:sp>
      <p:sp>
        <p:nvSpPr>
          <p:cNvPr id="8" name="arr-167"/>
          <p:cNvSpPr/>
          <p:nvPr/>
        </p:nvSpPr>
        <p:spPr>
          <a:xfrm>
            <a:off x="4837176" y="338328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9" name="box-168"/>
          <p:cNvSpPr/>
          <p:nvPr/>
        </p:nvSpPr>
        <p:spPr>
          <a:xfrm>
            <a:off x="5303520" y="3017520"/>
            <a:ext cx="1828800" cy="100584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结构化规则库</a:t>
            </a:r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影响对象 · 影响程度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依据条款 · 披露层级</a:t>
            </a:r>
            <a:endParaRPr lang="en-US" sz="1100" dirty="0"/>
          </a:p>
        </p:txBody>
      </p:sp>
      <p:sp>
        <p:nvSpPr>
          <p:cNvPr id="10" name="text-169"/>
          <p:cNvSpPr txBox="1"/>
          <p:nvPr/>
        </p:nvSpPr>
        <p:spPr>
          <a:xfrm>
            <a:off x="694944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线分类</a:t>
            </a:r>
            <a:endParaRPr lang="en-US" sz="1200" dirty="0"/>
          </a:p>
        </p:txBody>
      </p:sp>
      <p:sp>
        <p:nvSpPr>
          <p:cNvPr id="11" name="chev-170"/>
          <p:cNvSpPr/>
          <p:nvPr/>
        </p:nvSpPr>
        <p:spPr>
          <a:xfrm>
            <a:off x="694944" y="4572000"/>
            <a:ext cx="1371600" cy="457200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专业域</a:t>
            </a:r>
            <a:endParaRPr lang="en-US" sz="1100" dirty="0"/>
          </a:p>
        </p:txBody>
      </p:sp>
      <p:sp>
        <p:nvSpPr>
          <p:cNvPr id="12" name="chev-171"/>
          <p:cNvSpPr/>
          <p:nvPr/>
        </p:nvSpPr>
        <p:spPr>
          <a:xfrm>
            <a:off x="1975104" y="4572000"/>
            <a:ext cx="1371600" cy="45720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流程组</a:t>
            </a:r>
            <a:endParaRPr lang="en-US" sz="1100" dirty="0"/>
          </a:p>
        </p:txBody>
      </p:sp>
      <p:sp>
        <p:nvSpPr>
          <p:cNvPr id="13" name="chev-172"/>
          <p:cNvSpPr/>
          <p:nvPr/>
        </p:nvSpPr>
        <p:spPr>
          <a:xfrm>
            <a:off x="3255264" y="4572000"/>
            <a:ext cx="1371600" cy="45720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操作级流程</a:t>
            </a:r>
            <a:endParaRPr lang="en-US" sz="1100" dirty="0"/>
          </a:p>
        </p:txBody>
      </p:sp>
      <p:sp>
        <p:nvSpPr>
          <p:cNvPr id="14" name="chev-173"/>
          <p:cNvSpPr/>
          <p:nvPr/>
        </p:nvSpPr>
        <p:spPr>
          <a:xfrm>
            <a:off x="4535424" y="4572000"/>
            <a:ext cx="1371600" cy="45720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业务对象</a:t>
            </a:r>
            <a:endParaRPr lang="en-US" sz="1100" dirty="0"/>
          </a:p>
        </p:txBody>
      </p:sp>
      <p:sp>
        <p:nvSpPr>
          <p:cNvPr id="15" name="chev-174"/>
          <p:cNvSpPr/>
          <p:nvPr/>
        </p:nvSpPr>
        <p:spPr>
          <a:xfrm>
            <a:off x="5815584" y="4572000"/>
            <a:ext cx="1371600" cy="45720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数据字段</a:t>
            </a:r>
            <a:endParaRPr lang="en-US" sz="1100" dirty="0"/>
          </a:p>
        </p:txBody>
      </p:sp>
      <p:sp>
        <p:nvSpPr>
          <p:cNvPr id="16" name="text-175"/>
          <p:cNvSpPr txBox="1"/>
          <p:nvPr/>
        </p:nvSpPr>
        <p:spPr>
          <a:xfrm>
            <a:off x="694944" y="5257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每个字段的输出</a:t>
            </a:r>
            <a:endParaRPr lang="en-US" sz="1200" dirty="0"/>
          </a:p>
        </p:txBody>
      </p:sp>
      <p:sp>
        <p:nvSpPr>
          <p:cNvPr id="17" name="box-176"/>
          <p:cNvSpPr/>
          <p:nvPr/>
        </p:nvSpPr>
        <p:spPr>
          <a:xfrm>
            <a:off x="694944" y="557784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规则等级</a:t>
            </a:r>
            <a:endParaRPr lang="en-US" sz="1100" dirty="0"/>
          </a:p>
        </p:txBody>
      </p:sp>
      <p:sp>
        <p:nvSpPr>
          <p:cNvPr id="18" name="box-177"/>
          <p:cNvSpPr/>
          <p:nvPr/>
        </p:nvSpPr>
        <p:spPr>
          <a:xfrm>
            <a:off x="1993392" y="557784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依据条款</a:t>
            </a:r>
            <a:endParaRPr lang="en-US" sz="1100" dirty="0"/>
          </a:p>
        </p:txBody>
      </p:sp>
      <p:sp>
        <p:nvSpPr>
          <p:cNvPr id="19" name="box-178"/>
          <p:cNvSpPr/>
          <p:nvPr/>
        </p:nvSpPr>
        <p:spPr>
          <a:xfrm>
            <a:off x="3291840" y="557784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披露层级</a:t>
            </a:r>
            <a:endParaRPr lang="en-US" sz="1100" dirty="0"/>
          </a:p>
        </p:txBody>
      </p:sp>
      <p:sp>
        <p:nvSpPr>
          <p:cNvPr id="20" name="box-179"/>
          <p:cNvSpPr/>
          <p:nvPr/>
        </p:nvSpPr>
        <p:spPr>
          <a:xfrm>
            <a:off x="4590288" y="557784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披露时点</a:t>
            </a:r>
            <a:endParaRPr lang="en-US" sz="1100" dirty="0"/>
          </a:p>
        </p:txBody>
      </p:sp>
      <p:sp>
        <p:nvSpPr>
          <p:cNvPr id="21" name="box-180"/>
          <p:cNvSpPr/>
          <p:nvPr/>
        </p:nvSpPr>
        <p:spPr>
          <a:xfrm>
            <a:off x="5888736" y="5577840"/>
            <a:ext cx="1207008" cy="384048"/>
          </a:xfrm>
          <a:prstGeom prst="roundRect">
            <a:avLst>
              <a:gd name="adj" fmla="val 19048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</a:t>
            </a:r>
            <a:endParaRPr lang="en-US" sz="1100" dirty="0"/>
          </a:p>
        </p:txBody>
      </p:sp>
      <p:graphicFrame>
        <p:nvGraphicFramePr>
          <p:cNvPr id="10" name="table-1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017520"/>
          <a:ext cx="3995928" cy="914400"/>
        </p:xfrm>
        <a:graphic>
          <a:graphicData uri="http://schemas.openxmlformats.org/drawingml/2006/table">
            <a:tbl>
              <a:tblPr/>
              <a:tblGrid>
                <a:gridCol w="1161288"/>
                <a:gridCol w="457200"/>
                <a:gridCol w="548640"/>
                <a:gridCol w="548640"/>
                <a:gridCol w="54864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影响对象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轻微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一般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严重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特别严重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国家安全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公共利益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经济运行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社会秩序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其他组织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公民个人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单位自身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级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3E6"/>
                    </a:solidFill>
                  </a:tcPr>
                </a:tc>
              </a:tr>
            </a:tbl>
          </a:graphicData>
        </a:graphic>
      </p:graphicFrame>
      <p:sp>
        <p:nvSpPr>
          <p:cNvPr id="23" name="text-182"/>
          <p:cNvSpPr txBox="1"/>
          <p:nvPr/>
        </p:nvSpPr>
        <p:spPr>
          <a:xfrm>
            <a:off x="7498080" y="5870448"/>
            <a:ext cx="3995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南网等级判定矩阵（分级手册表 4.4）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阶段二 ①：确定“谁、已经知道什么”</a:t>
            </a:r>
            <a:endParaRPr lang="en-US" sz="2800" dirty="0"/>
          </a:p>
        </p:txBody>
      </p:sp>
      <p:sp>
        <p:nvSpPr>
          <p:cNvPr id="3" name="text-183"/>
          <p:cNvSpPr txBox="1"/>
          <p:nvPr/>
        </p:nvSpPr>
        <p:spPr>
          <a:xfrm>
            <a:off x="694944" y="1143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推断风险取决于接收方手里已有的数据，这一点南网文件已有规定</a:t>
            </a:r>
            <a:endParaRPr lang="en-US" sz="2000" dirty="0"/>
          </a:p>
        </p:txBody>
      </p:sp>
      <p:sp>
        <p:nvSpPr>
          <p:cNvPr id="4" name="box-184"/>
          <p:cNvSpPr/>
          <p:nvPr/>
        </p:nvSpPr>
        <p:spPr>
          <a:xfrm>
            <a:off x="694944" y="1737360"/>
            <a:ext cx="5394960" cy="443484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" name="text-185"/>
          <p:cNvSpPr txBox="1"/>
          <p:nvPr/>
        </p:nvSpPr>
        <p:spPr>
          <a:xfrm>
            <a:off x="82296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内部数据（未披露）：调度运行、电网结构、设备运维等</a:t>
            </a:r>
            <a:endParaRPr lang="en-US" sz="1150" dirty="0"/>
          </a:p>
        </p:txBody>
      </p:sp>
      <p:sp>
        <p:nvSpPr>
          <p:cNvPr id="6" name="box-186"/>
          <p:cNvSpPr/>
          <p:nvPr/>
        </p:nvSpPr>
        <p:spPr>
          <a:xfrm>
            <a:off x="914400" y="2148840"/>
            <a:ext cx="4956048" cy="388620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text-187"/>
          <p:cNvSpPr txBox="1"/>
          <p:nvPr/>
        </p:nvSpPr>
        <p:spPr>
          <a:xfrm>
            <a:off x="1042416" y="21945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特定信息（向特定市场成员）</a:t>
            </a:r>
            <a:endParaRPr lang="en-US" sz="1150" dirty="0"/>
          </a:p>
        </p:txBody>
      </p:sp>
      <p:sp>
        <p:nvSpPr>
          <p:cNvPr id="8" name="text-188"/>
          <p:cNvSpPr txBox="1"/>
          <p:nvPr/>
        </p:nvSpPr>
        <p:spPr>
          <a:xfrm>
            <a:off x="1042416" y="248716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申报量价、机组实际出力与发电量、边际能耗曲线、燃料价格与存储</a:t>
            </a:r>
            <a:endParaRPr lang="en-US" sz="1050" dirty="0"/>
          </a:p>
        </p:txBody>
      </p:sp>
      <p:sp>
        <p:nvSpPr>
          <p:cNvPr id="9" name="box-189"/>
          <p:cNvSpPr/>
          <p:nvPr/>
        </p:nvSpPr>
        <p:spPr>
          <a:xfrm>
            <a:off x="1133856" y="3017520"/>
            <a:ext cx="4517136" cy="288036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0" name="text-190"/>
          <p:cNvSpPr txBox="1"/>
          <p:nvPr/>
        </p:nvSpPr>
        <p:spPr>
          <a:xfrm>
            <a:off x="1261872" y="30632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公开信息（向有关市场成员）</a:t>
            </a:r>
            <a:endParaRPr lang="en-US" sz="1150" dirty="0"/>
          </a:p>
        </p:txBody>
      </p:sp>
      <p:sp>
        <p:nvSpPr>
          <p:cNvPr id="11" name="text-191"/>
          <p:cNvSpPr txBox="1"/>
          <p:nvPr/>
        </p:nvSpPr>
        <p:spPr>
          <a:xfrm>
            <a:off x="1261872" y="3364992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预测类：系统负荷、发电总出力、新能源出力预测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出清类：分时出清电价与出清量、断面阻塞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运行类：实际负荷、机组状态、联络线潮流</a:t>
            </a:r>
            <a:endParaRPr lang="en-US" sz="1050" dirty="0"/>
          </a:p>
        </p:txBody>
      </p:sp>
      <p:sp>
        <p:nvSpPr>
          <p:cNvPr id="12" name="box-192"/>
          <p:cNvSpPr/>
          <p:nvPr/>
        </p:nvSpPr>
        <p:spPr>
          <a:xfrm>
            <a:off x="1353312" y="4251960"/>
            <a:ext cx="4078224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text-193"/>
          <p:cNvSpPr txBox="1"/>
          <p:nvPr/>
        </p:nvSpPr>
        <p:spPr>
          <a:xfrm>
            <a:off x="1481328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公众信息（向社会公众）</a:t>
            </a:r>
            <a:endParaRPr lang="en-US" sz="1150" dirty="0"/>
          </a:p>
        </p:txBody>
      </p:sp>
      <p:sp>
        <p:nvSpPr>
          <p:cNvPr id="14" name="text-194"/>
          <p:cNvSpPr txBox="1"/>
          <p:nvPr/>
        </p:nvSpPr>
        <p:spPr>
          <a:xfrm>
            <a:off x="1481328" y="4599432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企业基本信息、装机容量、交易规则、市场运行总体情况；开放目录中无条件开放的条目；外部公开数据（气象、宏观经济等）</a:t>
            </a:r>
            <a:endParaRPr lang="en-US" sz="1050" dirty="0"/>
          </a:p>
        </p:txBody>
      </p:sp>
      <p:sp>
        <p:nvSpPr>
          <p:cNvPr id="15" name="text-195"/>
          <p:cNvSpPr txBox="1"/>
          <p:nvPr/>
        </p:nvSpPr>
        <p:spPr>
          <a:xfrm>
            <a:off x="694944" y="62179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依据：《信息披露实施细则》三层级</a:t>
            </a:r>
            <a:endParaRPr lang="en-US" sz="1100" dirty="0"/>
          </a:p>
        </p:txBody>
      </p:sp>
      <p:graphicFrame>
        <p:nvGraphicFramePr>
          <p:cNvPr id="11" name="table-1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09320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262432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接收方角色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可见层级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默认已知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社会公众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公众信息、外部公开数据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协议接收方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2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 + 公开信息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特定对象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≤ 3 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 + 获准的特定信息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-197"/>
          <p:cNvSpPr txBox="1"/>
          <p:nvPr/>
        </p:nvSpPr>
        <p:spPr>
          <a:xfrm>
            <a:off x="6400800" y="3520440"/>
            <a:ext cx="5093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各角色“还可能拿到”的字段 = 等级不超过其可见层级的其他字段</a:t>
            </a:r>
            <a:endParaRPr lang="en-US" sz="1200" dirty="0"/>
          </a:p>
        </p:txBody>
      </p:sp>
      <p:sp>
        <p:nvSpPr>
          <p:cNvPr id="18" name="text-198"/>
          <p:cNvSpPr txBox="1"/>
          <p:nvPr/>
        </p:nvSpPr>
        <p:spPr>
          <a:xfrm>
            <a:off x="6400800" y="4114800"/>
            <a:ext cx="5093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披露时点决定“什么时候已知”</a:t>
            </a:r>
            <a:endParaRPr lang="en-US" sz="1300" dirty="0"/>
          </a:p>
        </p:txBody>
      </p:sp>
      <p:sp>
        <p:nvSpPr>
          <p:cNvPr id="19" name="box-199"/>
          <p:cNvSpPr/>
          <p:nvPr/>
        </p:nvSpPr>
        <p:spPr>
          <a:xfrm>
            <a:off x="6400800" y="4480560"/>
            <a:ext cx="1463040" cy="73152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D-1 申报前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预测类信息公开</a:t>
            </a:r>
            <a:endParaRPr lang="en-US" sz="1200" dirty="0"/>
          </a:p>
        </p:txBody>
      </p:sp>
      <p:sp>
        <p:nvSpPr>
          <p:cNvPr id="20" name="arr-200"/>
          <p:cNvSpPr/>
          <p:nvPr/>
        </p:nvSpPr>
        <p:spPr>
          <a:xfrm>
            <a:off x="7891272" y="4727448"/>
            <a:ext cx="246888" cy="237744"/>
          </a:xfrm>
          <a:prstGeom prst="rightArrow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1" name="box-201"/>
          <p:cNvSpPr/>
          <p:nvPr/>
        </p:nvSpPr>
        <p:spPr>
          <a:xfrm>
            <a:off x="8165592" y="4480560"/>
            <a:ext cx="1463040" cy="73152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 日 交易日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出清类信息公开</a:t>
            </a:r>
            <a:endParaRPr lang="en-US" sz="1200" dirty="0"/>
          </a:p>
        </p:txBody>
      </p:sp>
      <p:sp>
        <p:nvSpPr>
          <p:cNvPr id="22" name="arr-202"/>
          <p:cNvSpPr/>
          <p:nvPr/>
        </p:nvSpPr>
        <p:spPr>
          <a:xfrm>
            <a:off x="9656064" y="4727448"/>
            <a:ext cx="246888" cy="237744"/>
          </a:xfrm>
          <a:prstGeom prst="rightArrow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box-203"/>
          <p:cNvSpPr/>
          <p:nvPr/>
        </p:nvSpPr>
        <p:spPr>
          <a:xfrm>
            <a:off x="9930384" y="4480560"/>
            <a:ext cx="1463040" cy="73152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D+1 次日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运行类信息公开</a:t>
            </a:r>
            <a:endParaRPr lang="en-US" sz="1200" dirty="0"/>
          </a:p>
        </p:txBody>
      </p:sp>
      <p:sp>
        <p:nvSpPr>
          <p:cNvPr id="24" name="text-204"/>
          <p:cNvSpPr txBox="1"/>
          <p:nvPr/>
        </p:nvSpPr>
        <p:spPr>
          <a:xfrm>
            <a:off x="6400800" y="5394960"/>
            <a:ext cx="5093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运行信息在 D+1 公开后，针对它的推断不再构成风险，对应分级手册附录 E 的“时效性”场景。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阶段二 ②：把推断风险量化到字段</a:t>
            </a:r>
            <a:endParaRPr lang="en-US" sz="2800" dirty="0"/>
          </a:p>
        </p:txBody>
      </p:sp>
      <p:sp>
        <p:nvSpPr>
          <p:cNvPr id="3" name="text-205"/>
          <p:cNvSpPr txBox="1"/>
          <p:nvPr/>
        </p:nvSpPr>
        <p:spPr>
          <a:xfrm>
            <a:off x="694944" y="1143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从“两两关联”升级为“集合与背景条件下的推断能力”</a:t>
            </a:r>
            <a:endParaRPr lang="en-US" sz="2000" dirty="0"/>
          </a:p>
        </p:txBody>
      </p:sp>
      <p:sp>
        <p:nvSpPr>
          <p:cNvPr id="4" name="box-206"/>
          <p:cNvSpPr/>
          <p:nvPr/>
        </p:nvSpPr>
        <p:spPr>
          <a:xfrm>
            <a:off x="694944" y="1783080"/>
            <a:ext cx="1737360" cy="91440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字段集合 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（接收方可见的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若干字段）</a:t>
            </a:r>
            <a:endParaRPr lang="en-US" sz="1150" dirty="0"/>
          </a:p>
        </p:txBody>
      </p:sp>
      <p:sp>
        <p:nvSpPr>
          <p:cNvPr id="5" name="arr-207"/>
          <p:cNvSpPr/>
          <p:nvPr/>
        </p:nvSpPr>
        <p:spPr>
          <a:xfrm>
            <a:off x="2487168" y="210312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6" name="box-208"/>
          <p:cNvSpPr/>
          <p:nvPr/>
        </p:nvSpPr>
        <p:spPr>
          <a:xfrm>
            <a:off x="2953512" y="1783080"/>
            <a:ext cx="1737360" cy="91440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攻击模型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只用 S 训练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多种模型择优</a:t>
            </a:r>
            <a:endParaRPr lang="en-US" sz="1150" dirty="0"/>
          </a:p>
        </p:txBody>
      </p:sp>
      <p:sp>
        <p:nvSpPr>
          <p:cNvPr id="7" name="arr-209"/>
          <p:cNvSpPr/>
          <p:nvPr/>
        </p:nvSpPr>
        <p:spPr>
          <a:xfrm>
            <a:off x="4745736" y="210312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8" name="box-210"/>
          <p:cNvSpPr/>
          <p:nvPr/>
        </p:nvSpPr>
        <p:spPr>
          <a:xfrm>
            <a:off x="5212080" y="1783080"/>
            <a:ext cx="1554480" cy="91440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对敏感目标 y 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推断结果</a:t>
            </a:r>
            <a:endParaRPr lang="en-US" sz="1150" dirty="0"/>
          </a:p>
        </p:txBody>
      </p:sp>
      <p:sp>
        <p:nvSpPr>
          <p:cNvPr id="9" name="arr-211"/>
          <p:cNvSpPr/>
          <p:nvPr/>
        </p:nvSpPr>
        <p:spPr>
          <a:xfrm>
            <a:off x="6821424" y="210312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10" name="box-212"/>
          <p:cNvSpPr/>
          <p:nvPr/>
        </p:nvSpPr>
        <p:spPr>
          <a:xfrm>
            <a:off x="7287768" y="1783080"/>
            <a:ext cx="2286000" cy="91440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集合推断能力 V(S)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留出数据上的推断精度 R²</a:t>
            </a:r>
            <a:endParaRPr lang="en-US" sz="1200" dirty="0"/>
          </a:p>
        </p:txBody>
      </p:sp>
      <p:sp>
        <p:nvSpPr>
          <p:cNvPr id="11" name="box-213"/>
          <p:cNvSpPr/>
          <p:nvPr/>
        </p:nvSpPr>
        <p:spPr>
          <a:xfrm>
            <a:off x="9756648" y="1783080"/>
            <a:ext cx="1737360" cy="91440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师兄的 DNN / GAT 验证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是单字段、结构目标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时的特例</a:t>
            </a:r>
            <a:endParaRPr lang="en-US" sz="1050" dirty="0"/>
          </a:p>
        </p:txBody>
      </p:sp>
      <p:sp>
        <p:nvSpPr>
          <p:cNvPr id="12" name="box-214"/>
          <p:cNvSpPr/>
          <p:nvPr/>
        </p:nvSpPr>
        <p:spPr>
          <a:xfrm>
            <a:off x="694944" y="2926080"/>
            <a:ext cx="3429000" cy="169164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box-215"/>
          <p:cNvSpPr/>
          <p:nvPr/>
        </p:nvSpPr>
        <p:spPr>
          <a:xfrm>
            <a:off x="1952244" y="3017520"/>
            <a:ext cx="914400" cy="32918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text-216"/>
          <p:cNvSpPr txBox="1"/>
          <p:nvPr/>
        </p:nvSpPr>
        <p:spPr>
          <a:xfrm>
            <a:off x="768096" y="340156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单独风险  M(0)</a:t>
            </a:r>
            <a:endParaRPr lang="en-US" sz="1400" dirty="0"/>
          </a:p>
        </p:txBody>
      </p:sp>
      <p:sp>
        <p:nvSpPr>
          <p:cNvPr id="15" name="text-217"/>
          <p:cNvSpPr txBox="1"/>
          <p:nvPr/>
        </p:nvSpPr>
        <p:spPr>
          <a:xfrm>
            <a:off x="822960" y="374904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这个字段自己能让目标多被推出多少。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对应原来的单字段口径。</a:t>
            </a:r>
            <a:endParaRPr lang="en-US" sz="1200" dirty="0"/>
          </a:p>
        </p:txBody>
      </p:sp>
      <p:sp>
        <p:nvSpPr>
          <p:cNvPr id="16" name="box-218"/>
          <p:cNvSpPr/>
          <p:nvPr/>
        </p:nvSpPr>
        <p:spPr>
          <a:xfrm>
            <a:off x="4379976" y="2926080"/>
            <a:ext cx="3429000" cy="169164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box-219"/>
          <p:cNvSpPr/>
          <p:nvPr/>
        </p:nvSpPr>
        <p:spPr>
          <a:xfrm>
            <a:off x="5637276" y="3017520"/>
            <a:ext cx="914400" cy="32918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-220"/>
          <p:cNvSpPr txBox="1"/>
          <p:nvPr/>
        </p:nvSpPr>
        <p:spPr>
          <a:xfrm>
            <a:off x="4453128" y="340156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最坏背景下的风险  M(K)</a:t>
            </a:r>
            <a:endParaRPr lang="en-US" sz="1400" dirty="0"/>
          </a:p>
        </p:txBody>
      </p:sp>
      <p:sp>
        <p:nvSpPr>
          <p:cNvPr id="19" name="text-221"/>
          <p:cNvSpPr txBox="1"/>
          <p:nvPr/>
        </p:nvSpPr>
        <p:spPr>
          <a:xfrm>
            <a:off x="4507992" y="374904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在别人已有的数据背景下，它最多能多推出多少。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取最大值，对应“从严性”。</a:t>
            </a:r>
            <a:endParaRPr lang="en-US" sz="1200" dirty="0"/>
          </a:p>
        </p:txBody>
      </p:sp>
      <p:sp>
        <p:nvSpPr>
          <p:cNvPr id="20" name="box-222"/>
          <p:cNvSpPr/>
          <p:nvPr/>
        </p:nvSpPr>
        <p:spPr>
          <a:xfrm>
            <a:off x="8065008" y="2926080"/>
            <a:ext cx="3429000" cy="169164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1" name="box-223"/>
          <p:cNvSpPr/>
          <p:nvPr/>
        </p:nvSpPr>
        <p:spPr>
          <a:xfrm>
            <a:off x="9322308" y="3017520"/>
            <a:ext cx="914400" cy="32918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-224"/>
          <p:cNvSpPr txBox="1"/>
          <p:nvPr/>
        </p:nvSpPr>
        <p:spPr>
          <a:xfrm>
            <a:off x="8138160" y="3401568"/>
            <a:ext cx="3282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背景放大量  Γ(K)</a:t>
            </a:r>
            <a:endParaRPr lang="en-US" sz="1400" dirty="0"/>
          </a:p>
        </p:txBody>
      </p:sp>
      <p:sp>
        <p:nvSpPr>
          <p:cNvPr id="23" name="text-225"/>
          <p:cNvSpPr txBox="1"/>
          <p:nvPr/>
        </p:nvSpPr>
        <p:spPr>
          <a:xfrm>
            <a:off x="8193024" y="3749040"/>
            <a:ext cx="31729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它的风险里有多少是被背景放大出来的。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Γ(K) = M(K) − M(0)。</a:t>
            </a:r>
            <a:endParaRPr lang="en-US" sz="1200" dirty="0"/>
          </a:p>
        </p:txBody>
      </p:sp>
      <p:sp>
        <p:nvSpPr>
          <p:cNvPr id="24" name="text-226"/>
          <p:cNvSpPr txBox="1"/>
          <p:nvPr/>
        </p:nvSpPr>
        <p:spPr>
          <a:xfrm>
            <a:off x="694944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计算方式</a:t>
            </a:r>
            <a:endParaRPr lang="en-US" sz="1300" dirty="0"/>
          </a:p>
        </p:txBody>
      </p:sp>
      <p:sp>
        <p:nvSpPr>
          <p:cNvPr id="25" name="box-227"/>
          <p:cNvSpPr/>
          <p:nvPr/>
        </p:nvSpPr>
        <p:spPr>
          <a:xfrm>
            <a:off x="694944" y="5138928"/>
            <a:ext cx="2743200" cy="73152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通用模型扫描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一个模型估计全部字段组合</a:t>
            </a:r>
            <a:endParaRPr lang="en-US" sz="1150" dirty="0"/>
          </a:p>
        </p:txBody>
      </p:sp>
      <p:sp>
        <p:nvSpPr>
          <p:cNvPr id="26" name="arr-228"/>
          <p:cNvSpPr/>
          <p:nvPr/>
        </p:nvSpPr>
        <p:spPr>
          <a:xfrm>
            <a:off x="3502152" y="5367528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7" name="box-229"/>
          <p:cNvSpPr/>
          <p:nvPr/>
        </p:nvSpPr>
        <p:spPr>
          <a:xfrm>
            <a:off x="3968496" y="5138928"/>
            <a:ext cx="3108960" cy="73152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重训验证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对可见范围内的组合重训确认，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有新发现则再次优化</a:t>
            </a:r>
            <a:endParaRPr lang="en-US" sz="1150" dirty="0"/>
          </a:p>
        </p:txBody>
      </p:sp>
      <p:sp>
        <p:nvSpPr>
          <p:cNvPr id="28" name="arr-230"/>
          <p:cNvSpPr/>
          <p:nvPr/>
        </p:nvSpPr>
        <p:spPr>
          <a:xfrm>
            <a:off x="7141464" y="5367528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9" name="box-231"/>
          <p:cNvSpPr/>
          <p:nvPr/>
        </p:nvSpPr>
        <p:spPr>
          <a:xfrm>
            <a:off x="7607808" y="5138928"/>
            <a:ext cx="3886200" cy="731520"/>
          </a:xfrm>
          <a:prstGeom prst="rect">
            <a:avLst/>
          </a:prstGeom>
          <a:solidFill>
            <a:srgbClr val="E7E6E6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推断证据</a:t>
            </a:r>
            <a:pPr algn="ctr" indent="0" marL="0">
              <a:buNone/>
            </a:pP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目标、见证背景（和谁一起）、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可达精度、增量</a:t>
            </a:r>
            <a:endParaRPr lang="en-US" sz="1150" dirty="0"/>
          </a:p>
        </p:txBody>
      </p:sp>
      <p:sp>
        <p:nvSpPr>
          <p:cNvPr id="30" name="text-232"/>
          <p:cNvSpPr txBox="1"/>
          <p:nvPr/>
        </p:nvSpPr>
        <p:spPr>
          <a:xfrm>
            <a:off x="694944" y="6035040"/>
            <a:ext cx="10799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已替换：师兄第四章以“字段与敏感目标的最大 MIC”作为风险输入，这里换为 M(K)。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示例：两两关联看不到的组合推断</a:t>
            </a:r>
            <a:endParaRPr lang="en-US" sz="2800" dirty="0"/>
          </a:p>
        </p:txBody>
      </p:sp>
      <p:sp>
        <p:nvSpPr>
          <p:cNvPr id="3" name="text-233"/>
          <p:cNvSpPr txBox="1"/>
          <p:nvPr/>
        </p:nvSpPr>
        <p:spPr>
          <a:xfrm>
            <a:off x="694944" y="1143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受控电力市场算例：推断某机组的私有报价加成（披露细则中的特定信息）</a:t>
            </a:r>
            <a:endParaRPr lang="en-US" sz="2000" dirty="0"/>
          </a:p>
        </p:txBody>
      </p:sp>
      <p:pic>
        <p:nvPicPr>
          <p:cNvPr id="4" name="img-234" descr="两两关联图与组合推断对比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691640"/>
            <a:ext cx="10799064" cy="3308772"/>
          </a:xfrm>
          <a:prstGeom prst="rect">
            <a:avLst/>
          </a:prstGeom>
        </p:spPr>
      </p:pic>
      <p:sp>
        <p:nvSpPr>
          <p:cNvPr id="5" name="box-235"/>
          <p:cNvSpPr/>
          <p:nvPr/>
        </p:nvSpPr>
        <p:spPr>
          <a:xfrm>
            <a:off x="694944" y="5166360"/>
            <a:ext cx="10799064" cy="109728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-236"/>
          <p:cNvSpPr txBox="1"/>
          <p:nvPr/>
        </p:nvSpPr>
        <p:spPr>
          <a:xfrm>
            <a:off x="868680" y="5230368"/>
            <a:ext cx="10469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每个电价单独对报价的推断能力都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约为 0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，机组出力单独也只有 0.065；二者合起来升到 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0.215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，且与调度物理一致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电价是法定公开信息，不能收回；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需要管住的是补上最后一步的字段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（机组出力）</a:t>
            </a:r>
            <a:endParaRPr lang="en-US" sz="13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在四个公开电力数据集上，只看单字段只能找出 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13%~17%</a:t>
            </a:r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的风险字段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阶段三 ①：等级要一起定</a:t>
            </a:r>
            <a:endParaRPr lang="en-US" sz="2800" dirty="0"/>
          </a:p>
        </p:txBody>
      </p:sp>
      <p:sp>
        <p:nvSpPr>
          <p:cNvPr id="3" name="text-237"/>
          <p:cNvSpPr txBox="1"/>
          <p:nvPr/>
        </p:nvSpPr>
        <p:spPr>
          <a:xfrm>
            <a:off x="694944" y="1143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等级决定谁能拿到数据，谁能拿到又决定其他字段的风险</a:t>
            </a:r>
            <a:endParaRPr lang="en-US" sz="2000" dirty="0"/>
          </a:p>
        </p:txBody>
      </p:sp>
      <p:sp>
        <p:nvSpPr>
          <p:cNvPr id="4" name="box-238"/>
          <p:cNvSpPr/>
          <p:nvPr/>
        </p:nvSpPr>
        <p:spPr>
          <a:xfrm>
            <a:off x="822960" y="1783080"/>
            <a:ext cx="1920240" cy="77724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字段等级</a:t>
            </a:r>
            <a:endParaRPr lang="en-US" sz="1250" dirty="0"/>
          </a:p>
        </p:txBody>
      </p:sp>
      <p:sp>
        <p:nvSpPr>
          <p:cNvPr id="5" name="box-239"/>
          <p:cNvSpPr/>
          <p:nvPr/>
        </p:nvSpPr>
        <p:spPr>
          <a:xfrm>
            <a:off x="3291840" y="1783080"/>
            <a:ext cx="1920240" cy="777240"/>
          </a:xfrm>
          <a:prstGeom prst="rect">
            <a:avLst/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可见范围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（哪些角色拿得到）</a:t>
            </a:r>
            <a:endParaRPr lang="en-US" sz="1250" dirty="0"/>
          </a:p>
        </p:txBody>
      </p:sp>
      <p:sp>
        <p:nvSpPr>
          <p:cNvPr id="6" name="box-240"/>
          <p:cNvSpPr/>
          <p:nvPr/>
        </p:nvSpPr>
        <p:spPr>
          <a:xfrm>
            <a:off x="3291840" y="3611880"/>
            <a:ext cx="1920240" cy="77724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各角色的背景池</a:t>
            </a:r>
            <a:endParaRPr lang="en-US" sz="1250" dirty="0"/>
          </a:p>
        </p:txBody>
      </p:sp>
      <p:sp>
        <p:nvSpPr>
          <p:cNvPr id="7" name="box-241"/>
          <p:cNvSpPr/>
          <p:nvPr/>
        </p:nvSpPr>
        <p:spPr>
          <a:xfrm>
            <a:off x="822960" y="3611880"/>
            <a:ext cx="1920240" cy="77724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其余字段的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推断风险 M(K)</a:t>
            </a:r>
            <a:endParaRPr lang="en-US" sz="1250" dirty="0"/>
          </a:p>
        </p:txBody>
      </p:sp>
      <p:sp>
        <p:nvSpPr>
          <p:cNvPr id="8" name="ln-242"/>
          <p:cNvSpPr/>
          <p:nvPr/>
        </p:nvSpPr>
        <p:spPr>
          <a:xfrm>
            <a:off x="2761488" y="2167128"/>
            <a:ext cx="512064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9" name="ln-243"/>
          <p:cNvSpPr/>
          <p:nvPr/>
        </p:nvSpPr>
        <p:spPr>
          <a:xfrm>
            <a:off x="4251960" y="2578608"/>
            <a:ext cx="0" cy="101498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0" name="ln-244"/>
          <p:cNvSpPr/>
          <p:nvPr/>
        </p:nvSpPr>
        <p:spPr>
          <a:xfrm flipH="1">
            <a:off x="2761488" y="3995928"/>
            <a:ext cx="512064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1" name="ln-245"/>
          <p:cNvSpPr/>
          <p:nvPr/>
        </p:nvSpPr>
        <p:spPr>
          <a:xfrm flipV="1">
            <a:off x="1783080" y="2578608"/>
            <a:ext cx="0" cy="1014984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12" name="text-246"/>
          <p:cNvSpPr txBox="1"/>
          <p:nvPr/>
        </p:nvSpPr>
        <p:spPr>
          <a:xfrm>
            <a:off x="2606040" y="2240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各级共享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开放口径</a:t>
            </a:r>
            <a:endParaRPr lang="en-US" sz="1000" dirty="0"/>
          </a:p>
        </p:txBody>
      </p:sp>
      <p:sp>
        <p:nvSpPr>
          <p:cNvPr id="13" name="text-247"/>
          <p:cNvSpPr txBox="1"/>
          <p:nvPr/>
        </p:nvSpPr>
        <p:spPr>
          <a:xfrm>
            <a:off x="4343400" y="2880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上调的字段退出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更宽角色的池</a:t>
            </a:r>
            <a:endParaRPr lang="en-US" sz="1000" dirty="0"/>
          </a:p>
        </p:txBody>
      </p:sp>
      <p:sp>
        <p:nvSpPr>
          <p:cNvPr id="14" name="text-248"/>
          <p:cNvSpPr txBox="1"/>
          <p:nvPr/>
        </p:nvSpPr>
        <p:spPr>
          <a:xfrm>
            <a:off x="2788920" y="4050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重算</a:t>
            </a:r>
            <a:endParaRPr lang="en-US" sz="1000" dirty="0"/>
          </a:p>
        </p:txBody>
      </p:sp>
      <p:sp>
        <p:nvSpPr>
          <p:cNvPr id="15" name="text-249"/>
          <p:cNvSpPr txBox="1"/>
          <p:nvPr/>
        </p:nvSpPr>
        <p:spPr>
          <a:xfrm>
            <a:off x="1051560" y="288036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是否仍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需上调</a:t>
            </a:r>
            <a:endParaRPr lang="en-US" sz="1000" dirty="0"/>
          </a:p>
        </p:txBody>
      </p:sp>
      <p:sp>
        <p:nvSpPr>
          <p:cNvPr id="16" name="box-250"/>
          <p:cNvSpPr/>
          <p:nvPr/>
        </p:nvSpPr>
        <p:spPr>
          <a:xfrm>
            <a:off x="694944" y="4709160"/>
            <a:ext cx="4937760" cy="150876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text-251"/>
          <p:cNvSpPr txBox="1"/>
          <p:nvPr/>
        </p:nvSpPr>
        <p:spPr>
          <a:xfrm>
            <a:off x="822960" y="4754880"/>
            <a:ext cx="46817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一致性条件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：任何角色凭已知数据，再加上自己可见字段中的少数几个，都不能把</a:t>
            </a:r>
            <a:pPr algn="l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高于其权限的敏感目标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推断到泄露线以上。
</a:t>
            </a:r>
            <a:pPr algn="l"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优化目标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：满足一致性（从严性）的前提下</a:t>
            </a:r>
            <a:pPr algn="l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上调最少</a:t>
            </a:r>
            <a:pPr algn="l"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（合理性：避免过度定级）。</a:t>
            </a:r>
            <a:endParaRPr lang="en-US" sz="1250" dirty="0"/>
          </a:p>
        </p:txBody>
      </p:sp>
      <p:sp>
        <p:nvSpPr>
          <p:cNvPr id="18" name="text-252"/>
          <p:cNvSpPr txBox="1"/>
          <p:nvPr/>
        </p:nvSpPr>
        <p:spPr>
          <a:xfrm>
            <a:off x="5943600" y="1600200"/>
            <a:ext cx="5550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示例（示意数字）：目标 y 为 3 级，泄露线 0.7</a:t>
            </a:r>
            <a:endParaRPr lang="en-US" sz="1300" dirty="0"/>
          </a:p>
        </p:txBody>
      </p:sp>
      <p:graphicFrame>
        <p:nvGraphicFramePr>
          <p:cNvPr id="14" name="table-2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938528"/>
          <a:ext cx="5550408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868680"/>
                <a:gridCol w="2670048"/>
                <a:gridCol w="868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规则等级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参与的越线组合及推断精度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建议等级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 出清电价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法定公开，已知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{A,B} 0.78  {A,C} 0.74  {A,D} 0.80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{A,B} 0.78  {B,C,D} 0.72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{A,C} 0.74  {B,C,D} 0.72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{A,D} 0.80  {B,C,D} 0.72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</a:tbl>
          </a:graphicData>
        </a:graphic>
      </p:graphicFrame>
      <p:sp>
        <p:nvSpPr>
          <p:cNvPr id="20" name="box-254"/>
          <p:cNvSpPr/>
          <p:nvPr/>
        </p:nvSpPr>
        <p:spPr>
          <a:xfrm>
            <a:off x="5943600" y="4434840"/>
            <a:ext cx="2651760" cy="1143000"/>
          </a:xfrm>
          <a:prstGeom prst="rect">
            <a:avLst/>
          </a:prstGeom>
          <a:solidFill>
            <a:srgbClr val="F2F2F2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全部上调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A、B、C、D 都取目标级别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共上调 7 级次</a:t>
            </a:r>
            <a:endParaRPr lang="en-US" sz="1200" dirty="0"/>
          </a:p>
        </p:txBody>
      </p:sp>
      <p:sp>
        <p:nvSpPr>
          <p:cNvPr id="21" name="box-255"/>
          <p:cNvSpPr/>
          <p:nvPr/>
        </p:nvSpPr>
        <p:spPr>
          <a:xfrm>
            <a:off x="8842248" y="4434840"/>
            <a:ext cx="2651760" cy="1143000"/>
          </a:xfrm>
          <a:prstGeom prst="rect">
            <a:avLst/>
          </a:prstGeom>
          <a:solidFill>
            <a:srgbClr val="FBE5D6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上调最少（本框架）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只调 A、D，其余组合自然失效</a:t>
            </a:r>
            <a:endParaRPr lang="en-US" sz="12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共上调 3 级次</a:t>
            </a:r>
            <a:endParaRPr lang="en-US" sz="1200" dirty="0"/>
          </a:p>
        </p:txBody>
      </p:sp>
      <p:sp>
        <p:nvSpPr>
          <p:cNvPr id="22" name="text-256"/>
          <p:cNvSpPr txBox="1"/>
          <p:nvPr/>
        </p:nvSpPr>
        <p:spPr>
          <a:xfrm>
            <a:off x="5943600" y="5760720"/>
            <a:ext cx="5550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先调风险最大的 A → 重算 → 再调 D → 各角色可见范围内已无越线组合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阶段三 ②：用 GRPO 求解，南网规则作硬约束</a:t>
            </a:r>
            <a:endParaRPr lang="en-US" sz="2800" dirty="0"/>
          </a:p>
        </p:txBody>
      </p:sp>
      <p:sp>
        <p:nvSpPr>
          <p:cNvPr id="3" name="text-257"/>
          <p:cNvSpPr txBox="1"/>
          <p:nvPr/>
        </p:nvSpPr>
        <p:spPr>
          <a:xfrm>
            <a:off x="694944" y="1143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沿用师兄的增强型 GRPO 算法，改造状态、动作与约束</a:t>
            </a:r>
            <a:endParaRPr lang="en-US" sz="2000" dirty="0"/>
          </a:p>
        </p:txBody>
      </p:sp>
      <p:sp>
        <p:nvSpPr>
          <p:cNvPr id="4" name="box-258"/>
          <p:cNvSpPr/>
          <p:nvPr/>
        </p:nvSpPr>
        <p:spPr>
          <a:xfrm>
            <a:off x="694944" y="1691640"/>
            <a:ext cx="2487168" cy="178308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5" name="box-259"/>
          <p:cNvSpPr/>
          <p:nvPr/>
        </p:nvSpPr>
        <p:spPr>
          <a:xfrm>
            <a:off x="1481328" y="1783080"/>
            <a:ext cx="914400" cy="329184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-260"/>
          <p:cNvSpPr txBox="1"/>
          <p:nvPr/>
        </p:nvSpPr>
        <p:spPr>
          <a:xfrm>
            <a:off x="768096" y="216712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</a:t>
            </a:r>
            <a:endParaRPr lang="en-US" sz="1400" dirty="0"/>
          </a:p>
        </p:txBody>
      </p:sp>
      <p:sp>
        <p:nvSpPr>
          <p:cNvPr id="7" name="text-261"/>
          <p:cNvSpPr txBox="1"/>
          <p:nvPr/>
        </p:nvSpPr>
        <p:spPr>
          <a:xfrm>
            <a:off x="822960" y="251460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每个字段的当前等级、规则等级、M(0)、M(K)、Γ(K)、上调代价；剩余越线数</a:t>
            </a:r>
            <a:endParaRPr lang="en-US" sz="1200" dirty="0"/>
          </a:p>
        </p:txBody>
      </p:sp>
      <p:sp>
        <p:nvSpPr>
          <p:cNvPr id="8" name="box-262"/>
          <p:cNvSpPr/>
          <p:nvPr/>
        </p:nvSpPr>
        <p:spPr>
          <a:xfrm>
            <a:off x="3465576" y="1691640"/>
            <a:ext cx="2487168" cy="178308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box-263"/>
          <p:cNvSpPr/>
          <p:nvPr/>
        </p:nvSpPr>
        <p:spPr>
          <a:xfrm>
            <a:off x="4251960" y="1783080"/>
            <a:ext cx="914400" cy="329184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-264"/>
          <p:cNvSpPr txBox="1"/>
          <p:nvPr/>
        </p:nvSpPr>
        <p:spPr>
          <a:xfrm>
            <a:off x="3538728" y="216712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动作</a:t>
            </a:r>
            <a:endParaRPr lang="en-US" sz="1400" dirty="0"/>
          </a:p>
        </p:txBody>
      </p:sp>
      <p:sp>
        <p:nvSpPr>
          <p:cNvPr id="11" name="text-265"/>
          <p:cNvSpPr txBox="1"/>
          <p:nvPr/>
        </p:nvSpPr>
        <p:spPr>
          <a:xfrm>
            <a:off x="3593592" y="251460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把某个字段上调一级，或结束</a:t>
            </a:r>
            <a:endParaRPr lang="en-US" sz="1200" dirty="0"/>
          </a:p>
        </p:txBody>
      </p:sp>
      <p:sp>
        <p:nvSpPr>
          <p:cNvPr id="12" name="box-266"/>
          <p:cNvSpPr/>
          <p:nvPr/>
        </p:nvSpPr>
        <p:spPr>
          <a:xfrm>
            <a:off x="6236208" y="1691640"/>
            <a:ext cx="2487168" cy="178308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3" name="box-267"/>
          <p:cNvSpPr/>
          <p:nvPr/>
        </p:nvSpPr>
        <p:spPr>
          <a:xfrm>
            <a:off x="7022592" y="1783080"/>
            <a:ext cx="914400" cy="329184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-268"/>
          <p:cNvSpPr txBox="1"/>
          <p:nvPr/>
        </p:nvSpPr>
        <p:spPr>
          <a:xfrm>
            <a:off x="6309360" y="216712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环境</a:t>
            </a:r>
            <a:endParaRPr lang="en-US" sz="1400" dirty="0"/>
          </a:p>
        </p:txBody>
      </p:sp>
      <p:sp>
        <p:nvSpPr>
          <p:cNvPr id="15" name="text-269"/>
          <p:cNvSpPr txBox="1"/>
          <p:nvPr/>
        </p:nvSpPr>
        <p:spPr>
          <a:xfrm>
            <a:off x="6364224" y="251460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更新可见范围与背景池，重算受影响组合的风险</a:t>
            </a:r>
            <a:endParaRPr lang="en-US" sz="1200" dirty="0"/>
          </a:p>
        </p:txBody>
      </p:sp>
      <p:sp>
        <p:nvSpPr>
          <p:cNvPr id="16" name="box-270"/>
          <p:cNvSpPr/>
          <p:nvPr/>
        </p:nvSpPr>
        <p:spPr>
          <a:xfrm>
            <a:off x="9006840" y="1691640"/>
            <a:ext cx="2487168" cy="1783080"/>
          </a:xfrm>
          <a:prstGeom prst="rect">
            <a:avLst/>
          </a:prstGeom>
          <a:ln w="12700">
            <a:solidFill>
              <a:srgbClr val="40404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7" name="box-271"/>
          <p:cNvSpPr/>
          <p:nvPr/>
        </p:nvSpPr>
        <p:spPr>
          <a:xfrm>
            <a:off x="9793224" y="1783080"/>
            <a:ext cx="914400" cy="329184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-272"/>
          <p:cNvSpPr txBox="1"/>
          <p:nvPr/>
        </p:nvSpPr>
        <p:spPr>
          <a:xfrm>
            <a:off x="9079992" y="2167128"/>
            <a:ext cx="2340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奖励</a:t>
            </a:r>
            <a:endParaRPr lang="en-US" sz="1400" dirty="0"/>
          </a:p>
        </p:txBody>
      </p:sp>
      <p:sp>
        <p:nvSpPr>
          <p:cNvPr id="19" name="text-273"/>
          <p:cNvSpPr txBox="1"/>
          <p:nvPr/>
        </p:nvSpPr>
        <p:spPr>
          <a:xfrm>
            <a:off x="9134856" y="2514600"/>
            <a:ext cx="22311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越线风险的减少 − 上调代价；达到一致时给终止奖励</a:t>
            </a:r>
            <a:endParaRPr lang="en-US" sz="1200" dirty="0"/>
          </a:p>
        </p:txBody>
      </p:sp>
      <p:sp>
        <p:nvSpPr>
          <p:cNvPr id="20" name="arr-274"/>
          <p:cNvSpPr/>
          <p:nvPr/>
        </p:nvSpPr>
        <p:spPr>
          <a:xfrm>
            <a:off x="3200400" y="2450592"/>
            <a:ext cx="246888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1" name="arr-275"/>
          <p:cNvSpPr/>
          <p:nvPr/>
        </p:nvSpPr>
        <p:spPr>
          <a:xfrm>
            <a:off x="5971032" y="2450592"/>
            <a:ext cx="246888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2" name="arr-276"/>
          <p:cNvSpPr/>
          <p:nvPr/>
        </p:nvSpPr>
        <p:spPr>
          <a:xfrm>
            <a:off x="8741664" y="2450592"/>
            <a:ext cx="246888" cy="237744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23" name="ln-277"/>
          <p:cNvSpPr/>
          <p:nvPr/>
        </p:nvSpPr>
        <p:spPr>
          <a:xfrm>
            <a:off x="10241280" y="3493008"/>
            <a:ext cx="0" cy="25603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none"/>
          </a:ln>
        </p:spPr>
      </p:sp>
      <p:sp>
        <p:nvSpPr>
          <p:cNvPr id="24" name="ln-278"/>
          <p:cNvSpPr/>
          <p:nvPr/>
        </p:nvSpPr>
        <p:spPr>
          <a:xfrm flipH="1">
            <a:off x="1938528" y="3749040"/>
            <a:ext cx="8302752" cy="0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none"/>
          </a:ln>
        </p:spPr>
      </p:sp>
      <p:sp>
        <p:nvSpPr>
          <p:cNvPr id="25" name="ln-279"/>
          <p:cNvSpPr/>
          <p:nvPr/>
        </p:nvSpPr>
        <p:spPr>
          <a:xfrm flipV="1">
            <a:off x="1938528" y="3493008"/>
            <a:ext cx="0" cy="256032"/>
          </a:xfrm>
          <a:prstGeom prst="line">
            <a:avLst/>
          </a:prstGeom>
          <a:noFill/>
          <a:ln w="15875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26" name="text-280"/>
          <p:cNvSpPr txBox="1"/>
          <p:nvPr/>
        </p:nvSpPr>
        <p:spPr>
          <a:xfrm>
            <a:off x="3840480" y="377647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状态随动作变化，逐步决策直到等级一致</a:t>
            </a:r>
            <a:endParaRPr lang="en-US" sz="1100" dirty="0"/>
          </a:p>
        </p:txBody>
      </p:sp>
      <p:sp>
        <p:nvSpPr>
          <p:cNvPr id="27" name="box-281"/>
          <p:cNvSpPr/>
          <p:nvPr/>
        </p:nvSpPr>
        <p:spPr>
          <a:xfrm>
            <a:off x="694944" y="4206240"/>
            <a:ext cx="5257800" cy="2011680"/>
          </a:xfrm>
          <a:prstGeom prst="rect">
            <a:avLst/>
          </a:prstGeom>
          <a:ln w="15875">
            <a:solidFill>
              <a:srgbClr val="C00000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28" name="text-282"/>
          <p:cNvSpPr txBox="1"/>
          <p:nvPr/>
        </p:nvSpPr>
        <p:spPr>
          <a:xfrm>
            <a:off x="822960" y="426110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南网硬约束（不进奖励，直接限制可选动作）</a:t>
            </a:r>
            <a:endParaRPr lang="en-US" sz="1350" dirty="0"/>
          </a:p>
        </p:txBody>
      </p:sp>
      <p:sp>
        <p:nvSpPr>
          <p:cNvPr id="29" name="text-283"/>
          <p:cNvSpPr txBox="1"/>
          <p:nvPr/>
        </p:nvSpPr>
        <p:spPr>
          <a:xfrm>
            <a:off x="868680" y="4617720"/>
            <a:ext cx="4983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等级不低于规则等级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法定公开字段不可调整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算法最高给到 3 级；涉及重要、核心数据只出申报建议</a:t>
            </a:r>
            <a:endParaRPr lang="en-US" sz="1250" dirty="0"/>
          </a:p>
          <a:p>
            <a:pPr algn="l" marL="342900" indent="-342900">
              <a:spcAft>
                <a:spcPts val="500"/>
              </a:spcAft>
              <a:buSzPct val="100000"/>
              <a:buChar char="●"/>
            </a:pPr>
            <a:r>
              <a:rPr lang="en-US" sz="125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上调不超过所涉目标的级别</a:t>
            </a:r>
            <a:endParaRPr lang="en-US" sz="1250" dirty="0"/>
          </a:p>
        </p:txBody>
      </p:sp>
      <p:graphicFrame>
        <p:nvGraphicFramePr>
          <p:cNvPr id="15" name="table-28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6208" y="4206240"/>
          <a:ext cx="525780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219456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要素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师兄原设定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本框架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风险输入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字段与目标的最大 MIC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M(K)、Γ(K)（集合与背景）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四级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南网五级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合规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奖励中的罚项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硬约束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组内相对优势、KL 约束、熵正则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不变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阶段四：审批固化与动态复评</a:t>
            </a:r>
            <a:endParaRPr lang="en-US" sz="2800" dirty="0"/>
          </a:p>
        </p:txBody>
      </p:sp>
      <p:sp>
        <p:nvSpPr>
          <p:cNvPr id="3" name="text-285"/>
          <p:cNvSpPr txBox="1"/>
          <p:nvPr/>
        </p:nvSpPr>
        <p:spPr>
          <a:xfrm>
            <a:off x="694944" y="1143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算法输出的是建议等级和证据，定级权在南网审批流程</a:t>
            </a:r>
            <a:endParaRPr lang="en-US" sz="2000" dirty="0"/>
          </a:p>
        </p:txBody>
      </p:sp>
      <p:sp>
        <p:nvSpPr>
          <p:cNvPr id="4" name="box-286"/>
          <p:cNvSpPr/>
          <p:nvPr/>
        </p:nvSpPr>
        <p:spPr>
          <a:xfrm>
            <a:off x="694944" y="1783080"/>
            <a:ext cx="2011680" cy="822960"/>
          </a:xfrm>
          <a:prstGeom prst="rect">
            <a:avLst/>
          </a:prstGeom>
          <a:solidFill>
            <a:srgbClr val="E2F0D9"/>
          </a:solidFill>
          <a:ln w="12700">
            <a:solidFill>
              <a:srgbClr val="70AD47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建议等级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 推断证据</a:t>
            </a:r>
            <a:endParaRPr lang="en-US" sz="1200" dirty="0"/>
          </a:p>
        </p:txBody>
      </p:sp>
      <p:sp>
        <p:nvSpPr>
          <p:cNvPr id="5" name="arr-287"/>
          <p:cNvSpPr/>
          <p:nvPr/>
        </p:nvSpPr>
        <p:spPr>
          <a:xfrm>
            <a:off x="2770632" y="2057400"/>
            <a:ext cx="411480" cy="27432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</p:sp>
      <p:sp>
        <p:nvSpPr>
          <p:cNvPr id="6" name="chev-288"/>
          <p:cNvSpPr/>
          <p:nvPr/>
        </p:nvSpPr>
        <p:spPr>
          <a:xfrm>
            <a:off x="3246120" y="1783080"/>
            <a:ext cx="2148840" cy="822960"/>
          </a:xfrm>
          <a:prstGeom prst="homePlate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</a:t>
            </a:r>
            <a:endParaRPr lang="en-US" sz="1400" dirty="0"/>
          </a:p>
        </p:txBody>
      </p:sp>
      <p:sp>
        <p:nvSpPr>
          <p:cNvPr id="7" name="chev-289"/>
          <p:cNvSpPr/>
          <p:nvPr/>
        </p:nvSpPr>
        <p:spPr>
          <a:xfrm>
            <a:off x="5257800" y="1783080"/>
            <a:ext cx="2148840" cy="82296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固化到数据目录</a:t>
            </a:r>
            <a:endParaRPr lang="en-US" sz="1400" dirty="0"/>
          </a:p>
        </p:txBody>
      </p:sp>
      <p:sp>
        <p:nvSpPr>
          <p:cNvPr id="8" name="chev-290"/>
          <p:cNvSpPr/>
          <p:nvPr/>
        </p:nvSpPr>
        <p:spPr>
          <a:xfrm>
            <a:off x="7269480" y="1783080"/>
            <a:ext cx="2148840" cy="822960"/>
          </a:xfrm>
          <a:prstGeom prst="chevron">
            <a:avLst/>
          </a:prstGeom>
          <a:solidFill>
            <a:srgbClr val="5B9BD5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技术管控</a:t>
            </a:r>
            <a:endParaRPr lang="en-US" sz="1400" dirty="0"/>
          </a:p>
        </p:txBody>
      </p:sp>
      <p:sp>
        <p:nvSpPr>
          <p:cNvPr id="9" name="chev-291"/>
          <p:cNvSpPr/>
          <p:nvPr/>
        </p:nvSpPr>
        <p:spPr>
          <a:xfrm>
            <a:off x="9281160" y="1783080"/>
            <a:ext cx="2148840" cy="822960"/>
          </a:xfrm>
          <a:prstGeom prst="chevron">
            <a:avLst/>
          </a:prstGeom>
          <a:solidFill>
            <a:srgbClr val="1F4E79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动态复评</a:t>
            </a:r>
            <a:endParaRPr lang="en-US" sz="1400" dirty="0"/>
          </a:p>
        </p:txBody>
      </p:sp>
      <p:sp>
        <p:nvSpPr>
          <p:cNvPr id="10" name="text-292"/>
          <p:cNvSpPr txBox="1"/>
          <p:nvPr/>
        </p:nvSpPr>
        <p:spPr>
          <a:xfrm>
            <a:off x="694944" y="2880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数据目录建议新增的列</a:t>
            </a:r>
            <a:endParaRPr lang="en-US" sz="1400" dirty="0"/>
          </a:p>
        </p:txBody>
      </p:sp>
      <p:sp>
        <p:nvSpPr>
          <p:cNvPr id="11" name="box-293"/>
          <p:cNvSpPr/>
          <p:nvPr/>
        </p:nvSpPr>
        <p:spPr>
          <a:xfrm>
            <a:off x="694944" y="329184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规则等级</a:t>
            </a:r>
            <a:endParaRPr lang="en-US" sz="1200" dirty="0"/>
          </a:p>
        </p:txBody>
      </p:sp>
      <p:sp>
        <p:nvSpPr>
          <p:cNvPr id="12" name="box-294"/>
          <p:cNvSpPr/>
          <p:nvPr/>
        </p:nvSpPr>
        <p:spPr>
          <a:xfrm>
            <a:off x="3209544" y="3291840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建议等级</a:t>
            </a:r>
            <a:endParaRPr lang="en-US" sz="1200" dirty="0"/>
          </a:p>
        </p:txBody>
      </p:sp>
      <p:sp>
        <p:nvSpPr>
          <p:cNvPr id="13" name="box-295"/>
          <p:cNvSpPr/>
          <p:nvPr/>
        </p:nvSpPr>
        <p:spPr>
          <a:xfrm>
            <a:off x="694944" y="3822192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上调原因</a:t>
            </a:r>
            <a:endParaRPr lang="en-US" sz="1200" dirty="0"/>
          </a:p>
        </p:txBody>
      </p:sp>
      <p:sp>
        <p:nvSpPr>
          <p:cNvPr id="14" name="box-296"/>
          <p:cNvSpPr/>
          <p:nvPr/>
        </p:nvSpPr>
        <p:spPr>
          <a:xfrm>
            <a:off x="3209544" y="3822192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见证背景</a:t>
            </a:r>
            <a:endParaRPr lang="en-US" sz="1200" dirty="0"/>
          </a:p>
        </p:txBody>
      </p:sp>
      <p:sp>
        <p:nvSpPr>
          <p:cNvPr id="15" name="box-297"/>
          <p:cNvSpPr/>
          <p:nvPr/>
        </p:nvSpPr>
        <p:spPr>
          <a:xfrm>
            <a:off x="694944" y="43525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可达精度</a:t>
            </a:r>
            <a:endParaRPr lang="en-US" sz="1200" dirty="0"/>
          </a:p>
        </p:txBody>
      </p:sp>
      <p:sp>
        <p:nvSpPr>
          <p:cNvPr id="16" name="box-298"/>
          <p:cNvSpPr/>
          <p:nvPr/>
        </p:nvSpPr>
        <p:spPr>
          <a:xfrm>
            <a:off x="3209544" y="4352544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适用角色与时点</a:t>
            </a:r>
            <a:endParaRPr lang="en-US" sz="1200" dirty="0"/>
          </a:p>
        </p:txBody>
      </p:sp>
      <p:sp>
        <p:nvSpPr>
          <p:cNvPr id="17" name="box-299"/>
          <p:cNvSpPr/>
          <p:nvPr/>
        </p:nvSpPr>
        <p:spPr>
          <a:xfrm>
            <a:off x="694944" y="4882896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复评条件</a:t>
            </a:r>
            <a:endParaRPr lang="en-US" sz="1200" dirty="0"/>
          </a:p>
        </p:txBody>
      </p:sp>
      <p:sp>
        <p:nvSpPr>
          <p:cNvPr id="18" name="box-300"/>
          <p:cNvSpPr/>
          <p:nvPr/>
        </p:nvSpPr>
        <p:spPr>
          <a:xfrm>
            <a:off x="3209544" y="4882896"/>
            <a:ext cx="2377440" cy="420624"/>
          </a:xfrm>
          <a:prstGeom prst="roundRect">
            <a:avLst>
              <a:gd name="adj" fmla="val 17391"/>
            </a:avLst>
          </a:prstGeom>
          <a:solidFill>
            <a:srgbClr val="DEEAF6"/>
          </a:solidFill>
          <a:ln w="12700">
            <a:solidFill>
              <a:srgbClr val="5B9BD5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审批结论</a:t>
            </a:r>
            <a:endParaRPr lang="en-US" sz="1200" dirty="0"/>
          </a:p>
        </p:txBody>
      </p:sp>
      <p:sp>
        <p:nvSpPr>
          <p:cNvPr id="19" name="text-301"/>
          <p:cNvSpPr txBox="1"/>
          <p:nvPr/>
        </p:nvSpPr>
        <p:spPr>
          <a:xfrm>
            <a:off x="694944" y="5532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9595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推断证据同时可用于风险评估手册第 382、330、351、239 项</a:t>
            </a:r>
            <a:endParaRPr lang="en-US" sz="1200" dirty="0"/>
          </a:p>
        </p:txBody>
      </p:sp>
      <p:sp>
        <p:nvSpPr>
          <p:cNvPr id="20" name="text-302"/>
          <p:cNvSpPr txBox="1"/>
          <p:nvPr/>
        </p:nvSpPr>
        <p:spPr>
          <a:xfrm>
            <a:off x="5943600" y="2880360"/>
            <a:ext cx="5550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复评的触发条件（事件触发，不随运行工况逐时变化）</a:t>
            </a:r>
            <a:endParaRPr lang="en-US" sz="1400" dirty="0"/>
          </a:p>
        </p:txBody>
      </p:sp>
      <p:graphicFrame>
        <p:nvGraphicFramePr>
          <p:cNvPr id="16" name="table-3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3291840"/>
          <a:ext cx="5550408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64408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触发事件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分级手册附录 E 的场景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体量、聚合、时效、脱敏、加工、安全事件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新批次开放 / 字段转为公开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已知数据变多，其余字段的风险可能上升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披露时点到达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目标本身已公开，相应的上调可以解除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细则修订、历史数据累积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规则库、角色划分与推断能力需更新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text-304"/>
          <p:cNvSpPr txBox="1"/>
          <p:nvPr/>
        </p:nvSpPr>
        <p:spPr>
          <a:xfrm>
            <a:off x="5943600" y="5669280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复评从当前已审批的等级出发增量重算；算法不主动降级。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与南网文件的对应关系</a:t>
            </a:r>
            <a:endParaRPr lang="en-US" sz="2800" dirty="0"/>
          </a:p>
        </p:txBody>
      </p:sp>
      <p:sp>
        <p:nvSpPr>
          <p:cNvPr id="3" name="text-305"/>
          <p:cNvSpPr txBox="1"/>
          <p:nvPr/>
        </p:nvSpPr>
        <p:spPr>
          <a:xfrm>
            <a:off x="694944" y="11430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➢ </a:t>
            </a:r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每个步骤都有对应条款，并处理了可能的冲突点</a:t>
            </a:r>
            <a:endParaRPr lang="en-US" sz="2000" dirty="0"/>
          </a:p>
        </p:txBody>
      </p:sp>
      <p:graphicFrame>
        <p:nvGraphicFramePr>
          <p:cNvPr id="17" name="table-30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" y="1691640"/>
          <a:ext cx="10799064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5678424"/>
                <a:gridCol w="23774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体系步骤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南网条款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关系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分类、规则定级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分级手册 四(一)~(三)，表 4.1~4.4，附录 A~C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执行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场景标注（角色、时点）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披露细则 2.7、5.1~5.7；开放目录说明；注册细则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推断风险识别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分级要素“深度”；附录 D、E；风险评估第 382、330、351、239 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把原则变成可计算的方法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取最坏背景 / 上调最少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分级原则“从严性” / “合理性”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执行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等级与可见范围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表 4.1~4.3 各级共享开放口径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引用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4、5 级只出申报建议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重要数据、核心数据须按主管部门要求识别申报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执行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审批、固化、复评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分级手册 四(四)(五)(七)，附录 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执行并具体化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box-307"/>
          <p:cNvSpPr/>
          <p:nvPr/>
        </p:nvSpPr>
        <p:spPr>
          <a:xfrm>
            <a:off x="694944" y="5257800"/>
            <a:ext cx="10799064" cy="960120"/>
          </a:xfrm>
          <a:prstGeom prst="rect">
            <a:avLst/>
          </a:prstGeom>
          <a:ln w="15875">
            <a:solidFill>
              <a:srgbClr val="5B9BD5"/>
            </a:solidFill>
            <a:prstDash val="dash"/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6" name="text-308"/>
          <p:cNvSpPr txBox="1"/>
          <p:nvPr/>
        </p:nvSpPr>
        <p:spPr>
          <a:xfrm>
            <a:off x="868680" y="5303520"/>
            <a:ext cx="10469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已处理的冲突点：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四级改五级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；算法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只出建议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，不直接定级；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不降低规则等级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</a:t>
            </a:r>
            <a:pPr algn="l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不上调法定公开字段</a:t>
            </a:r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；等级不随运行工况逐时变化；泄露线由目标的主管部门确定。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09"/>
          <p:cNvSpPr txBox="1"/>
          <p:nvPr/>
        </p:nvSpPr>
        <p:spPr>
          <a:xfrm>
            <a:off x="2743200" y="685800"/>
            <a:ext cx="6702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汇报提纲</a:t>
            </a:r>
            <a:endParaRPr lang="en-US" sz="4000" dirty="0"/>
          </a:p>
        </p:txBody>
      </p:sp>
      <p:sp>
        <p:nvSpPr>
          <p:cNvPr id="3" name="ln-310"/>
          <p:cNvSpPr/>
          <p:nvPr/>
        </p:nvSpPr>
        <p:spPr>
          <a:xfrm>
            <a:off x="3566160" y="114300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4" name="ln-311"/>
          <p:cNvSpPr/>
          <p:nvPr/>
        </p:nvSpPr>
        <p:spPr>
          <a:xfrm>
            <a:off x="7708392" y="1143000"/>
            <a:ext cx="9144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tailEnd type="none"/>
          </a:ln>
        </p:spPr>
      </p:sp>
      <p:sp>
        <p:nvSpPr>
          <p:cNvPr id="5" name="num-312"/>
          <p:cNvSpPr/>
          <p:nvPr/>
        </p:nvSpPr>
        <p:spPr>
          <a:xfrm>
            <a:off x="3904488" y="2697480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-313"/>
          <p:cNvSpPr txBox="1"/>
          <p:nvPr/>
        </p:nvSpPr>
        <p:spPr>
          <a:xfrm>
            <a:off x="4818888" y="2697480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背景与问题</a:t>
            </a:r>
            <a:endParaRPr lang="en-US" sz="2800" dirty="0"/>
          </a:p>
        </p:txBody>
      </p:sp>
      <p:sp>
        <p:nvSpPr>
          <p:cNvPr id="7" name="num-314"/>
          <p:cNvSpPr/>
          <p:nvPr/>
        </p:nvSpPr>
        <p:spPr>
          <a:xfrm>
            <a:off x="3904488" y="3630168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-315"/>
          <p:cNvSpPr txBox="1"/>
          <p:nvPr/>
        </p:nvSpPr>
        <p:spPr>
          <a:xfrm>
            <a:off x="4818888" y="3630168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体系框架</a:t>
            </a:r>
            <a:endParaRPr lang="en-US" sz="2800" dirty="0"/>
          </a:p>
        </p:txBody>
      </p:sp>
      <p:sp>
        <p:nvSpPr>
          <p:cNvPr id="9" name="num-316"/>
          <p:cNvSpPr/>
          <p:nvPr/>
        </p:nvSpPr>
        <p:spPr>
          <a:xfrm>
            <a:off x="3904488" y="4562856"/>
            <a:ext cx="603504" cy="603504"/>
          </a:xfrm>
          <a:prstGeom prst="ellipse">
            <a:avLst/>
          </a:prstGeom>
          <a:solidFill>
            <a:srgbClr val="D9D9D9"/>
          </a:solidFill>
          <a:ln>
            <a:solidFill>
              <a:srgbClr val="D9D9D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0" name="text-317"/>
          <p:cNvSpPr txBox="1"/>
          <p:nvPr/>
        </p:nvSpPr>
        <p:spPr>
          <a:xfrm>
            <a:off x="4818888" y="4562856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BFBFB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关键方法</a:t>
            </a:r>
            <a:endParaRPr lang="en-US" sz="2800" dirty="0"/>
          </a:p>
        </p:txBody>
      </p:sp>
      <p:sp>
        <p:nvSpPr>
          <p:cNvPr id="11" name="num-318"/>
          <p:cNvSpPr/>
          <p:nvPr/>
        </p:nvSpPr>
        <p:spPr>
          <a:xfrm>
            <a:off x="3904488" y="5495544"/>
            <a:ext cx="603504" cy="603504"/>
          </a:xfrm>
          <a:prstGeom prst="ellips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-319"/>
          <p:cNvSpPr txBox="1"/>
          <p:nvPr/>
        </p:nvSpPr>
        <p:spPr>
          <a:xfrm>
            <a:off x="4818888" y="5495544"/>
            <a:ext cx="54864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694944" y="329184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56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下一步工作</a:t>
            </a:r>
            <a:endParaRPr lang="en-US" sz="2800" dirty="0"/>
          </a:p>
        </p:txBody>
      </p:sp>
      <p:sp>
        <p:nvSpPr>
          <p:cNvPr id="3" name="text-320"/>
          <p:cNvSpPr txBox="1"/>
          <p:nvPr/>
        </p:nvSpPr>
        <p:spPr>
          <a:xfrm>
            <a:off x="694944" y="1280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1、与南网确认框架中的关键口径</a:t>
            </a:r>
            <a:endParaRPr lang="en-US" sz="2000" dirty="0"/>
          </a:p>
        </p:txBody>
      </p:sp>
      <p:sp>
        <p:nvSpPr>
          <p:cNvPr id="4" name="text-321"/>
          <p:cNvSpPr txBox="1"/>
          <p:nvPr/>
        </p:nvSpPr>
        <p:spPr>
          <a:xfrm>
            <a:off x="1097280" y="17830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确认敏感目标清单及各自的泄露线、接收方角色与可见层级的划分、法定公开字段清单。</a:t>
            </a:r>
            <a:endParaRPr lang="en-US" sz="1700" dirty="0"/>
          </a:p>
        </p:txBody>
      </p:sp>
      <p:sp>
        <p:nvSpPr>
          <p:cNvPr id="5" name="text-322"/>
          <p:cNvSpPr txBox="1"/>
          <p:nvPr/>
        </p:nvSpPr>
        <p:spPr>
          <a:xfrm>
            <a:off x="694944" y="28803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2、完善等级优化与验证环节</a:t>
            </a:r>
            <a:endParaRPr lang="en-US" sz="2000" dirty="0"/>
          </a:p>
        </p:txBody>
      </p:sp>
      <p:sp>
        <p:nvSpPr>
          <p:cNvPr id="6" name="text-323"/>
          <p:cNvSpPr txBox="1"/>
          <p:nvPr/>
        </p:nvSpPr>
        <p:spPr>
          <a:xfrm>
            <a:off x="1097280" y="33832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公开电力数据集上的初步验证表明，“上调最少”的方案比“全部上调”少调约六成；下一步完善求解方式和重训验证流程，并在试点数据上复核。</a:t>
            </a:r>
            <a:endParaRPr lang="en-US" sz="1700" dirty="0"/>
          </a:p>
        </p:txBody>
      </p:sp>
      <p:sp>
        <p:nvSpPr>
          <p:cNvPr id="7" name="text-324"/>
          <p:cNvSpPr txBox="1"/>
          <p:nvPr/>
        </p:nvSpPr>
        <p:spPr>
          <a:xfrm>
            <a:off x="694944" y="44805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3、开展试点</a:t>
            </a:r>
            <a:endParaRPr lang="en-US" sz="2000" dirty="0"/>
          </a:p>
        </p:txBody>
      </p:sp>
      <p:sp>
        <p:nvSpPr>
          <p:cNvPr id="8" name="text-325"/>
          <p:cNvSpPr txBox="1"/>
          <p:nvPr/>
        </p:nvSpPr>
        <p:spPr>
          <a:xfrm>
            <a:off x="1097280" y="49834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优先选取系统运行域与电力市场披露字段，以发电企业特定信息和次日披露的运行信息为敏感目标，需要南网提供字段级历史样本。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26"/>
          <p:cNvSpPr txBox="1"/>
          <p:nvPr/>
        </p:nvSpPr>
        <p:spPr>
          <a:xfrm>
            <a:off x="1097280" y="18288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dirty="0">
                <a:solidFill>
                  <a:srgbClr val="FFC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谢谢大家</a:t>
            </a:r>
            <a:endParaRPr lang="en-US" sz="8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微软雅黑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微软雅黑"/>
        <a:ea typeface="微软雅黑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南网电力数据分类分级体系框架</dc:title>
  <dc:subject>PptxGenJS Presentation</dc:subject>
  <dc:creator>PptxGenJS</dc:creator>
  <cp:lastModifiedBy>PptxGenJS</cp:lastModifiedBy>
  <cp:revision>1</cp:revision>
  <dcterms:created xsi:type="dcterms:W3CDTF">2026-10-07T15:04:33Z</dcterms:created>
  <dcterms:modified xsi:type="dcterms:W3CDTF">2026-10-07T15:04:33Z</dcterms:modified>
</cp:coreProperties>
</file>