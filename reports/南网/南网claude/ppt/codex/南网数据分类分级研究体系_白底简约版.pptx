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本次汇报聚焦分类分级研究体系。先按南网规则形成基线，再检查字段与已有背景结合是否揭示新的受保护信息，最后在规则硬约束内形成等级复核和联合优化建议。GRPO 是重点研究模块，但等级结论仍需业务复核与审批。整套方法统一作为项目组的研究体系介绍。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规则定级仍然是基础。新增分析解决的是：分别审查每个字段时不明显的信息，可能在组合后被推断出来。这里的目标必须在具体场景中仍需保护；能推断某个已经允许获取的目标，不自动构成分级问题。本页仅示意组合效应，不表示某项南网数据已经发生泄露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每个阶段都有明确产物。第一阶段给规则等级和条款，第二阶段给目标、背景、能力和验证范围，第三阶段将技术证据转成影响复核依据，并通过 GRPO 研究联合等级方案，第四阶段完成审批固化。第二、三阶段不是一次流水线：建议形成后，还要验证其剩余可得组合，必要时返回更新。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分类和分级是两件事。分类沿专业域、流程、业务对象定位到字段；分级依据要素和影响矩阵。大模型提取规则、匹配业务语义，输出可审查候选，不能替代影响判断。规则等级是后续研究的基线；如果对象已有批准等级，还需保留现行结果与变更状态。材料为所供版本，正式采用前核对生效状态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先确定具体主体和时点，再定义它已经持有的信息 B、还能取得的字段 H，以及对它仍需保护的目标 y。已知背景包括历史提供、自有数据和其他合法渠道信息，不仅是网上公开内容。公众、有关市场成员、特定成员的权限并不完全嵌套。实验中按等级阈值生成可见范围，是一种须确认的简化模型；不能直接替代实际授权关系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关联发现有实际作用：提示副本、提供业务解释、帮助安排验证顺序。但 Pearson、Spearman、MIC 都不是已确认的推断方向，也不直接给出安全等级。联合推断评估回答给定字段集合能恢复目标到何种程度。连续目标可以使用 DNN 等模型，结构目标可研究 GAT 与物理约束，但指标和验证任务要匹配。集合评估应保留图外组合，避免漏掉两两弱、联合强的情形。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四条柱形来自同一场景。无额外背景时，加入 i 使能力从 0.10 到 0.15，增量为 0.05。有背景 T* 时，能力从 0.20 到 0.85，增量为 0.65；如果 T* 是已评估背景族的最大见证，则 M 的估计最大值为 0.65，背景放大量为 0.60。0.85 越过示意阈值 0.70，所以需要复核。不能只看增量，因为背景本身已经暴露时，增量很小仍可能有较高总暴露。所有数值仅用于说明原理。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这是技术与制度之间最重要的接口。经验推断越线说明值得复核，不直接证明某个字段必须继承目标等级。先确认目标在该场景需要保护，再看新的深度、覆盖范围和影响后果是否改变分级要素，然后按矩阵和适用规则形成候选级别。算法在这些候选级别内寻找一致方案。若只有场景风险变化而对象影响未改变，可以给出专项复核记录，不能为了让优化有解而随意改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A、B、C、D 初始等级为 2、1、1、1。假设该角色未来只能取得 2 级及以下数据，目标是 3 级；四组已核验越线组合为 AB、AC、AD、BCD。全部上调到 3 级共 7 级次，而只上调 A、D 共 3 级次，也能覆盖这四条约束。该示意用于解释联合优化，并不表示必须这样给真实数据定级。成立前提是候选级别有影响依据、等级映射有效、字段尚可调整，固定背景没有单独暴露目标。未评估组合仍需检查。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GRPO 的重点是组内比较：从同一状态生成多条合法调整轨迹，用各轨迹回报相对组内水平的优势更新策略，并保留 KL 约束等稳定机制。状态包含当前等级、已核验风险、候选级别、剩余组合约束和调整代价；动作是合法的一级上调或申请结束。环境根据已确认的映射更新未来可得范围，历史已知 B 保留。奖励鼓励减少越线并控制调整代价，规则通过动作可行域限制，不作为可被业务收益抵消的罚项。顺序求解不自动证明强化学习必要，现有小规模实验应与整数规划及覆盖贪心比较。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已有实验发现，估计值偏低的组合可能根本不会被选入一次性验证清单，优化结果仍留有残余。因此形成等级建议后，需要核验剩余可得范围中的组合，并验证作为约束的可疑集合以纠正误报，再返回求解。结束条件应包含声明范围内的核验完成与约束检查通过。E2b 使用已有重训结果表模拟验证调用，零残余仅相对于这张固定表。真实项目还需要独立样本、时间顺序留出和模型范围核验。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最终交付不是一个模型分数，而是一项完整分级记录：对象与业务分类、规则基线、推断证据、建议级别、复核理由以及审批与复评信息。业务部门复核后进入审批，批准结果固化到目录。数据加工、字段汇聚、主体和已知背景变化，以及规则修订或时效变化，触发下一轮复评。第一步先选择一个业务场景，确认目标、阈值和实际权限，接入历史数据完成闭环试点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风险量都以同一目标、同一场景和同一评估协议为前提。M 的实测最大值通常是已搜索背景族内的最大值，不能代表全部未知背景。检查一致性使用最终集合能力 V，而不是直接用 M 作等级阈值。等级与可见范围的对应关系必须业务确认；实际非嵌套角色要分别列出可得集合。GRPO 学习的是可行候选空间中的联合调整，不能通过改级使历史已知信息消失。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本页根据 2026-10-07 实验记录更新。E3 使用两个种子的留出实例结果，GRPO 加回退相对最优的平均代价为 1.010 和 1.008，覆盖贪心为 1.021 和 1.016。E1 中整数规划平均约 8 毫秒，是当前小规模任务的重要精确基线。E2b 使用估计先验时平均核验 38.71% 的集合，不用先验时为 82.84%；所谓核验是在已有专用模型结果表中查询，不代表新增实际训练。随机等级与代价、有限字段和组合规模都应随结论一起报告，不能当作南网现场效果。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-text-1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南方电网项目 · 研究体系汇报</a:t>
            </a:r>
            <a:endParaRPr lang="zh-CN" sz="1125" dirty="0"/>
          </a:p>
        </p:txBody>
      </p:sp>
      <p:sp>
        <p:nvSpPr>
          <p:cNvPr id="3" name="s1-line-2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4" name="s1-text-3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5" name="s1-text-4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/ 12</a:t>
            </a:r>
            <a:endParaRPr lang="zh-CN" sz="1050" dirty="0"/>
          </a:p>
        </p:txBody>
      </p:sp>
      <p:sp>
        <p:nvSpPr>
          <p:cNvPr id="6" name="s1-text-5"/>
          <p:cNvSpPr txBox="1"/>
          <p:nvPr/>
        </p:nvSpPr>
        <p:spPr>
          <a:xfrm>
            <a:off x="609600" y="904875"/>
            <a:ext cx="10477500" cy="6057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620"/>
              </a:lnSpc>
              <a:buNone/>
            </a:pPr>
            <a:r>
              <a:rPr lang="zh-CN" altLang="en-US" sz="330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面向推断风险的</a:t>
            </a:r>
            <a:endParaRPr lang="zh-CN" sz="3300" dirty="0"/>
          </a:p>
        </p:txBody>
      </p:sp>
      <p:sp>
        <p:nvSpPr>
          <p:cNvPr id="7" name="s1-text-6"/>
          <p:cNvSpPr txBox="1"/>
          <p:nvPr/>
        </p:nvSpPr>
        <p:spPr>
          <a:xfrm>
            <a:off x="609600" y="1476375"/>
            <a:ext cx="10906125" cy="7658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880"/>
              </a:lnSpc>
              <a:buNone/>
            </a:pPr>
            <a:r>
              <a:rPr lang="zh-CN" altLang="en-US" sz="420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数据分类分级体系</a:t>
            </a:r>
            <a:endParaRPr lang="zh-CN" sz="4200" dirty="0"/>
          </a:p>
        </p:txBody>
      </p:sp>
      <p:sp>
        <p:nvSpPr>
          <p:cNvPr id="8" name="s1-text-7"/>
          <p:cNvSpPr txBox="1"/>
          <p:nvPr/>
        </p:nvSpPr>
        <p:spPr>
          <a:xfrm>
            <a:off x="638175" y="2428875"/>
            <a:ext cx="1000125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规则确定基线  ·  组合推断补充证据  ·  GRPO 支持联合等级建议</a:t>
            </a:r>
            <a:endParaRPr lang="zh-CN" sz="1875" dirty="0"/>
          </a:p>
        </p:txBody>
      </p:sp>
      <p:sp>
        <p:nvSpPr>
          <p:cNvPr id="9" name="s1-line-8"/>
          <p:cNvSpPr/>
          <p:nvPr/>
        </p:nvSpPr>
        <p:spPr>
          <a:xfrm>
            <a:off x="609600" y="3533775"/>
            <a:ext cx="3238500" cy="0"/>
          </a:xfrm>
          <a:prstGeom prst="line">
            <a:avLst/>
          </a:prstGeom>
          <a:noFill/>
          <a:ln w="28575">
            <a:solidFill>
              <a:srgbClr val="2459C4"/>
            </a:solidFill>
            <a:prstDash val="solid"/>
          </a:ln>
        </p:spPr>
      </p:sp>
      <p:sp>
        <p:nvSpPr>
          <p:cNvPr id="10" name="s1-text-9"/>
          <p:cNvSpPr txBox="1"/>
          <p:nvPr/>
        </p:nvSpPr>
        <p:spPr>
          <a:xfrm>
            <a:off x="609600" y="3771900"/>
            <a:ext cx="32385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规则基线</a:t>
            </a:r>
            <a:endParaRPr lang="zh-CN" sz="2250" dirty="0"/>
          </a:p>
        </p:txBody>
      </p:sp>
      <p:sp>
        <p:nvSpPr>
          <p:cNvPr id="11" name="s1-text-10"/>
          <p:cNvSpPr txBox="1"/>
          <p:nvPr/>
        </p:nvSpPr>
        <p:spPr>
          <a:xfrm>
            <a:off x="609600" y="4305300"/>
            <a:ext cx="32385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明确分什么、依据什么定级</a:t>
            </a:r>
            <a:endParaRPr lang="zh-CN" sz="1725" dirty="0"/>
          </a:p>
        </p:txBody>
      </p:sp>
      <p:sp>
        <p:nvSpPr>
          <p:cNvPr id="12" name="s1-line-11"/>
          <p:cNvSpPr/>
          <p:nvPr/>
        </p:nvSpPr>
        <p:spPr>
          <a:xfrm>
            <a:off x="4419600" y="3533775"/>
            <a:ext cx="3238500" cy="0"/>
          </a:xfrm>
          <a:prstGeom prst="line">
            <a:avLst/>
          </a:prstGeom>
          <a:noFill/>
          <a:ln w="28575">
            <a:solidFill>
              <a:srgbClr val="087F79"/>
            </a:solidFill>
            <a:prstDash val="solid"/>
          </a:ln>
        </p:spPr>
      </p:sp>
      <p:sp>
        <p:nvSpPr>
          <p:cNvPr id="13" name="s1-text-12"/>
          <p:cNvSpPr txBox="1"/>
          <p:nvPr/>
        </p:nvSpPr>
        <p:spPr>
          <a:xfrm>
            <a:off x="4419600" y="3771900"/>
            <a:ext cx="32385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推断证据</a:t>
            </a:r>
            <a:endParaRPr lang="zh-CN" sz="2250" dirty="0"/>
          </a:p>
        </p:txBody>
      </p:sp>
      <p:sp>
        <p:nvSpPr>
          <p:cNvPr id="14" name="s1-text-13"/>
          <p:cNvSpPr txBox="1"/>
          <p:nvPr/>
        </p:nvSpPr>
        <p:spPr>
          <a:xfrm>
            <a:off x="4419600" y="4305300"/>
            <a:ext cx="32385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发现单字段之外的组合影响</a:t>
            </a:r>
            <a:endParaRPr lang="zh-CN" sz="1725" dirty="0"/>
          </a:p>
        </p:txBody>
      </p:sp>
      <p:sp>
        <p:nvSpPr>
          <p:cNvPr id="15" name="s1-line-14"/>
          <p:cNvSpPr/>
          <p:nvPr/>
        </p:nvSpPr>
        <p:spPr>
          <a:xfrm>
            <a:off x="8229600" y="3533775"/>
            <a:ext cx="3238500" cy="0"/>
          </a:xfrm>
          <a:prstGeom prst="line">
            <a:avLst/>
          </a:prstGeom>
          <a:noFill/>
          <a:ln w="28575">
            <a:solidFill>
              <a:srgbClr val="2459C4"/>
            </a:solidFill>
            <a:prstDash val="solid"/>
          </a:ln>
        </p:spPr>
      </p:sp>
      <p:sp>
        <p:nvSpPr>
          <p:cNvPr id="16" name="s1-text-15"/>
          <p:cNvSpPr txBox="1"/>
          <p:nvPr/>
        </p:nvSpPr>
        <p:spPr>
          <a:xfrm>
            <a:off x="8229600" y="3771900"/>
            <a:ext cx="3238500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等级建议</a:t>
            </a:r>
            <a:endParaRPr lang="zh-CN" sz="2250" dirty="0"/>
          </a:p>
        </p:txBody>
      </p:sp>
      <p:sp>
        <p:nvSpPr>
          <p:cNvPr id="17" name="s1-text-16"/>
          <p:cNvSpPr txBox="1"/>
          <p:nvPr/>
        </p:nvSpPr>
        <p:spPr>
          <a:xfrm>
            <a:off x="8229600" y="4305300"/>
            <a:ext cx="32385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在硬约束内复核并联合优化</a:t>
            </a:r>
            <a:endParaRPr lang="zh-CN" sz="1725" dirty="0"/>
          </a:p>
        </p:txBody>
      </p:sp>
      <p:sp>
        <p:nvSpPr>
          <p:cNvPr id="18" name="s1-line-17"/>
          <p:cNvSpPr/>
          <p:nvPr/>
        </p:nvSpPr>
        <p:spPr>
          <a:xfrm>
            <a:off x="3990975" y="4019550"/>
            <a:ext cx="276225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19" name="s1-line-18"/>
          <p:cNvSpPr/>
          <p:nvPr/>
        </p:nvSpPr>
        <p:spPr>
          <a:xfrm>
            <a:off x="7800975" y="4019550"/>
            <a:ext cx="276225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0" name="s1-text-19"/>
          <p:cNvSpPr txBox="1"/>
          <p:nvPr/>
        </p:nvSpPr>
        <p:spPr>
          <a:xfrm>
            <a:off x="609600" y="5467350"/>
            <a:ext cx="10572750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zh-CN" altLang="en-US" sz="202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形成“有规则依据、有推断证据、可审批、可复评”的分类分级结果。</a:t>
            </a:r>
            <a:endParaRPr lang="zh-CN" sz="2025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2-text-20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为什么需要推断风险分析</a:t>
            </a:r>
            <a:endParaRPr lang="zh-CN" sz="1125" dirty="0"/>
          </a:p>
        </p:txBody>
      </p:sp>
      <p:sp>
        <p:nvSpPr>
          <p:cNvPr id="3" name="s2-text-21"/>
          <p:cNvSpPr txBox="1"/>
          <p:nvPr/>
        </p:nvSpPr>
        <p:spPr>
          <a:xfrm>
            <a:off x="609600" y="628650"/>
            <a:ext cx="1097280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zh-CN" altLang="en-US" sz="28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单项定级之外，还要检查组合后能揭示什么</a:t>
            </a:r>
            <a:endParaRPr lang="zh-CN" sz="2850" dirty="0"/>
          </a:p>
        </p:txBody>
      </p:sp>
      <p:sp>
        <p:nvSpPr>
          <p:cNvPr id="4" name="s2-text-22"/>
          <p:cNvSpPr txBox="1"/>
          <p:nvPr/>
        </p:nvSpPr>
        <p:spPr>
          <a:xfrm>
            <a:off x="628650" y="1200150"/>
            <a:ext cx="10763250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新的风险可能出现在字段之间，也可能来自接收方已经掌握的信息。</a:t>
            </a:r>
            <a:endParaRPr lang="zh-CN" sz="1575" dirty="0"/>
          </a:p>
        </p:txBody>
      </p:sp>
      <p:sp>
        <p:nvSpPr>
          <p:cNvPr id="5" name="s2-line-23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" name="s2-text-24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7" name="s2-text-25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/ 12</a:t>
            </a:r>
            <a:endParaRPr lang="zh-CN" sz="1050" dirty="0"/>
          </a:p>
        </p:txBody>
      </p:sp>
      <p:sp>
        <p:nvSpPr>
          <p:cNvPr id="8" name="s2-text-26"/>
          <p:cNvSpPr txBox="1"/>
          <p:nvPr/>
        </p:nvSpPr>
        <p:spPr>
          <a:xfrm>
            <a:off x="742950" y="1819275"/>
            <a:ext cx="4333875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单独观察</a:t>
            </a:r>
            <a:endParaRPr lang="zh-CN" sz="1800" dirty="0"/>
          </a:p>
        </p:txBody>
      </p:sp>
      <p:sp>
        <p:nvSpPr>
          <p:cNvPr id="9" name="s2-text-27"/>
          <p:cNvSpPr txBox="1"/>
          <p:nvPr/>
        </p:nvSpPr>
        <p:spPr>
          <a:xfrm>
            <a:off x="6610350" y="1819275"/>
            <a:ext cx="4476750" cy="339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180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联合观察</a:t>
            </a:r>
            <a:endParaRPr lang="zh-CN" sz="1800" dirty="0"/>
          </a:p>
        </p:txBody>
      </p:sp>
      <p:sp>
        <p:nvSpPr>
          <p:cNvPr id="10" name="s2-line-28"/>
          <p:cNvSpPr/>
          <p:nvPr/>
        </p:nvSpPr>
        <p:spPr>
          <a:xfrm>
            <a:off x="6076950" y="1809750"/>
            <a:ext cx="0" cy="3590925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11" name="s2-rect-29"/>
          <p:cNvSpPr/>
          <p:nvPr/>
        </p:nvSpPr>
        <p:spPr>
          <a:xfrm>
            <a:off x="762000" y="2562225"/>
            <a:ext cx="1571625" cy="81915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2" name="s2-rect-30"/>
          <p:cNvSpPr/>
          <p:nvPr/>
        </p:nvSpPr>
        <p:spPr>
          <a:xfrm>
            <a:off x="762000" y="2562225"/>
            <a:ext cx="38100" cy="81915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13" name="s2-text-31"/>
          <p:cNvSpPr txBox="1"/>
          <p:nvPr/>
        </p:nvSpPr>
        <p:spPr>
          <a:xfrm>
            <a:off x="971550" y="2724150"/>
            <a:ext cx="115252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 A</a:t>
            </a:r>
            <a:endParaRPr lang="zh-CN" sz="1875" dirty="0"/>
          </a:p>
        </p:txBody>
      </p:sp>
      <p:sp>
        <p:nvSpPr>
          <p:cNvPr id="14" name="s2-line-32"/>
          <p:cNvSpPr/>
          <p:nvPr/>
        </p:nvSpPr>
        <p:spPr>
          <a:xfrm>
            <a:off x="2343150" y="2971800"/>
            <a:ext cx="1038225" cy="0"/>
          </a:xfrm>
          <a:prstGeom prst="line">
            <a:avLst/>
          </a:prstGeom>
          <a:noFill/>
          <a:ln w="19050">
            <a:solidFill>
              <a:srgbClr val="DCE4EA"/>
            </a:solidFill>
            <a:prstDash val="dash"/>
            <a:headEnd type="none"/>
            <a:tailEnd type="triangle"/>
          </a:ln>
        </p:spPr>
      </p:sp>
      <p:sp>
        <p:nvSpPr>
          <p:cNvPr id="15" name="s2-text-33"/>
          <p:cNvSpPr txBox="1"/>
          <p:nvPr/>
        </p:nvSpPr>
        <p:spPr>
          <a:xfrm>
            <a:off x="3486150" y="2781300"/>
            <a:ext cx="1952625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对目标的证据弱</a:t>
            </a:r>
            <a:endParaRPr lang="zh-CN" sz="1650" dirty="0"/>
          </a:p>
        </p:txBody>
      </p:sp>
      <p:sp>
        <p:nvSpPr>
          <p:cNvPr id="16" name="s2-rect-34"/>
          <p:cNvSpPr/>
          <p:nvPr/>
        </p:nvSpPr>
        <p:spPr>
          <a:xfrm>
            <a:off x="762000" y="4010025"/>
            <a:ext cx="1571625" cy="819150"/>
          </a:xfrm>
          <a:prstGeom prst="roundRect">
            <a:avLst>
              <a:gd name="adj" fmla="val 11628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7" name="s2-rect-35"/>
          <p:cNvSpPr/>
          <p:nvPr/>
        </p:nvSpPr>
        <p:spPr>
          <a:xfrm>
            <a:off x="762000" y="4010025"/>
            <a:ext cx="38100" cy="81915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18" name="s2-text-36"/>
          <p:cNvSpPr txBox="1"/>
          <p:nvPr/>
        </p:nvSpPr>
        <p:spPr>
          <a:xfrm>
            <a:off x="971550" y="4171950"/>
            <a:ext cx="115252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 B</a:t>
            </a:r>
            <a:endParaRPr lang="zh-CN" sz="1875" dirty="0"/>
          </a:p>
        </p:txBody>
      </p:sp>
      <p:sp>
        <p:nvSpPr>
          <p:cNvPr id="19" name="s2-line-37"/>
          <p:cNvSpPr/>
          <p:nvPr/>
        </p:nvSpPr>
        <p:spPr>
          <a:xfrm>
            <a:off x="2343150" y="4419600"/>
            <a:ext cx="1038225" cy="0"/>
          </a:xfrm>
          <a:prstGeom prst="line">
            <a:avLst/>
          </a:prstGeom>
          <a:noFill/>
          <a:ln w="19050">
            <a:solidFill>
              <a:srgbClr val="DCE4EA"/>
            </a:solidFill>
            <a:prstDash val="dash"/>
            <a:headEnd type="none"/>
            <a:tailEnd type="triangle"/>
          </a:ln>
        </p:spPr>
      </p:sp>
      <p:sp>
        <p:nvSpPr>
          <p:cNvPr id="20" name="s2-text-38"/>
          <p:cNvSpPr txBox="1"/>
          <p:nvPr/>
        </p:nvSpPr>
        <p:spPr>
          <a:xfrm>
            <a:off x="3486150" y="4229100"/>
            <a:ext cx="1952625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对目标的证据弱</a:t>
            </a:r>
            <a:endParaRPr lang="zh-CN" sz="1650" dirty="0"/>
          </a:p>
        </p:txBody>
      </p:sp>
      <p:sp>
        <p:nvSpPr>
          <p:cNvPr id="21" name="s2-rect-39"/>
          <p:cNvSpPr/>
          <p:nvPr/>
        </p:nvSpPr>
        <p:spPr>
          <a:xfrm>
            <a:off x="6648450" y="2647950"/>
            <a:ext cx="14478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2" name="s2-rect-40"/>
          <p:cNvSpPr/>
          <p:nvPr/>
        </p:nvSpPr>
        <p:spPr>
          <a:xfrm>
            <a:off x="6648450" y="2647950"/>
            <a:ext cx="38100" cy="80010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23" name="s2-text-41"/>
          <p:cNvSpPr txBox="1"/>
          <p:nvPr/>
        </p:nvSpPr>
        <p:spPr>
          <a:xfrm>
            <a:off x="6858000" y="2809875"/>
            <a:ext cx="102870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 A</a:t>
            </a:r>
            <a:endParaRPr lang="zh-CN" sz="1875" dirty="0"/>
          </a:p>
        </p:txBody>
      </p:sp>
      <p:sp>
        <p:nvSpPr>
          <p:cNvPr id="24" name="s2-rect-42"/>
          <p:cNvSpPr/>
          <p:nvPr/>
        </p:nvSpPr>
        <p:spPr>
          <a:xfrm>
            <a:off x="6648450" y="4000500"/>
            <a:ext cx="1447800" cy="800100"/>
          </a:xfrm>
          <a:prstGeom prst="roundRect">
            <a:avLst>
              <a:gd name="adj" fmla="val 11905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5" name="s2-rect-43"/>
          <p:cNvSpPr/>
          <p:nvPr/>
        </p:nvSpPr>
        <p:spPr>
          <a:xfrm>
            <a:off x="6648450" y="4000500"/>
            <a:ext cx="38100" cy="80010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26" name="s2-text-44"/>
          <p:cNvSpPr txBox="1"/>
          <p:nvPr/>
        </p:nvSpPr>
        <p:spPr>
          <a:xfrm>
            <a:off x="6858000" y="4162425"/>
            <a:ext cx="102870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 B</a:t>
            </a:r>
            <a:endParaRPr lang="zh-CN" sz="1875" dirty="0"/>
          </a:p>
        </p:txBody>
      </p:sp>
      <p:sp>
        <p:nvSpPr>
          <p:cNvPr id="27" name="s2-line-45"/>
          <p:cNvSpPr/>
          <p:nvPr/>
        </p:nvSpPr>
        <p:spPr>
          <a:xfrm>
            <a:off x="8096250" y="3048000"/>
            <a:ext cx="533400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</a:ln>
        </p:spPr>
      </p:sp>
      <p:sp>
        <p:nvSpPr>
          <p:cNvPr id="28" name="s2-line-46"/>
          <p:cNvSpPr/>
          <p:nvPr/>
        </p:nvSpPr>
        <p:spPr>
          <a:xfrm>
            <a:off x="8096250" y="4400550"/>
            <a:ext cx="533400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</a:ln>
        </p:spPr>
      </p:sp>
      <p:sp>
        <p:nvSpPr>
          <p:cNvPr id="29" name="s2-line-47"/>
          <p:cNvSpPr/>
          <p:nvPr/>
        </p:nvSpPr>
        <p:spPr>
          <a:xfrm>
            <a:off x="8629650" y="3048000"/>
            <a:ext cx="0" cy="135255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</a:ln>
        </p:spPr>
      </p:sp>
      <p:sp>
        <p:nvSpPr>
          <p:cNvPr id="30" name="s2-line-48"/>
          <p:cNvSpPr/>
          <p:nvPr/>
        </p:nvSpPr>
        <p:spPr>
          <a:xfrm>
            <a:off x="8629650" y="3724275"/>
            <a:ext cx="504825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headEnd type="none"/>
            <a:tailEnd type="triangle"/>
          </a:ln>
        </p:spPr>
      </p:sp>
      <p:sp>
        <p:nvSpPr>
          <p:cNvPr id="31" name="s2-rect-49"/>
          <p:cNvSpPr/>
          <p:nvPr/>
        </p:nvSpPr>
        <p:spPr>
          <a:xfrm>
            <a:off x="9248775" y="3190875"/>
            <a:ext cx="2200275" cy="1066800"/>
          </a:xfrm>
          <a:prstGeom prst="roundRect">
            <a:avLst>
              <a:gd name="adj" fmla="val 8929"/>
            </a:avLst>
          </a:prstGeom>
          <a:solidFill>
            <a:srgbClr val="EDF7F5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32" name="s2-rect-50"/>
          <p:cNvSpPr/>
          <p:nvPr/>
        </p:nvSpPr>
        <p:spPr>
          <a:xfrm>
            <a:off x="9248775" y="3190875"/>
            <a:ext cx="38100" cy="1066800"/>
          </a:xfrm>
          <a:prstGeom prst="rect">
            <a:avLst/>
          </a:prstGeom>
          <a:solidFill>
            <a:srgbClr val="087F79"/>
          </a:solidFill>
          <a:ln w="12700">
            <a:solidFill>
              <a:srgbClr val="087F79">
                <a:alpha val="0"/>
              </a:srgbClr>
            </a:solidFill>
            <a:prstDash val="solid"/>
          </a:ln>
        </p:spPr>
      </p:sp>
      <p:sp>
        <p:nvSpPr>
          <p:cNvPr id="33" name="s2-text-51"/>
          <p:cNvSpPr txBox="1"/>
          <p:nvPr/>
        </p:nvSpPr>
        <p:spPr>
          <a:xfrm>
            <a:off x="9458325" y="3352800"/>
            <a:ext cx="178117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受保护目标</a:t>
            </a:r>
            <a:endParaRPr lang="zh-CN" sz="1875" dirty="0"/>
          </a:p>
        </p:txBody>
      </p:sp>
      <p:sp>
        <p:nvSpPr>
          <p:cNvPr id="34" name="s2-text-52"/>
          <p:cNvSpPr txBox="1"/>
          <p:nvPr/>
        </p:nvSpPr>
        <p:spPr>
          <a:xfrm>
            <a:off x="9458325" y="3790950"/>
            <a:ext cx="1781175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联合后可能恢复</a:t>
            </a:r>
            <a:endParaRPr lang="zh-CN" sz="1575" dirty="0"/>
          </a:p>
        </p:txBody>
      </p:sp>
      <p:sp>
        <p:nvSpPr>
          <p:cNvPr id="35" name="s2-rect-53"/>
          <p:cNvSpPr/>
          <p:nvPr/>
        </p:nvSpPr>
        <p:spPr>
          <a:xfrm>
            <a:off x="6762750" y="4981575"/>
            <a:ext cx="4533900" cy="400050"/>
          </a:xfrm>
          <a:prstGeom prst="roundRect">
            <a:avLst>
              <a:gd name="adj" fmla="val 14286"/>
            </a:avLst>
          </a:prstGeom>
          <a:solidFill>
            <a:srgbClr val="EDF7F5"/>
          </a:solidFill>
          <a:ln w="12700">
            <a:solidFill>
              <a:srgbClr val="EDF7F5">
                <a:alpha val="0"/>
              </a:srgbClr>
            </a:solidFill>
            <a:prstDash val="solid"/>
          </a:ln>
        </p:spPr>
      </p:sp>
      <p:sp>
        <p:nvSpPr>
          <p:cNvPr id="36" name="s2-text-54"/>
          <p:cNvSpPr txBox="1"/>
          <p:nvPr/>
        </p:nvSpPr>
        <p:spPr>
          <a:xfrm>
            <a:off x="6838950" y="5046583"/>
            <a:ext cx="4381500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26"/>
              </a:lnSpc>
              <a:buNone/>
            </a:pPr>
            <a:r>
              <a:rPr lang="zh-CN" altLang="en-US" sz="157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字段集合 + 已有背景 → 推断能力</a:t>
            </a:r>
            <a:endParaRPr lang="zh-CN" sz="1575" dirty="0"/>
          </a:p>
        </p:txBody>
      </p:sp>
      <p:sp>
        <p:nvSpPr>
          <p:cNvPr id="37" name="s2-rect-55"/>
          <p:cNvSpPr/>
          <p:nvPr/>
        </p:nvSpPr>
        <p:spPr>
          <a:xfrm>
            <a:off x="609600" y="5715000"/>
            <a:ext cx="10972800" cy="457200"/>
          </a:xfrm>
          <a:prstGeom prst="roundRect">
            <a:avLst>
              <a:gd name="adj" fmla="val 125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38" name="s2-text-56"/>
          <p:cNvSpPr txBox="1"/>
          <p:nvPr/>
        </p:nvSpPr>
        <p:spPr>
          <a:xfrm>
            <a:off x="781050" y="5791200"/>
            <a:ext cx="106299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6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需要补充评估：组合后多揭示了什么，以及是否改变原有分级依据。</a:t>
            </a:r>
            <a:endParaRPr lang="zh-CN" sz="1650" dirty="0"/>
          </a:p>
        </p:txBody>
      </p:sp>
      <p:sp>
        <p:nvSpPr>
          <p:cNvPr id="39" name="s2-text-57"/>
          <p:cNvSpPr txBox="1"/>
          <p:nvPr/>
        </p:nvSpPr>
        <p:spPr>
          <a:xfrm>
            <a:off x="628650" y="6200775"/>
            <a:ext cx="109537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依据：所供分级手册“深度”要素、附录 D/E；风险评估手册第 382 项。图为原理示意。</a:t>
            </a:r>
            <a:endParaRPr lang="zh-CN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3-text-58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总体研究体系</a:t>
            </a:r>
            <a:endParaRPr lang="zh-CN" sz="1125" dirty="0"/>
          </a:p>
        </p:txBody>
      </p:sp>
      <p:sp>
        <p:nvSpPr>
          <p:cNvPr id="3" name="s3-text-59"/>
          <p:cNvSpPr txBox="1"/>
          <p:nvPr/>
        </p:nvSpPr>
        <p:spPr>
          <a:xfrm>
            <a:off x="609600" y="628650"/>
            <a:ext cx="1097280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zh-CN" altLang="en-US" sz="28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四个阶段，形成有依据、可复核的等级结论</a:t>
            </a:r>
            <a:endParaRPr lang="zh-CN" sz="2850" dirty="0"/>
          </a:p>
        </p:txBody>
      </p:sp>
      <p:sp>
        <p:nvSpPr>
          <p:cNvPr id="4" name="s3-text-60"/>
          <p:cNvSpPr txBox="1"/>
          <p:nvPr/>
        </p:nvSpPr>
        <p:spPr>
          <a:xfrm>
            <a:off x="628650" y="1200150"/>
            <a:ext cx="10763250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以南网分类分级规则为基线，将推断证据接入等级复核与审批。</a:t>
            </a:r>
            <a:endParaRPr lang="zh-CN" sz="1575" dirty="0"/>
          </a:p>
        </p:txBody>
      </p:sp>
      <p:sp>
        <p:nvSpPr>
          <p:cNvPr id="5" name="s3-line-61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" name="s3-text-62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7" name="s3-text-63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/ 12</a:t>
            </a:r>
            <a:endParaRPr lang="zh-CN" sz="1050" dirty="0"/>
          </a:p>
        </p:txBody>
      </p:sp>
      <p:sp>
        <p:nvSpPr>
          <p:cNvPr id="8" name="s3-text-64"/>
          <p:cNvSpPr txBox="1"/>
          <p:nvPr/>
        </p:nvSpPr>
        <p:spPr>
          <a:xfrm>
            <a:off x="609600" y="1981200"/>
            <a:ext cx="2400300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zh-CN" altLang="en-US" sz="34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zh-CN" sz="3450" dirty="0"/>
          </a:p>
        </p:txBody>
      </p:sp>
      <p:sp>
        <p:nvSpPr>
          <p:cNvPr id="9" name="s3-text-65"/>
          <p:cNvSpPr txBox="1"/>
          <p:nvPr/>
        </p:nvSpPr>
        <p:spPr>
          <a:xfrm>
            <a:off x="609600" y="2619375"/>
            <a:ext cx="2457450" cy="39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zh-CN" altLang="en-US" sz="210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基础分类分级</a:t>
            </a:r>
            <a:endParaRPr lang="zh-CN" sz="2100" dirty="0"/>
          </a:p>
        </p:txBody>
      </p:sp>
      <p:sp>
        <p:nvSpPr>
          <p:cNvPr id="10" name="s3-line-66"/>
          <p:cNvSpPr/>
          <p:nvPr/>
        </p:nvSpPr>
        <p:spPr>
          <a:xfrm>
            <a:off x="609600" y="3086100"/>
            <a:ext cx="2371725" cy="0"/>
          </a:xfrm>
          <a:prstGeom prst="line">
            <a:avLst/>
          </a:prstGeom>
          <a:noFill/>
          <a:ln w="28575">
            <a:solidFill>
              <a:srgbClr val="2459C4"/>
            </a:solidFill>
            <a:prstDash val="solid"/>
          </a:ln>
        </p:spPr>
      </p:sp>
      <p:sp>
        <p:nvSpPr>
          <p:cNvPr id="11" name="s3-text-67"/>
          <p:cNvSpPr txBox="1"/>
          <p:nvPr/>
        </p:nvSpPr>
        <p:spPr>
          <a:xfrm>
            <a:off x="609600" y="3305175"/>
            <a:ext cx="2390775" cy="115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zh-CN" altLang="en-US" sz="18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规则解析</a:t>
            </a:r>
            <a:endParaRPr lang="zh-CN" sz="1800" dirty="0"/>
          </a:p>
          <a:p>
            <a:pPr algn="l" indent="0" marL="0">
              <a:lnSpc>
                <a:spcPts val="2970"/>
              </a:lnSpc>
              <a:buNone/>
            </a:pPr>
            <a:r>
              <a:rPr lang="zh-CN" altLang="en-US" sz="18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业务分类</a:t>
            </a:r>
            <a:endParaRPr lang="zh-CN" sz="1800" dirty="0"/>
          </a:p>
          <a:p>
            <a:pPr algn="l" indent="0" marL="0">
              <a:lnSpc>
                <a:spcPts val="2970"/>
              </a:lnSpc>
              <a:buNone/>
            </a:pPr>
            <a:r>
              <a:rPr lang="zh-CN" altLang="en-US" sz="18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影响矩阵</a:t>
            </a:r>
            <a:endParaRPr lang="zh-CN" sz="1800" dirty="0"/>
          </a:p>
        </p:txBody>
      </p:sp>
      <p:sp>
        <p:nvSpPr>
          <p:cNvPr id="12" name="s3-rect-68"/>
          <p:cNvSpPr/>
          <p:nvPr/>
        </p:nvSpPr>
        <p:spPr>
          <a:xfrm>
            <a:off x="609600" y="4686300"/>
            <a:ext cx="2457450" cy="428625"/>
          </a:xfrm>
          <a:prstGeom prst="roundRect">
            <a:avLst>
              <a:gd name="adj" fmla="val 13333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13" name="s3-text-69"/>
          <p:cNvSpPr txBox="1"/>
          <p:nvPr/>
        </p:nvSpPr>
        <p:spPr>
          <a:xfrm>
            <a:off x="685800" y="4772025"/>
            <a:ext cx="23050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zh-CN" altLang="en-US" sz="15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规则等级 + 依据</a:t>
            </a:r>
            <a:endParaRPr lang="zh-CN" sz="1500" dirty="0"/>
          </a:p>
        </p:txBody>
      </p:sp>
      <p:sp>
        <p:nvSpPr>
          <p:cNvPr id="14" name="s3-line-70"/>
          <p:cNvSpPr/>
          <p:nvPr/>
        </p:nvSpPr>
        <p:spPr>
          <a:xfrm>
            <a:off x="3095625" y="3686175"/>
            <a:ext cx="209550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15" name="s3-text-71"/>
          <p:cNvSpPr txBox="1"/>
          <p:nvPr/>
        </p:nvSpPr>
        <p:spPr>
          <a:xfrm>
            <a:off x="3429000" y="1981200"/>
            <a:ext cx="2400300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zh-CN" altLang="en-US" sz="345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zh-CN" sz="3450" dirty="0"/>
          </a:p>
        </p:txBody>
      </p:sp>
      <p:sp>
        <p:nvSpPr>
          <p:cNvPr id="16" name="s3-text-72"/>
          <p:cNvSpPr txBox="1"/>
          <p:nvPr/>
        </p:nvSpPr>
        <p:spPr>
          <a:xfrm>
            <a:off x="3429000" y="2619375"/>
            <a:ext cx="2457450" cy="39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zh-CN" altLang="en-US" sz="210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推断风险分析</a:t>
            </a:r>
            <a:endParaRPr lang="zh-CN" sz="2100" dirty="0"/>
          </a:p>
        </p:txBody>
      </p:sp>
      <p:sp>
        <p:nvSpPr>
          <p:cNvPr id="17" name="s3-line-73"/>
          <p:cNvSpPr/>
          <p:nvPr/>
        </p:nvSpPr>
        <p:spPr>
          <a:xfrm>
            <a:off x="3429000" y="3086100"/>
            <a:ext cx="2371725" cy="0"/>
          </a:xfrm>
          <a:prstGeom prst="line">
            <a:avLst/>
          </a:prstGeom>
          <a:noFill/>
          <a:ln w="28575">
            <a:solidFill>
              <a:srgbClr val="087F79"/>
            </a:solidFill>
            <a:prstDash val="solid"/>
          </a:ln>
        </p:spPr>
      </p:sp>
      <p:sp>
        <p:nvSpPr>
          <p:cNvPr id="18" name="s3-text-74"/>
          <p:cNvSpPr txBox="1"/>
          <p:nvPr/>
        </p:nvSpPr>
        <p:spPr>
          <a:xfrm>
            <a:off x="3429000" y="3305175"/>
            <a:ext cx="2390775" cy="115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zh-CN" altLang="en-US" sz="18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主体与已知背景</a:t>
            </a:r>
            <a:endParaRPr lang="zh-CN" sz="1800" dirty="0"/>
          </a:p>
          <a:p>
            <a:pPr algn="l" indent="0" marL="0">
              <a:lnSpc>
                <a:spcPts val="2970"/>
              </a:lnSpc>
              <a:buNone/>
            </a:pPr>
            <a:r>
              <a:rPr lang="zh-CN" altLang="en-US" sz="18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集合推断评估</a:t>
            </a:r>
            <a:endParaRPr lang="zh-CN" sz="1800" dirty="0"/>
          </a:p>
          <a:p>
            <a:pPr algn="l" indent="0" marL="0">
              <a:lnSpc>
                <a:spcPts val="2970"/>
              </a:lnSpc>
              <a:buNone/>
            </a:pPr>
            <a:r>
              <a:rPr lang="zh-CN" altLang="en-US" sz="18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字段风险解释</a:t>
            </a:r>
            <a:endParaRPr lang="zh-CN" sz="1800" dirty="0"/>
          </a:p>
        </p:txBody>
      </p:sp>
      <p:sp>
        <p:nvSpPr>
          <p:cNvPr id="19" name="s3-rect-75"/>
          <p:cNvSpPr/>
          <p:nvPr/>
        </p:nvSpPr>
        <p:spPr>
          <a:xfrm>
            <a:off x="3429000" y="4686300"/>
            <a:ext cx="2457450" cy="428625"/>
          </a:xfrm>
          <a:prstGeom prst="roundRect">
            <a:avLst>
              <a:gd name="adj" fmla="val 13333"/>
            </a:avLst>
          </a:prstGeom>
          <a:solidFill>
            <a:srgbClr val="EDF7F5"/>
          </a:solidFill>
          <a:ln w="12700">
            <a:solidFill>
              <a:srgbClr val="EDF7F5">
                <a:alpha val="0"/>
              </a:srgbClr>
            </a:solidFill>
            <a:prstDash val="solid"/>
          </a:ln>
        </p:spPr>
      </p:sp>
      <p:sp>
        <p:nvSpPr>
          <p:cNvPr id="20" name="s3-text-76"/>
          <p:cNvSpPr txBox="1"/>
          <p:nvPr/>
        </p:nvSpPr>
        <p:spPr>
          <a:xfrm>
            <a:off x="3505200" y="4772025"/>
            <a:ext cx="23050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zh-CN" altLang="en-US" sz="150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推断证据 + 范围</a:t>
            </a:r>
            <a:endParaRPr lang="zh-CN" sz="1500" dirty="0"/>
          </a:p>
        </p:txBody>
      </p:sp>
      <p:sp>
        <p:nvSpPr>
          <p:cNvPr id="21" name="s3-line-77"/>
          <p:cNvSpPr/>
          <p:nvPr/>
        </p:nvSpPr>
        <p:spPr>
          <a:xfrm>
            <a:off x="5915025" y="3686175"/>
            <a:ext cx="209550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2" name="s3-text-78"/>
          <p:cNvSpPr txBox="1"/>
          <p:nvPr/>
        </p:nvSpPr>
        <p:spPr>
          <a:xfrm>
            <a:off x="6248400" y="1981200"/>
            <a:ext cx="2400300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zh-CN" altLang="en-US" sz="34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zh-CN" sz="3450" dirty="0"/>
          </a:p>
        </p:txBody>
      </p:sp>
      <p:sp>
        <p:nvSpPr>
          <p:cNvPr id="23" name="s3-text-79"/>
          <p:cNvSpPr txBox="1"/>
          <p:nvPr/>
        </p:nvSpPr>
        <p:spPr>
          <a:xfrm>
            <a:off x="6248400" y="2619375"/>
            <a:ext cx="2457450" cy="39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zh-CN" altLang="en-US" sz="210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等级复核优化</a:t>
            </a:r>
            <a:endParaRPr lang="zh-CN" sz="2100" dirty="0"/>
          </a:p>
        </p:txBody>
      </p:sp>
      <p:sp>
        <p:nvSpPr>
          <p:cNvPr id="24" name="s3-line-80"/>
          <p:cNvSpPr/>
          <p:nvPr/>
        </p:nvSpPr>
        <p:spPr>
          <a:xfrm>
            <a:off x="6248400" y="3086100"/>
            <a:ext cx="2371725" cy="0"/>
          </a:xfrm>
          <a:prstGeom prst="line">
            <a:avLst/>
          </a:prstGeom>
          <a:noFill/>
          <a:ln w="28575">
            <a:solidFill>
              <a:srgbClr val="2459C4"/>
            </a:solidFill>
            <a:prstDash val="solid"/>
          </a:ln>
        </p:spPr>
      </p:sp>
      <p:sp>
        <p:nvSpPr>
          <p:cNvPr id="25" name="s3-text-81"/>
          <p:cNvSpPr txBox="1"/>
          <p:nvPr/>
        </p:nvSpPr>
        <p:spPr>
          <a:xfrm>
            <a:off x="6248400" y="3305175"/>
            <a:ext cx="2390775" cy="115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zh-CN" altLang="en-US" sz="18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补充影响判断</a:t>
            </a:r>
            <a:endParaRPr lang="zh-CN" sz="1800" dirty="0"/>
          </a:p>
          <a:p>
            <a:pPr algn="l" indent="0" marL="0">
              <a:lnSpc>
                <a:spcPts val="2970"/>
              </a:lnSpc>
              <a:buNone/>
            </a:pPr>
            <a:r>
              <a:rPr lang="zh-CN" altLang="en-US" sz="18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GRPO 联合优化</a:t>
            </a:r>
            <a:endParaRPr lang="zh-CN" sz="1800" dirty="0"/>
          </a:p>
          <a:p>
            <a:pPr algn="l" indent="0" marL="0">
              <a:lnSpc>
                <a:spcPts val="2970"/>
              </a:lnSpc>
              <a:buNone/>
            </a:pPr>
            <a:r>
              <a:rPr lang="zh-CN" altLang="en-US" sz="18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硬约束与验证</a:t>
            </a:r>
            <a:endParaRPr lang="zh-CN" sz="1800" dirty="0"/>
          </a:p>
        </p:txBody>
      </p:sp>
      <p:sp>
        <p:nvSpPr>
          <p:cNvPr id="26" name="s3-rect-82"/>
          <p:cNvSpPr/>
          <p:nvPr/>
        </p:nvSpPr>
        <p:spPr>
          <a:xfrm>
            <a:off x="6248400" y="4686300"/>
            <a:ext cx="2457450" cy="428625"/>
          </a:xfrm>
          <a:prstGeom prst="roundRect">
            <a:avLst>
              <a:gd name="adj" fmla="val 13333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27" name="s3-text-83"/>
          <p:cNvSpPr txBox="1"/>
          <p:nvPr/>
        </p:nvSpPr>
        <p:spPr>
          <a:xfrm>
            <a:off x="6324600" y="4772025"/>
            <a:ext cx="23050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zh-CN" altLang="en-US" sz="15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建议等级 + 理由</a:t>
            </a:r>
            <a:endParaRPr lang="zh-CN" sz="1500" dirty="0"/>
          </a:p>
        </p:txBody>
      </p:sp>
      <p:sp>
        <p:nvSpPr>
          <p:cNvPr id="28" name="s3-line-84"/>
          <p:cNvSpPr/>
          <p:nvPr/>
        </p:nvSpPr>
        <p:spPr>
          <a:xfrm>
            <a:off x="8734425" y="3686175"/>
            <a:ext cx="209550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9" name="s3-text-85"/>
          <p:cNvSpPr txBox="1"/>
          <p:nvPr/>
        </p:nvSpPr>
        <p:spPr>
          <a:xfrm>
            <a:off x="9067800" y="1981200"/>
            <a:ext cx="2400300" cy="6324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4830"/>
              </a:lnSpc>
              <a:buNone/>
            </a:pPr>
            <a:r>
              <a:rPr lang="zh-CN" altLang="en-US" sz="34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zh-CN" sz="3450" dirty="0"/>
          </a:p>
        </p:txBody>
      </p:sp>
      <p:sp>
        <p:nvSpPr>
          <p:cNvPr id="30" name="s3-text-86"/>
          <p:cNvSpPr txBox="1"/>
          <p:nvPr/>
        </p:nvSpPr>
        <p:spPr>
          <a:xfrm>
            <a:off x="9067800" y="2619375"/>
            <a:ext cx="2457450" cy="39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zh-CN" altLang="en-US" sz="210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审批固化复评</a:t>
            </a:r>
            <a:endParaRPr lang="zh-CN" sz="2100" dirty="0"/>
          </a:p>
        </p:txBody>
      </p:sp>
      <p:sp>
        <p:nvSpPr>
          <p:cNvPr id="31" name="s3-line-87"/>
          <p:cNvSpPr/>
          <p:nvPr/>
        </p:nvSpPr>
        <p:spPr>
          <a:xfrm>
            <a:off x="9067800" y="3086100"/>
            <a:ext cx="2371725" cy="0"/>
          </a:xfrm>
          <a:prstGeom prst="line">
            <a:avLst/>
          </a:prstGeom>
          <a:noFill/>
          <a:ln w="28575">
            <a:solidFill>
              <a:srgbClr val="2459C4"/>
            </a:solidFill>
            <a:prstDash val="solid"/>
          </a:ln>
        </p:spPr>
      </p:sp>
      <p:sp>
        <p:nvSpPr>
          <p:cNvPr id="32" name="s3-text-88"/>
          <p:cNvSpPr txBox="1"/>
          <p:nvPr/>
        </p:nvSpPr>
        <p:spPr>
          <a:xfrm>
            <a:off x="9067800" y="3305175"/>
            <a:ext cx="2390775" cy="11506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70"/>
              </a:lnSpc>
              <a:buNone/>
            </a:pPr>
            <a:r>
              <a:rPr lang="zh-CN" altLang="en-US" sz="18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业务复核与审批</a:t>
            </a:r>
            <a:endParaRPr lang="zh-CN" sz="1800" dirty="0"/>
          </a:p>
          <a:p>
            <a:pPr algn="l" indent="0" marL="0">
              <a:lnSpc>
                <a:spcPts val="2970"/>
              </a:lnSpc>
              <a:buNone/>
            </a:pPr>
            <a:r>
              <a:rPr lang="zh-CN" altLang="en-US" sz="18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目录固化</a:t>
            </a:r>
            <a:endParaRPr lang="zh-CN" sz="1800" dirty="0"/>
          </a:p>
          <a:p>
            <a:pPr algn="l" indent="0" marL="0">
              <a:lnSpc>
                <a:spcPts val="2970"/>
              </a:lnSpc>
              <a:buNone/>
            </a:pPr>
            <a:r>
              <a:rPr lang="zh-CN" altLang="en-US" sz="18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变化触发复评</a:t>
            </a:r>
            <a:endParaRPr lang="zh-CN" sz="1800" dirty="0"/>
          </a:p>
        </p:txBody>
      </p:sp>
      <p:sp>
        <p:nvSpPr>
          <p:cNvPr id="33" name="s3-rect-89"/>
          <p:cNvSpPr/>
          <p:nvPr/>
        </p:nvSpPr>
        <p:spPr>
          <a:xfrm>
            <a:off x="9067800" y="4686300"/>
            <a:ext cx="2457450" cy="428625"/>
          </a:xfrm>
          <a:prstGeom prst="roundRect">
            <a:avLst>
              <a:gd name="adj" fmla="val 13333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34" name="s3-text-90"/>
          <p:cNvSpPr txBox="1"/>
          <p:nvPr/>
        </p:nvSpPr>
        <p:spPr>
          <a:xfrm>
            <a:off x="9144000" y="4772025"/>
            <a:ext cx="2305050" cy="276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025"/>
              </a:lnSpc>
              <a:buNone/>
            </a:pPr>
            <a:r>
              <a:rPr lang="zh-CN" altLang="en-US" sz="15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批准结果 + 记录</a:t>
            </a:r>
            <a:endParaRPr lang="zh-CN" sz="1500" dirty="0"/>
          </a:p>
        </p:txBody>
      </p:sp>
      <p:sp>
        <p:nvSpPr>
          <p:cNvPr id="35" name="s3-line-91"/>
          <p:cNvSpPr/>
          <p:nvPr/>
        </p:nvSpPr>
        <p:spPr>
          <a:xfrm>
            <a:off x="10306050" y="5257800"/>
            <a:ext cx="0" cy="247650"/>
          </a:xfrm>
          <a:prstGeom prst="line">
            <a:avLst/>
          </a:prstGeom>
          <a:noFill/>
          <a:ln w="19050">
            <a:solidFill>
              <a:srgbClr val="2459C4"/>
            </a:solidFill>
            <a:prstDash val="solid"/>
          </a:ln>
        </p:spPr>
      </p:sp>
      <p:sp>
        <p:nvSpPr>
          <p:cNvPr id="36" name="s3-line-92"/>
          <p:cNvSpPr/>
          <p:nvPr/>
        </p:nvSpPr>
        <p:spPr>
          <a:xfrm flipH="1">
            <a:off x="1809750" y="5505450"/>
            <a:ext cx="8496300" cy="0"/>
          </a:xfrm>
          <a:prstGeom prst="line">
            <a:avLst/>
          </a:prstGeom>
          <a:noFill/>
          <a:ln w="19050">
            <a:solidFill>
              <a:srgbClr val="2459C4"/>
            </a:solidFill>
            <a:prstDash val="solid"/>
          </a:ln>
        </p:spPr>
      </p:sp>
      <p:sp>
        <p:nvSpPr>
          <p:cNvPr id="37" name="s3-line-93"/>
          <p:cNvSpPr/>
          <p:nvPr/>
        </p:nvSpPr>
        <p:spPr>
          <a:xfrm flipV="1">
            <a:off x="1809750" y="5219700"/>
            <a:ext cx="0" cy="285750"/>
          </a:xfrm>
          <a:prstGeom prst="line">
            <a:avLst/>
          </a:prstGeom>
          <a:noFill/>
          <a:ln w="19050">
            <a:solidFill>
              <a:srgbClr val="2459C4"/>
            </a:solidFill>
            <a:prstDash val="solid"/>
            <a:headEnd type="none"/>
            <a:tailEnd type="triangle"/>
          </a:ln>
        </p:spPr>
      </p:sp>
      <p:sp>
        <p:nvSpPr>
          <p:cNvPr id="38" name="s3-text-94"/>
          <p:cNvSpPr txBox="1"/>
          <p:nvPr/>
        </p:nvSpPr>
        <p:spPr>
          <a:xfrm>
            <a:off x="4295775" y="5543550"/>
            <a:ext cx="4953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数据、背景或规则变化 → 重新复评</a:t>
            </a:r>
            <a:endParaRPr lang="zh-CN" sz="1500" dirty="0"/>
          </a:p>
        </p:txBody>
      </p:sp>
      <p:sp>
        <p:nvSpPr>
          <p:cNvPr id="39" name="s3-text-95"/>
          <p:cNvSpPr txBox="1"/>
          <p:nvPr/>
        </p:nvSpPr>
        <p:spPr>
          <a:xfrm>
            <a:off x="628650" y="6200775"/>
            <a:ext cx="109537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范围：基础分类分级、推断风险增强、等级复核建议、审批固化与动态更新。</a:t>
            </a:r>
            <a:endParaRPr lang="zh-CN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4-text-96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规则基线</a:t>
            </a:r>
            <a:endParaRPr lang="zh-CN" sz="1125" dirty="0"/>
          </a:p>
        </p:txBody>
      </p:sp>
      <p:sp>
        <p:nvSpPr>
          <p:cNvPr id="3" name="s4-text-97"/>
          <p:cNvSpPr txBox="1"/>
          <p:nvPr/>
        </p:nvSpPr>
        <p:spPr>
          <a:xfrm>
            <a:off x="609600" y="628650"/>
            <a:ext cx="1097280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zh-CN" altLang="en-US" sz="28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基础定级：先分类，再按影响形成规则等级</a:t>
            </a:r>
            <a:endParaRPr lang="zh-CN" sz="2850" dirty="0"/>
          </a:p>
        </p:txBody>
      </p:sp>
      <p:sp>
        <p:nvSpPr>
          <p:cNvPr id="4" name="s4-text-98"/>
          <p:cNvSpPr txBox="1"/>
          <p:nvPr/>
        </p:nvSpPr>
        <p:spPr>
          <a:xfrm>
            <a:off x="628650" y="1200150"/>
            <a:ext cx="10763250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大模型与检索增强辅助条款提取，定级依据仍是业务语义和南网规则。</a:t>
            </a:r>
            <a:endParaRPr lang="zh-CN" sz="1575" dirty="0"/>
          </a:p>
        </p:txBody>
      </p:sp>
      <p:sp>
        <p:nvSpPr>
          <p:cNvPr id="5" name="s4-line-99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" name="s4-text-100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7" name="s4-text-101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/ 12</a:t>
            </a:r>
            <a:endParaRPr lang="zh-CN" sz="1050" dirty="0"/>
          </a:p>
        </p:txBody>
      </p:sp>
      <p:sp>
        <p:nvSpPr>
          <p:cNvPr id="8" name="s4-rect-102"/>
          <p:cNvSpPr/>
          <p:nvPr/>
        </p:nvSpPr>
        <p:spPr>
          <a:xfrm>
            <a:off x="609600" y="1838325"/>
            <a:ext cx="1181100" cy="342900"/>
          </a:xfrm>
          <a:prstGeom prst="roundRect">
            <a:avLst>
              <a:gd name="adj" fmla="val 16667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9" name="s4-text-103"/>
          <p:cNvSpPr txBox="1"/>
          <p:nvPr/>
        </p:nvSpPr>
        <p:spPr>
          <a:xfrm>
            <a:off x="685800" y="1894046"/>
            <a:ext cx="1028700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3"/>
              </a:lnSpc>
              <a:buNone/>
            </a:pPr>
            <a:r>
              <a:rPr lang="zh-CN" altLang="en-US" sz="13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数据分类</a:t>
            </a:r>
            <a:endParaRPr lang="zh-CN" sz="1350" dirty="0"/>
          </a:p>
        </p:txBody>
      </p:sp>
      <p:sp>
        <p:nvSpPr>
          <p:cNvPr id="10" name="s4-text-104"/>
          <p:cNvSpPr txBox="1"/>
          <p:nvPr/>
        </p:nvSpPr>
        <p:spPr>
          <a:xfrm>
            <a:off x="2019300" y="1847850"/>
            <a:ext cx="942975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确定字段属于哪一类业务对象</a:t>
            </a:r>
            <a:endParaRPr lang="zh-CN" sz="1875" dirty="0"/>
          </a:p>
        </p:txBody>
      </p:sp>
      <p:sp>
        <p:nvSpPr>
          <p:cNvPr id="11" name="s4-rect-105"/>
          <p:cNvSpPr/>
          <p:nvPr/>
        </p:nvSpPr>
        <p:spPr>
          <a:xfrm>
            <a:off x="609600" y="2381250"/>
            <a:ext cx="1333500" cy="647700"/>
          </a:xfrm>
          <a:prstGeom prst="roundRect">
            <a:avLst>
              <a:gd name="adj" fmla="val 10294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2" name="s4-text-106"/>
          <p:cNvSpPr txBox="1"/>
          <p:nvPr/>
        </p:nvSpPr>
        <p:spPr>
          <a:xfrm>
            <a:off x="704850" y="2562225"/>
            <a:ext cx="11430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zh-CN" altLang="en-US" sz="172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专业域</a:t>
            </a:r>
            <a:endParaRPr lang="zh-CN" sz="1725" dirty="0"/>
          </a:p>
        </p:txBody>
      </p:sp>
      <p:sp>
        <p:nvSpPr>
          <p:cNvPr id="13" name="s4-line-107"/>
          <p:cNvSpPr/>
          <p:nvPr/>
        </p:nvSpPr>
        <p:spPr>
          <a:xfrm>
            <a:off x="2028825" y="2705100"/>
            <a:ext cx="228600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14" name="s4-rect-108"/>
          <p:cNvSpPr/>
          <p:nvPr/>
        </p:nvSpPr>
        <p:spPr>
          <a:xfrm>
            <a:off x="2371725" y="2381250"/>
            <a:ext cx="2238375" cy="647700"/>
          </a:xfrm>
          <a:prstGeom prst="roundRect">
            <a:avLst>
              <a:gd name="adj" fmla="val 10294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5" name="s4-text-109"/>
          <p:cNvSpPr txBox="1"/>
          <p:nvPr/>
        </p:nvSpPr>
        <p:spPr>
          <a:xfrm>
            <a:off x="2466975" y="2562225"/>
            <a:ext cx="2047875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zh-CN" altLang="en-US" sz="172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专业级流程组</a:t>
            </a:r>
            <a:endParaRPr lang="zh-CN" sz="1725" dirty="0"/>
          </a:p>
        </p:txBody>
      </p:sp>
      <p:sp>
        <p:nvSpPr>
          <p:cNvPr id="16" name="s4-line-110"/>
          <p:cNvSpPr/>
          <p:nvPr/>
        </p:nvSpPr>
        <p:spPr>
          <a:xfrm>
            <a:off x="4695825" y="2705100"/>
            <a:ext cx="228600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17" name="s4-rect-111"/>
          <p:cNvSpPr/>
          <p:nvPr/>
        </p:nvSpPr>
        <p:spPr>
          <a:xfrm>
            <a:off x="5038725" y="2381250"/>
            <a:ext cx="1952625" cy="647700"/>
          </a:xfrm>
          <a:prstGeom prst="roundRect">
            <a:avLst>
              <a:gd name="adj" fmla="val 10294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8" name="s4-text-112"/>
          <p:cNvSpPr txBox="1"/>
          <p:nvPr/>
        </p:nvSpPr>
        <p:spPr>
          <a:xfrm>
            <a:off x="5133975" y="2562225"/>
            <a:ext cx="1762125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zh-CN" altLang="en-US" sz="172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操作级流程</a:t>
            </a:r>
            <a:endParaRPr lang="zh-CN" sz="1725" dirty="0"/>
          </a:p>
        </p:txBody>
      </p:sp>
      <p:sp>
        <p:nvSpPr>
          <p:cNvPr id="19" name="s4-line-113"/>
          <p:cNvSpPr/>
          <p:nvPr/>
        </p:nvSpPr>
        <p:spPr>
          <a:xfrm>
            <a:off x="7077075" y="2705100"/>
            <a:ext cx="228600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0" name="s4-rect-114"/>
          <p:cNvSpPr/>
          <p:nvPr/>
        </p:nvSpPr>
        <p:spPr>
          <a:xfrm>
            <a:off x="7419975" y="2381250"/>
            <a:ext cx="1762125" cy="647700"/>
          </a:xfrm>
          <a:prstGeom prst="roundRect">
            <a:avLst>
              <a:gd name="adj" fmla="val 10294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21" name="s4-text-115"/>
          <p:cNvSpPr txBox="1"/>
          <p:nvPr/>
        </p:nvSpPr>
        <p:spPr>
          <a:xfrm>
            <a:off x="7515225" y="2562225"/>
            <a:ext cx="1571625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zh-CN" altLang="en-US" sz="172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业务对象</a:t>
            </a:r>
            <a:endParaRPr lang="zh-CN" sz="1725" dirty="0"/>
          </a:p>
        </p:txBody>
      </p:sp>
      <p:sp>
        <p:nvSpPr>
          <p:cNvPr id="22" name="s4-line-116"/>
          <p:cNvSpPr/>
          <p:nvPr/>
        </p:nvSpPr>
        <p:spPr>
          <a:xfrm>
            <a:off x="9267825" y="2705100"/>
            <a:ext cx="228600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3" name="s4-rect-117"/>
          <p:cNvSpPr/>
          <p:nvPr/>
        </p:nvSpPr>
        <p:spPr>
          <a:xfrm>
            <a:off x="9610725" y="2381250"/>
            <a:ext cx="1304925" cy="647700"/>
          </a:xfrm>
          <a:prstGeom prst="roundRect">
            <a:avLst>
              <a:gd name="adj" fmla="val 10294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24" name="s4-text-118"/>
          <p:cNvSpPr txBox="1"/>
          <p:nvPr/>
        </p:nvSpPr>
        <p:spPr>
          <a:xfrm>
            <a:off x="9705975" y="2562225"/>
            <a:ext cx="1114425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15"/>
              </a:lnSpc>
              <a:buNone/>
            </a:pPr>
            <a:r>
              <a:rPr lang="zh-CN" altLang="en-US" sz="172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</a:t>
            </a:r>
            <a:endParaRPr lang="zh-CN" sz="1725" dirty="0"/>
          </a:p>
        </p:txBody>
      </p:sp>
      <p:sp>
        <p:nvSpPr>
          <p:cNvPr id="25" name="s4-rect-119"/>
          <p:cNvSpPr/>
          <p:nvPr/>
        </p:nvSpPr>
        <p:spPr>
          <a:xfrm>
            <a:off x="609600" y="3448050"/>
            <a:ext cx="1181100" cy="342900"/>
          </a:xfrm>
          <a:prstGeom prst="roundRect">
            <a:avLst>
              <a:gd name="adj" fmla="val 16667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26" name="s4-text-120"/>
          <p:cNvSpPr txBox="1"/>
          <p:nvPr/>
        </p:nvSpPr>
        <p:spPr>
          <a:xfrm>
            <a:off x="685800" y="3503771"/>
            <a:ext cx="1028700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3"/>
              </a:lnSpc>
              <a:buNone/>
            </a:pPr>
            <a:r>
              <a:rPr lang="zh-CN" altLang="en-US" sz="13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数据分级</a:t>
            </a:r>
            <a:endParaRPr lang="zh-CN" sz="1350" dirty="0"/>
          </a:p>
        </p:txBody>
      </p:sp>
      <p:sp>
        <p:nvSpPr>
          <p:cNvPr id="27" name="s4-text-121"/>
          <p:cNvSpPr txBox="1"/>
          <p:nvPr/>
        </p:nvSpPr>
        <p:spPr>
          <a:xfrm>
            <a:off x="2019300" y="3457575"/>
            <a:ext cx="942975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确定受损可能影响谁、影响多严重</a:t>
            </a:r>
            <a:endParaRPr lang="zh-CN" sz="1875" dirty="0"/>
          </a:p>
        </p:txBody>
      </p:sp>
      <p:sp>
        <p:nvSpPr>
          <p:cNvPr id="28" name="s4-rect-122"/>
          <p:cNvSpPr/>
          <p:nvPr/>
        </p:nvSpPr>
        <p:spPr>
          <a:xfrm>
            <a:off x="609600" y="3962400"/>
            <a:ext cx="3019425" cy="1085850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9" name="s4-rect-123"/>
          <p:cNvSpPr/>
          <p:nvPr/>
        </p:nvSpPr>
        <p:spPr>
          <a:xfrm>
            <a:off x="609600" y="3962400"/>
            <a:ext cx="38100" cy="108585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30" name="s4-text-124"/>
          <p:cNvSpPr txBox="1"/>
          <p:nvPr/>
        </p:nvSpPr>
        <p:spPr>
          <a:xfrm>
            <a:off x="819150" y="4124325"/>
            <a:ext cx="260032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八个分级要素</a:t>
            </a:r>
            <a:endParaRPr lang="zh-CN" sz="1875" dirty="0"/>
          </a:p>
        </p:txBody>
      </p:sp>
      <p:sp>
        <p:nvSpPr>
          <p:cNvPr id="31" name="s4-text-125"/>
          <p:cNvSpPr txBox="1"/>
          <p:nvPr/>
        </p:nvSpPr>
        <p:spPr>
          <a:xfrm>
            <a:off x="819150" y="4562475"/>
            <a:ext cx="2600325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含规模、精度、深度等</a:t>
            </a:r>
            <a:endParaRPr lang="zh-CN" sz="1575" dirty="0"/>
          </a:p>
        </p:txBody>
      </p:sp>
      <p:sp>
        <p:nvSpPr>
          <p:cNvPr id="32" name="s4-rect-126"/>
          <p:cNvSpPr/>
          <p:nvPr/>
        </p:nvSpPr>
        <p:spPr>
          <a:xfrm>
            <a:off x="4229100" y="3962400"/>
            <a:ext cx="3429000" cy="1085850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33" name="s4-rect-127"/>
          <p:cNvSpPr/>
          <p:nvPr/>
        </p:nvSpPr>
        <p:spPr>
          <a:xfrm>
            <a:off x="4229100" y="3962400"/>
            <a:ext cx="38100" cy="108585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34" name="s4-text-128"/>
          <p:cNvSpPr txBox="1"/>
          <p:nvPr/>
        </p:nvSpPr>
        <p:spPr>
          <a:xfrm>
            <a:off x="4438650" y="4124325"/>
            <a:ext cx="300990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影响对象 × 影响程度</a:t>
            </a:r>
            <a:endParaRPr lang="zh-CN" sz="1875" dirty="0"/>
          </a:p>
        </p:txBody>
      </p:sp>
      <p:sp>
        <p:nvSpPr>
          <p:cNvPr id="35" name="s4-text-129"/>
          <p:cNvSpPr txBox="1"/>
          <p:nvPr/>
        </p:nvSpPr>
        <p:spPr>
          <a:xfrm>
            <a:off x="4438650" y="4562475"/>
            <a:ext cx="300990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按适用规则从严判断</a:t>
            </a:r>
            <a:endParaRPr lang="zh-CN" sz="1575" dirty="0"/>
          </a:p>
        </p:txBody>
      </p:sp>
      <p:sp>
        <p:nvSpPr>
          <p:cNvPr id="36" name="s4-rect-130"/>
          <p:cNvSpPr/>
          <p:nvPr/>
        </p:nvSpPr>
        <p:spPr>
          <a:xfrm>
            <a:off x="8258175" y="3962400"/>
            <a:ext cx="3324225" cy="1085850"/>
          </a:xfrm>
          <a:prstGeom prst="roundRect">
            <a:avLst>
              <a:gd name="adj" fmla="val 8772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37" name="s4-rect-131"/>
          <p:cNvSpPr/>
          <p:nvPr/>
        </p:nvSpPr>
        <p:spPr>
          <a:xfrm>
            <a:off x="8258175" y="3962400"/>
            <a:ext cx="38100" cy="108585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38" name="s4-text-132"/>
          <p:cNvSpPr txBox="1"/>
          <p:nvPr/>
        </p:nvSpPr>
        <p:spPr>
          <a:xfrm>
            <a:off x="8467725" y="4124325"/>
            <a:ext cx="290512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规则等级 L_rule</a:t>
            </a:r>
            <a:endParaRPr lang="zh-CN" sz="1875" dirty="0"/>
          </a:p>
        </p:txBody>
      </p:sp>
      <p:sp>
        <p:nvSpPr>
          <p:cNvPr id="39" name="s4-text-133"/>
          <p:cNvSpPr txBox="1"/>
          <p:nvPr/>
        </p:nvSpPr>
        <p:spPr>
          <a:xfrm>
            <a:off x="8467725" y="4562475"/>
            <a:ext cx="2905125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保留条款与复核记录</a:t>
            </a:r>
            <a:endParaRPr lang="zh-CN" sz="1575" dirty="0"/>
          </a:p>
        </p:txBody>
      </p:sp>
      <p:sp>
        <p:nvSpPr>
          <p:cNvPr id="40" name="s4-line-134"/>
          <p:cNvSpPr/>
          <p:nvPr/>
        </p:nvSpPr>
        <p:spPr>
          <a:xfrm>
            <a:off x="3705225" y="4505325"/>
            <a:ext cx="419100" cy="0"/>
          </a:xfrm>
          <a:prstGeom prst="line">
            <a:avLst/>
          </a:prstGeom>
          <a:noFill/>
          <a:ln w="19050">
            <a:solidFill>
              <a:srgbClr val="2459C4"/>
            </a:solidFill>
            <a:prstDash val="solid"/>
            <a:headEnd type="none"/>
            <a:tailEnd type="triangle"/>
          </a:ln>
        </p:spPr>
      </p:sp>
      <p:sp>
        <p:nvSpPr>
          <p:cNvPr id="41" name="s4-line-135"/>
          <p:cNvSpPr/>
          <p:nvPr/>
        </p:nvSpPr>
        <p:spPr>
          <a:xfrm>
            <a:off x="7734300" y="4505325"/>
            <a:ext cx="419100" cy="0"/>
          </a:xfrm>
          <a:prstGeom prst="line">
            <a:avLst/>
          </a:prstGeom>
          <a:noFill/>
          <a:ln w="19050">
            <a:solidFill>
              <a:srgbClr val="2459C4"/>
            </a:solidFill>
            <a:prstDash val="solid"/>
            <a:headEnd type="none"/>
            <a:tailEnd type="triangle"/>
          </a:ln>
        </p:spPr>
      </p:sp>
      <p:sp>
        <p:nvSpPr>
          <p:cNvPr id="42" name="s4-rect-136"/>
          <p:cNvSpPr/>
          <p:nvPr/>
        </p:nvSpPr>
        <p:spPr>
          <a:xfrm>
            <a:off x="609600" y="5381625"/>
            <a:ext cx="6381750" cy="428625"/>
          </a:xfrm>
          <a:prstGeom prst="roundRect">
            <a:avLst>
              <a:gd name="adj" fmla="val 13333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43" name="s4-text-137"/>
          <p:cNvSpPr txBox="1"/>
          <p:nvPr/>
        </p:nvSpPr>
        <p:spPr>
          <a:xfrm>
            <a:off x="685800" y="5441632"/>
            <a:ext cx="6229350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一般数据：1 · 2 · 3 级</a:t>
            </a:r>
            <a:endParaRPr lang="zh-CN" sz="1800" dirty="0"/>
          </a:p>
        </p:txBody>
      </p:sp>
      <p:sp>
        <p:nvSpPr>
          <p:cNvPr id="44" name="s4-rect-138"/>
          <p:cNvSpPr/>
          <p:nvPr/>
        </p:nvSpPr>
        <p:spPr>
          <a:xfrm>
            <a:off x="7162800" y="5381625"/>
            <a:ext cx="2133600" cy="428625"/>
          </a:xfrm>
          <a:prstGeom prst="roundRect">
            <a:avLst>
              <a:gd name="adj" fmla="val 13333"/>
            </a:avLst>
          </a:prstGeom>
          <a:solidFill>
            <a:srgbClr val="FBF5E9"/>
          </a:solidFill>
          <a:ln w="12700">
            <a:solidFill>
              <a:srgbClr val="FBF5E9">
                <a:alpha val="0"/>
              </a:srgbClr>
            </a:solidFill>
            <a:prstDash val="solid"/>
          </a:ln>
        </p:spPr>
      </p:sp>
      <p:sp>
        <p:nvSpPr>
          <p:cNvPr id="45" name="s4-text-139"/>
          <p:cNvSpPr txBox="1"/>
          <p:nvPr/>
        </p:nvSpPr>
        <p:spPr>
          <a:xfrm>
            <a:off x="7239000" y="5448062"/>
            <a:ext cx="1981200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29"/>
              </a:lnSpc>
              <a:buNone/>
            </a:pPr>
            <a:r>
              <a:rPr lang="zh-CN" altLang="en-US" sz="1725" b="1" dirty="0">
                <a:solidFill>
                  <a:srgbClr val="AE6C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重要：4 级</a:t>
            </a:r>
            <a:endParaRPr lang="zh-CN" sz="1725" dirty="0"/>
          </a:p>
        </p:txBody>
      </p:sp>
      <p:sp>
        <p:nvSpPr>
          <p:cNvPr id="46" name="s4-rect-140"/>
          <p:cNvSpPr/>
          <p:nvPr/>
        </p:nvSpPr>
        <p:spPr>
          <a:xfrm>
            <a:off x="9467850" y="5381625"/>
            <a:ext cx="2114550" cy="428625"/>
          </a:xfrm>
          <a:prstGeom prst="roundRect">
            <a:avLst>
              <a:gd name="adj" fmla="val 13333"/>
            </a:avLst>
          </a:prstGeom>
          <a:solidFill>
            <a:srgbClr val="FBF5E9"/>
          </a:solidFill>
          <a:ln w="12700">
            <a:solidFill>
              <a:srgbClr val="FBF5E9">
                <a:alpha val="0"/>
              </a:srgbClr>
            </a:solidFill>
            <a:prstDash val="solid"/>
          </a:ln>
        </p:spPr>
      </p:sp>
      <p:sp>
        <p:nvSpPr>
          <p:cNvPr id="47" name="s4-text-141"/>
          <p:cNvSpPr txBox="1"/>
          <p:nvPr/>
        </p:nvSpPr>
        <p:spPr>
          <a:xfrm>
            <a:off x="9544050" y="5448062"/>
            <a:ext cx="1962150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29"/>
              </a:lnSpc>
              <a:buNone/>
            </a:pPr>
            <a:r>
              <a:rPr lang="zh-CN" altLang="en-US" sz="1725" b="1" dirty="0">
                <a:solidFill>
                  <a:srgbClr val="AE6C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核心：5 级</a:t>
            </a:r>
            <a:endParaRPr lang="zh-CN" sz="1725" dirty="0"/>
          </a:p>
        </p:txBody>
      </p:sp>
      <p:sp>
        <p:nvSpPr>
          <p:cNvPr id="48" name="s4-text-142"/>
          <p:cNvSpPr txBox="1"/>
          <p:nvPr/>
        </p:nvSpPr>
        <p:spPr>
          <a:xfrm>
            <a:off x="628650" y="6200775"/>
            <a:ext cx="109537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依据：所供分级手册第四部分、表 4.4、附录 A–C；重要/核心数据按对应识别、申报与审批程序处理。</a:t>
            </a:r>
            <a:endParaRPr lang="zh-CN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5-text-143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 推断分析的边界</a:t>
            </a:r>
            <a:endParaRPr lang="zh-CN" sz="1125" dirty="0"/>
          </a:p>
        </p:txBody>
      </p:sp>
      <p:sp>
        <p:nvSpPr>
          <p:cNvPr id="3" name="s5-text-144"/>
          <p:cNvSpPr txBox="1"/>
          <p:nvPr/>
        </p:nvSpPr>
        <p:spPr>
          <a:xfrm>
            <a:off x="609600" y="628650"/>
            <a:ext cx="1097280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zh-CN" altLang="en-US" sz="28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场景定义：谁在什么时候已经知道什么</a:t>
            </a:r>
            <a:endParaRPr lang="zh-CN" sz="2850" dirty="0"/>
          </a:p>
        </p:txBody>
      </p:sp>
      <p:sp>
        <p:nvSpPr>
          <p:cNvPr id="4" name="s5-text-145"/>
          <p:cNvSpPr txBox="1"/>
          <p:nvPr/>
        </p:nvSpPr>
        <p:spPr>
          <a:xfrm>
            <a:off x="628650" y="1200150"/>
            <a:ext cx="10763250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同一数据，在不同主体、时点和已有背景下，可能形成不同的推断证据。</a:t>
            </a:r>
            <a:endParaRPr lang="zh-CN" sz="1575" dirty="0"/>
          </a:p>
        </p:txBody>
      </p:sp>
      <p:sp>
        <p:nvSpPr>
          <p:cNvPr id="5" name="s5-line-146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" name="s5-text-147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7" name="s5-text-148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/ 12</a:t>
            </a:r>
            <a:endParaRPr lang="zh-CN" sz="1050" dirty="0"/>
          </a:p>
        </p:txBody>
      </p:sp>
      <p:sp>
        <p:nvSpPr>
          <p:cNvPr id="8" name="s5-rect-149"/>
          <p:cNvSpPr/>
          <p:nvPr/>
        </p:nvSpPr>
        <p:spPr>
          <a:xfrm>
            <a:off x="609600" y="1876425"/>
            <a:ext cx="4629150" cy="3333750"/>
          </a:xfrm>
          <a:prstGeom prst="roundRect">
            <a:avLst>
              <a:gd name="adj" fmla="val 2857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9" name="s5-text-150"/>
          <p:cNvSpPr txBox="1"/>
          <p:nvPr/>
        </p:nvSpPr>
        <p:spPr>
          <a:xfrm>
            <a:off x="838200" y="2076450"/>
            <a:ext cx="409575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zh-CN" altLang="en-US" sz="19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一张场景卡，固定评估问题</a:t>
            </a:r>
            <a:endParaRPr lang="zh-CN" sz="1950" dirty="0"/>
          </a:p>
        </p:txBody>
      </p:sp>
      <p:sp>
        <p:nvSpPr>
          <p:cNvPr id="10" name="s5-text-151"/>
          <p:cNvSpPr txBox="1"/>
          <p:nvPr/>
        </p:nvSpPr>
        <p:spPr>
          <a:xfrm>
            <a:off x="838200" y="2695575"/>
            <a:ext cx="1285875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接收主体</a:t>
            </a:r>
            <a:endParaRPr lang="zh-CN" sz="1650" dirty="0"/>
          </a:p>
        </p:txBody>
      </p:sp>
      <p:sp>
        <p:nvSpPr>
          <p:cNvPr id="11" name="s5-text-152"/>
          <p:cNvSpPr txBox="1"/>
          <p:nvPr/>
        </p:nvSpPr>
        <p:spPr>
          <a:xfrm>
            <a:off x="2324100" y="2695575"/>
            <a:ext cx="2676525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角色、授权与用途</a:t>
            </a:r>
            <a:endParaRPr lang="zh-CN" sz="1650" dirty="0"/>
          </a:p>
        </p:txBody>
      </p:sp>
      <p:sp>
        <p:nvSpPr>
          <p:cNvPr id="12" name="s5-text-153"/>
          <p:cNvSpPr txBox="1"/>
          <p:nvPr/>
        </p:nvSpPr>
        <p:spPr>
          <a:xfrm>
            <a:off x="838200" y="3276600"/>
            <a:ext cx="1285875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评估时点</a:t>
            </a:r>
            <a:endParaRPr lang="zh-CN" sz="1650" dirty="0"/>
          </a:p>
        </p:txBody>
      </p:sp>
      <p:sp>
        <p:nvSpPr>
          <p:cNvPr id="13" name="s5-text-154"/>
          <p:cNvSpPr txBox="1"/>
          <p:nvPr/>
        </p:nvSpPr>
        <p:spPr>
          <a:xfrm>
            <a:off x="2324100" y="3276600"/>
            <a:ext cx="2676525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披露前 / 披露后</a:t>
            </a:r>
            <a:endParaRPr lang="zh-CN" sz="1650" dirty="0"/>
          </a:p>
        </p:txBody>
      </p:sp>
      <p:sp>
        <p:nvSpPr>
          <p:cNvPr id="14" name="s5-text-155"/>
          <p:cNvSpPr txBox="1"/>
          <p:nvPr/>
        </p:nvSpPr>
        <p:spPr>
          <a:xfrm>
            <a:off x="838200" y="3857625"/>
            <a:ext cx="1285875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已知背景 B</a:t>
            </a:r>
            <a:endParaRPr lang="zh-CN" sz="1650" dirty="0"/>
          </a:p>
        </p:txBody>
      </p:sp>
      <p:sp>
        <p:nvSpPr>
          <p:cNvPr id="15" name="s5-text-156"/>
          <p:cNvSpPr txBox="1"/>
          <p:nvPr/>
        </p:nvSpPr>
        <p:spPr>
          <a:xfrm>
            <a:off x="2324100" y="3857625"/>
            <a:ext cx="2676525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公开、自有、历史已获取</a:t>
            </a:r>
            <a:endParaRPr lang="zh-CN" sz="1650" dirty="0"/>
          </a:p>
        </p:txBody>
      </p:sp>
      <p:sp>
        <p:nvSpPr>
          <p:cNvPr id="16" name="s5-text-157"/>
          <p:cNvSpPr txBox="1"/>
          <p:nvPr/>
        </p:nvSpPr>
        <p:spPr>
          <a:xfrm>
            <a:off x="838200" y="4438650"/>
            <a:ext cx="1285875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受保护目标 y</a:t>
            </a:r>
            <a:endParaRPr lang="zh-CN" sz="1650" dirty="0"/>
          </a:p>
        </p:txBody>
      </p:sp>
      <p:sp>
        <p:nvSpPr>
          <p:cNvPr id="17" name="s5-text-158"/>
          <p:cNvSpPr txBox="1"/>
          <p:nvPr/>
        </p:nvSpPr>
        <p:spPr>
          <a:xfrm>
            <a:off x="2324100" y="4438650"/>
            <a:ext cx="2676525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此时对该主体仍需保护</a:t>
            </a:r>
            <a:endParaRPr lang="zh-CN" sz="1650" dirty="0"/>
          </a:p>
        </p:txBody>
      </p:sp>
      <p:sp>
        <p:nvSpPr>
          <p:cNvPr id="18" name="s5-text-159"/>
          <p:cNvSpPr txBox="1"/>
          <p:nvPr/>
        </p:nvSpPr>
        <p:spPr>
          <a:xfrm>
            <a:off x="5810250" y="1952625"/>
            <a:ext cx="5629275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zh-CN" altLang="en-US" sz="202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把“已有”与“可能新增”分开</a:t>
            </a:r>
            <a:endParaRPr lang="zh-CN" sz="2025" dirty="0"/>
          </a:p>
        </p:txBody>
      </p:sp>
      <p:sp>
        <p:nvSpPr>
          <p:cNvPr id="19" name="s5-rect-160"/>
          <p:cNvSpPr/>
          <p:nvPr/>
        </p:nvSpPr>
        <p:spPr>
          <a:xfrm>
            <a:off x="5810250" y="2571750"/>
            <a:ext cx="5762625" cy="1047750"/>
          </a:xfrm>
          <a:prstGeom prst="roundRect">
            <a:avLst>
              <a:gd name="adj" fmla="val 9091"/>
            </a:avLst>
          </a:prstGeom>
          <a:solidFill>
            <a:srgbClr val="EDF7F5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0" name="s5-rect-161"/>
          <p:cNvSpPr/>
          <p:nvPr/>
        </p:nvSpPr>
        <p:spPr>
          <a:xfrm>
            <a:off x="5810250" y="2571750"/>
            <a:ext cx="38100" cy="1047750"/>
          </a:xfrm>
          <a:prstGeom prst="rect">
            <a:avLst/>
          </a:prstGeom>
          <a:solidFill>
            <a:srgbClr val="087F79"/>
          </a:solidFill>
          <a:ln w="12700">
            <a:solidFill>
              <a:srgbClr val="087F79">
                <a:alpha val="0"/>
              </a:srgbClr>
            </a:solidFill>
            <a:prstDash val="solid"/>
          </a:ln>
        </p:spPr>
      </p:sp>
      <p:sp>
        <p:nvSpPr>
          <p:cNvPr id="21" name="s5-text-162"/>
          <p:cNvSpPr txBox="1"/>
          <p:nvPr/>
        </p:nvSpPr>
        <p:spPr>
          <a:xfrm>
            <a:off x="6019800" y="2733675"/>
            <a:ext cx="5343525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zh-CN" altLang="en-US" sz="195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已有背景 B</a:t>
            </a:r>
            <a:endParaRPr lang="zh-CN" sz="1950" dirty="0"/>
          </a:p>
        </p:txBody>
      </p:sp>
      <p:sp>
        <p:nvSpPr>
          <p:cNvPr id="22" name="s5-text-163"/>
          <p:cNvSpPr txBox="1"/>
          <p:nvPr/>
        </p:nvSpPr>
        <p:spPr>
          <a:xfrm>
            <a:off x="6019800" y="3171825"/>
            <a:ext cx="5343525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已掌握的信息保留，不因重新定级而消失</a:t>
            </a:r>
            <a:endParaRPr lang="zh-CN" sz="1575" dirty="0"/>
          </a:p>
        </p:txBody>
      </p:sp>
      <p:sp>
        <p:nvSpPr>
          <p:cNvPr id="23" name="s5-rect-164"/>
          <p:cNvSpPr/>
          <p:nvPr/>
        </p:nvSpPr>
        <p:spPr>
          <a:xfrm>
            <a:off x="5810250" y="3838575"/>
            <a:ext cx="5762625" cy="1047750"/>
          </a:xfrm>
          <a:prstGeom prst="roundRect">
            <a:avLst>
              <a:gd name="adj" fmla="val 9091"/>
            </a:avLst>
          </a:prstGeom>
          <a:solidFill>
            <a:srgbClr val="EDF3FD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4" name="s5-rect-165"/>
          <p:cNvSpPr/>
          <p:nvPr/>
        </p:nvSpPr>
        <p:spPr>
          <a:xfrm>
            <a:off x="5810250" y="3838575"/>
            <a:ext cx="38100" cy="104775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25" name="s5-text-166"/>
          <p:cNvSpPr txBox="1"/>
          <p:nvPr/>
        </p:nvSpPr>
        <p:spPr>
          <a:xfrm>
            <a:off x="6019800" y="4000500"/>
            <a:ext cx="5343525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zh-CN" altLang="en-US" sz="19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可得字段 H</a:t>
            </a:r>
            <a:endParaRPr lang="zh-CN" sz="1950" dirty="0"/>
          </a:p>
        </p:txBody>
      </p:sp>
      <p:sp>
        <p:nvSpPr>
          <p:cNvPr id="26" name="s5-text-167"/>
          <p:cNvSpPr txBox="1"/>
          <p:nvPr/>
        </p:nvSpPr>
        <p:spPr>
          <a:xfrm>
            <a:off x="6019800" y="4438650"/>
            <a:ext cx="5343525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依据主体、时点、授权及确认的等级映射确定</a:t>
            </a:r>
            <a:endParaRPr lang="zh-CN" sz="1575" dirty="0"/>
          </a:p>
        </p:txBody>
      </p:sp>
      <p:sp>
        <p:nvSpPr>
          <p:cNvPr id="27" name="s5-text-168"/>
          <p:cNvSpPr txBox="1"/>
          <p:nvPr/>
        </p:nvSpPr>
        <p:spPr>
          <a:xfrm>
            <a:off x="5829300" y="5181600"/>
            <a:ext cx="55626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披露时点改变 → 重新确认 B、H 和目标</a:t>
            </a:r>
            <a:endParaRPr lang="zh-CN" sz="1725" dirty="0"/>
          </a:p>
        </p:txBody>
      </p:sp>
      <p:sp>
        <p:nvSpPr>
          <p:cNvPr id="28" name="s5-rect-169"/>
          <p:cNvSpPr/>
          <p:nvPr/>
        </p:nvSpPr>
        <p:spPr>
          <a:xfrm>
            <a:off x="609600" y="5715000"/>
            <a:ext cx="10972800" cy="457200"/>
          </a:xfrm>
          <a:prstGeom prst="roundRect">
            <a:avLst>
              <a:gd name="adj" fmla="val 125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29" name="s5-text-170"/>
          <p:cNvSpPr txBox="1"/>
          <p:nvPr/>
        </p:nvSpPr>
        <p:spPr>
          <a:xfrm>
            <a:off x="781050" y="5791200"/>
            <a:ext cx="106299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6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市场“公开信息”面向有关市场成员；不能等同于向社会公众公开。</a:t>
            </a:r>
            <a:endParaRPr lang="zh-CN" sz="1650" dirty="0"/>
          </a:p>
        </p:txBody>
      </p:sp>
      <p:sp>
        <p:nvSpPr>
          <p:cNvPr id="30" name="s5-text-171"/>
          <p:cNvSpPr txBox="1"/>
          <p:nvPr/>
        </p:nvSpPr>
        <p:spPr>
          <a:xfrm>
            <a:off x="628650" y="6200775"/>
            <a:ext cx="109537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依据：所供披露细则 2.7、5.1；开放目录说明、注册细则；等级—可见范围映射须经业务确认。</a:t>
            </a:r>
            <a:endParaRPr lang="zh-CN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6-text-172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05  从关系线索到推断证据</a:t>
            </a:r>
            <a:endParaRPr lang="zh-CN" sz="1125" dirty="0"/>
          </a:p>
        </p:txBody>
      </p:sp>
      <p:sp>
        <p:nvSpPr>
          <p:cNvPr id="3" name="s6-text-173"/>
          <p:cNvSpPr txBox="1"/>
          <p:nvPr/>
        </p:nvSpPr>
        <p:spPr>
          <a:xfrm>
            <a:off x="609600" y="628650"/>
            <a:ext cx="1097280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zh-CN" altLang="en-US" sz="28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关联找线索，联合验证确认能否推断</a:t>
            </a:r>
            <a:endParaRPr lang="zh-CN" sz="2850" dirty="0"/>
          </a:p>
        </p:txBody>
      </p:sp>
      <p:sp>
        <p:nvSpPr>
          <p:cNvPr id="4" name="s6-text-174"/>
          <p:cNvSpPr txBox="1"/>
          <p:nvPr/>
        </p:nvSpPr>
        <p:spPr>
          <a:xfrm>
            <a:off x="628650" y="1200150"/>
            <a:ext cx="10763250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两路分析相互补充：关联图解释关系，集合评估直接检验联合信息。</a:t>
            </a:r>
            <a:endParaRPr lang="zh-CN" sz="1575" dirty="0"/>
          </a:p>
        </p:txBody>
      </p:sp>
      <p:sp>
        <p:nvSpPr>
          <p:cNvPr id="5" name="s6-line-175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" name="s6-text-176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7" name="s6-text-177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/ 12</a:t>
            </a:r>
            <a:endParaRPr lang="zh-CN" sz="1050" dirty="0"/>
          </a:p>
        </p:txBody>
      </p:sp>
      <p:sp>
        <p:nvSpPr>
          <p:cNvPr id="8" name="s6-rect-178"/>
          <p:cNvSpPr/>
          <p:nvPr/>
        </p:nvSpPr>
        <p:spPr>
          <a:xfrm>
            <a:off x="609600" y="1895475"/>
            <a:ext cx="4695825" cy="3228975"/>
          </a:xfrm>
          <a:prstGeom prst="roundRect">
            <a:avLst>
              <a:gd name="adj" fmla="val 2655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9" name="s6-rect-179"/>
          <p:cNvSpPr/>
          <p:nvPr/>
        </p:nvSpPr>
        <p:spPr>
          <a:xfrm>
            <a:off x="5638800" y="1895475"/>
            <a:ext cx="5943600" cy="3228975"/>
          </a:xfrm>
          <a:prstGeom prst="roundRect">
            <a:avLst>
              <a:gd name="adj" fmla="val 2655"/>
            </a:avLst>
          </a:prstGeom>
          <a:solidFill>
            <a:srgbClr val="EDF7F5"/>
          </a:solidFill>
          <a:ln w="12700">
            <a:solidFill>
              <a:srgbClr val="EDF7F5">
                <a:alpha val="0"/>
              </a:srgbClr>
            </a:solidFill>
            <a:prstDash val="solid"/>
          </a:ln>
        </p:spPr>
      </p:sp>
      <p:sp>
        <p:nvSpPr>
          <p:cNvPr id="10" name="s6-text-180"/>
          <p:cNvSpPr txBox="1"/>
          <p:nvPr/>
        </p:nvSpPr>
        <p:spPr>
          <a:xfrm>
            <a:off x="828675" y="2095500"/>
            <a:ext cx="4286250" cy="39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zh-CN" altLang="en-US" sz="21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关联发现</a:t>
            </a:r>
            <a:endParaRPr lang="zh-CN" sz="2100" dirty="0"/>
          </a:p>
        </p:txBody>
      </p:sp>
      <p:sp>
        <p:nvSpPr>
          <p:cNvPr id="11" name="s6-text-181"/>
          <p:cNvSpPr txBox="1"/>
          <p:nvPr/>
        </p:nvSpPr>
        <p:spPr>
          <a:xfrm>
            <a:off x="5857875" y="2095500"/>
            <a:ext cx="5476875" cy="39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zh-CN" altLang="en-US" sz="210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联合推断评估</a:t>
            </a:r>
            <a:endParaRPr lang="zh-CN" sz="2100" dirty="0"/>
          </a:p>
        </p:txBody>
      </p:sp>
      <p:sp>
        <p:nvSpPr>
          <p:cNvPr id="12" name="s6-text-182"/>
          <p:cNvSpPr txBox="1"/>
          <p:nvPr/>
        </p:nvSpPr>
        <p:spPr>
          <a:xfrm>
            <a:off x="838200" y="2676525"/>
            <a:ext cx="1743075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Pearson</a:t>
            </a:r>
            <a:endParaRPr lang="zh-CN" sz="1650" dirty="0"/>
          </a:p>
        </p:txBody>
      </p:sp>
      <p:sp>
        <p:nvSpPr>
          <p:cNvPr id="13" name="s6-text-183"/>
          <p:cNvSpPr txBox="1"/>
          <p:nvPr/>
        </p:nvSpPr>
        <p:spPr>
          <a:xfrm>
            <a:off x="2686050" y="2676525"/>
            <a:ext cx="21336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线性关系</a:t>
            </a:r>
            <a:endParaRPr lang="zh-CN" sz="1725" dirty="0"/>
          </a:p>
        </p:txBody>
      </p:sp>
      <p:sp>
        <p:nvSpPr>
          <p:cNvPr id="14" name="s6-text-184"/>
          <p:cNvSpPr txBox="1"/>
          <p:nvPr/>
        </p:nvSpPr>
        <p:spPr>
          <a:xfrm>
            <a:off x="838200" y="3190875"/>
            <a:ext cx="1743075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Spearman</a:t>
            </a:r>
            <a:endParaRPr lang="zh-CN" sz="1650" dirty="0"/>
          </a:p>
        </p:txBody>
      </p:sp>
      <p:sp>
        <p:nvSpPr>
          <p:cNvPr id="15" name="s6-text-185"/>
          <p:cNvSpPr txBox="1"/>
          <p:nvPr/>
        </p:nvSpPr>
        <p:spPr>
          <a:xfrm>
            <a:off x="2686050" y="3190875"/>
            <a:ext cx="21336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单调关系</a:t>
            </a:r>
            <a:endParaRPr lang="zh-CN" sz="1725" dirty="0"/>
          </a:p>
        </p:txBody>
      </p:sp>
      <p:sp>
        <p:nvSpPr>
          <p:cNvPr id="16" name="s6-text-186"/>
          <p:cNvSpPr txBox="1"/>
          <p:nvPr/>
        </p:nvSpPr>
        <p:spPr>
          <a:xfrm>
            <a:off x="838200" y="3705225"/>
            <a:ext cx="1743075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MIC</a:t>
            </a:r>
            <a:endParaRPr lang="zh-CN" sz="1650" dirty="0"/>
          </a:p>
        </p:txBody>
      </p:sp>
      <p:sp>
        <p:nvSpPr>
          <p:cNvPr id="17" name="s6-text-187"/>
          <p:cNvSpPr txBox="1"/>
          <p:nvPr/>
        </p:nvSpPr>
        <p:spPr>
          <a:xfrm>
            <a:off x="2686050" y="3705225"/>
            <a:ext cx="21336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非线性依赖</a:t>
            </a:r>
            <a:endParaRPr lang="zh-CN" sz="1725" dirty="0"/>
          </a:p>
        </p:txBody>
      </p:sp>
      <p:sp>
        <p:nvSpPr>
          <p:cNvPr id="18" name="s6-text-188"/>
          <p:cNvSpPr txBox="1"/>
          <p:nvPr/>
        </p:nvSpPr>
        <p:spPr>
          <a:xfrm>
            <a:off x="838200" y="4362450"/>
            <a:ext cx="4181475" cy="609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25"/>
              </a:lnSpc>
              <a:buNone/>
            </a:pPr>
            <a:r>
              <a:rPr lang="zh-CN" altLang="en-US" sz="15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产物：候选关联图、方向线索</a:t>
            </a:r>
            <a:endParaRPr lang="zh-CN" sz="1500" dirty="0"/>
          </a:p>
          <a:p>
            <a:pPr algn="l" indent="0" marL="0">
              <a:lnSpc>
                <a:spcPts val="2325"/>
              </a:lnSpc>
              <a:buNone/>
            </a:pPr>
            <a:r>
              <a:rPr lang="zh-CN" altLang="en-US" sz="15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方向需结合业务或预测验证</a:t>
            </a:r>
            <a:endParaRPr lang="zh-CN" sz="1500" dirty="0"/>
          </a:p>
        </p:txBody>
      </p:sp>
      <p:sp>
        <p:nvSpPr>
          <p:cNvPr id="19" name="s6-rect-189"/>
          <p:cNvSpPr/>
          <p:nvPr/>
        </p:nvSpPr>
        <p:spPr>
          <a:xfrm>
            <a:off x="5876925" y="2724150"/>
            <a:ext cx="2266950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0" name="s6-text-190"/>
          <p:cNvSpPr txBox="1"/>
          <p:nvPr/>
        </p:nvSpPr>
        <p:spPr>
          <a:xfrm>
            <a:off x="5953125" y="2820829"/>
            <a:ext cx="2114550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zh-CN" altLang="en-US" sz="165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 B + 字段集合 S</a:t>
            </a:r>
            <a:endParaRPr lang="zh-CN" sz="1650" dirty="0"/>
          </a:p>
        </p:txBody>
      </p:sp>
      <p:sp>
        <p:nvSpPr>
          <p:cNvPr id="21" name="s6-line-191"/>
          <p:cNvSpPr/>
          <p:nvPr/>
        </p:nvSpPr>
        <p:spPr>
          <a:xfrm>
            <a:off x="8229600" y="2952750"/>
            <a:ext cx="266700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headEnd type="none"/>
            <a:tailEnd type="triangle"/>
          </a:ln>
        </p:spPr>
      </p:sp>
      <p:sp>
        <p:nvSpPr>
          <p:cNvPr id="22" name="s6-rect-192"/>
          <p:cNvSpPr/>
          <p:nvPr/>
        </p:nvSpPr>
        <p:spPr>
          <a:xfrm>
            <a:off x="8620125" y="2724150"/>
            <a:ext cx="2695575" cy="47625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3" name="s6-text-193"/>
          <p:cNvSpPr txBox="1"/>
          <p:nvPr/>
        </p:nvSpPr>
        <p:spPr>
          <a:xfrm>
            <a:off x="8696325" y="2820829"/>
            <a:ext cx="2543175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zh-CN" altLang="en-US" sz="165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目标专用推断模型</a:t>
            </a:r>
            <a:endParaRPr lang="zh-CN" sz="1650" dirty="0"/>
          </a:p>
        </p:txBody>
      </p:sp>
      <p:sp>
        <p:nvSpPr>
          <p:cNvPr id="24" name="s6-text-194"/>
          <p:cNvSpPr txBox="1"/>
          <p:nvPr/>
        </p:nvSpPr>
        <p:spPr>
          <a:xfrm>
            <a:off x="5905500" y="3533775"/>
            <a:ext cx="5381625" cy="7505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80"/>
              </a:lnSpc>
              <a:buNone/>
            </a:pPr>
            <a:r>
              <a:rPr lang="zh-CN" altLang="en-US" sz="1800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连续目标：样本外预测能力</a:t>
            </a:r>
            <a:endParaRPr lang="zh-CN" sz="1800" dirty="0"/>
          </a:p>
          <a:p>
            <a:pPr algn="l" indent="0" marL="0">
              <a:lnSpc>
                <a:spcPts val="2880"/>
              </a:lnSpc>
              <a:buNone/>
            </a:pPr>
            <a:r>
              <a:rPr lang="zh-CN" altLang="en-US" sz="1800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结构目标：匹配任务的恢复指标</a:t>
            </a:r>
            <a:endParaRPr lang="zh-CN" sz="1800" dirty="0"/>
          </a:p>
        </p:txBody>
      </p:sp>
      <p:sp>
        <p:nvSpPr>
          <p:cNvPr id="25" name="s6-text-195"/>
          <p:cNvSpPr txBox="1"/>
          <p:nvPr/>
        </p:nvSpPr>
        <p:spPr>
          <a:xfrm>
            <a:off x="5905500" y="4495800"/>
            <a:ext cx="542925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产物：集合能力 V(B ∪ S) 与可核验结果</a:t>
            </a:r>
            <a:endParaRPr lang="zh-CN" sz="1725" dirty="0"/>
          </a:p>
        </p:txBody>
      </p:sp>
      <p:sp>
        <p:nvSpPr>
          <p:cNvPr id="26" name="s6-line-196"/>
          <p:cNvSpPr/>
          <p:nvPr/>
        </p:nvSpPr>
        <p:spPr>
          <a:xfrm>
            <a:off x="2952750" y="5162550"/>
            <a:ext cx="0" cy="266700"/>
          </a:xfrm>
          <a:prstGeom prst="line">
            <a:avLst/>
          </a:prstGeom>
          <a:noFill/>
          <a:ln w="19050">
            <a:solidFill>
              <a:srgbClr val="2459C4"/>
            </a:solidFill>
            <a:prstDash val="solid"/>
          </a:ln>
        </p:spPr>
      </p:sp>
      <p:sp>
        <p:nvSpPr>
          <p:cNvPr id="27" name="s6-line-197"/>
          <p:cNvSpPr/>
          <p:nvPr/>
        </p:nvSpPr>
        <p:spPr>
          <a:xfrm>
            <a:off x="8610600" y="5162550"/>
            <a:ext cx="0" cy="26670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</a:ln>
        </p:spPr>
      </p:sp>
      <p:sp>
        <p:nvSpPr>
          <p:cNvPr id="28" name="s6-line-198"/>
          <p:cNvSpPr/>
          <p:nvPr/>
        </p:nvSpPr>
        <p:spPr>
          <a:xfrm>
            <a:off x="2952750" y="5429250"/>
            <a:ext cx="5657850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</a:ln>
        </p:spPr>
      </p:sp>
      <p:sp>
        <p:nvSpPr>
          <p:cNvPr id="29" name="s6-rect-199"/>
          <p:cNvSpPr/>
          <p:nvPr/>
        </p:nvSpPr>
        <p:spPr>
          <a:xfrm>
            <a:off x="609600" y="5715000"/>
            <a:ext cx="10972800" cy="457200"/>
          </a:xfrm>
          <a:prstGeom prst="roundRect">
            <a:avLst>
              <a:gd name="adj" fmla="val 12500"/>
            </a:avLst>
          </a:prstGeom>
          <a:solidFill>
            <a:srgbClr val="EDF7F5"/>
          </a:solidFill>
          <a:ln w="12700">
            <a:solidFill>
              <a:srgbClr val="EDF7F5">
                <a:alpha val="0"/>
              </a:srgbClr>
            </a:solidFill>
            <a:prstDash val="solid"/>
          </a:ln>
        </p:spPr>
      </p:sp>
      <p:sp>
        <p:nvSpPr>
          <p:cNvPr id="30" name="s6-text-200"/>
          <p:cNvSpPr txBox="1"/>
          <p:nvPr/>
        </p:nvSpPr>
        <p:spPr>
          <a:xfrm>
            <a:off x="781050" y="5791200"/>
            <a:ext cx="106299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65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关联弱的字段也可能参与强组合：联合评估不能被两两关联图直接排除。</a:t>
            </a:r>
            <a:endParaRPr lang="zh-CN" sz="1650" dirty="0"/>
          </a:p>
        </p:txBody>
      </p:sp>
      <p:sp>
        <p:nvSpPr>
          <p:cNvPr id="31" name="s6-text-201"/>
          <p:cNvSpPr txBox="1"/>
          <p:nvPr/>
        </p:nvSpPr>
        <p:spPr>
          <a:xfrm>
            <a:off x="628650" y="6200775"/>
            <a:ext cx="109537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方法定位：关联图提供解释与优先级；模型预测检验推断能力；连续与结构目标分别验证。</a:t>
            </a:r>
            <a:endParaRPr lang="zh-CN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7-text-202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06  风险如何量化</a:t>
            </a:r>
            <a:endParaRPr lang="zh-CN" sz="1125" dirty="0"/>
          </a:p>
        </p:txBody>
      </p:sp>
      <p:sp>
        <p:nvSpPr>
          <p:cNvPr id="3" name="s7-text-203"/>
          <p:cNvSpPr txBox="1"/>
          <p:nvPr/>
        </p:nvSpPr>
        <p:spPr>
          <a:xfrm>
            <a:off x="609600" y="628650"/>
            <a:ext cx="1097280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zh-CN" altLang="en-US" sz="28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 判断暴露，M 与 Γ 解释字段为何需要复核</a:t>
            </a:r>
            <a:endParaRPr lang="zh-CN" sz="2850" dirty="0"/>
          </a:p>
        </p:txBody>
      </p:sp>
      <p:sp>
        <p:nvSpPr>
          <p:cNvPr id="4" name="s7-text-204"/>
          <p:cNvSpPr txBox="1"/>
          <p:nvPr/>
        </p:nvSpPr>
        <p:spPr>
          <a:xfrm>
            <a:off x="628650" y="1200150"/>
            <a:ext cx="10763250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同一目标、同一场景：比较加入字段 i 前后，推断能力增加了多少。</a:t>
            </a:r>
            <a:endParaRPr lang="zh-CN" sz="1575" dirty="0"/>
          </a:p>
        </p:txBody>
      </p:sp>
      <p:sp>
        <p:nvSpPr>
          <p:cNvPr id="5" name="s7-line-205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" name="s7-text-206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7" name="s7-text-207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/ 12</a:t>
            </a:r>
            <a:endParaRPr lang="zh-CN" sz="1050" dirty="0"/>
          </a:p>
        </p:txBody>
      </p:sp>
      <p:sp>
        <p:nvSpPr>
          <p:cNvPr id="8" name="s7-text-208"/>
          <p:cNvSpPr txBox="1"/>
          <p:nvPr/>
        </p:nvSpPr>
        <p:spPr>
          <a:xfrm>
            <a:off x="628650" y="1771650"/>
            <a:ext cx="671512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V：在留出数据上的推断能力（示意 R²）</a:t>
            </a:r>
            <a:endParaRPr lang="zh-CN" sz="1575" dirty="0"/>
          </a:p>
        </p:txBody>
      </p:sp>
      <p:sp>
        <p:nvSpPr>
          <p:cNvPr id="9" name="s7-text-209"/>
          <p:cNvSpPr txBox="1"/>
          <p:nvPr/>
        </p:nvSpPr>
        <p:spPr>
          <a:xfrm>
            <a:off x="628650" y="2381250"/>
            <a:ext cx="141922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已有 B</a:t>
            </a:r>
            <a:endParaRPr lang="zh-CN" sz="1575" dirty="0"/>
          </a:p>
        </p:txBody>
      </p:sp>
      <p:sp>
        <p:nvSpPr>
          <p:cNvPr id="10" name="s7-rect-210"/>
          <p:cNvSpPr/>
          <p:nvPr/>
        </p:nvSpPr>
        <p:spPr>
          <a:xfrm>
            <a:off x="2133600" y="2324100"/>
            <a:ext cx="5086350" cy="40005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1" name="s7-rect-211"/>
          <p:cNvSpPr/>
          <p:nvPr/>
        </p:nvSpPr>
        <p:spPr>
          <a:xfrm>
            <a:off x="2133600" y="2324100"/>
            <a:ext cx="508635" cy="400050"/>
          </a:xfrm>
          <a:prstGeom prst="roundRect">
            <a:avLst>
              <a:gd name="adj" fmla="val 9524"/>
            </a:avLst>
          </a:prstGeom>
          <a:solidFill>
            <a:srgbClr val="DCE4EA"/>
          </a:solidFill>
          <a:ln w="12700">
            <a:solidFill>
              <a:srgbClr val="DCE4EA">
                <a:alpha val="0"/>
              </a:srgbClr>
            </a:solidFill>
            <a:prstDash val="solid"/>
          </a:ln>
        </p:spPr>
      </p:sp>
      <p:sp>
        <p:nvSpPr>
          <p:cNvPr id="12" name="s7-text-212"/>
          <p:cNvSpPr txBox="1"/>
          <p:nvPr/>
        </p:nvSpPr>
        <p:spPr>
          <a:xfrm>
            <a:off x="2756535" y="2371725"/>
            <a:ext cx="819150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0.10</a:t>
            </a:r>
            <a:endParaRPr lang="zh-CN" sz="1650" dirty="0"/>
          </a:p>
        </p:txBody>
      </p:sp>
      <p:sp>
        <p:nvSpPr>
          <p:cNvPr id="13" name="s7-text-213"/>
          <p:cNvSpPr txBox="1"/>
          <p:nvPr/>
        </p:nvSpPr>
        <p:spPr>
          <a:xfrm>
            <a:off x="628650" y="3124200"/>
            <a:ext cx="141922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+ i</a:t>
            </a:r>
            <a:endParaRPr lang="zh-CN" sz="1575" dirty="0"/>
          </a:p>
        </p:txBody>
      </p:sp>
      <p:sp>
        <p:nvSpPr>
          <p:cNvPr id="14" name="s7-rect-214"/>
          <p:cNvSpPr/>
          <p:nvPr/>
        </p:nvSpPr>
        <p:spPr>
          <a:xfrm>
            <a:off x="2133600" y="3067050"/>
            <a:ext cx="5086350" cy="40005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5" name="s7-rect-215"/>
          <p:cNvSpPr/>
          <p:nvPr/>
        </p:nvSpPr>
        <p:spPr>
          <a:xfrm>
            <a:off x="2133600" y="3067050"/>
            <a:ext cx="762953" cy="400050"/>
          </a:xfrm>
          <a:prstGeom prst="roundRect">
            <a:avLst>
              <a:gd name="adj" fmla="val 9524"/>
            </a:avLst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16" name="s7-text-216"/>
          <p:cNvSpPr txBox="1"/>
          <p:nvPr/>
        </p:nvSpPr>
        <p:spPr>
          <a:xfrm>
            <a:off x="3010853" y="3114675"/>
            <a:ext cx="819150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0.15</a:t>
            </a:r>
            <a:endParaRPr lang="zh-CN" sz="1650" dirty="0"/>
          </a:p>
        </p:txBody>
      </p:sp>
      <p:sp>
        <p:nvSpPr>
          <p:cNvPr id="17" name="s7-text-217"/>
          <p:cNvSpPr txBox="1"/>
          <p:nvPr/>
        </p:nvSpPr>
        <p:spPr>
          <a:xfrm>
            <a:off x="628650" y="3867150"/>
            <a:ext cx="141922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+ T*</a:t>
            </a:r>
            <a:endParaRPr lang="zh-CN" sz="1575" dirty="0"/>
          </a:p>
        </p:txBody>
      </p:sp>
      <p:sp>
        <p:nvSpPr>
          <p:cNvPr id="18" name="s7-rect-218"/>
          <p:cNvSpPr/>
          <p:nvPr/>
        </p:nvSpPr>
        <p:spPr>
          <a:xfrm>
            <a:off x="2133600" y="3810000"/>
            <a:ext cx="5086350" cy="40005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19" name="s7-rect-219"/>
          <p:cNvSpPr/>
          <p:nvPr/>
        </p:nvSpPr>
        <p:spPr>
          <a:xfrm>
            <a:off x="2133600" y="3810000"/>
            <a:ext cx="1017270" cy="400050"/>
          </a:xfrm>
          <a:prstGeom prst="roundRect">
            <a:avLst>
              <a:gd name="adj" fmla="val 9524"/>
            </a:avLst>
          </a:prstGeom>
          <a:solidFill>
            <a:srgbClr val="DCE4EA"/>
          </a:solidFill>
          <a:ln w="12700">
            <a:solidFill>
              <a:srgbClr val="DCE4EA">
                <a:alpha val="0"/>
              </a:srgbClr>
            </a:solidFill>
            <a:prstDash val="solid"/>
          </a:ln>
        </p:spPr>
      </p:sp>
      <p:sp>
        <p:nvSpPr>
          <p:cNvPr id="20" name="s7-text-220"/>
          <p:cNvSpPr txBox="1"/>
          <p:nvPr/>
        </p:nvSpPr>
        <p:spPr>
          <a:xfrm>
            <a:off x="3265170" y="3857625"/>
            <a:ext cx="819150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0.20</a:t>
            </a:r>
            <a:endParaRPr lang="zh-CN" sz="1650" dirty="0"/>
          </a:p>
        </p:txBody>
      </p:sp>
      <p:sp>
        <p:nvSpPr>
          <p:cNvPr id="21" name="s7-text-221"/>
          <p:cNvSpPr txBox="1"/>
          <p:nvPr/>
        </p:nvSpPr>
        <p:spPr>
          <a:xfrm>
            <a:off x="628650" y="4610100"/>
            <a:ext cx="141922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+ T* + i</a:t>
            </a:r>
            <a:endParaRPr lang="zh-CN" sz="1575" dirty="0"/>
          </a:p>
        </p:txBody>
      </p:sp>
      <p:sp>
        <p:nvSpPr>
          <p:cNvPr id="22" name="s7-rect-222"/>
          <p:cNvSpPr/>
          <p:nvPr/>
        </p:nvSpPr>
        <p:spPr>
          <a:xfrm>
            <a:off x="2133600" y="4552950"/>
            <a:ext cx="5086350" cy="400050"/>
          </a:xfrm>
          <a:prstGeom prst="roundRect">
            <a:avLst>
              <a:gd name="adj" fmla="val 9524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23" name="s7-rect-223"/>
          <p:cNvSpPr/>
          <p:nvPr/>
        </p:nvSpPr>
        <p:spPr>
          <a:xfrm>
            <a:off x="2133600" y="4552950"/>
            <a:ext cx="4323397" cy="400050"/>
          </a:xfrm>
          <a:prstGeom prst="roundRect">
            <a:avLst>
              <a:gd name="adj" fmla="val 9524"/>
            </a:avLst>
          </a:prstGeom>
          <a:solidFill>
            <a:srgbClr val="087F79"/>
          </a:solidFill>
          <a:ln w="12700">
            <a:solidFill>
              <a:srgbClr val="087F79">
                <a:alpha val="0"/>
              </a:srgbClr>
            </a:solidFill>
            <a:prstDash val="solid"/>
          </a:ln>
        </p:spPr>
      </p:sp>
      <p:sp>
        <p:nvSpPr>
          <p:cNvPr id="24" name="s7-text-224"/>
          <p:cNvSpPr txBox="1"/>
          <p:nvPr/>
        </p:nvSpPr>
        <p:spPr>
          <a:xfrm>
            <a:off x="6571298" y="4600575"/>
            <a:ext cx="819150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0.85</a:t>
            </a:r>
            <a:endParaRPr lang="zh-CN" sz="1650" dirty="0"/>
          </a:p>
        </p:txBody>
      </p:sp>
      <p:sp>
        <p:nvSpPr>
          <p:cNvPr id="25" name="s7-line-225"/>
          <p:cNvSpPr/>
          <p:nvPr/>
        </p:nvSpPr>
        <p:spPr>
          <a:xfrm>
            <a:off x="5694045" y="2152650"/>
            <a:ext cx="0" cy="2876550"/>
          </a:xfrm>
          <a:prstGeom prst="line">
            <a:avLst/>
          </a:prstGeom>
          <a:noFill/>
          <a:ln w="19050">
            <a:solidFill>
              <a:srgbClr val="AE6C26"/>
            </a:solidFill>
            <a:prstDash val="dash"/>
          </a:ln>
        </p:spPr>
      </p:sp>
      <p:sp>
        <p:nvSpPr>
          <p:cNvPr id="26" name="s7-text-226"/>
          <p:cNvSpPr txBox="1"/>
          <p:nvPr/>
        </p:nvSpPr>
        <p:spPr>
          <a:xfrm>
            <a:off x="4627245" y="5086350"/>
            <a:ext cx="2476500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995"/>
              </a:lnSpc>
              <a:buNone/>
            </a:pPr>
            <a:r>
              <a:rPr lang="zh-CN" altLang="en-US" sz="1425" dirty="0">
                <a:solidFill>
                  <a:srgbClr val="AE6C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示意复核线 τ = 0.70</a:t>
            </a:r>
            <a:endParaRPr lang="zh-CN" sz="1425" dirty="0"/>
          </a:p>
        </p:txBody>
      </p:sp>
      <p:sp>
        <p:nvSpPr>
          <p:cNvPr id="27" name="s7-line-227"/>
          <p:cNvSpPr/>
          <p:nvPr/>
        </p:nvSpPr>
        <p:spPr>
          <a:xfrm>
            <a:off x="7667625" y="1971675"/>
            <a:ext cx="0" cy="3476625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28" name="s7-text-228"/>
          <p:cNvSpPr txBox="1"/>
          <p:nvPr/>
        </p:nvSpPr>
        <p:spPr>
          <a:xfrm>
            <a:off x="8020050" y="2133600"/>
            <a:ext cx="1143000" cy="43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zh-CN" altLang="en-US" sz="232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M⁽⁰⁾</a:t>
            </a:r>
            <a:endParaRPr lang="zh-CN" sz="2325" dirty="0"/>
          </a:p>
        </p:txBody>
      </p:sp>
      <p:sp>
        <p:nvSpPr>
          <p:cNvPr id="29" name="s7-text-229"/>
          <p:cNvSpPr txBox="1"/>
          <p:nvPr/>
        </p:nvSpPr>
        <p:spPr>
          <a:xfrm>
            <a:off x="9753600" y="2124075"/>
            <a:ext cx="1638300" cy="49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780"/>
              </a:lnSpc>
              <a:buNone/>
            </a:pPr>
            <a:r>
              <a:rPr lang="zh-CN" altLang="en-US" sz="270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0.05</a:t>
            </a:r>
            <a:endParaRPr lang="zh-CN" sz="2700" dirty="0"/>
          </a:p>
        </p:txBody>
      </p:sp>
      <p:sp>
        <p:nvSpPr>
          <p:cNvPr id="30" name="s7-text-230"/>
          <p:cNvSpPr txBox="1"/>
          <p:nvPr/>
        </p:nvSpPr>
        <p:spPr>
          <a:xfrm>
            <a:off x="8020050" y="2609850"/>
            <a:ext cx="338137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无额外背景时的增量</a:t>
            </a:r>
            <a:endParaRPr lang="zh-CN" sz="1575" dirty="0"/>
          </a:p>
        </p:txBody>
      </p:sp>
      <p:sp>
        <p:nvSpPr>
          <p:cNvPr id="31" name="s7-text-231"/>
          <p:cNvSpPr txBox="1"/>
          <p:nvPr/>
        </p:nvSpPr>
        <p:spPr>
          <a:xfrm>
            <a:off x="8020050" y="3248025"/>
            <a:ext cx="1143000" cy="43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zh-CN" altLang="en-US" sz="232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M⁽ᴷ⁾</a:t>
            </a:r>
            <a:endParaRPr lang="zh-CN" sz="2325" dirty="0"/>
          </a:p>
        </p:txBody>
      </p:sp>
      <p:sp>
        <p:nvSpPr>
          <p:cNvPr id="32" name="s7-text-232"/>
          <p:cNvSpPr txBox="1"/>
          <p:nvPr/>
        </p:nvSpPr>
        <p:spPr>
          <a:xfrm>
            <a:off x="9753600" y="3238500"/>
            <a:ext cx="1638300" cy="49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780"/>
              </a:lnSpc>
              <a:buNone/>
            </a:pPr>
            <a:r>
              <a:rPr lang="zh-CN" altLang="en-US" sz="270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0.65</a:t>
            </a:r>
            <a:endParaRPr lang="zh-CN" sz="2700" dirty="0"/>
          </a:p>
        </p:txBody>
      </p:sp>
      <p:sp>
        <p:nvSpPr>
          <p:cNvPr id="33" name="s7-text-233"/>
          <p:cNvSpPr txBox="1"/>
          <p:nvPr/>
        </p:nvSpPr>
        <p:spPr>
          <a:xfrm>
            <a:off x="8020050" y="3724275"/>
            <a:ext cx="338137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已评估背景中的最大增量</a:t>
            </a:r>
            <a:endParaRPr lang="zh-CN" sz="1575" dirty="0"/>
          </a:p>
        </p:txBody>
      </p:sp>
      <p:sp>
        <p:nvSpPr>
          <p:cNvPr id="34" name="s7-text-234"/>
          <p:cNvSpPr txBox="1"/>
          <p:nvPr/>
        </p:nvSpPr>
        <p:spPr>
          <a:xfrm>
            <a:off x="8020050" y="4362450"/>
            <a:ext cx="1143000" cy="4324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255"/>
              </a:lnSpc>
              <a:buNone/>
            </a:pPr>
            <a:r>
              <a:rPr lang="zh-CN" altLang="en-US" sz="232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Γ⁽ᴷ⁾</a:t>
            </a:r>
            <a:endParaRPr lang="zh-CN" sz="2325" dirty="0"/>
          </a:p>
        </p:txBody>
      </p:sp>
      <p:sp>
        <p:nvSpPr>
          <p:cNvPr id="35" name="s7-text-235"/>
          <p:cNvSpPr txBox="1"/>
          <p:nvPr/>
        </p:nvSpPr>
        <p:spPr>
          <a:xfrm>
            <a:off x="9753600" y="4352925"/>
            <a:ext cx="1638300" cy="499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3780"/>
              </a:lnSpc>
              <a:buNone/>
            </a:pPr>
            <a:r>
              <a:rPr lang="zh-CN" altLang="en-US" sz="270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0.60</a:t>
            </a:r>
            <a:endParaRPr lang="zh-CN" sz="2700" dirty="0"/>
          </a:p>
        </p:txBody>
      </p:sp>
      <p:sp>
        <p:nvSpPr>
          <p:cNvPr id="36" name="s7-text-236"/>
          <p:cNvSpPr txBox="1"/>
          <p:nvPr/>
        </p:nvSpPr>
        <p:spPr>
          <a:xfrm>
            <a:off x="8020050" y="4838700"/>
            <a:ext cx="338137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背景使字段增益额外放大</a:t>
            </a:r>
            <a:endParaRPr lang="zh-CN" sz="1575" dirty="0"/>
          </a:p>
        </p:txBody>
      </p:sp>
      <p:sp>
        <p:nvSpPr>
          <p:cNvPr id="37" name="s7-rect-237"/>
          <p:cNvSpPr/>
          <p:nvPr/>
        </p:nvSpPr>
        <p:spPr>
          <a:xfrm>
            <a:off x="609600" y="5715000"/>
            <a:ext cx="10972800" cy="457200"/>
          </a:xfrm>
          <a:prstGeom prst="roundRect">
            <a:avLst>
              <a:gd name="adj" fmla="val 12500"/>
            </a:avLst>
          </a:prstGeom>
          <a:solidFill>
            <a:srgbClr val="EDF7F5"/>
          </a:solidFill>
          <a:ln w="12700">
            <a:solidFill>
              <a:srgbClr val="EDF7F5">
                <a:alpha val="0"/>
              </a:srgbClr>
            </a:solidFill>
            <a:prstDash val="solid"/>
          </a:ln>
        </p:spPr>
      </p:sp>
      <p:sp>
        <p:nvSpPr>
          <p:cNvPr id="38" name="s7-text-238"/>
          <p:cNvSpPr txBox="1"/>
          <p:nvPr/>
        </p:nvSpPr>
        <p:spPr>
          <a:xfrm>
            <a:off x="781050" y="5791200"/>
            <a:ext cx="106299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65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最终能力是否越线，用 V 判断；为什么这个字段值得复核，用 M、Γ 和见证背景解释。</a:t>
            </a:r>
            <a:endParaRPr lang="zh-CN" sz="1650" dirty="0"/>
          </a:p>
        </p:txBody>
      </p:sp>
      <p:sp>
        <p:nvSpPr>
          <p:cNvPr id="39" name="s7-text-239"/>
          <p:cNvSpPr txBox="1"/>
          <p:nvPr/>
        </p:nvSpPr>
        <p:spPr>
          <a:xfrm>
            <a:off x="628650" y="6200775"/>
            <a:ext cx="109537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全部数值为原理示意：T* 为示意背景族中的最大见证；τ 需按目标确认；分数不直接映射安全等级。</a:t>
            </a:r>
            <a:endParaRPr lang="zh-CN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8-text-240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07  风险证据怎样进入定级</a:t>
            </a:r>
            <a:endParaRPr lang="zh-CN" sz="1125" dirty="0"/>
          </a:p>
        </p:txBody>
      </p:sp>
      <p:sp>
        <p:nvSpPr>
          <p:cNvPr id="3" name="s8-text-241"/>
          <p:cNvSpPr txBox="1"/>
          <p:nvPr/>
        </p:nvSpPr>
        <p:spPr>
          <a:xfrm>
            <a:off x="609600" y="628650"/>
            <a:ext cx="1097280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zh-CN" altLang="en-US" sz="28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等级复核：先把推断证据转成影响依据</a:t>
            </a:r>
            <a:endParaRPr lang="zh-CN" sz="2850" dirty="0"/>
          </a:p>
        </p:txBody>
      </p:sp>
      <p:sp>
        <p:nvSpPr>
          <p:cNvPr id="4" name="s8-text-242"/>
          <p:cNvSpPr txBox="1"/>
          <p:nvPr/>
        </p:nvSpPr>
        <p:spPr>
          <a:xfrm>
            <a:off x="628650" y="1200150"/>
            <a:ext cx="10763250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技术越线触发复核；建议等级仍需要回答“影响谁、影响多严重”。</a:t>
            </a:r>
            <a:endParaRPr lang="zh-CN" sz="1575" dirty="0"/>
          </a:p>
        </p:txBody>
      </p:sp>
      <p:sp>
        <p:nvSpPr>
          <p:cNvPr id="5" name="s8-line-243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" name="s8-text-244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7" name="s8-text-245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/ 12</a:t>
            </a:r>
            <a:endParaRPr lang="zh-CN" sz="1050" dirty="0"/>
          </a:p>
        </p:txBody>
      </p:sp>
      <p:sp>
        <p:nvSpPr>
          <p:cNvPr id="8" name="s8-rect-246"/>
          <p:cNvSpPr/>
          <p:nvPr/>
        </p:nvSpPr>
        <p:spPr>
          <a:xfrm>
            <a:off x="609600" y="2266950"/>
            <a:ext cx="2533650" cy="1847850"/>
          </a:xfrm>
          <a:prstGeom prst="roundRect">
            <a:avLst>
              <a:gd name="adj" fmla="val 5155"/>
            </a:avLst>
          </a:prstGeom>
          <a:solidFill>
            <a:srgbClr val="EDF7F5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9" name="s8-rect-247"/>
          <p:cNvSpPr/>
          <p:nvPr/>
        </p:nvSpPr>
        <p:spPr>
          <a:xfrm>
            <a:off x="609600" y="2266950"/>
            <a:ext cx="38100" cy="1847850"/>
          </a:xfrm>
          <a:prstGeom prst="rect">
            <a:avLst/>
          </a:prstGeom>
          <a:solidFill>
            <a:srgbClr val="087F79"/>
          </a:solidFill>
          <a:ln w="12700">
            <a:solidFill>
              <a:srgbClr val="087F79">
                <a:alpha val="0"/>
              </a:srgbClr>
            </a:solidFill>
            <a:prstDash val="solid"/>
          </a:ln>
        </p:spPr>
      </p:sp>
      <p:sp>
        <p:nvSpPr>
          <p:cNvPr id="10" name="s8-text-248"/>
          <p:cNvSpPr txBox="1"/>
          <p:nvPr/>
        </p:nvSpPr>
        <p:spPr>
          <a:xfrm>
            <a:off x="819150" y="2428875"/>
            <a:ext cx="211455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推断证据</a:t>
            </a:r>
            <a:endParaRPr lang="zh-CN" sz="1875" dirty="0"/>
          </a:p>
        </p:txBody>
      </p:sp>
      <p:sp>
        <p:nvSpPr>
          <p:cNvPr id="11" name="s8-text-249"/>
          <p:cNvSpPr txBox="1"/>
          <p:nvPr/>
        </p:nvSpPr>
        <p:spPr>
          <a:xfrm>
            <a:off x="819150" y="2867025"/>
            <a:ext cx="2114550" cy="599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目标、场景、背景</a:t>
            </a:r>
            <a:endParaRPr lang="zh-CN" sz="1575" dirty="0"/>
          </a:p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能力、验证范围</a:t>
            </a:r>
            <a:endParaRPr lang="zh-CN" sz="1575" dirty="0"/>
          </a:p>
        </p:txBody>
      </p:sp>
      <p:sp>
        <p:nvSpPr>
          <p:cNvPr id="12" name="s8-rect-250"/>
          <p:cNvSpPr/>
          <p:nvPr/>
        </p:nvSpPr>
        <p:spPr>
          <a:xfrm>
            <a:off x="3600450" y="2266950"/>
            <a:ext cx="2533650" cy="1847850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3" name="s8-rect-251"/>
          <p:cNvSpPr/>
          <p:nvPr/>
        </p:nvSpPr>
        <p:spPr>
          <a:xfrm>
            <a:off x="3600450" y="2266950"/>
            <a:ext cx="38100" cy="184785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14" name="s8-text-252"/>
          <p:cNvSpPr txBox="1"/>
          <p:nvPr/>
        </p:nvSpPr>
        <p:spPr>
          <a:xfrm>
            <a:off x="3810000" y="2428875"/>
            <a:ext cx="211455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影响复核</a:t>
            </a:r>
            <a:endParaRPr lang="zh-CN" sz="1875" dirty="0"/>
          </a:p>
        </p:txBody>
      </p:sp>
      <p:sp>
        <p:nvSpPr>
          <p:cNvPr id="15" name="s8-text-253"/>
          <p:cNvSpPr txBox="1"/>
          <p:nvPr/>
        </p:nvSpPr>
        <p:spPr>
          <a:xfrm>
            <a:off x="3810000" y="2867025"/>
            <a:ext cx="2114550" cy="599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是否揭示更深信息</a:t>
            </a:r>
            <a:endParaRPr lang="zh-CN" sz="1575" dirty="0"/>
          </a:p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对象与后果是否改变</a:t>
            </a:r>
            <a:endParaRPr lang="zh-CN" sz="1575" dirty="0"/>
          </a:p>
        </p:txBody>
      </p:sp>
      <p:sp>
        <p:nvSpPr>
          <p:cNvPr id="16" name="s8-rect-254"/>
          <p:cNvSpPr/>
          <p:nvPr/>
        </p:nvSpPr>
        <p:spPr>
          <a:xfrm>
            <a:off x="6591300" y="2266950"/>
            <a:ext cx="2533650" cy="1847850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7" name="s8-rect-255"/>
          <p:cNvSpPr/>
          <p:nvPr/>
        </p:nvSpPr>
        <p:spPr>
          <a:xfrm>
            <a:off x="6591300" y="2266950"/>
            <a:ext cx="38100" cy="184785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18" name="s8-text-256"/>
          <p:cNvSpPr txBox="1"/>
          <p:nvPr/>
        </p:nvSpPr>
        <p:spPr>
          <a:xfrm>
            <a:off x="6800850" y="2428875"/>
            <a:ext cx="211455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规则判定</a:t>
            </a:r>
            <a:endParaRPr lang="zh-CN" sz="1875" dirty="0"/>
          </a:p>
        </p:txBody>
      </p:sp>
      <p:sp>
        <p:nvSpPr>
          <p:cNvPr id="19" name="s8-text-257"/>
          <p:cNvSpPr txBox="1"/>
          <p:nvPr/>
        </p:nvSpPr>
        <p:spPr>
          <a:xfrm>
            <a:off x="6800850" y="2867025"/>
            <a:ext cx="2114550" cy="599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核对要素与矩阵</a:t>
            </a:r>
            <a:endParaRPr lang="zh-CN" sz="1575" dirty="0"/>
          </a:p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形成允许的候选级别</a:t>
            </a:r>
            <a:endParaRPr lang="zh-CN" sz="1575" dirty="0"/>
          </a:p>
        </p:txBody>
      </p:sp>
      <p:sp>
        <p:nvSpPr>
          <p:cNvPr id="20" name="s8-rect-258"/>
          <p:cNvSpPr/>
          <p:nvPr/>
        </p:nvSpPr>
        <p:spPr>
          <a:xfrm>
            <a:off x="9582150" y="2266950"/>
            <a:ext cx="2000250" cy="1847850"/>
          </a:xfrm>
          <a:prstGeom prst="roundRect">
            <a:avLst>
              <a:gd name="adj" fmla="val 5155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1" name="s8-rect-259"/>
          <p:cNvSpPr/>
          <p:nvPr/>
        </p:nvSpPr>
        <p:spPr>
          <a:xfrm>
            <a:off x="9582150" y="2266950"/>
            <a:ext cx="38100" cy="184785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22" name="s8-text-260"/>
          <p:cNvSpPr txBox="1"/>
          <p:nvPr/>
        </p:nvSpPr>
        <p:spPr>
          <a:xfrm>
            <a:off x="9791700" y="2428875"/>
            <a:ext cx="1581150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等级建议</a:t>
            </a:r>
            <a:endParaRPr lang="zh-CN" sz="1875" dirty="0"/>
          </a:p>
        </p:txBody>
      </p:sp>
      <p:sp>
        <p:nvSpPr>
          <p:cNvPr id="23" name="s8-text-261"/>
          <p:cNvSpPr txBox="1"/>
          <p:nvPr/>
        </p:nvSpPr>
        <p:spPr>
          <a:xfrm>
            <a:off x="9791700" y="2867025"/>
            <a:ext cx="1581150" cy="599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附理由与证据</a:t>
            </a:r>
            <a:endParaRPr lang="zh-CN" sz="1575" dirty="0"/>
          </a:p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进入联合优化</a:t>
            </a:r>
            <a:endParaRPr lang="zh-CN" sz="1575" dirty="0"/>
          </a:p>
        </p:txBody>
      </p:sp>
      <p:sp>
        <p:nvSpPr>
          <p:cNvPr id="24" name="s8-line-262"/>
          <p:cNvSpPr/>
          <p:nvPr/>
        </p:nvSpPr>
        <p:spPr>
          <a:xfrm>
            <a:off x="3219450" y="3171825"/>
            <a:ext cx="285750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5" name="s8-line-263"/>
          <p:cNvSpPr/>
          <p:nvPr/>
        </p:nvSpPr>
        <p:spPr>
          <a:xfrm>
            <a:off x="6210300" y="3171825"/>
            <a:ext cx="285750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6" name="s8-line-264"/>
          <p:cNvSpPr/>
          <p:nvPr/>
        </p:nvSpPr>
        <p:spPr>
          <a:xfrm>
            <a:off x="9201150" y="3171825"/>
            <a:ext cx="285750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7" name="s8-rect-265"/>
          <p:cNvSpPr/>
          <p:nvPr/>
        </p:nvSpPr>
        <p:spPr>
          <a:xfrm>
            <a:off x="619125" y="4505325"/>
            <a:ext cx="3476625" cy="495300"/>
          </a:xfrm>
          <a:prstGeom prst="roundRect">
            <a:avLst>
              <a:gd name="adj" fmla="val 11538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28" name="s8-text-266"/>
          <p:cNvSpPr txBox="1"/>
          <p:nvPr/>
        </p:nvSpPr>
        <p:spPr>
          <a:xfrm>
            <a:off x="695325" y="4611529"/>
            <a:ext cx="3324225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zh-CN" altLang="en-US" sz="16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规则基线：原则上不低于基线</a:t>
            </a:r>
            <a:endParaRPr lang="zh-CN" sz="1650" dirty="0"/>
          </a:p>
        </p:txBody>
      </p:sp>
      <p:sp>
        <p:nvSpPr>
          <p:cNvPr id="29" name="s8-rect-267"/>
          <p:cNvSpPr/>
          <p:nvPr/>
        </p:nvSpPr>
        <p:spPr>
          <a:xfrm>
            <a:off x="4257675" y="4505325"/>
            <a:ext cx="3571875" cy="495300"/>
          </a:xfrm>
          <a:prstGeom prst="roundRect">
            <a:avLst>
              <a:gd name="adj" fmla="val 11538"/>
            </a:avLst>
          </a:prstGeom>
          <a:solidFill>
            <a:srgbClr val="FBF5E9"/>
          </a:solidFill>
          <a:ln w="12700">
            <a:solidFill>
              <a:srgbClr val="FBF5E9">
                <a:alpha val="0"/>
              </a:srgbClr>
            </a:solidFill>
            <a:prstDash val="solid"/>
          </a:ln>
        </p:spPr>
      </p:sp>
      <p:sp>
        <p:nvSpPr>
          <p:cNvPr id="30" name="s8-text-268"/>
          <p:cNvSpPr txBox="1"/>
          <p:nvPr/>
        </p:nvSpPr>
        <p:spPr>
          <a:xfrm>
            <a:off x="4333875" y="4611529"/>
            <a:ext cx="3419475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zh-CN" altLang="en-US" sz="1650" b="1" dirty="0">
                <a:solidFill>
                  <a:srgbClr val="AE6C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重要 / 核心：按识别程序处理</a:t>
            </a:r>
            <a:endParaRPr lang="zh-CN" sz="1650" dirty="0"/>
          </a:p>
        </p:txBody>
      </p:sp>
      <p:sp>
        <p:nvSpPr>
          <p:cNvPr id="31" name="s8-rect-269"/>
          <p:cNvSpPr/>
          <p:nvPr/>
        </p:nvSpPr>
        <p:spPr>
          <a:xfrm>
            <a:off x="7991475" y="4505325"/>
            <a:ext cx="3590925" cy="495300"/>
          </a:xfrm>
          <a:prstGeom prst="roundRect">
            <a:avLst>
              <a:gd name="adj" fmla="val 11538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32" name="s8-text-270"/>
          <p:cNvSpPr txBox="1"/>
          <p:nvPr/>
        </p:nvSpPr>
        <p:spPr>
          <a:xfrm>
            <a:off x="8067675" y="4617958"/>
            <a:ext cx="3438525" cy="28908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126"/>
              </a:lnSpc>
              <a:buNone/>
            </a:pPr>
            <a:r>
              <a:rPr lang="zh-CN" altLang="en-US" sz="1575" b="1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证据不足或约束冲突：专项复核</a:t>
            </a:r>
            <a:endParaRPr lang="zh-CN" sz="1575" dirty="0"/>
          </a:p>
        </p:txBody>
      </p:sp>
      <p:sp>
        <p:nvSpPr>
          <p:cNvPr id="33" name="s8-text-271"/>
          <p:cNvSpPr txBox="1"/>
          <p:nvPr/>
        </p:nvSpPr>
        <p:spPr>
          <a:xfrm>
            <a:off x="628650" y="5314950"/>
            <a:ext cx="10848975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数据项、数据集、衍生产品分别复核；组合的风险不自动复制为每个成员的等级。</a:t>
            </a:r>
            <a:endParaRPr lang="zh-CN" sz="1725" dirty="0"/>
          </a:p>
        </p:txBody>
      </p:sp>
      <p:sp>
        <p:nvSpPr>
          <p:cNvPr id="34" name="s8-rect-272"/>
          <p:cNvSpPr/>
          <p:nvPr/>
        </p:nvSpPr>
        <p:spPr>
          <a:xfrm>
            <a:off x="609600" y="5715000"/>
            <a:ext cx="10972800" cy="457200"/>
          </a:xfrm>
          <a:prstGeom prst="roundRect">
            <a:avLst>
              <a:gd name="adj" fmla="val 125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35" name="s8-text-273"/>
          <p:cNvSpPr txBox="1"/>
          <p:nvPr/>
        </p:nvSpPr>
        <p:spPr>
          <a:xfrm>
            <a:off x="781050" y="5791200"/>
            <a:ext cx="106299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6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优化只在有依据的候选级别和可行约束内选择方案，不以代价替代影响判断。</a:t>
            </a:r>
            <a:endParaRPr lang="zh-CN" sz="1650" dirty="0"/>
          </a:p>
        </p:txBody>
      </p:sp>
      <p:sp>
        <p:nvSpPr>
          <p:cNvPr id="36" name="s8-text-274"/>
          <p:cNvSpPr txBox="1"/>
          <p:nvPr/>
        </p:nvSpPr>
        <p:spPr>
          <a:xfrm>
            <a:off x="628650" y="6200775"/>
            <a:ext cx="109537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依据：所供分级手册表 4.4、附录 D/E；输出区分规则等级、建议等级与最终批准等级。</a:t>
            </a:r>
            <a:endParaRPr lang="zh-CN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9-text-275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08  为什么等级需要一起考虑</a:t>
            </a:r>
            <a:endParaRPr lang="zh-CN" sz="1125" dirty="0"/>
          </a:p>
        </p:txBody>
      </p:sp>
      <p:sp>
        <p:nvSpPr>
          <p:cNvPr id="3" name="s9-text-276"/>
          <p:cNvSpPr txBox="1"/>
          <p:nvPr/>
        </p:nvSpPr>
        <p:spPr>
          <a:xfrm>
            <a:off x="609600" y="628650"/>
            <a:ext cx="1097280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zh-CN" altLang="en-US" sz="28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联合优化：满足约束，同时减少不必要的调整</a:t>
            </a:r>
            <a:endParaRPr lang="zh-CN" sz="2850" dirty="0"/>
          </a:p>
        </p:txBody>
      </p:sp>
      <p:sp>
        <p:nvSpPr>
          <p:cNvPr id="4" name="s9-text-277"/>
          <p:cNvSpPr txBox="1"/>
          <p:nvPr/>
        </p:nvSpPr>
        <p:spPr>
          <a:xfrm>
            <a:off x="628650" y="1200150"/>
            <a:ext cx="10763250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示意前提：候选级别已复核，且级别调整会改变该角色未来可获取的字段。</a:t>
            </a:r>
            <a:endParaRPr lang="zh-CN" sz="1575" dirty="0"/>
          </a:p>
        </p:txBody>
      </p:sp>
      <p:sp>
        <p:nvSpPr>
          <p:cNvPr id="5" name="s9-line-278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" name="s9-text-279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7" name="s9-text-280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/ 12</a:t>
            </a:r>
            <a:endParaRPr lang="zh-CN" sz="1050" dirty="0"/>
          </a:p>
        </p:txBody>
      </p:sp>
      <p:sp>
        <p:nvSpPr>
          <p:cNvPr id="8" name="s9-text-281"/>
          <p:cNvSpPr txBox="1"/>
          <p:nvPr/>
        </p:nvSpPr>
        <p:spPr>
          <a:xfrm>
            <a:off x="628650" y="1819275"/>
            <a:ext cx="523875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zh-CN" altLang="en-US" sz="19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四组已核验越线组合</a:t>
            </a:r>
            <a:endParaRPr lang="zh-CN" sz="1950" dirty="0"/>
          </a:p>
        </p:txBody>
      </p:sp>
      <p:sp>
        <p:nvSpPr>
          <p:cNvPr id="9" name="s9-text-282"/>
          <p:cNvSpPr txBox="1"/>
          <p:nvPr/>
        </p:nvSpPr>
        <p:spPr>
          <a:xfrm>
            <a:off x="6372225" y="1819275"/>
            <a:ext cx="51816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zh-CN" altLang="en-US" sz="19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比较满足同一组约束的方案</a:t>
            </a:r>
            <a:endParaRPr lang="zh-CN" sz="1950" dirty="0"/>
          </a:p>
        </p:txBody>
      </p:sp>
      <p:sp>
        <p:nvSpPr>
          <p:cNvPr id="10" name="s9-text-283"/>
          <p:cNvSpPr txBox="1"/>
          <p:nvPr/>
        </p:nvSpPr>
        <p:spPr>
          <a:xfrm>
            <a:off x="628650" y="2476500"/>
            <a:ext cx="495300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zh-CN" altLang="en-US" sz="142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</a:t>
            </a:r>
            <a:endParaRPr lang="zh-CN" sz="1425" dirty="0"/>
          </a:p>
        </p:txBody>
      </p:sp>
      <p:sp>
        <p:nvSpPr>
          <p:cNvPr id="11" name="s9-rect-284"/>
          <p:cNvSpPr/>
          <p:nvPr/>
        </p:nvSpPr>
        <p:spPr>
          <a:xfrm>
            <a:off x="1152525" y="2428875"/>
            <a:ext cx="619125" cy="381000"/>
          </a:xfrm>
          <a:prstGeom prst="roundRect">
            <a:avLst>
              <a:gd name="adj" fmla="val 150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12" name="s9-text-285"/>
          <p:cNvSpPr txBox="1"/>
          <p:nvPr/>
        </p:nvSpPr>
        <p:spPr>
          <a:xfrm>
            <a:off x="1228725" y="2465070"/>
            <a:ext cx="46672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zh-CN" sz="1800" dirty="0"/>
          </a:p>
        </p:txBody>
      </p:sp>
      <p:sp>
        <p:nvSpPr>
          <p:cNvPr id="13" name="s9-rect-286"/>
          <p:cNvSpPr/>
          <p:nvPr/>
        </p:nvSpPr>
        <p:spPr>
          <a:xfrm>
            <a:off x="1924050" y="2428875"/>
            <a:ext cx="619125" cy="381000"/>
          </a:xfrm>
          <a:prstGeom prst="roundRect">
            <a:avLst>
              <a:gd name="adj" fmla="val 150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14" name="s9-text-287"/>
          <p:cNvSpPr txBox="1"/>
          <p:nvPr/>
        </p:nvSpPr>
        <p:spPr>
          <a:xfrm>
            <a:off x="2000250" y="2465070"/>
            <a:ext cx="46672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zh-CN" sz="1800" dirty="0"/>
          </a:p>
        </p:txBody>
      </p:sp>
      <p:sp>
        <p:nvSpPr>
          <p:cNvPr id="15" name="s9-line-288"/>
          <p:cNvSpPr/>
          <p:nvPr/>
        </p:nvSpPr>
        <p:spPr>
          <a:xfrm>
            <a:off x="3590925" y="2619375"/>
            <a:ext cx="447675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headEnd type="none"/>
            <a:tailEnd type="triangle"/>
          </a:ln>
        </p:spPr>
      </p:sp>
      <p:sp>
        <p:nvSpPr>
          <p:cNvPr id="16" name="s9-text-289"/>
          <p:cNvSpPr txBox="1"/>
          <p:nvPr/>
        </p:nvSpPr>
        <p:spPr>
          <a:xfrm>
            <a:off x="4171950" y="2457450"/>
            <a:ext cx="1438275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y</a:t>
            </a:r>
            <a:endParaRPr lang="zh-CN" sz="1725" dirty="0"/>
          </a:p>
        </p:txBody>
      </p:sp>
      <p:sp>
        <p:nvSpPr>
          <p:cNvPr id="17" name="s9-text-290"/>
          <p:cNvSpPr txBox="1"/>
          <p:nvPr/>
        </p:nvSpPr>
        <p:spPr>
          <a:xfrm>
            <a:off x="628650" y="3133725"/>
            <a:ext cx="495300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zh-CN" altLang="en-US" sz="142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</a:t>
            </a:r>
            <a:endParaRPr lang="zh-CN" sz="1425" dirty="0"/>
          </a:p>
        </p:txBody>
      </p:sp>
      <p:sp>
        <p:nvSpPr>
          <p:cNvPr id="18" name="s9-rect-291"/>
          <p:cNvSpPr/>
          <p:nvPr/>
        </p:nvSpPr>
        <p:spPr>
          <a:xfrm>
            <a:off x="1152525" y="3086100"/>
            <a:ext cx="619125" cy="381000"/>
          </a:xfrm>
          <a:prstGeom prst="roundRect">
            <a:avLst>
              <a:gd name="adj" fmla="val 150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19" name="s9-text-292"/>
          <p:cNvSpPr txBox="1"/>
          <p:nvPr/>
        </p:nvSpPr>
        <p:spPr>
          <a:xfrm>
            <a:off x="1228725" y="3122295"/>
            <a:ext cx="46672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zh-CN" sz="1800" dirty="0"/>
          </a:p>
        </p:txBody>
      </p:sp>
      <p:sp>
        <p:nvSpPr>
          <p:cNvPr id="20" name="s9-rect-293"/>
          <p:cNvSpPr/>
          <p:nvPr/>
        </p:nvSpPr>
        <p:spPr>
          <a:xfrm>
            <a:off x="1924050" y="3086100"/>
            <a:ext cx="619125" cy="381000"/>
          </a:xfrm>
          <a:prstGeom prst="roundRect">
            <a:avLst>
              <a:gd name="adj" fmla="val 150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21" name="s9-text-294"/>
          <p:cNvSpPr txBox="1"/>
          <p:nvPr/>
        </p:nvSpPr>
        <p:spPr>
          <a:xfrm>
            <a:off x="2000250" y="3122295"/>
            <a:ext cx="46672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zh-CN" sz="1800" dirty="0"/>
          </a:p>
        </p:txBody>
      </p:sp>
      <p:sp>
        <p:nvSpPr>
          <p:cNvPr id="22" name="s9-line-295"/>
          <p:cNvSpPr/>
          <p:nvPr/>
        </p:nvSpPr>
        <p:spPr>
          <a:xfrm>
            <a:off x="3590925" y="3276600"/>
            <a:ext cx="447675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headEnd type="none"/>
            <a:tailEnd type="triangle"/>
          </a:ln>
        </p:spPr>
      </p:sp>
      <p:sp>
        <p:nvSpPr>
          <p:cNvPr id="23" name="s9-text-296"/>
          <p:cNvSpPr txBox="1"/>
          <p:nvPr/>
        </p:nvSpPr>
        <p:spPr>
          <a:xfrm>
            <a:off x="4171950" y="3114675"/>
            <a:ext cx="1438275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y</a:t>
            </a:r>
            <a:endParaRPr lang="zh-CN" sz="1725" dirty="0"/>
          </a:p>
        </p:txBody>
      </p:sp>
      <p:sp>
        <p:nvSpPr>
          <p:cNvPr id="24" name="s9-text-297"/>
          <p:cNvSpPr txBox="1"/>
          <p:nvPr/>
        </p:nvSpPr>
        <p:spPr>
          <a:xfrm>
            <a:off x="628650" y="3790950"/>
            <a:ext cx="495300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zh-CN" altLang="en-US" sz="142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</a:t>
            </a:r>
            <a:endParaRPr lang="zh-CN" sz="1425" dirty="0"/>
          </a:p>
        </p:txBody>
      </p:sp>
      <p:sp>
        <p:nvSpPr>
          <p:cNvPr id="25" name="s9-rect-298"/>
          <p:cNvSpPr/>
          <p:nvPr/>
        </p:nvSpPr>
        <p:spPr>
          <a:xfrm>
            <a:off x="1152525" y="3743325"/>
            <a:ext cx="619125" cy="381000"/>
          </a:xfrm>
          <a:prstGeom prst="roundRect">
            <a:avLst>
              <a:gd name="adj" fmla="val 150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26" name="s9-text-299"/>
          <p:cNvSpPr txBox="1"/>
          <p:nvPr/>
        </p:nvSpPr>
        <p:spPr>
          <a:xfrm>
            <a:off x="1228725" y="3779520"/>
            <a:ext cx="46672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</a:t>
            </a:r>
            <a:endParaRPr lang="zh-CN" sz="1800" dirty="0"/>
          </a:p>
        </p:txBody>
      </p:sp>
      <p:sp>
        <p:nvSpPr>
          <p:cNvPr id="27" name="s9-rect-300"/>
          <p:cNvSpPr/>
          <p:nvPr/>
        </p:nvSpPr>
        <p:spPr>
          <a:xfrm>
            <a:off x="1924050" y="3743325"/>
            <a:ext cx="619125" cy="381000"/>
          </a:xfrm>
          <a:prstGeom prst="roundRect">
            <a:avLst>
              <a:gd name="adj" fmla="val 150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28" name="s9-text-301"/>
          <p:cNvSpPr txBox="1"/>
          <p:nvPr/>
        </p:nvSpPr>
        <p:spPr>
          <a:xfrm>
            <a:off x="2000250" y="3779520"/>
            <a:ext cx="46672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zh-CN" sz="1800" dirty="0"/>
          </a:p>
        </p:txBody>
      </p:sp>
      <p:sp>
        <p:nvSpPr>
          <p:cNvPr id="29" name="s9-line-302"/>
          <p:cNvSpPr/>
          <p:nvPr/>
        </p:nvSpPr>
        <p:spPr>
          <a:xfrm>
            <a:off x="3590925" y="3933825"/>
            <a:ext cx="447675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headEnd type="none"/>
            <a:tailEnd type="triangle"/>
          </a:ln>
        </p:spPr>
      </p:sp>
      <p:sp>
        <p:nvSpPr>
          <p:cNvPr id="30" name="s9-text-303"/>
          <p:cNvSpPr txBox="1"/>
          <p:nvPr/>
        </p:nvSpPr>
        <p:spPr>
          <a:xfrm>
            <a:off x="4171950" y="3771900"/>
            <a:ext cx="1438275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y</a:t>
            </a:r>
            <a:endParaRPr lang="zh-CN" sz="1725" dirty="0"/>
          </a:p>
        </p:txBody>
      </p:sp>
      <p:sp>
        <p:nvSpPr>
          <p:cNvPr id="31" name="s9-text-304"/>
          <p:cNvSpPr txBox="1"/>
          <p:nvPr/>
        </p:nvSpPr>
        <p:spPr>
          <a:xfrm>
            <a:off x="628650" y="4448175"/>
            <a:ext cx="495300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zh-CN" altLang="en-US" sz="142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</a:t>
            </a:r>
            <a:endParaRPr lang="zh-CN" sz="1425" dirty="0"/>
          </a:p>
        </p:txBody>
      </p:sp>
      <p:sp>
        <p:nvSpPr>
          <p:cNvPr id="32" name="s9-rect-305"/>
          <p:cNvSpPr/>
          <p:nvPr/>
        </p:nvSpPr>
        <p:spPr>
          <a:xfrm>
            <a:off x="1152525" y="4400550"/>
            <a:ext cx="619125" cy="381000"/>
          </a:xfrm>
          <a:prstGeom prst="roundRect">
            <a:avLst>
              <a:gd name="adj" fmla="val 150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33" name="s9-text-306"/>
          <p:cNvSpPr txBox="1"/>
          <p:nvPr/>
        </p:nvSpPr>
        <p:spPr>
          <a:xfrm>
            <a:off x="1228725" y="4436745"/>
            <a:ext cx="46672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</a:t>
            </a:r>
            <a:endParaRPr lang="zh-CN" sz="1800" dirty="0"/>
          </a:p>
        </p:txBody>
      </p:sp>
      <p:sp>
        <p:nvSpPr>
          <p:cNvPr id="34" name="s9-rect-307"/>
          <p:cNvSpPr/>
          <p:nvPr/>
        </p:nvSpPr>
        <p:spPr>
          <a:xfrm>
            <a:off x="1924050" y="4400550"/>
            <a:ext cx="619125" cy="381000"/>
          </a:xfrm>
          <a:prstGeom prst="roundRect">
            <a:avLst>
              <a:gd name="adj" fmla="val 150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35" name="s9-text-308"/>
          <p:cNvSpPr txBox="1"/>
          <p:nvPr/>
        </p:nvSpPr>
        <p:spPr>
          <a:xfrm>
            <a:off x="2000250" y="4436745"/>
            <a:ext cx="46672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C</a:t>
            </a:r>
            <a:endParaRPr lang="zh-CN" sz="1800" dirty="0"/>
          </a:p>
        </p:txBody>
      </p:sp>
      <p:sp>
        <p:nvSpPr>
          <p:cNvPr id="36" name="s9-rect-309"/>
          <p:cNvSpPr/>
          <p:nvPr/>
        </p:nvSpPr>
        <p:spPr>
          <a:xfrm>
            <a:off x="2695575" y="4400550"/>
            <a:ext cx="619125" cy="381000"/>
          </a:xfrm>
          <a:prstGeom prst="roundRect">
            <a:avLst>
              <a:gd name="adj" fmla="val 150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37" name="s9-text-310"/>
          <p:cNvSpPr txBox="1"/>
          <p:nvPr/>
        </p:nvSpPr>
        <p:spPr>
          <a:xfrm>
            <a:off x="2771775" y="4436745"/>
            <a:ext cx="466725" cy="3276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430"/>
              </a:lnSpc>
              <a:buNone/>
            </a:pPr>
            <a:r>
              <a:rPr lang="zh-CN" altLang="en-US" sz="18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D</a:t>
            </a:r>
            <a:endParaRPr lang="zh-CN" sz="1800" dirty="0"/>
          </a:p>
        </p:txBody>
      </p:sp>
      <p:sp>
        <p:nvSpPr>
          <p:cNvPr id="38" name="s9-line-311"/>
          <p:cNvSpPr/>
          <p:nvPr/>
        </p:nvSpPr>
        <p:spPr>
          <a:xfrm>
            <a:off x="3590925" y="4591050"/>
            <a:ext cx="447675" cy="0"/>
          </a:xfrm>
          <a:prstGeom prst="line">
            <a:avLst/>
          </a:prstGeom>
          <a:noFill/>
          <a:ln w="19050">
            <a:solidFill>
              <a:srgbClr val="087F79"/>
            </a:solidFill>
            <a:prstDash val="solid"/>
            <a:headEnd type="none"/>
            <a:tailEnd type="triangle"/>
          </a:ln>
        </p:spPr>
      </p:sp>
      <p:sp>
        <p:nvSpPr>
          <p:cNvPr id="39" name="s9-text-312"/>
          <p:cNvSpPr txBox="1"/>
          <p:nvPr/>
        </p:nvSpPr>
        <p:spPr>
          <a:xfrm>
            <a:off x="4171950" y="4429125"/>
            <a:ext cx="1438275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 y</a:t>
            </a:r>
            <a:endParaRPr lang="zh-CN" sz="1725" dirty="0"/>
          </a:p>
        </p:txBody>
      </p:sp>
      <p:sp>
        <p:nvSpPr>
          <p:cNvPr id="40" name="s9-text-313"/>
          <p:cNvSpPr txBox="1"/>
          <p:nvPr/>
        </p:nvSpPr>
        <p:spPr>
          <a:xfrm>
            <a:off x="638175" y="5314950"/>
            <a:ext cx="5067300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选择 A 与 D，可让这四组组合各缺少成员。</a:t>
            </a:r>
            <a:endParaRPr lang="zh-CN" sz="1575" dirty="0"/>
          </a:p>
        </p:txBody>
      </p:sp>
      <p:sp>
        <p:nvSpPr>
          <p:cNvPr id="41" name="s9-rect-314"/>
          <p:cNvSpPr/>
          <p:nvPr/>
        </p:nvSpPr>
        <p:spPr>
          <a:xfrm>
            <a:off x="6238875" y="2362200"/>
            <a:ext cx="5353050" cy="1343025"/>
          </a:xfrm>
          <a:prstGeom prst="roundRect">
            <a:avLst>
              <a:gd name="adj" fmla="val 6383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42" name="s9-text-315"/>
          <p:cNvSpPr txBox="1"/>
          <p:nvPr/>
        </p:nvSpPr>
        <p:spPr>
          <a:xfrm>
            <a:off x="6477000" y="2524125"/>
            <a:ext cx="38100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全部上调到 3 级</a:t>
            </a:r>
            <a:endParaRPr lang="zh-CN" sz="1725" dirty="0"/>
          </a:p>
        </p:txBody>
      </p:sp>
      <p:sp>
        <p:nvSpPr>
          <p:cNvPr id="43" name="s9-text-316"/>
          <p:cNvSpPr txBox="1"/>
          <p:nvPr/>
        </p:nvSpPr>
        <p:spPr>
          <a:xfrm>
            <a:off x="6477000" y="2990850"/>
            <a:ext cx="3810000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2→3   B 1→3   C 1→3   D 1→3</a:t>
            </a:r>
            <a:endParaRPr lang="zh-CN" sz="1575" dirty="0"/>
          </a:p>
        </p:txBody>
      </p:sp>
      <p:sp>
        <p:nvSpPr>
          <p:cNvPr id="44" name="s9-text-317"/>
          <p:cNvSpPr txBox="1"/>
          <p:nvPr/>
        </p:nvSpPr>
        <p:spPr>
          <a:xfrm>
            <a:off x="10429875" y="2571750"/>
            <a:ext cx="904875" cy="69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55"/>
              </a:lnSpc>
              <a:buNone/>
            </a:pPr>
            <a:r>
              <a:rPr lang="zh-CN" altLang="en-US" sz="3825" b="1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7</a:t>
            </a:r>
            <a:endParaRPr lang="zh-CN" sz="3825" dirty="0"/>
          </a:p>
        </p:txBody>
      </p:sp>
      <p:sp>
        <p:nvSpPr>
          <p:cNvPr id="45" name="s9-text-318"/>
          <p:cNvSpPr txBox="1"/>
          <p:nvPr/>
        </p:nvSpPr>
        <p:spPr>
          <a:xfrm>
            <a:off x="10477500" y="3209925"/>
            <a:ext cx="885825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zh-CN" altLang="en-US" sz="13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级次</a:t>
            </a:r>
            <a:endParaRPr lang="zh-CN" sz="1350" dirty="0"/>
          </a:p>
        </p:txBody>
      </p:sp>
      <p:sp>
        <p:nvSpPr>
          <p:cNvPr id="46" name="s9-rect-319"/>
          <p:cNvSpPr/>
          <p:nvPr/>
        </p:nvSpPr>
        <p:spPr>
          <a:xfrm>
            <a:off x="6238875" y="3886200"/>
            <a:ext cx="5353050" cy="1343025"/>
          </a:xfrm>
          <a:prstGeom prst="roundRect">
            <a:avLst>
              <a:gd name="adj" fmla="val 6383"/>
            </a:avLst>
          </a:prstGeom>
          <a:solidFill>
            <a:srgbClr val="EDF7F5"/>
          </a:solidFill>
          <a:ln w="12700">
            <a:solidFill>
              <a:srgbClr val="EDF7F5">
                <a:alpha val="0"/>
              </a:srgbClr>
            </a:solidFill>
            <a:prstDash val="solid"/>
          </a:ln>
        </p:spPr>
      </p:sp>
      <p:sp>
        <p:nvSpPr>
          <p:cNvPr id="47" name="s9-text-320"/>
          <p:cNvSpPr txBox="1"/>
          <p:nvPr/>
        </p:nvSpPr>
        <p:spPr>
          <a:xfrm>
            <a:off x="6477000" y="4048125"/>
            <a:ext cx="38100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只上调 A、D</a:t>
            </a:r>
            <a:endParaRPr lang="zh-CN" sz="1725" dirty="0"/>
          </a:p>
        </p:txBody>
      </p:sp>
      <p:sp>
        <p:nvSpPr>
          <p:cNvPr id="48" name="s9-text-321"/>
          <p:cNvSpPr txBox="1"/>
          <p:nvPr/>
        </p:nvSpPr>
        <p:spPr>
          <a:xfrm>
            <a:off x="6477000" y="4514850"/>
            <a:ext cx="3810000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 2→3   B 保持   C 保持   D 1→3</a:t>
            </a:r>
            <a:endParaRPr lang="zh-CN" sz="1575" dirty="0"/>
          </a:p>
        </p:txBody>
      </p:sp>
      <p:sp>
        <p:nvSpPr>
          <p:cNvPr id="49" name="s9-text-322"/>
          <p:cNvSpPr txBox="1"/>
          <p:nvPr/>
        </p:nvSpPr>
        <p:spPr>
          <a:xfrm>
            <a:off x="10429875" y="4095750"/>
            <a:ext cx="904875" cy="6991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5355"/>
              </a:lnSpc>
              <a:buNone/>
            </a:pPr>
            <a:r>
              <a:rPr lang="zh-CN" altLang="en-US" sz="382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</a:t>
            </a:r>
            <a:endParaRPr lang="zh-CN" sz="3825" dirty="0"/>
          </a:p>
        </p:txBody>
      </p:sp>
      <p:sp>
        <p:nvSpPr>
          <p:cNvPr id="50" name="s9-text-323"/>
          <p:cNvSpPr txBox="1"/>
          <p:nvPr/>
        </p:nvSpPr>
        <p:spPr>
          <a:xfrm>
            <a:off x="10477500" y="4733925"/>
            <a:ext cx="885825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90"/>
              </a:lnSpc>
              <a:buNone/>
            </a:pPr>
            <a:r>
              <a:rPr lang="zh-CN" altLang="en-US" sz="1350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级次</a:t>
            </a:r>
            <a:endParaRPr lang="zh-CN" sz="1350" dirty="0"/>
          </a:p>
        </p:txBody>
      </p:sp>
      <p:sp>
        <p:nvSpPr>
          <p:cNvPr id="51" name="s9-rect-324"/>
          <p:cNvSpPr/>
          <p:nvPr/>
        </p:nvSpPr>
        <p:spPr>
          <a:xfrm>
            <a:off x="609600" y="5715000"/>
            <a:ext cx="10972800" cy="457200"/>
          </a:xfrm>
          <a:prstGeom prst="roundRect">
            <a:avLst>
              <a:gd name="adj" fmla="val 125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52" name="s9-text-325"/>
          <p:cNvSpPr txBox="1"/>
          <p:nvPr/>
        </p:nvSpPr>
        <p:spPr>
          <a:xfrm>
            <a:off x="781050" y="5791200"/>
            <a:ext cx="106299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6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关键是“哪个调整能同时满足哪些组合约束”，而不是简单上调 M 最大的字段。</a:t>
            </a:r>
            <a:endParaRPr lang="zh-CN" sz="1650" dirty="0"/>
          </a:p>
        </p:txBody>
      </p:sp>
      <p:sp>
        <p:nvSpPr>
          <p:cNvPr id="53" name="s9-text-326"/>
          <p:cNvSpPr txBox="1"/>
          <p:nvPr/>
        </p:nvSpPr>
        <p:spPr>
          <a:xfrm>
            <a:off x="628650" y="6200775"/>
            <a:ext cx="109537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示意：目标 3 级，角色最多取得 2 级字段，各级次权重相同；已知背景保留；仅讨论这四组约束。</a:t>
            </a:r>
            <a:endParaRPr lang="zh-CN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-text-327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09  联合等级决策的重点研究方法</a:t>
            </a:r>
            <a:endParaRPr lang="zh-CN" sz="1125" dirty="0"/>
          </a:p>
        </p:txBody>
      </p:sp>
      <p:sp>
        <p:nvSpPr>
          <p:cNvPr id="3" name="s10-text-328"/>
          <p:cNvSpPr txBox="1"/>
          <p:nvPr/>
        </p:nvSpPr>
        <p:spPr>
          <a:xfrm>
            <a:off x="609600" y="628650"/>
            <a:ext cx="1097280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zh-CN" altLang="en-US" sz="28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GRPO：在规则硬约束内，逐步形成等级建议</a:t>
            </a:r>
            <a:endParaRPr lang="zh-CN" sz="2850" dirty="0"/>
          </a:p>
        </p:txBody>
      </p:sp>
      <p:sp>
        <p:nvSpPr>
          <p:cNvPr id="4" name="s10-text-329"/>
          <p:cNvSpPr txBox="1"/>
          <p:nvPr/>
        </p:nvSpPr>
        <p:spPr>
          <a:xfrm>
            <a:off x="628650" y="1200150"/>
            <a:ext cx="10763250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同一状态采样多条调整轨迹，在组内比较收益，学习更合适的调整顺序。</a:t>
            </a:r>
            <a:endParaRPr lang="zh-CN" sz="1575" dirty="0"/>
          </a:p>
        </p:txBody>
      </p:sp>
      <p:sp>
        <p:nvSpPr>
          <p:cNvPr id="5" name="s10-line-330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" name="s10-text-331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7" name="s10-text-332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/ 12</a:t>
            </a:r>
            <a:endParaRPr lang="zh-CN" sz="1050" dirty="0"/>
          </a:p>
        </p:txBody>
      </p:sp>
      <p:sp>
        <p:nvSpPr>
          <p:cNvPr id="8" name="s10-rect-333"/>
          <p:cNvSpPr/>
          <p:nvPr/>
        </p:nvSpPr>
        <p:spPr>
          <a:xfrm>
            <a:off x="619125" y="1752600"/>
            <a:ext cx="10953750" cy="447675"/>
          </a:xfrm>
          <a:prstGeom prst="roundRect">
            <a:avLst>
              <a:gd name="adj" fmla="val 12766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9" name="s10-text-334"/>
          <p:cNvSpPr txBox="1"/>
          <p:nvPr/>
        </p:nvSpPr>
        <p:spPr>
          <a:xfrm>
            <a:off x="695325" y="1834991"/>
            <a:ext cx="10801350" cy="3019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28"/>
              </a:lnSpc>
              <a:buNone/>
            </a:pPr>
            <a:r>
              <a:rPr lang="zh-CN" altLang="en-US" sz="16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硬约束贯穿全程：规则基线 · 合法候选级别 · 已知背景 / 披露要求 · 审批边界</a:t>
            </a:r>
            <a:endParaRPr lang="zh-CN" sz="1650" dirty="0"/>
          </a:p>
        </p:txBody>
      </p:sp>
      <p:sp>
        <p:nvSpPr>
          <p:cNvPr id="10" name="s10-rect-335"/>
          <p:cNvSpPr/>
          <p:nvPr/>
        </p:nvSpPr>
        <p:spPr>
          <a:xfrm>
            <a:off x="609600" y="2562225"/>
            <a:ext cx="2686050" cy="169545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1" name="s10-rect-336"/>
          <p:cNvSpPr/>
          <p:nvPr/>
        </p:nvSpPr>
        <p:spPr>
          <a:xfrm>
            <a:off x="609600" y="2562225"/>
            <a:ext cx="38100" cy="169545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12" name="s10-text-337"/>
          <p:cNvSpPr txBox="1"/>
          <p:nvPr/>
        </p:nvSpPr>
        <p:spPr>
          <a:xfrm>
            <a:off x="819150" y="2724150"/>
            <a:ext cx="2266950" cy="39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zh-CN" altLang="en-US" sz="21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状态</a:t>
            </a:r>
            <a:endParaRPr lang="zh-CN" sz="2100" dirty="0"/>
          </a:p>
        </p:txBody>
      </p:sp>
      <p:sp>
        <p:nvSpPr>
          <p:cNvPr id="13" name="s10-text-338"/>
          <p:cNvSpPr txBox="1"/>
          <p:nvPr/>
        </p:nvSpPr>
        <p:spPr>
          <a:xfrm>
            <a:off x="819150" y="3162300"/>
            <a:ext cx="2266950" cy="599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当前等级、组合风险</a:t>
            </a:r>
            <a:endParaRPr lang="zh-CN" sz="1575" dirty="0"/>
          </a:p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剩余约束、调整代价</a:t>
            </a:r>
            <a:endParaRPr lang="zh-CN" sz="1575" dirty="0"/>
          </a:p>
        </p:txBody>
      </p:sp>
      <p:sp>
        <p:nvSpPr>
          <p:cNvPr id="14" name="s10-rect-339"/>
          <p:cNvSpPr/>
          <p:nvPr/>
        </p:nvSpPr>
        <p:spPr>
          <a:xfrm>
            <a:off x="3876675" y="2562225"/>
            <a:ext cx="2705100" cy="1695450"/>
          </a:xfrm>
          <a:prstGeom prst="roundRect">
            <a:avLst>
              <a:gd name="adj" fmla="val 5618"/>
            </a:avLst>
          </a:prstGeom>
          <a:solidFill>
            <a:srgbClr val="EDF7F5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5" name="s10-rect-340"/>
          <p:cNvSpPr/>
          <p:nvPr/>
        </p:nvSpPr>
        <p:spPr>
          <a:xfrm>
            <a:off x="3876675" y="2562225"/>
            <a:ext cx="38100" cy="1695450"/>
          </a:xfrm>
          <a:prstGeom prst="rect">
            <a:avLst/>
          </a:prstGeom>
          <a:solidFill>
            <a:srgbClr val="087F79"/>
          </a:solidFill>
          <a:ln w="12700">
            <a:solidFill>
              <a:srgbClr val="087F79">
                <a:alpha val="0"/>
              </a:srgbClr>
            </a:solidFill>
            <a:prstDash val="solid"/>
          </a:ln>
        </p:spPr>
      </p:sp>
      <p:sp>
        <p:nvSpPr>
          <p:cNvPr id="16" name="s10-text-341"/>
          <p:cNvSpPr txBox="1"/>
          <p:nvPr/>
        </p:nvSpPr>
        <p:spPr>
          <a:xfrm>
            <a:off x="4086225" y="2724150"/>
            <a:ext cx="2286000" cy="39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zh-CN" altLang="en-US" sz="210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GRPO 策略</a:t>
            </a:r>
            <a:endParaRPr lang="zh-CN" sz="2100" dirty="0"/>
          </a:p>
        </p:txBody>
      </p:sp>
      <p:sp>
        <p:nvSpPr>
          <p:cNvPr id="17" name="s10-text-342"/>
          <p:cNvSpPr txBox="1"/>
          <p:nvPr/>
        </p:nvSpPr>
        <p:spPr>
          <a:xfrm>
            <a:off x="4086225" y="3162300"/>
            <a:ext cx="2286000" cy="599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采样多条调整轨迹</a:t>
            </a:r>
            <a:endParaRPr lang="zh-CN" sz="1575" dirty="0"/>
          </a:p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组内相对优势更新</a:t>
            </a:r>
            <a:endParaRPr lang="zh-CN" sz="1575" dirty="0"/>
          </a:p>
        </p:txBody>
      </p:sp>
      <p:sp>
        <p:nvSpPr>
          <p:cNvPr id="18" name="s10-rect-343"/>
          <p:cNvSpPr/>
          <p:nvPr/>
        </p:nvSpPr>
        <p:spPr>
          <a:xfrm>
            <a:off x="7172325" y="2562225"/>
            <a:ext cx="1990725" cy="169545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9" name="s10-rect-344"/>
          <p:cNvSpPr/>
          <p:nvPr/>
        </p:nvSpPr>
        <p:spPr>
          <a:xfrm>
            <a:off x="7172325" y="2562225"/>
            <a:ext cx="38100" cy="169545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20" name="s10-text-345"/>
          <p:cNvSpPr txBox="1"/>
          <p:nvPr/>
        </p:nvSpPr>
        <p:spPr>
          <a:xfrm>
            <a:off x="7381875" y="2724150"/>
            <a:ext cx="1571625" cy="39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zh-CN" altLang="en-US" sz="210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动作</a:t>
            </a:r>
            <a:endParaRPr lang="zh-CN" sz="2100" dirty="0"/>
          </a:p>
        </p:txBody>
      </p:sp>
      <p:sp>
        <p:nvSpPr>
          <p:cNvPr id="21" name="s10-text-346"/>
          <p:cNvSpPr txBox="1"/>
          <p:nvPr/>
        </p:nvSpPr>
        <p:spPr>
          <a:xfrm>
            <a:off x="7381875" y="3162300"/>
            <a:ext cx="1571625" cy="599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选字段调一级</a:t>
            </a:r>
            <a:endParaRPr lang="zh-CN" sz="1575" dirty="0"/>
          </a:p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或申请结束</a:t>
            </a:r>
            <a:endParaRPr lang="zh-CN" sz="1575" dirty="0"/>
          </a:p>
        </p:txBody>
      </p:sp>
      <p:sp>
        <p:nvSpPr>
          <p:cNvPr id="22" name="s10-rect-347"/>
          <p:cNvSpPr/>
          <p:nvPr/>
        </p:nvSpPr>
        <p:spPr>
          <a:xfrm>
            <a:off x="9725025" y="2562225"/>
            <a:ext cx="1857375" cy="1695450"/>
          </a:xfrm>
          <a:prstGeom prst="roundRect">
            <a:avLst>
              <a:gd name="adj" fmla="val 5618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3" name="s10-rect-348"/>
          <p:cNvSpPr/>
          <p:nvPr/>
        </p:nvSpPr>
        <p:spPr>
          <a:xfrm>
            <a:off x="9725025" y="2562225"/>
            <a:ext cx="38100" cy="169545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24" name="s10-text-349"/>
          <p:cNvSpPr txBox="1"/>
          <p:nvPr/>
        </p:nvSpPr>
        <p:spPr>
          <a:xfrm>
            <a:off x="9934575" y="2724150"/>
            <a:ext cx="143827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环境反馈</a:t>
            </a:r>
            <a:endParaRPr lang="zh-CN" sz="1875" dirty="0"/>
          </a:p>
        </p:txBody>
      </p:sp>
      <p:sp>
        <p:nvSpPr>
          <p:cNvPr id="25" name="s10-text-350"/>
          <p:cNvSpPr txBox="1"/>
          <p:nvPr/>
        </p:nvSpPr>
        <p:spPr>
          <a:xfrm>
            <a:off x="9934575" y="3162300"/>
            <a:ext cx="1438275" cy="5991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更新可得范围</a:t>
            </a:r>
            <a:endParaRPr lang="zh-CN" sz="1575" dirty="0"/>
          </a:p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重算剩余约束</a:t>
            </a:r>
            <a:endParaRPr lang="zh-CN" sz="1575" dirty="0"/>
          </a:p>
        </p:txBody>
      </p:sp>
      <p:sp>
        <p:nvSpPr>
          <p:cNvPr id="26" name="s10-line-351"/>
          <p:cNvSpPr/>
          <p:nvPr/>
        </p:nvSpPr>
        <p:spPr>
          <a:xfrm>
            <a:off x="3371850" y="3390900"/>
            <a:ext cx="419100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7" name="s10-line-352"/>
          <p:cNvSpPr/>
          <p:nvPr/>
        </p:nvSpPr>
        <p:spPr>
          <a:xfrm>
            <a:off x="6657975" y="3390900"/>
            <a:ext cx="428625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8" name="s10-line-353"/>
          <p:cNvSpPr/>
          <p:nvPr/>
        </p:nvSpPr>
        <p:spPr>
          <a:xfrm>
            <a:off x="9239250" y="3390900"/>
            <a:ext cx="400050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9" name="s10-line-354"/>
          <p:cNvSpPr/>
          <p:nvPr/>
        </p:nvSpPr>
        <p:spPr>
          <a:xfrm>
            <a:off x="10648950" y="4314825"/>
            <a:ext cx="0" cy="257175"/>
          </a:xfrm>
          <a:prstGeom prst="line">
            <a:avLst/>
          </a:prstGeom>
          <a:noFill/>
          <a:ln w="19050">
            <a:solidFill>
              <a:srgbClr val="2459C4"/>
            </a:solidFill>
            <a:prstDash val="solid"/>
          </a:ln>
        </p:spPr>
      </p:sp>
      <p:sp>
        <p:nvSpPr>
          <p:cNvPr id="30" name="s10-line-355"/>
          <p:cNvSpPr/>
          <p:nvPr/>
        </p:nvSpPr>
        <p:spPr>
          <a:xfrm flipH="1">
            <a:off x="1933575" y="4572000"/>
            <a:ext cx="8715375" cy="0"/>
          </a:xfrm>
          <a:prstGeom prst="line">
            <a:avLst/>
          </a:prstGeom>
          <a:noFill/>
          <a:ln w="19050">
            <a:solidFill>
              <a:srgbClr val="2459C4"/>
            </a:solidFill>
            <a:prstDash val="solid"/>
          </a:ln>
        </p:spPr>
      </p:sp>
      <p:sp>
        <p:nvSpPr>
          <p:cNvPr id="31" name="s10-line-356"/>
          <p:cNvSpPr/>
          <p:nvPr/>
        </p:nvSpPr>
        <p:spPr>
          <a:xfrm flipV="1">
            <a:off x="1933575" y="4295775"/>
            <a:ext cx="0" cy="276225"/>
          </a:xfrm>
          <a:prstGeom prst="line">
            <a:avLst/>
          </a:prstGeom>
          <a:noFill/>
          <a:ln w="19050">
            <a:solidFill>
              <a:srgbClr val="2459C4"/>
            </a:solidFill>
            <a:prstDash val="solid"/>
            <a:headEnd type="none"/>
            <a:tailEnd type="triangle"/>
          </a:ln>
        </p:spPr>
      </p:sp>
      <p:sp>
        <p:nvSpPr>
          <p:cNvPr id="32" name="s10-text-357"/>
          <p:cNvSpPr txBox="1"/>
          <p:nvPr/>
        </p:nvSpPr>
        <p:spPr>
          <a:xfrm>
            <a:off x="3895725" y="4600575"/>
            <a:ext cx="5905500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调整一个字段 → 其余组合的可得性随之变化</a:t>
            </a:r>
            <a:endParaRPr lang="zh-CN" sz="1575" dirty="0"/>
          </a:p>
        </p:txBody>
      </p:sp>
      <p:sp>
        <p:nvSpPr>
          <p:cNvPr id="33" name="s10-rect-358"/>
          <p:cNvSpPr/>
          <p:nvPr/>
        </p:nvSpPr>
        <p:spPr>
          <a:xfrm>
            <a:off x="609600" y="5162550"/>
            <a:ext cx="6858000" cy="628650"/>
          </a:xfrm>
          <a:prstGeom prst="roundRect">
            <a:avLst>
              <a:gd name="adj" fmla="val 10606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34" name="s10-text-359"/>
          <p:cNvSpPr txBox="1"/>
          <p:nvPr/>
        </p:nvSpPr>
        <p:spPr>
          <a:xfrm>
            <a:off x="781050" y="5324475"/>
            <a:ext cx="647700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zh-CN" altLang="en-US" sz="19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奖励：已核验越线减少 − 调整代价</a:t>
            </a:r>
            <a:endParaRPr lang="zh-CN" sz="1950" dirty="0"/>
          </a:p>
        </p:txBody>
      </p:sp>
      <p:sp>
        <p:nvSpPr>
          <p:cNvPr id="35" name="s10-rect-360"/>
          <p:cNvSpPr/>
          <p:nvPr/>
        </p:nvSpPr>
        <p:spPr>
          <a:xfrm>
            <a:off x="7686675" y="5162550"/>
            <a:ext cx="3895725" cy="628650"/>
          </a:xfrm>
          <a:prstGeom prst="roundRect">
            <a:avLst>
              <a:gd name="adj" fmla="val 10606"/>
            </a:avLst>
          </a:prstGeom>
          <a:solidFill>
            <a:srgbClr val="EDF7F5"/>
          </a:solidFill>
          <a:ln w="12700">
            <a:solidFill>
              <a:srgbClr val="EDF7F5">
                <a:alpha val="0"/>
              </a:srgbClr>
            </a:solidFill>
            <a:prstDash val="solid"/>
          </a:ln>
        </p:spPr>
      </p:sp>
      <p:sp>
        <p:nvSpPr>
          <p:cNvPr id="36" name="s10-text-361"/>
          <p:cNvSpPr txBox="1"/>
          <p:nvPr/>
        </p:nvSpPr>
        <p:spPr>
          <a:xfrm>
            <a:off x="7867650" y="5267325"/>
            <a:ext cx="3514725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25"/>
              </a:lnSpc>
              <a:buNone/>
            </a:pPr>
            <a:r>
              <a:rPr lang="zh-CN" altLang="en-US" sz="150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通过一致性检查与补充验证</a:t>
            </a:r>
            <a:endParaRPr lang="zh-CN" sz="1500" dirty="0"/>
          </a:p>
          <a:p>
            <a:pPr algn="l" indent="0" marL="0">
              <a:lnSpc>
                <a:spcPts val="2025"/>
              </a:lnSpc>
              <a:buNone/>
            </a:pPr>
            <a:r>
              <a:rPr lang="zh-CN" altLang="en-US" sz="150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才形成可提交的建议</a:t>
            </a:r>
            <a:endParaRPr lang="zh-CN" sz="1500" dirty="0"/>
          </a:p>
        </p:txBody>
      </p:sp>
      <p:sp>
        <p:nvSpPr>
          <p:cNvPr id="37" name="s10-text-362"/>
          <p:cNvSpPr txBox="1"/>
          <p:nvPr/>
        </p:nvSpPr>
        <p:spPr>
          <a:xfrm>
            <a:off x="628650" y="6200775"/>
            <a:ext cx="109537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算法保留 KL 约束等训练机制；不允许用奖励抵消规则违规。整数规划与覆盖贪心作为对照，结果见备查 A2。</a:t>
            </a:r>
            <a:endParaRPr lang="zh-CN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-text-363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10  让等级建议有足够证据支撑</a:t>
            </a:r>
            <a:endParaRPr lang="zh-CN" sz="1125" dirty="0"/>
          </a:p>
        </p:txBody>
      </p:sp>
      <p:sp>
        <p:nvSpPr>
          <p:cNvPr id="3" name="s11-text-364"/>
          <p:cNvSpPr txBox="1"/>
          <p:nvPr/>
        </p:nvSpPr>
        <p:spPr>
          <a:xfrm>
            <a:off x="609600" y="628650"/>
            <a:ext cx="1097280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zh-CN" altLang="en-US" sz="28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验证闭环：建议形成后，再检查剩余可得组合</a:t>
            </a:r>
            <a:endParaRPr lang="zh-CN" sz="2850" dirty="0"/>
          </a:p>
        </p:txBody>
      </p:sp>
      <p:sp>
        <p:nvSpPr>
          <p:cNvPr id="4" name="s11-text-365"/>
          <p:cNvSpPr txBox="1"/>
          <p:nvPr/>
        </p:nvSpPr>
        <p:spPr>
          <a:xfrm>
            <a:off x="628650" y="1200150"/>
            <a:ext cx="10763250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扫描用于提高效率，补充验证用于发现漏项；一次性验证不能代替闭环。</a:t>
            </a:r>
            <a:endParaRPr lang="zh-CN" sz="1575" dirty="0"/>
          </a:p>
        </p:txBody>
      </p:sp>
      <p:sp>
        <p:nvSpPr>
          <p:cNvPr id="5" name="s11-line-366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" name="s11-text-367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7" name="s11-text-368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/ 12</a:t>
            </a:r>
            <a:endParaRPr lang="zh-CN" sz="1050" dirty="0"/>
          </a:p>
        </p:txBody>
      </p:sp>
      <p:sp>
        <p:nvSpPr>
          <p:cNvPr id="8" name="s11-rect-369"/>
          <p:cNvSpPr/>
          <p:nvPr/>
        </p:nvSpPr>
        <p:spPr>
          <a:xfrm>
            <a:off x="619125" y="2095500"/>
            <a:ext cx="4591050" cy="1219200"/>
          </a:xfrm>
          <a:prstGeom prst="roundRect">
            <a:avLst>
              <a:gd name="adj" fmla="val 7813"/>
            </a:avLst>
          </a:prstGeom>
          <a:solidFill>
            <a:srgbClr val="EDF7F5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9" name="s11-rect-370"/>
          <p:cNvSpPr/>
          <p:nvPr/>
        </p:nvSpPr>
        <p:spPr>
          <a:xfrm>
            <a:off x="619125" y="2095500"/>
            <a:ext cx="38100" cy="1219200"/>
          </a:xfrm>
          <a:prstGeom prst="rect">
            <a:avLst/>
          </a:prstGeom>
          <a:solidFill>
            <a:srgbClr val="087F79"/>
          </a:solidFill>
          <a:ln w="12700">
            <a:solidFill>
              <a:srgbClr val="087F79">
                <a:alpha val="0"/>
              </a:srgbClr>
            </a:solidFill>
            <a:prstDash val="solid"/>
          </a:ln>
        </p:spPr>
      </p:sp>
      <p:sp>
        <p:nvSpPr>
          <p:cNvPr id="10" name="s11-text-371"/>
          <p:cNvSpPr txBox="1"/>
          <p:nvPr/>
        </p:nvSpPr>
        <p:spPr>
          <a:xfrm>
            <a:off x="828675" y="2257425"/>
            <a:ext cx="417195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zh-CN" altLang="en-US" sz="195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01  通用模型扫描</a:t>
            </a:r>
            <a:endParaRPr lang="zh-CN" sz="1950" dirty="0"/>
          </a:p>
        </p:txBody>
      </p:sp>
      <p:sp>
        <p:nvSpPr>
          <p:cNvPr id="11" name="s11-text-372"/>
          <p:cNvSpPr txBox="1"/>
          <p:nvPr/>
        </p:nvSpPr>
        <p:spPr>
          <a:xfrm>
            <a:off x="828675" y="2695575"/>
            <a:ext cx="417195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估计组合能力，提出重点核验对象</a:t>
            </a:r>
            <a:endParaRPr lang="zh-CN" sz="1575" dirty="0"/>
          </a:p>
        </p:txBody>
      </p:sp>
      <p:sp>
        <p:nvSpPr>
          <p:cNvPr id="12" name="s11-rect-373"/>
          <p:cNvSpPr/>
          <p:nvPr/>
        </p:nvSpPr>
        <p:spPr>
          <a:xfrm>
            <a:off x="6991350" y="2095500"/>
            <a:ext cx="4591050" cy="1219200"/>
          </a:xfrm>
          <a:prstGeom prst="roundRect">
            <a:avLst>
              <a:gd name="adj" fmla="val 7813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3" name="s11-rect-374"/>
          <p:cNvSpPr/>
          <p:nvPr/>
        </p:nvSpPr>
        <p:spPr>
          <a:xfrm>
            <a:off x="6991350" y="2095500"/>
            <a:ext cx="38100" cy="121920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14" name="s11-text-375"/>
          <p:cNvSpPr txBox="1"/>
          <p:nvPr/>
        </p:nvSpPr>
        <p:spPr>
          <a:xfrm>
            <a:off x="7200900" y="2257425"/>
            <a:ext cx="417195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zh-CN" altLang="en-US" sz="19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02  形成等级建议</a:t>
            </a:r>
            <a:endParaRPr lang="zh-CN" sz="1950" dirty="0"/>
          </a:p>
        </p:txBody>
      </p:sp>
      <p:sp>
        <p:nvSpPr>
          <p:cNvPr id="15" name="s11-text-376"/>
          <p:cNvSpPr txBox="1"/>
          <p:nvPr/>
        </p:nvSpPr>
        <p:spPr>
          <a:xfrm>
            <a:off x="7200900" y="2695575"/>
            <a:ext cx="417195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在当前证据与硬约束下运行 GRPO</a:t>
            </a:r>
            <a:endParaRPr lang="zh-CN" sz="1575" dirty="0"/>
          </a:p>
        </p:txBody>
      </p:sp>
      <p:sp>
        <p:nvSpPr>
          <p:cNvPr id="16" name="s11-rect-377"/>
          <p:cNvSpPr/>
          <p:nvPr/>
        </p:nvSpPr>
        <p:spPr>
          <a:xfrm>
            <a:off x="6991350" y="4000500"/>
            <a:ext cx="4591050" cy="1257300"/>
          </a:xfrm>
          <a:prstGeom prst="roundRect">
            <a:avLst>
              <a:gd name="adj" fmla="val 7576"/>
            </a:avLst>
          </a:prstGeom>
          <a:solidFill>
            <a:srgbClr val="EDF7F5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17" name="s11-rect-378"/>
          <p:cNvSpPr/>
          <p:nvPr/>
        </p:nvSpPr>
        <p:spPr>
          <a:xfrm>
            <a:off x="6991350" y="4000500"/>
            <a:ext cx="38100" cy="1257300"/>
          </a:xfrm>
          <a:prstGeom prst="rect">
            <a:avLst/>
          </a:prstGeom>
          <a:solidFill>
            <a:srgbClr val="087F79"/>
          </a:solidFill>
          <a:ln w="12700">
            <a:solidFill>
              <a:srgbClr val="087F79">
                <a:alpha val="0"/>
              </a:srgbClr>
            </a:solidFill>
            <a:prstDash val="solid"/>
          </a:ln>
        </p:spPr>
      </p:sp>
      <p:sp>
        <p:nvSpPr>
          <p:cNvPr id="18" name="s11-text-379"/>
          <p:cNvSpPr txBox="1"/>
          <p:nvPr/>
        </p:nvSpPr>
        <p:spPr>
          <a:xfrm>
            <a:off x="7200900" y="4162425"/>
            <a:ext cx="417195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zh-CN" altLang="en-US" sz="195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03  补充验证</a:t>
            </a:r>
            <a:endParaRPr lang="zh-CN" sz="1950" dirty="0"/>
          </a:p>
        </p:txBody>
      </p:sp>
      <p:sp>
        <p:nvSpPr>
          <p:cNvPr id="19" name="s11-text-380"/>
          <p:cNvSpPr txBox="1"/>
          <p:nvPr/>
        </p:nvSpPr>
        <p:spPr>
          <a:xfrm>
            <a:off x="7200900" y="4600575"/>
            <a:ext cx="417195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核验剩余可得组合与未确认约束</a:t>
            </a:r>
            <a:endParaRPr lang="zh-CN" sz="1575" dirty="0"/>
          </a:p>
        </p:txBody>
      </p:sp>
      <p:sp>
        <p:nvSpPr>
          <p:cNvPr id="20" name="s11-rect-381"/>
          <p:cNvSpPr/>
          <p:nvPr/>
        </p:nvSpPr>
        <p:spPr>
          <a:xfrm>
            <a:off x="619125" y="4000500"/>
            <a:ext cx="4591050" cy="1257300"/>
          </a:xfrm>
          <a:prstGeom prst="roundRect">
            <a:avLst>
              <a:gd name="adj" fmla="val 7576"/>
            </a:avLst>
          </a:prstGeom>
          <a:solidFill>
            <a:srgbClr val="FFFFFF"/>
          </a:solidFill>
          <a:ln w="9525">
            <a:solidFill>
              <a:srgbClr val="DCE4EA"/>
            </a:solidFill>
            <a:prstDash val="solid"/>
          </a:ln>
        </p:spPr>
      </p:sp>
      <p:sp>
        <p:nvSpPr>
          <p:cNvPr id="21" name="s11-rect-382"/>
          <p:cNvSpPr/>
          <p:nvPr/>
        </p:nvSpPr>
        <p:spPr>
          <a:xfrm>
            <a:off x="619125" y="4000500"/>
            <a:ext cx="38100" cy="1257300"/>
          </a:xfrm>
          <a:prstGeom prst="rect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22" name="s11-text-383"/>
          <p:cNvSpPr txBox="1"/>
          <p:nvPr/>
        </p:nvSpPr>
        <p:spPr>
          <a:xfrm>
            <a:off x="828675" y="4162425"/>
            <a:ext cx="4171950" cy="3657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730"/>
              </a:lnSpc>
              <a:buNone/>
            </a:pPr>
            <a:r>
              <a:rPr lang="zh-CN" altLang="en-US" sz="19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04  更新证据并复算</a:t>
            </a:r>
            <a:endParaRPr lang="zh-CN" sz="1950" dirty="0"/>
          </a:p>
        </p:txBody>
      </p:sp>
      <p:sp>
        <p:nvSpPr>
          <p:cNvPr id="23" name="s11-text-384"/>
          <p:cNvSpPr txBox="1"/>
          <p:nvPr/>
        </p:nvSpPr>
        <p:spPr>
          <a:xfrm>
            <a:off x="828675" y="4600575"/>
            <a:ext cx="4171950" cy="30908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84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发现遗漏或误报，修正约束与建议</a:t>
            </a:r>
            <a:endParaRPr lang="zh-CN" sz="1575" dirty="0"/>
          </a:p>
        </p:txBody>
      </p:sp>
      <p:sp>
        <p:nvSpPr>
          <p:cNvPr id="24" name="s11-line-385"/>
          <p:cNvSpPr/>
          <p:nvPr/>
        </p:nvSpPr>
        <p:spPr>
          <a:xfrm>
            <a:off x="5343525" y="2705100"/>
            <a:ext cx="1514475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5" name="s11-line-386"/>
          <p:cNvSpPr/>
          <p:nvPr/>
        </p:nvSpPr>
        <p:spPr>
          <a:xfrm>
            <a:off x="9286875" y="3381375"/>
            <a:ext cx="0" cy="49530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6" name="s11-line-387"/>
          <p:cNvSpPr/>
          <p:nvPr/>
        </p:nvSpPr>
        <p:spPr>
          <a:xfrm flipH="1">
            <a:off x="5343525" y="4629150"/>
            <a:ext cx="1514475" cy="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7" name="s11-line-388"/>
          <p:cNvSpPr/>
          <p:nvPr/>
        </p:nvSpPr>
        <p:spPr>
          <a:xfrm flipV="1">
            <a:off x="2895600" y="3409950"/>
            <a:ext cx="0" cy="457200"/>
          </a:xfrm>
          <a:prstGeom prst="line">
            <a:avLst/>
          </a:prstGeom>
          <a:noFill/>
          <a:ln w="19050">
            <a:solidFill>
              <a:srgbClr val="647584"/>
            </a:solidFill>
            <a:prstDash val="solid"/>
            <a:headEnd type="none"/>
            <a:tailEnd type="triangle"/>
          </a:ln>
        </p:spPr>
      </p:sp>
      <p:sp>
        <p:nvSpPr>
          <p:cNvPr id="28" name="s11-text-389"/>
          <p:cNvSpPr txBox="1"/>
          <p:nvPr/>
        </p:nvSpPr>
        <p:spPr>
          <a:xfrm>
            <a:off x="5495925" y="3390900"/>
            <a:ext cx="1209675" cy="9048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25"/>
              </a:lnSpc>
              <a:buNone/>
            </a:pPr>
            <a:r>
              <a:rPr lang="zh-CN" altLang="en-US" sz="15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迭代至</a:t>
            </a:r>
            <a:endParaRPr lang="zh-CN" sz="1500" dirty="0"/>
          </a:p>
          <a:p>
            <a:pPr algn="ctr" indent="0" marL="0">
              <a:lnSpc>
                <a:spcPts val="2325"/>
              </a:lnSpc>
              <a:buNone/>
            </a:pPr>
            <a:r>
              <a:rPr lang="zh-CN" altLang="en-US" sz="15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范围内完成验</a:t>
            </a:r>
            <a:endParaRPr lang="zh-CN" sz="1500" dirty="0"/>
          </a:p>
          <a:p>
            <a:pPr algn="ctr" indent="0" marL="0">
              <a:lnSpc>
                <a:spcPts val="2325"/>
              </a:lnSpc>
              <a:buNone/>
            </a:pPr>
            <a:r>
              <a:rPr lang="zh-CN" altLang="en-US" sz="15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证</a:t>
            </a:r>
            <a:endParaRPr lang="zh-CN" sz="1500" dirty="0"/>
          </a:p>
        </p:txBody>
      </p:sp>
      <p:sp>
        <p:nvSpPr>
          <p:cNvPr id="29" name="s11-rect-390"/>
          <p:cNvSpPr/>
          <p:nvPr/>
        </p:nvSpPr>
        <p:spPr>
          <a:xfrm>
            <a:off x="609600" y="5715000"/>
            <a:ext cx="10972800" cy="457200"/>
          </a:xfrm>
          <a:prstGeom prst="roundRect">
            <a:avLst>
              <a:gd name="adj" fmla="val 12500"/>
            </a:avLst>
          </a:prstGeom>
          <a:solidFill>
            <a:srgbClr val="EDF7F5"/>
          </a:solidFill>
          <a:ln w="12700">
            <a:solidFill>
              <a:srgbClr val="EDF7F5">
                <a:alpha val="0"/>
              </a:srgbClr>
            </a:solidFill>
            <a:prstDash val="solid"/>
          </a:ln>
        </p:spPr>
      </p:sp>
      <p:sp>
        <p:nvSpPr>
          <p:cNvPr id="30" name="s11-text-391"/>
          <p:cNvSpPr txBox="1"/>
          <p:nvPr/>
        </p:nvSpPr>
        <p:spPr>
          <a:xfrm>
            <a:off x="781050" y="5791200"/>
            <a:ext cx="106299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65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结论必须连同范围提交：数据版本、模型、目标、背景与已核验组合规模。</a:t>
            </a:r>
            <a:endParaRPr lang="zh-CN" sz="1650" dirty="0"/>
          </a:p>
        </p:txBody>
      </p:sp>
      <p:sp>
        <p:nvSpPr>
          <p:cNvPr id="31" name="s11-text-392"/>
          <p:cNvSpPr txBox="1"/>
          <p:nvPr/>
        </p:nvSpPr>
        <p:spPr>
          <a:xfrm>
            <a:off x="628650" y="6200775"/>
            <a:ext cx="109537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依据：项目 E2/E2b 验证记录。范围内无残余，不代表所有模型、未来数据与更大组合都安全。</a:t>
            </a:r>
            <a:endParaRPr lang="zh-CN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-text-393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11  交付与落地</a:t>
            </a:r>
            <a:endParaRPr lang="zh-CN" sz="1125" dirty="0"/>
          </a:p>
        </p:txBody>
      </p:sp>
      <p:sp>
        <p:nvSpPr>
          <p:cNvPr id="3" name="s12-text-394"/>
          <p:cNvSpPr txBox="1"/>
          <p:nvPr/>
        </p:nvSpPr>
        <p:spPr>
          <a:xfrm>
            <a:off x="609600" y="628650"/>
            <a:ext cx="1097280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zh-CN" altLang="en-US" sz="28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输出可审批的等级清单，随变化持续复评</a:t>
            </a:r>
            <a:endParaRPr lang="zh-CN" sz="2850" dirty="0"/>
          </a:p>
        </p:txBody>
      </p:sp>
      <p:sp>
        <p:nvSpPr>
          <p:cNvPr id="4" name="s12-text-395"/>
          <p:cNvSpPr txBox="1"/>
          <p:nvPr/>
        </p:nvSpPr>
        <p:spPr>
          <a:xfrm>
            <a:off x="628650" y="1200150"/>
            <a:ext cx="10763250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让每一项等级建议都能追溯到规则、场景、推断证据与审批记录。</a:t>
            </a:r>
            <a:endParaRPr lang="zh-CN" sz="1575" dirty="0"/>
          </a:p>
        </p:txBody>
      </p:sp>
      <p:sp>
        <p:nvSpPr>
          <p:cNvPr id="5" name="s12-line-396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" name="s12-text-397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7" name="s12-text-398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12 / 12</a:t>
            </a:r>
            <a:endParaRPr lang="zh-CN" sz="1050" dirty="0"/>
          </a:p>
        </p:txBody>
      </p:sp>
      <p:sp>
        <p:nvSpPr>
          <p:cNvPr id="8" name="s12-rect-399"/>
          <p:cNvSpPr/>
          <p:nvPr/>
        </p:nvSpPr>
        <p:spPr>
          <a:xfrm>
            <a:off x="609600" y="1876425"/>
            <a:ext cx="4905375" cy="3448050"/>
          </a:xfrm>
          <a:prstGeom prst="roundRect">
            <a:avLst>
              <a:gd name="adj" fmla="val 2486"/>
            </a:avLst>
          </a:prstGeom>
          <a:solidFill>
            <a:srgbClr val="F4F7FA"/>
          </a:solidFill>
          <a:ln w="12700">
            <a:solidFill>
              <a:srgbClr val="F4F7FA">
                <a:alpha val="0"/>
              </a:srgbClr>
            </a:solidFill>
            <a:prstDash val="solid"/>
          </a:ln>
        </p:spPr>
      </p:sp>
      <p:sp>
        <p:nvSpPr>
          <p:cNvPr id="9" name="s12-text-400"/>
          <p:cNvSpPr txBox="1"/>
          <p:nvPr/>
        </p:nvSpPr>
        <p:spPr>
          <a:xfrm>
            <a:off x="838200" y="2066925"/>
            <a:ext cx="4410075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zh-CN" altLang="en-US" sz="202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一项完整的分级记录</a:t>
            </a:r>
            <a:endParaRPr lang="zh-CN" sz="2025" dirty="0"/>
          </a:p>
        </p:txBody>
      </p:sp>
      <p:sp>
        <p:nvSpPr>
          <p:cNvPr id="10" name="s12-text-401"/>
          <p:cNvSpPr txBox="1"/>
          <p:nvPr/>
        </p:nvSpPr>
        <p:spPr>
          <a:xfrm>
            <a:off x="838200" y="2619375"/>
            <a:ext cx="13811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对象与分类</a:t>
            </a:r>
            <a:endParaRPr lang="zh-CN" sz="1500" dirty="0"/>
          </a:p>
        </p:txBody>
      </p:sp>
      <p:sp>
        <p:nvSpPr>
          <p:cNvPr id="11" name="s12-text-402"/>
          <p:cNvSpPr txBox="1"/>
          <p:nvPr/>
        </p:nvSpPr>
        <p:spPr>
          <a:xfrm>
            <a:off x="2238375" y="2619375"/>
            <a:ext cx="3038475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zh-CN" altLang="en-US" sz="142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字段 / 数据集 / 产品及业务路径</a:t>
            </a:r>
            <a:endParaRPr lang="zh-CN" sz="1425" dirty="0"/>
          </a:p>
        </p:txBody>
      </p:sp>
      <p:sp>
        <p:nvSpPr>
          <p:cNvPr id="12" name="s12-text-403"/>
          <p:cNvSpPr txBox="1"/>
          <p:nvPr/>
        </p:nvSpPr>
        <p:spPr>
          <a:xfrm>
            <a:off x="838200" y="3114675"/>
            <a:ext cx="13811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规则基线</a:t>
            </a:r>
            <a:endParaRPr lang="zh-CN" sz="1500" dirty="0"/>
          </a:p>
        </p:txBody>
      </p:sp>
      <p:sp>
        <p:nvSpPr>
          <p:cNvPr id="13" name="s12-text-404"/>
          <p:cNvSpPr txBox="1"/>
          <p:nvPr/>
        </p:nvSpPr>
        <p:spPr>
          <a:xfrm>
            <a:off x="2238375" y="3114675"/>
            <a:ext cx="3038475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zh-CN" altLang="en-US" sz="142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规则等级、依据条款与版本</a:t>
            </a:r>
            <a:endParaRPr lang="zh-CN" sz="1425" dirty="0"/>
          </a:p>
        </p:txBody>
      </p:sp>
      <p:sp>
        <p:nvSpPr>
          <p:cNvPr id="14" name="s12-text-405"/>
          <p:cNvSpPr txBox="1"/>
          <p:nvPr/>
        </p:nvSpPr>
        <p:spPr>
          <a:xfrm>
            <a:off x="838200" y="3609975"/>
            <a:ext cx="13811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补充证据</a:t>
            </a:r>
            <a:endParaRPr lang="zh-CN" sz="1500" dirty="0"/>
          </a:p>
        </p:txBody>
      </p:sp>
      <p:sp>
        <p:nvSpPr>
          <p:cNvPr id="15" name="s12-text-406"/>
          <p:cNvSpPr txBox="1"/>
          <p:nvPr/>
        </p:nvSpPr>
        <p:spPr>
          <a:xfrm>
            <a:off x="2238375" y="3609975"/>
            <a:ext cx="3038475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zh-CN" altLang="en-US" sz="142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目标、背景、能力、验证范围</a:t>
            </a:r>
            <a:endParaRPr lang="zh-CN" sz="1425" dirty="0"/>
          </a:p>
        </p:txBody>
      </p:sp>
      <p:sp>
        <p:nvSpPr>
          <p:cNvPr id="16" name="s12-text-407"/>
          <p:cNvSpPr txBox="1"/>
          <p:nvPr/>
        </p:nvSpPr>
        <p:spPr>
          <a:xfrm>
            <a:off x="838200" y="4105275"/>
            <a:ext cx="13811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等级建议</a:t>
            </a:r>
            <a:endParaRPr lang="zh-CN" sz="1500" dirty="0"/>
          </a:p>
        </p:txBody>
      </p:sp>
      <p:sp>
        <p:nvSpPr>
          <p:cNvPr id="17" name="s12-text-408"/>
          <p:cNvSpPr txBox="1"/>
          <p:nvPr/>
        </p:nvSpPr>
        <p:spPr>
          <a:xfrm>
            <a:off x="2238375" y="4105275"/>
            <a:ext cx="3038475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zh-CN" altLang="en-US" sz="142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建议级别、复核理由与约束</a:t>
            </a:r>
            <a:endParaRPr lang="zh-CN" sz="1425" dirty="0"/>
          </a:p>
        </p:txBody>
      </p:sp>
      <p:sp>
        <p:nvSpPr>
          <p:cNvPr id="18" name="s12-text-409"/>
          <p:cNvSpPr txBox="1"/>
          <p:nvPr/>
        </p:nvSpPr>
        <p:spPr>
          <a:xfrm>
            <a:off x="838200" y="4600575"/>
            <a:ext cx="138112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最终记录</a:t>
            </a:r>
            <a:endParaRPr lang="zh-CN" sz="1500" dirty="0"/>
          </a:p>
        </p:txBody>
      </p:sp>
      <p:sp>
        <p:nvSpPr>
          <p:cNvPr id="19" name="s12-text-410"/>
          <p:cNvSpPr txBox="1"/>
          <p:nvPr/>
        </p:nvSpPr>
        <p:spPr>
          <a:xfrm>
            <a:off x="2238375" y="4600575"/>
            <a:ext cx="3038475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zh-CN" altLang="en-US" sz="142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审批结论、目录版本、复评条件</a:t>
            </a:r>
            <a:endParaRPr lang="zh-CN" sz="1425" dirty="0"/>
          </a:p>
        </p:txBody>
      </p:sp>
      <p:sp>
        <p:nvSpPr>
          <p:cNvPr id="20" name="s12-text-411"/>
          <p:cNvSpPr txBox="1"/>
          <p:nvPr/>
        </p:nvSpPr>
        <p:spPr>
          <a:xfrm>
            <a:off x="6000750" y="2009775"/>
            <a:ext cx="5572125" cy="3790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835"/>
              </a:lnSpc>
              <a:buNone/>
            </a:pPr>
            <a:r>
              <a:rPr lang="zh-CN" altLang="en-US" sz="20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审批之后，才固化正式结果</a:t>
            </a:r>
            <a:endParaRPr lang="zh-CN" sz="2025" dirty="0"/>
          </a:p>
        </p:txBody>
      </p:sp>
      <p:sp>
        <p:nvSpPr>
          <p:cNvPr id="21" name="s12-rect-412"/>
          <p:cNvSpPr/>
          <p:nvPr/>
        </p:nvSpPr>
        <p:spPr>
          <a:xfrm>
            <a:off x="6000750" y="2657475"/>
            <a:ext cx="1504950" cy="609600"/>
          </a:xfrm>
          <a:prstGeom prst="roundRect">
            <a:avLst>
              <a:gd name="adj" fmla="val 9375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22" name="s12-text-413"/>
          <p:cNvSpPr txBox="1"/>
          <p:nvPr/>
        </p:nvSpPr>
        <p:spPr>
          <a:xfrm>
            <a:off x="6076950" y="2814399"/>
            <a:ext cx="1352550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29"/>
              </a:lnSpc>
              <a:buNone/>
            </a:pPr>
            <a:r>
              <a:rPr lang="zh-CN" altLang="en-US" sz="17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业务复核</a:t>
            </a:r>
            <a:endParaRPr lang="zh-CN" sz="1725" dirty="0"/>
          </a:p>
        </p:txBody>
      </p:sp>
      <p:sp>
        <p:nvSpPr>
          <p:cNvPr id="23" name="s12-rect-414"/>
          <p:cNvSpPr/>
          <p:nvPr/>
        </p:nvSpPr>
        <p:spPr>
          <a:xfrm>
            <a:off x="7972425" y="2657475"/>
            <a:ext cx="1619250" cy="609600"/>
          </a:xfrm>
          <a:prstGeom prst="roundRect">
            <a:avLst>
              <a:gd name="adj" fmla="val 9375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24" name="s12-text-415"/>
          <p:cNvSpPr txBox="1"/>
          <p:nvPr/>
        </p:nvSpPr>
        <p:spPr>
          <a:xfrm>
            <a:off x="8048625" y="2814399"/>
            <a:ext cx="1466850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29"/>
              </a:lnSpc>
              <a:buNone/>
            </a:pPr>
            <a:r>
              <a:rPr lang="zh-CN" altLang="en-US" sz="17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审批确认</a:t>
            </a:r>
            <a:endParaRPr lang="zh-CN" sz="1725" dirty="0"/>
          </a:p>
        </p:txBody>
      </p:sp>
      <p:sp>
        <p:nvSpPr>
          <p:cNvPr id="25" name="s12-rect-416"/>
          <p:cNvSpPr/>
          <p:nvPr/>
        </p:nvSpPr>
        <p:spPr>
          <a:xfrm>
            <a:off x="10058400" y="2657475"/>
            <a:ext cx="1504950" cy="609600"/>
          </a:xfrm>
          <a:prstGeom prst="roundRect">
            <a:avLst>
              <a:gd name="adj" fmla="val 9375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26" name="s12-text-417"/>
          <p:cNvSpPr txBox="1"/>
          <p:nvPr/>
        </p:nvSpPr>
        <p:spPr>
          <a:xfrm>
            <a:off x="10134600" y="2814399"/>
            <a:ext cx="1352550" cy="31480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2329"/>
              </a:lnSpc>
              <a:buNone/>
            </a:pPr>
            <a:r>
              <a:rPr lang="zh-CN" altLang="en-US" sz="17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目录固化</a:t>
            </a:r>
            <a:endParaRPr lang="zh-CN" sz="1725" dirty="0"/>
          </a:p>
        </p:txBody>
      </p:sp>
      <p:sp>
        <p:nvSpPr>
          <p:cNvPr id="27" name="s12-line-418"/>
          <p:cNvSpPr/>
          <p:nvPr/>
        </p:nvSpPr>
        <p:spPr>
          <a:xfrm>
            <a:off x="7591425" y="2962275"/>
            <a:ext cx="295275" cy="0"/>
          </a:xfrm>
          <a:prstGeom prst="line">
            <a:avLst/>
          </a:prstGeom>
          <a:noFill/>
          <a:ln w="19050">
            <a:solidFill>
              <a:srgbClr val="2459C4"/>
            </a:solidFill>
            <a:prstDash val="solid"/>
            <a:headEnd type="none"/>
            <a:tailEnd type="triangle"/>
          </a:ln>
        </p:spPr>
      </p:sp>
      <p:sp>
        <p:nvSpPr>
          <p:cNvPr id="28" name="s12-line-419"/>
          <p:cNvSpPr/>
          <p:nvPr/>
        </p:nvSpPr>
        <p:spPr>
          <a:xfrm>
            <a:off x="9677400" y="2962275"/>
            <a:ext cx="295275" cy="0"/>
          </a:xfrm>
          <a:prstGeom prst="line">
            <a:avLst/>
          </a:prstGeom>
          <a:noFill/>
          <a:ln w="19050">
            <a:solidFill>
              <a:srgbClr val="2459C4"/>
            </a:solidFill>
            <a:prstDash val="solid"/>
            <a:headEnd type="none"/>
            <a:tailEnd type="triangle"/>
          </a:ln>
        </p:spPr>
      </p:sp>
      <p:sp>
        <p:nvSpPr>
          <p:cNvPr id="29" name="s12-text-420"/>
          <p:cNvSpPr txBox="1"/>
          <p:nvPr/>
        </p:nvSpPr>
        <p:spPr>
          <a:xfrm>
            <a:off x="6000750" y="3771900"/>
            <a:ext cx="547687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触发复评的变化</a:t>
            </a:r>
            <a:endParaRPr lang="zh-CN" sz="1875" dirty="0"/>
          </a:p>
        </p:txBody>
      </p:sp>
      <p:sp>
        <p:nvSpPr>
          <p:cNvPr id="30" name="s12-circle-421"/>
          <p:cNvSpPr/>
          <p:nvPr/>
        </p:nvSpPr>
        <p:spPr>
          <a:xfrm>
            <a:off x="6019800" y="4362450"/>
            <a:ext cx="76200" cy="76200"/>
          </a:xfrm>
          <a:prstGeom prst="ellipse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31" name="s12-text-422"/>
          <p:cNvSpPr txBox="1"/>
          <p:nvPr/>
        </p:nvSpPr>
        <p:spPr>
          <a:xfrm>
            <a:off x="6229350" y="4286250"/>
            <a:ext cx="52197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数据与产品变化</a:t>
            </a:r>
            <a:endParaRPr lang="zh-CN" sz="1725" dirty="0"/>
          </a:p>
        </p:txBody>
      </p:sp>
      <p:sp>
        <p:nvSpPr>
          <p:cNvPr id="32" name="s12-circle-423"/>
          <p:cNvSpPr/>
          <p:nvPr/>
        </p:nvSpPr>
        <p:spPr>
          <a:xfrm>
            <a:off x="6019800" y="4762500"/>
            <a:ext cx="76200" cy="76200"/>
          </a:xfrm>
          <a:prstGeom prst="ellipse">
            <a:avLst/>
          </a:prstGeom>
          <a:solidFill>
            <a:srgbClr val="087F79"/>
          </a:solidFill>
          <a:ln w="12700">
            <a:solidFill>
              <a:srgbClr val="087F79">
                <a:alpha val="0"/>
              </a:srgbClr>
            </a:solidFill>
            <a:prstDash val="solid"/>
          </a:ln>
        </p:spPr>
      </p:sp>
      <p:sp>
        <p:nvSpPr>
          <p:cNvPr id="33" name="s12-text-424"/>
          <p:cNvSpPr txBox="1"/>
          <p:nvPr/>
        </p:nvSpPr>
        <p:spPr>
          <a:xfrm>
            <a:off x="6229350" y="4686300"/>
            <a:ext cx="52197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背景与主体变化</a:t>
            </a:r>
            <a:endParaRPr lang="zh-CN" sz="1725" dirty="0"/>
          </a:p>
        </p:txBody>
      </p:sp>
      <p:sp>
        <p:nvSpPr>
          <p:cNvPr id="34" name="s12-circle-425"/>
          <p:cNvSpPr/>
          <p:nvPr/>
        </p:nvSpPr>
        <p:spPr>
          <a:xfrm>
            <a:off x="6019800" y="5162550"/>
            <a:ext cx="76200" cy="76200"/>
          </a:xfrm>
          <a:prstGeom prst="ellipse">
            <a:avLst/>
          </a:prstGeom>
          <a:solidFill>
            <a:srgbClr val="2459C4"/>
          </a:solidFill>
          <a:ln w="12700">
            <a:solidFill>
              <a:srgbClr val="2459C4">
                <a:alpha val="0"/>
              </a:srgbClr>
            </a:solidFill>
            <a:prstDash val="solid"/>
          </a:ln>
        </p:spPr>
      </p:sp>
      <p:sp>
        <p:nvSpPr>
          <p:cNvPr id="35" name="s12-text-426"/>
          <p:cNvSpPr txBox="1"/>
          <p:nvPr/>
        </p:nvSpPr>
        <p:spPr>
          <a:xfrm>
            <a:off x="6229350" y="5086350"/>
            <a:ext cx="52197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规则与时效变化</a:t>
            </a:r>
            <a:endParaRPr lang="zh-CN" sz="1725" dirty="0"/>
          </a:p>
        </p:txBody>
      </p:sp>
      <p:sp>
        <p:nvSpPr>
          <p:cNvPr id="36" name="s12-rect-427"/>
          <p:cNvSpPr/>
          <p:nvPr/>
        </p:nvSpPr>
        <p:spPr>
          <a:xfrm>
            <a:off x="609600" y="5715000"/>
            <a:ext cx="10972800" cy="457200"/>
          </a:xfrm>
          <a:prstGeom prst="roundRect">
            <a:avLst>
              <a:gd name="adj" fmla="val 12500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37" name="s12-text-428"/>
          <p:cNvSpPr txBox="1"/>
          <p:nvPr/>
        </p:nvSpPr>
        <p:spPr>
          <a:xfrm>
            <a:off x="781050" y="5791200"/>
            <a:ext cx="10629900" cy="291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45"/>
              </a:lnSpc>
              <a:buNone/>
            </a:pPr>
            <a:r>
              <a:rPr lang="zh-CN" altLang="en-US" sz="16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规则有依据，风险有证据，建议可解释，结果可审批，变化可复评。</a:t>
            </a:r>
            <a:endParaRPr lang="zh-CN" sz="1650" dirty="0"/>
          </a:p>
        </p:txBody>
      </p:sp>
      <p:sp>
        <p:nvSpPr>
          <p:cNvPr id="38" name="s12-text-429"/>
          <p:cNvSpPr txBox="1"/>
          <p:nvPr/>
        </p:nvSpPr>
        <p:spPr>
          <a:xfrm>
            <a:off x="628650" y="6200775"/>
            <a:ext cx="109537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落地前确认：有效规则版本、目标及阈值、真实授权与历史背景、试点数据；本次不预填真实南网等级。</a:t>
            </a:r>
            <a:endParaRPr lang="zh-CN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-text-430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A1  定义与前提</a:t>
            </a:r>
            <a:endParaRPr lang="zh-CN" sz="1125" dirty="0"/>
          </a:p>
        </p:txBody>
      </p:sp>
      <p:sp>
        <p:nvSpPr>
          <p:cNvPr id="3" name="s13-text-431"/>
          <p:cNvSpPr txBox="1"/>
          <p:nvPr/>
        </p:nvSpPr>
        <p:spPr>
          <a:xfrm>
            <a:off x="609600" y="628650"/>
            <a:ext cx="1097280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zh-CN" altLang="en-US" sz="28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备查：风险量与等级一致性条件</a:t>
            </a:r>
            <a:endParaRPr lang="zh-CN" sz="2850" dirty="0"/>
          </a:p>
        </p:txBody>
      </p:sp>
      <p:sp>
        <p:nvSpPr>
          <p:cNvPr id="4" name="s13-text-432"/>
          <p:cNvSpPr txBox="1"/>
          <p:nvPr/>
        </p:nvSpPr>
        <p:spPr>
          <a:xfrm>
            <a:off x="628650" y="1200150"/>
            <a:ext cx="10763250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以下是研究评估量与约束的形式化表达，不是南网法规中的数值分级规则。</a:t>
            </a:r>
            <a:endParaRPr lang="zh-CN" sz="1575" dirty="0"/>
          </a:p>
        </p:txBody>
      </p:sp>
      <p:sp>
        <p:nvSpPr>
          <p:cNvPr id="5" name="s13-line-433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" name="s13-text-434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7" name="s13-text-435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A1</a:t>
            </a:r>
            <a:endParaRPr lang="zh-CN" sz="1050" dirty="0"/>
          </a:p>
        </p:txBody>
      </p:sp>
      <p:sp>
        <p:nvSpPr>
          <p:cNvPr id="8" name="s13-rect-436"/>
          <p:cNvSpPr/>
          <p:nvPr/>
        </p:nvSpPr>
        <p:spPr>
          <a:xfrm>
            <a:off x="609600" y="1743075"/>
            <a:ext cx="1752600" cy="342900"/>
          </a:xfrm>
          <a:prstGeom prst="roundRect">
            <a:avLst>
              <a:gd name="adj" fmla="val 16667"/>
            </a:avLst>
          </a:prstGeom>
          <a:solidFill>
            <a:srgbClr val="EDF7F5"/>
          </a:solidFill>
          <a:ln w="12700">
            <a:solidFill>
              <a:srgbClr val="EDF7F5">
                <a:alpha val="0"/>
              </a:srgbClr>
            </a:solidFill>
            <a:prstDash val="solid"/>
          </a:ln>
        </p:spPr>
      </p:sp>
      <p:sp>
        <p:nvSpPr>
          <p:cNvPr id="9" name="s13-text-437"/>
          <p:cNvSpPr txBox="1"/>
          <p:nvPr/>
        </p:nvSpPr>
        <p:spPr>
          <a:xfrm>
            <a:off x="685800" y="1798796"/>
            <a:ext cx="1600200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3"/>
              </a:lnSpc>
              <a:buNone/>
            </a:pPr>
            <a:r>
              <a:rPr lang="zh-CN" altLang="en-US" sz="135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风险量的定义</a:t>
            </a:r>
            <a:endParaRPr lang="zh-CN" sz="1350" dirty="0"/>
          </a:p>
        </p:txBody>
      </p:sp>
      <p:sp>
        <p:nvSpPr>
          <p:cNvPr id="10" name="s13-text-438"/>
          <p:cNvSpPr txBox="1"/>
          <p:nvPr/>
        </p:nvSpPr>
        <p:spPr>
          <a:xfrm>
            <a:off x="619125" y="2238375"/>
            <a:ext cx="10925175" cy="4191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150"/>
              </a:lnSpc>
              <a:buNone/>
            </a:pPr>
            <a:r>
              <a:rPr lang="zh-CN" altLang="en-US" sz="22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Δᵢ(T) = V(B ∪ T ∪ {i}) − V(B ∪ T)</a:t>
            </a:r>
            <a:endParaRPr lang="zh-CN" sz="2250" dirty="0"/>
          </a:p>
        </p:txBody>
      </p:sp>
      <p:sp>
        <p:nvSpPr>
          <p:cNvPr id="11" name="s13-text-439"/>
          <p:cNvSpPr txBox="1"/>
          <p:nvPr/>
        </p:nvSpPr>
        <p:spPr>
          <a:xfrm>
            <a:off x="619125" y="2800350"/>
            <a:ext cx="10925175" cy="392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940"/>
              </a:lnSpc>
              <a:buNone/>
            </a:pPr>
            <a:r>
              <a:rPr lang="zh-CN" altLang="en-US" sz="210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M⁽⁰⁾ = Δᵢ(∅)     M⁽ᴷ⁾ = max Δᵢ(T)     Γ⁽ᴷ⁾ = M⁽ᴷ⁾ − M⁽⁰⁾</a:t>
            </a:r>
            <a:endParaRPr lang="zh-CN" sz="2100" dirty="0"/>
          </a:p>
        </p:txBody>
      </p:sp>
      <p:sp>
        <p:nvSpPr>
          <p:cNvPr id="12" name="s13-text-440"/>
          <p:cNvSpPr txBox="1"/>
          <p:nvPr/>
        </p:nvSpPr>
        <p:spPr>
          <a:xfrm>
            <a:off x="628650" y="3248025"/>
            <a:ext cx="10925175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最大值在可行背景 T 中取：来自候选背景池，不含 B 或字段 i，字段数不超过 K。</a:t>
            </a:r>
            <a:endParaRPr lang="zh-CN" sz="1500" dirty="0"/>
          </a:p>
        </p:txBody>
      </p:sp>
      <p:sp>
        <p:nvSpPr>
          <p:cNvPr id="13" name="s13-line-441"/>
          <p:cNvSpPr/>
          <p:nvPr/>
        </p:nvSpPr>
        <p:spPr>
          <a:xfrm>
            <a:off x="609600" y="375285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14" name="s13-rect-442"/>
          <p:cNvSpPr/>
          <p:nvPr/>
        </p:nvSpPr>
        <p:spPr>
          <a:xfrm>
            <a:off x="609600" y="4000500"/>
            <a:ext cx="1752600" cy="342900"/>
          </a:xfrm>
          <a:prstGeom prst="roundRect">
            <a:avLst>
              <a:gd name="adj" fmla="val 16667"/>
            </a:avLst>
          </a:prstGeom>
          <a:solidFill>
            <a:srgbClr val="EDF3FD"/>
          </a:solidFill>
          <a:ln w="12700">
            <a:solidFill>
              <a:srgbClr val="EDF3FD">
                <a:alpha val="0"/>
              </a:srgbClr>
            </a:solidFill>
            <a:prstDash val="solid"/>
          </a:ln>
        </p:spPr>
      </p:sp>
      <p:sp>
        <p:nvSpPr>
          <p:cNvPr id="15" name="s13-text-443"/>
          <p:cNvSpPr txBox="1"/>
          <p:nvPr/>
        </p:nvSpPr>
        <p:spPr>
          <a:xfrm>
            <a:off x="685800" y="4056221"/>
            <a:ext cx="1600200" cy="2505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ts val="1823"/>
              </a:lnSpc>
              <a:buNone/>
            </a:pPr>
            <a:r>
              <a:rPr lang="zh-CN" altLang="en-US" sz="1350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一致性检查</a:t>
            </a:r>
            <a:endParaRPr lang="zh-CN" sz="1350" dirty="0"/>
          </a:p>
        </p:txBody>
      </p:sp>
      <p:sp>
        <p:nvSpPr>
          <p:cNvPr id="16" name="s13-text-444"/>
          <p:cNvSpPr txBox="1"/>
          <p:nvPr/>
        </p:nvSpPr>
        <p:spPr>
          <a:xfrm>
            <a:off x="628650" y="4495800"/>
            <a:ext cx="1092517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对该主体仍受保护的目标：所有纳入检查的可得组合 S 均满足 V(B ∪ S) ≤ τ。</a:t>
            </a:r>
            <a:endParaRPr lang="zh-CN" sz="1875" dirty="0"/>
          </a:p>
        </p:txBody>
      </p:sp>
      <p:sp>
        <p:nvSpPr>
          <p:cNvPr id="17" name="s13-text-445"/>
          <p:cNvSpPr txBox="1"/>
          <p:nvPr/>
        </p:nvSpPr>
        <p:spPr>
          <a:xfrm>
            <a:off x="628650" y="5000625"/>
            <a:ext cx="10744200" cy="32575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15"/>
              </a:lnSpc>
              <a:buNone/>
            </a:pPr>
            <a:r>
              <a:rPr lang="zh-CN" altLang="en-US" sz="1725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目标：在允许的候选级别内，减少加权调整代价；约束：规则基线、披露要求与一致性。</a:t>
            </a:r>
            <a:endParaRPr lang="zh-CN" sz="1725" dirty="0"/>
          </a:p>
        </p:txBody>
      </p:sp>
      <p:sp>
        <p:nvSpPr>
          <p:cNvPr id="18" name="s13-text-446"/>
          <p:cNvSpPr txBox="1"/>
          <p:nvPr/>
        </p:nvSpPr>
        <p:spPr>
          <a:xfrm>
            <a:off x="628650" y="5505450"/>
            <a:ext cx="10858500" cy="3124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310"/>
              </a:lnSpc>
              <a:buNone/>
            </a:pPr>
            <a:r>
              <a:rPr lang="zh-CN" altLang="en-US" sz="1650" dirty="0">
                <a:solidFill>
                  <a:srgbClr val="AE6C26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B 已足以暴露、成员不可调整或映射不成立时，报告冲突并人工复核，不承诺一定有解。</a:t>
            </a:r>
            <a:endParaRPr lang="zh-CN" sz="1650" dirty="0"/>
          </a:p>
        </p:txBody>
      </p:sp>
      <p:sp>
        <p:nvSpPr>
          <p:cNvPr id="19" name="s13-text-447"/>
          <p:cNvSpPr txBox="1"/>
          <p:nvPr/>
        </p:nvSpPr>
        <p:spPr>
          <a:xfrm>
            <a:off x="628650" y="6200775"/>
            <a:ext cx="109537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V 是固定经验协议下的样本外能力；K 是评估预算；τ 按目标与业务确认；以上省略目标和场景下标。</a:t>
            </a:r>
            <a:endParaRPr lang="zh-CN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-text-448"/>
          <p:cNvSpPr txBox="1"/>
          <p:nvPr/>
        </p:nvSpPr>
        <p:spPr>
          <a:xfrm>
            <a:off x="609600" y="276225"/>
            <a:ext cx="10477500" cy="2190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575"/>
              </a:lnSpc>
              <a:buNone/>
            </a:pPr>
            <a:r>
              <a:rPr lang="zh-CN" altLang="en-US" sz="1125" b="1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A2  研究证据与适用范围</a:t>
            </a:r>
            <a:endParaRPr lang="zh-CN" sz="1125" dirty="0"/>
          </a:p>
        </p:txBody>
      </p:sp>
      <p:sp>
        <p:nvSpPr>
          <p:cNvPr id="3" name="s14-text-449"/>
          <p:cNvSpPr txBox="1"/>
          <p:nvPr/>
        </p:nvSpPr>
        <p:spPr>
          <a:xfrm>
            <a:off x="609600" y="628650"/>
            <a:ext cx="10972800" cy="4606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3477"/>
              </a:lnSpc>
              <a:buNone/>
            </a:pPr>
            <a:r>
              <a:rPr lang="zh-CN" altLang="en-US" sz="2850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备查：已有验证结果与下一步</a:t>
            </a:r>
            <a:endParaRPr lang="zh-CN" sz="2850" dirty="0"/>
          </a:p>
        </p:txBody>
      </p:sp>
      <p:sp>
        <p:nvSpPr>
          <p:cNvPr id="4" name="s14-text-450"/>
          <p:cNvSpPr txBox="1"/>
          <p:nvPr/>
        </p:nvSpPr>
        <p:spPr>
          <a:xfrm>
            <a:off x="628650" y="1200150"/>
            <a:ext cx="10763250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048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重点展示 GRPO 的研究机制，同时保留精确基线和已有实验的真实结论。</a:t>
            </a:r>
            <a:endParaRPr lang="zh-CN" sz="1575" dirty="0"/>
          </a:p>
        </p:txBody>
      </p:sp>
      <p:sp>
        <p:nvSpPr>
          <p:cNvPr id="5" name="s14-line-451"/>
          <p:cNvSpPr/>
          <p:nvPr/>
        </p:nvSpPr>
        <p:spPr>
          <a:xfrm>
            <a:off x="609600" y="6438900"/>
            <a:ext cx="10972800" cy="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6" name="s14-text-452"/>
          <p:cNvSpPr txBox="1"/>
          <p:nvPr/>
        </p:nvSpPr>
        <p:spPr>
          <a:xfrm>
            <a:off x="609600" y="6562725"/>
            <a:ext cx="8286750" cy="1790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260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南网项目  /  数据分类分级研究体系</a:t>
            </a:r>
            <a:endParaRPr lang="zh-CN" sz="900" dirty="0"/>
          </a:p>
        </p:txBody>
      </p:sp>
      <p:sp>
        <p:nvSpPr>
          <p:cNvPr id="7" name="s14-text-453"/>
          <p:cNvSpPr txBox="1"/>
          <p:nvPr/>
        </p:nvSpPr>
        <p:spPr>
          <a:xfrm>
            <a:off x="9525000" y="6543675"/>
            <a:ext cx="2057400" cy="2057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ts val="1470"/>
              </a:lnSpc>
              <a:buNone/>
            </a:pPr>
            <a:r>
              <a:rPr lang="zh-CN" altLang="en-US" sz="10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A2</a:t>
            </a:r>
            <a:endParaRPr lang="zh-CN" sz="1050" dirty="0"/>
          </a:p>
        </p:txBody>
      </p:sp>
      <p:sp>
        <p:nvSpPr>
          <p:cNvPr id="8" name="s14-text-454"/>
          <p:cNvSpPr txBox="1"/>
          <p:nvPr/>
        </p:nvSpPr>
        <p:spPr>
          <a:xfrm>
            <a:off x="609600" y="1781175"/>
            <a:ext cx="538162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GRPO 与基线的代价比较</a:t>
            </a:r>
            <a:endParaRPr lang="zh-CN" sz="1875" dirty="0"/>
          </a:p>
        </p:txBody>
      </p:sp>
      <p:sp>
        <p:nvSpPr>
          <p:cNvPr id="9" name="s14-text-455"/>
          <p:cNvSpPr txBox="1"/>
          <p:nvPr/>
        </p:nvSpPr>
        <p:spPr>
          <a:xfrm>
            <a:off x="6448425" y="1781175"/>
            <a:ext cx="5076825" cy="3524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625"/>
              </a:lnSpc>
              <a:buNone/>
            </a:pPr>
            <a:r>
              <a:rPr lang="zh-CN" altLang="en-US" sz="1875" b="1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验证闭环的作用</a:t>
            </a:r>
            <a:endParaRPr lang="zh-CN" sz="1875" dirty="0"/>
          </a:p>
        </p:txBody>
      </p:sp>
      <p:sp>
        <p:nvSpPr>
          <p:cNvPr id="10" name="s14-text-456"/>
          <p:cNvSpPr txBox="1"/>
          <p:nvPr/>
        </p:nvSpPr>
        <p:spPr>
          <a:xfrm>
            <a:off x="609600" y="2190750"/>
            <a:ext cx="5381625" cy="2590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890"/>
              </a:lnSpc>
              <a:buNone/>
            </a:pPr>
            <a:r>
              <a:rPr lang="zh-CN" altLang="en-US" sz="135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相对精确最优的平均代价（越接近 1 越好）</a:t>
            </a:r>
            <a:endParaRPr lang="zh-CN" sz="1350" dirty="0"/>
          </a:p>
        </p:txBody>
      </p:sp>
      <p:sp>
        <p:nvSpPr>
          <p:cNvPr id="11" name="s14-text-457"/>
          <p:cNvSpPr txBox="1"/>
          <p:nvPr/>
        </p:nvSpPr>
        <p:spPr>
          <a:xfrm>
            <a:off x="609600" y="2657475"/>
            <a:ext cx="228600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方法</a:t>
            </a:r>
            <a:endParaRPr lang="zh-CN" sz="1500" dirty="0"/>
          </a:p>
        </p:txBody>
      </p:sp>
      <p:sp>
        <p:nvSpPr>
          <p:cNvPr id="12" name="s14-text-458"/>
          <p:cNvSpPr txBox="1"/>
          <p:nvPr/>
        </p:nvSpPr>
        <p:spPr>
          <a:xfrm>
            <a:off x="3076575" y="2657475"/>
            <a:ext cx="11620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见过的组</a:t>
            </a:r>
            <a:endParaRPr lang="zh-CN" sz="1500" dirty="0"/>
          </a:p>
        </p:txBody>
      </p:sp>
      <p:sp>
        <p:nvSpPr>
          <p:cNvPr id="13" name="s14-text-459"/>
          <p:cNvSpPr txBox="1"/>
          <p:nvPr/>
        </p:nvSpPr>
        <p:spPr>
          <a:xfrm>
            <a:off x="4410075" y="2657475"/>
            <a:ext cx="1352550" cy="2857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100"/>
              </a:lnSpc>
              <a:buNone/>
            </a:pPr>
            <a:r>
              <a:rPr lang="zh-CN" altLang="en-US" sz="1500" b="1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未见过的组</a:t>
            </a:r>
            <a:endParaRPr lang="zh-CN" sz="1500" dirty="0"/>
          </a:p>
        </p:txBody>
      </p:sp>
      <p:sp>
        <p:nvSpPr>
          <p:cNvPr id="14" name="s14-text-460"/>
          <p:cNvSpPr txBox="1"/>
          <p:nvPr/>
        </p:nvSpPr>
        <p:spPr>
          <a:xfrm>
            <a:off x="609600" y="3105150"/>
            <a:ext cx="240982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精确最优</a:t>
            </a:r>
            <a:endParaRPr lang="zh-CN" sz="1575" dirty="0"/>
          </a:p>
        </p:txBody>
      </p:sp>
      <p:sp>
        <p:nvSpPr>
          <p:cNvPr id="15" name="s14-text-461"/>
          <p:cNvSpPr txBox="1"/>
          <p:nvPr/>
        </p:nvSpPr>
        <p:spPr>
          <a:xfrm>
            <a:off x="3076575" y="3105150"/>
            <a:ext cx="1162050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1.000</a:t>
            </a:r>
            <a:endParaRPr lang="zh-CN" sz="1575" dirty="0"/>
          </a:p>
        </p:txBody>
      </p:sp>
      <p:sp>
        <p:nvSpPr>
          <p:cNvPr id="16" name="s14-text-462"/>
          <p:cNvSpPr txBox="1"/>
          <p:nvPr/>
        </p:nvSpPr>
        <p:spPr>
          <a:xfrm>
            <a:off x="4410075" y="3105150"/>
            <a:ext cx="1352550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1.000</a:t>
            </a:r>
            <a:endParaRPr lang="zh-CN" sz="1575" dirty="0"/>
          </a:p>
        </p:txBody>
      </p:sp>
      <p:sp>
        <p:nvSpPr>
          <p:cNvPr id="17" name="s14-text-463"/>
          <p:cNvSpPr txBox="1"/>
          <p:nvPr/>
        </p:nvSpPr>
        <p:spPr>
          <a:xfrm>
            <a:off x="609600" y="3609975"/>
            <a:ext cx="240982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覆盖贪心 + 回退</a:t>
            </a:r>
            <a:endParaRPr lang="zh-CN" sz="1575" dirty="0"/>
          </a:p>
        </p:txBody>
      </p:sp>
      <p:sp>
        <p:nvSpPr>
          <p:cNvPr id="18" name="s14-text-464"/>
          <p:cNvSpPr txBox="1"/>
          <p:nvPr/>
        </p:nvSpPr>
        <p:spPr>
          <a:xfrm>
            <a:off x="3076575" y="3609975"/>
            <a:ext cx="1162050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1.021</a:t>
            </a:r>
            <a:endParaRPr lang="zh-CN" sz="1575" dirty="0"/>
          </a:p>
        </p:txBody>
      </p:sp>
      <p:sp>
        <p:nvSpPr>
          <p:cNvPr id="19" name="s14-text-465"/>
          <p:cNvSpPr txBox="1"/>
          <p:nvPr/>
        </p:nvSpPr>
        <p:spPr>
          <a:xfrm>
            <a:off x="4410075" y="3609975"/>
            <a:ext cx="1352550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1.016</a:t>
            </a:r>
            <a:endParaRPr lang="zh-CN" sz="1575" dirty="0"/>
          </a:p>
        </p:txBody>
      </p:sp>
      <p:sp>
        <p:nvSpPr>
          <p:cNvPr id="20" name="s14-rect-466"/>
          <p:cNvSpPr/>
          <p:nvPr/>
        </p:nvSpPr>
        <p:spPr>
          <a:xfrm>
            <a:off x="552450" y="4076700"/>
            <a:ext cx="5324475" cy="447675"/>
          </a:xfrm>
          <a:prstGeom prst="roundRect">
            <a:avLst>
              <a:gd name="adj" fmla="val 10638"/>
            </a:avLst>
          </a:prstGeom>
          <a:solidFill>
            <a:srgbClr val="EDF7F5"/>
          </a:solidFill>
          <a:ln w="12700">
            <a:solidFill>
              <a:srgbClr val="EDF7F5">
                <a:alpha val="0"/>
              </a:srgbClr>
            </a:solidFill>
            <a:prstDash val="solid"/>
          </a:ln>
        </p:spPr>
      </p:sp>
      <p:sp>
        <p:nvSpPr>
          <p:cNvPr id="21" name="s14-text-467"/>
          <p:cNvSpPr txBox="1"/>
          <p:nvPr/>
        </p:nvSpPr>
        <p:spPr>
          <a:xfrm>
            <a:off x="609600" y="4114800"/>
            <a:ext cx="2409825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GRPO + 回退</a:t>
            </a:r>
            <a:endParaRPr lang="zh-CN" sz="1575" dirty="0"/>
          </a:p>
        </p:txBody>
      </p:sp>
      <p:sp>
        <p:nvSpPr>
          <p:cNvPr id="22" name="s14-text-468"/>
          <p:cNvSpPr txBox="1"/>
          <p:nvPr/>
        </p:nvSpPr>
        <p:spPr>
          <a:xfrm>
            <a:off x="3076575" y="4114800"/>
            <a:ext cx="1162050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1.010</a:t>
            </a:r>
            <a:endParaRPr lang="zh-CN" sz="1575" dirty="0"/>
          </a:p>
        </p:txBody>
      </p:sp>
      <p:sp>
        <p:nvSpPr>
          <p:cNvPr id="23" name="s14-text-469"/>
          <p:cNvSpPr txBox="1"/>
          <p:nvPr/>
        </p:nvSpPr>
        <p:spPr>
          <a:xfrm>
            <a:off x="4410075" y="4114800"/>
            <a:ext cx="1352550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1.008</a:t>
            </a:r>
            <a:endParaRPr lang="zh-CN" sz="1575" dirty="0"/>
          </a:p>
        </p:txBody>
      </p:sp>
      <p:sp>
        <p:nvSpPr>
          <p:cNvPr id="24" name="s14-text-470"/>
          <p:cNvSpPr txBox="1"/>
          <p:nvPr/>
        </p:nvSpPr>
        <p:spPr>
          <a:xfrm>
            <a:off x="628650" y="4876800"/>
            <a:ext cx="5229225" cy="6286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00"/>
              </a:lnSpc>
              <a:buNone/>
            </a:pPr>
            <a:r>
              <a:rPr lang="zh-CN" altLang="en-US" sz="15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当前规模精确求解平均约 8 ms。</a:t>
            </a:r>
            <a:endParaRPr lang="zh-CN" sz="1500" dirty="0"/>
          </a:p>
          <a:p>
            <a:pPr algn="l" indent="0" marL="0">
              <a:lnSpc>
                <a:spcPts val="2400"/>
              </a:lnSpc>
              <a:buNone/>
            </a:pPr>
            <a:r>
              <a:rPr lang="zh-CN" altLang="en-US" sz="15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GRPO 相对贪心小幅改善，扩展价值仍待验证。</a:t>
            </a:r>
            <a:endParaRPr lang="zh-CN" sz="1500" dirty="0"/>
          </a:p>
        </p:txBody>
      </p:sp>
      <p:sp>
        <p:nvSpPr>
          <p:cNvPr id="25" name="s14-line-471"/>
          <p:cNvSpPr/>
          <p:nvPr/>
        </p:nvSpPr>
        <p:spPr>
          <a:xfrm>
            <a:off x="6105525" y="1809750"/>
            <a:ext cx="0" cy="3790950"/>
          </a:xfrm>
          <a:prstGeom prst="line">
            <a:avLst/>
          </a:prstGeom>
          <a:noFill/>
          <a:ln w="9525">
            <a:solidFill>
              <a:srgbClr val="DCE4EA"/>
            </a:solidFill>
            <a:prstDash val="solid"/>
          </a:ln>
        </p:spPr>
      </p:sp>
      <p:sp>
        <p:nvSpPr>
          <p:cNvPr id="26" name="s14-text-472"/>
          <p:cNvSpPr txBox="1"/>
          <p:nvPr/>
        </p:nvSpPr>
        <p:spPr>
          <a:xfrm>
            <a:off x="6457950" y="2390775"/>
            <a:ext cx="4857750" cy="2990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205"/>
              </a:lnSpc>
              <a:buNone/>
            </a:pPr>
            <a:r>
              <a:rPr lang="zh-CN" altLang="en-US" sz="157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使用估计值先验后，需要核验的集合比例</a:t>
            </a:r>
            <a:endParaRPr lang="zh-CN" sz="1575" dirty="0"/>
          </a:p>
        </p:txBody>
      </p:sp>
      <p:sp>
        <p:nvSpPr>
          <p:cNvPr id="27" name="s14-text-473"/>
          <p:cNvSpPr txBox="1"/>
          <p:nvPr/>
        </p:nvSpPr>
        <p:spPr>
          <a:xfrm>
            <a:off x="6486525" y="2819400"/>
            <a:ext cx="1828800" cy="71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zh-CN" altLang="en-US" sz="3900" b="1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83%</a:t>
            </a:r>
            <a:endParaRPr lang="zh-CN" sz="3900" dirty="0"/>
          </a:p>
        </p:txBody>
      </p:sp>
      <p:sp>
        <p:nvSpPr>
          <p:cNvPr id="28" name="s14-line-474"/>
          <p:cNvSpPr/>
          <p:nvPr/>
        </p:nvSpPr>
        <p:spPr>
          <a:xfrm>
            <a:off x="8191500" y="3190875"/>
            <a:ext cx="790575" cy="0"/>
          </a:xfrm>
          <a:prstGeom prst="line">
            <a:avLst/>
          </a:prstGeom>
          <a:noFill/>
          <a:ln w="28575">
            <a:solidFill>
              <a:srgbClr val="087F79"/>
            </a:solidFill>
            <a:prstDash val="solid"/>
            <a:headEnd type="none"/>
            <a:tailEnd type="triangle"/>
          </a:ln>
        </p:spPr>
      </p:sp>
      <p:sp>
        <p:nvSpPr>
          <p:cNvPr id="29" name="s14-text-475"/>
          <p:cNvSpPr txBox="1"/>
          <p:nvPr/>
        </p:nvSpPr>
        <p:spPr>
          <a:xfrm>
            <a:off x="9305925" y="2819400"/>
            <a:ext cx="2095500" cy="71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5460"/>
              </a:lnSpc>
              <a:buNone/>
            </a:pPr>
            <a:r>
              <a:rPr lang="zh-CN" altLang="en-US" sz="3900" b="1" dirty="0">
                <a:solidFill>
                  <a:srgbClr val="087F79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39%</a:t>
            </a:r>
            <a:endParaRPr lang="zh-CN" sz="3900" dirty="0"/>
          </a:p>
        </p:txBody>
      </p:sp>
      <p:sp>
        <p:nvSpPr>
          <p:cNvPr id="30" name="s14-text-476"/>
          <p:cNvSpPr txBox="1"/>
          <p:nvPr/>
        </p:nvSpPr>
        <p:spPr>
          <a:xfrm>
            <a:off x="6467475" y="3514725"/>
            <a:ext cx="5048250" cy="27241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995"/>
              </a:lnSpc>
              <a:buNone/>
            </a:pPr>
            <a:r>
              <a:rPr lang="zh-CN" altLang="en-US" sz="1425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不用先验                         使用先验</a:t>
            </a:r>
            <a:endParaRPr lang="zh-CN" sz="1425" dirty="0"/>
          </a:p>
        </p:txBody>
      </p:sp>
      <p:sp>
        <p:nvSpPr>
          <p:cNvPr id="31" name="s14-text-477"/>
          <p:cNvSpPr txBox="1"/>
          <p:nvPr/>
        </p:nvSpPr>
        <p:spPr>
          <a:xfrm>
            <a:off x="6467475" y="4095750"/>
            <a:ext cx="5010150" cy="6591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520"/>
              </a:lnSpc>
              <a:buNone/>
            </a:pPr>
            <a:r>
              <a:rPr lang="zh-CN" altLang="en-US" sz="1575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闭环在既有真值表内达到零残余；</a:t>
            </a:r>
            <a:endParaRPr lang="zh-CN" sz="1575" dirty="0"/>
          </a:p>
          <a:p>
            <a:pPr algn="l" indent="0" marL="0">
              <a:lnSpc>
                <a:spcPts val="2520"/>
              </a:lnSpc>
              <a:buNone/>
            </a:pPr>
            <a:r>
              <a:rPr lang="zh-CN" altLang="en-US" sz="1575" dirty="0">
                <a:solidFill>
                  <a:srgbClr val="172B3A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验证调用通过查表模拟，非新增重训。</a:t>
            </a:r>
            <a:endParaRPr lang="zh-CN" sz="1575" dirty="0"/>
          </a:p>
        </p:txBody>
      </p:sp>
      <p:sp>
        <p:nvSpPr>
          <p:cNvPr id="32" name="s14-text-478"/>
          <p:cNvSpPr txBox="1"/>
          <p:nvPr/>
        </p:nvSpPr>
        <p:spPr>
          <a:xfrm>
            <a:off x="6467475" y="4953000"/>
            <a:ext cx="5038725" cy="6391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2441"/>
              </a:lnSpc>
              <a:buNone/>
            </a:pPr>
            <a:r>
              <a:rPr lang="zh-CN" altLang="en-US" sz="1575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下一步：真实权限与等级、南网样本、</a:t>
            </a:r>
            <a:endParaRPr lang="zh-CN" sz="1575" dirty="0"/>
          </a:p>
          <a:p>
            <a:pPr algn="l" indent="0" marL="0">
              <a:lnSpc>
                <a:spcPts val="2441"/>
              </a:lnSpc>
              <a:buNone/>
            </a:pPr>
            <a:r>
              <a:rPr lang="zh-CN" altLang="en-US" sz="1575" dirty="0">
                <a:solidFill>
                  <a:srgbClr val="2459C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更大组合范围与动态场景。</a:t>
            </a:r>
            <a:endParaRPr lang="zh-CN" sz="1575" dirty="0"/>
          </a:p>
        </p:txBody>
      </p:sp>
      <p:sp>
        <p:nvSpPr>
          <p:cNvPr id="33" name="s14-text-479"/>
          <p:cNvSpPr txBox="1"/>
          <p:nvPr/>
        </p:nvSpPr>
        <p:spPr>
          <a:xfrm>
            <a:off x="628650" y="6200775"/>
            <a:ext cx="10953750" cy="1619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ts val="1125"/>
              </a:lnSpc>
              <a:buNone/>
            </a:pPr>
            <a:r>
              <a:rPr lang="zh-CN" altLang="en-US" sz="900" dirty="0">
                <a:solidFill>
                  <a:srgbClr val="647584"/>
                </a:solidFill>
                <a:latin typeface="Noto Sans CJK SC" pitchFamily="34" charset="0"/>
                <a:ea typeface="Noto Sans CJK SC" pitchFamily="34" charset="-122"/>
                <a:cs typeface="Noto Sans CJK SC" pitchFamily="34" charset="-120"/>
              </a:rPr>
              <a:t>来源：01 号实验 WORKLOG、e3_summary.csv、e2b_summary.csv；公开电力数据、随机等级/代价、≤35 字段、≤3 字段组合、2 种子。</a:t>
            </a:r>
            <a:endParaRPr lang="zh-CN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Noto Sans CJK SC"/>
        <a:ea typeface="Noto Sans CJK SC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Noto Sans CJK SC"/>
        <a:ea typeface="Noto Sans CJK SC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项目研究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面向推断风险的数据分类分级体系</dc:title>
  <dc:subject>南网项目分类分级研究体系：规则、组合推断证据、GRPO 等级建议与审批复评</dc:subject>
  <dc:creator>项目组</dc:creator>
  <cp:lastModifiedBy>项目组</cp:lastModifiedBy>
  <cp:revision>1</cp:revision>
  <dcterms:created xsi:type="dcterms:W3CDTF">2026-10-07T14:47:43Z</dcterms:created>
  <dcterms:modified xsi:type="dcterms:W3CDTF">2026-10-07T14:47:43Z</dcterms:modified>
</cp:coreProperties>
</file>