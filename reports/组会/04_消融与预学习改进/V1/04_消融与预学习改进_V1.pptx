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4 次组会 · 第 1 页</a:t>
            </a:r>
          </a:p>
          <a:p>
            <a:r>
              <a:t>本次工作：消融与预学习改进</a:t>
            </a:r>
          </a:p>
          <a:p/>
          <a:p>
            <a:r>
              <a:t>消融发现原目标预测式预学习与随机主干接近，补做控制实验和表征诊断。</a:t>
            </a:r>
          </a:p>
          <a:p>
            <a:r>
              <a:t>尝试小集合掩码、遮蔽列重建、随机特征互补与预测截断，比较成功和未奏效的修改。</a:t>
            </a:r>
          </a:p>
          <a:p>
            <a:r>
              <a:t>固定最终估计器，并将它回代到字段画像、背景认证与阈值决策。</a:t>
            </a:r>
          </a:p>
          <a:p/>
          <a:p/>
          <a:p>
            <a:r>
              <a:t>来源：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4 次组会 · 第 2 页</a:t>
            </a:r>
          </a:p>
          <a:p>
            <a:r>
              <a:t>完成消融：随机主干与原预学习接近</a:t>
            </a:r>
          </a:p>
          <a:p/>
          <a:p>
            <a:r>
              <a:t>配对的单种子实验：随机主干 M² MAE≈0.0220，原预学习≈0.0228；原预学习的额外收益很弱。</a:t>
            </a:r>
          </a:p>
          <a:p>
            <a:r>
              <a:t>保留共用的方法标签和 V／M 两个子图。原图“本文”指旧 E；去掉非线性主干后误差明显增大。</a:t>
            </a:r>
          </a:p>
          <a:p/>
          <a:p>
            <a:r>
              <a:t>这次发现并不等于所有预学习都没有用。118和122的随机初始化不同，不能直接把两号绝对值当成同一次配对实验。</a:t>
            </a:r>
          </a:p>
          <a:p/>
          <a:p>
            <a:r>
              <a:t>来源：</a:t>
            </a:r>
          </a:p>
          <a:p>
            <a:r>
              <a:t>DNN_Aggresvation118/CHANGELOG.md</a:t>
            </a:r>
          </a:p>
          <a:p>
            <a:r>
              <a:t>DNN_Aggresvation118/figures/fig1_variants.png</a:t>
            </a:r>
          </a:p>
          <a:p/>
          <a:p>
            <a:r>
              <a:t>图像处理：</a:t>
            </a:r>
          </a:p>
          <a:p>
            <a:r>
              <a:t>DNN_Aggresvation118/figures/fig1_variants.png；原始图片直接嵌入，仅PPT显示裁剪 (0, 0.12, 0.555, 1)，可恢复。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4 次组会 · 第 3 页</a:t>
            </a:r>
          </a:p>
          <a:p>
            <a:r>
              <a:t>尝试调整掩码与加入重建任务</a:t>
            </a:r>
          </a:p>
          <a:p/>
          <a:p>
            <a:r>
              <a:t>只增加小集合掩码比例：V MAE 约 0.0299→0.0303，没有改善。</a:t>
            </a:r>
          </a:p>
          <a:p>
            <a:r>
              <a:t>加入遮蔽列重建：V MAE 降至约 0.0223，获得明确收益。</a:t>
            </a:r>
          </a:p>
          <a:p>
            <a:r>
              <a:t>保留重建方向，继续检查它改善了哪些特征，以及是否影响 M。</a:t>
            </a:r>
          </a:p>
          <a:p/>
          <a:p/>
          <a:p>
            <a:r>
              <a:t>来源：</a:t>
            </a:r>
          </a:p>
          <a:p>
            <a:r>
              <a:t>DNN_Aggresvation122/CHANGELOG.md</a:t>
            </a:r>
          </a:p>
          <a:p>
            <a:r>
              <a:t>DNN_Aggresvation122/figures/fig1_collapse_and_V.png</a:t>
            </a:r>
          </a:p>
          <a:p/>
          <a:p>
            <a:r>
              <a:t>图像处理：</a:t>
            </a:r>
          </a:p>
          <a:p>
            <a:r>
              <a:t>DNN_Aggresvation122/figures/fig1_collapse_and_V.png；原始图片直接嵌入，仅PPT显示裁剪 (0.332, 0.13, 0.664, 1)，可恢复。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4 次组会 · 第 4 页</a:t>
            </a:r>
          </a:p>
          <a:p>
            <a:r>
              <a:t>用有效维度检查表征变化</a:t>
            </a:r>
          </a:p>
          <a:p/>
          <a:p>
            <a:r>
              <a:t>协方差谱参与比：随机主干约 3.30，原预学习约 1.60。</a:t>
            </a:r>
          </a:p>
          <a:p>
            <a:r>
              <a:t>加入重建后回升到约 2.75；仅改小集合掩码仍约 1.65。</a:t>
            </a:r>
          </a:p>
          <a:p>
            <a:r>
              <a:t>结果支持原任务表征过于集中的解释，但有效维度本身不是性能保证。</a:t>
            </a:r>
          </a:p>
          <a:p/>
          <a:p/>
          <a:p>
            <a:r>
              <a:t>来源：</a:t>
            </a:r>
          </a:p>
          <a:p>
            <a:r>
              <a:t>DNN_Aggresvation122/CHANGELOG.md</a:t>
            </a:r>
          </a:p>
          <a:p>
            <a:r>
              <a:t>DNN_Aggresvation122/figures/fig1_collapse_and_V.png</a:t>
            </a:r>
          </a:p>
          <a:p/>
          <a:p>
            <a:r>
              <a:t>图像处理：</a:t>
            </a:r>
          </a:p>
          <a:p>
            <a:r>
              <a:t>DNN_Aggresvation122/figures/fig1_collapse_and_V.png；原始图片直接嵌入，仅PPT显示裁剪 (0, 0.13, 0.331, 1)，可恢复。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4 次组会 · 第 5 页</a:t>
            </a:r>
          </a:p>
          <a:p>
            <a:r>
              <a:t>补做秩截断试验</a:t>
            </a:r>
          </a:p>
          <a:p/>
          <a:p>
            <a:r>
              <a:t>相同低秩下，预学习得到的前几个方向优于随机方向；保留更多随机特征后差距缩小。</a:t>
            </a:r>
          </a:p>
          <a:p>
            <a:r>
              <a:t>图为 RTS、NEM 的原始子图；每组抽样 200 个集合，未做单调闭包，独立解释其诊断结果。</a:t>
            </a:r>
          </a:p>
          <a:p/>
          <a:p>
            <a:r>
              <a:t>原图中横轴的0表示去掉主干特征，256表示全部特征。不是将缺失的秩值补成新数据。这里只显示RTS与NEM两个原子图以便放大阅读。</a:t>
            </a:r>
          </a:p>
          <a:p/>
          <a:p>
            <a:r>
              <a:t>来源：</a:t>
            </a:r>
          </a:p>
          <a:p>
            <a:r>
              <a:t>DNN_Aggresvation122/CHANGELOG.md</a:t>
            </a:r>
          </a:p>
          <a:p>
            <a:r>
              <a:t>DNN_Aggresvation122/figures/fig2_rank_truncation.png</a:t>
            </a:r>
          </a:p>
          <a:p/>
          <a:p>
            <a:r>
              <a:t>图像处理：</a:t>
            </a:r>
          </a:p>
          <a:p>
            <a:r>
              <a:t>DNN_Aggresvation122/figures/fig2_rank_truncation.png；原始图片直接嵌入，仅PPT显示裁剪 (0, 0.13, 0.504, 1)，可恢复。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4 次组会 · 第 6 页</a:t>
            </a:r>
          </a:p>
          <a:p>
            <a:r>
              <a:t>扩大查询集合，检查预学习收益</a:t>
            </a:r>
          </a:p>
          <a:p/>
          <a:p>
            <a:r>
              <a:t>规模 16 时，随机主干误差约 0.074，重建主干约 0.023；大集合下重建优势更加明显。</a:t>
            </a:r>
          </a:p>
          <a:p>
            <a:r>
              <a:t>图中阴影区的规模 6／10／16 使用树模型参考值，只在同一规模内比较主干，不跨区间比较绝对误差。</a:t>
            </a:r>
          </a:p>
          <a:p/>
          <a:p/>
          <a:p>
            <a:r>
              <a:t>来源：</a:t>
            </a:r>
          </a:p>
          <a:p>
            <a:r>
              <a:t>DNN_Aggresvation122/CHANGELOG.md</a:t>
            </a:r>
          </a:p>
          <a:p>
            <a:r>
              <a:t>DNN_Aggresvation122/figures/fig3_set_size.png</a:t>
            </a:r>
          </a:p>
          <a:p/>
          <a:p>
            <a:r>
              <a:t>图像处理：</a:t>
            </a:r>
          </a:p>
          <a:p>
            <a:r>
              <a:t>DNN_Aggresvation122/figures/fig3_set_size.png；原始图片直接嵌入，无重绘。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4 次组会 · 第 7 页</a:t>
            </a:r>
          </a:p>
          <a:p>
            <a:r>
              <a:t>排查重建后的尾部异常并加入截断</a:t>
            </a:r>
          </a:p>
          <a:p/>
          <a:p>
            <a:r>
              <a:t>重建三种子使 V MAE 降至约 0.020，但未经保护的 M² MAE 升至约 0.0268。</a:t>
            </a:r>
          </a:p>
          <a:p>
            <a:r>
              <a:t>按训练标签范围截断预测后，M² MAE 降至约 0.0171。下面保留原图的 V／M 两个子图。</a:t>
            </a:r>
          </a:p>
          <a:p/>
          <a:p>
            <a:r>
              <a:t>截断上下界只由训练标签决定，不使用测试标签。背景差分再取最大对少数异常更敏感，因此同时检查V和M，不能仅按平均V误差选型。</a:t>
            </a:r>
          </a:p>
          <a:p/>
          <a:p>
            <a:r>
              <a:t>来源：</a:t>
            </a:r>
          </a:p>
          <a:p>
            <a:r>
              <a:t>DNN_Aggresvation122/CHANGELOG.md</a:t>
            </a:r>
          </a:p>
          <a:p>
            <a:r>
              <a:t>DNN_Aggresvation122/figures/fig4_V_vs_M_tail.png</a:t>
            </a:r>
          </a:p>
          <a:p/>
          <a:p>
            <a:r>
              <a:t>图像处理：</a:t>
            </a:r>
          </a:p>
          <a:p>
            <a:r>
              <a:t>DNN_Aggresvation122/figures/fig4_V_vs_M_tail.png；原始图片直接嵌入，仅PPT显示裁剪 (0, 0.13, 0.249, 1)，可恢复。</a:t>
            </a:r>
          </a:p>
          <a:p>
            <a:r>
              <a:t>DNN_Aggresvation122/figures/fig4_V_vs_M_tail.png；原始图片直接嵌入，仅PPT显示裁剪 (0.748, 0.13, 1, 1)，可恢复。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4 次组会 · 第 8 页</a:t>
            </a:r>
          </a:p>
          <a:p>
            <a:r>
              <a:t>最终估计器采用的结构</a:t>
            </a:r>
          </a:p>
          <a:p/>
          <a:p>
            <a:r>
              <a:t>每个种子内部拼接重建与随机特征；三个种子之间平均预测，共三次独立读出。</a:t>
            </a:r>
          </a:p>
          <a:p>
            <a:r>
              <a:t>保留 115 的数值保护，并加入 122 的预测范围截断；最终 C3 按 125 号定义。</a:t>
            </a:r>
          </a:p>
          <a:p/>
          <a:p>
            <a:r>
              <a:t>125的C3与118的同名拼接变体不是一回事。这里所有形状与文字都可在PPT内直接修改。</a:t>
            </a:r>
          </a:p>
          <a:p/>
          <a:p>
            <a:r>
              <a:t>来源：</a:t>
            </a:r>
          </a:p>
          <a:p>
            <a:r>
              <a:t>DNN_Aggresvation115/CHANGELOG.md</a:t>
            </a:r>
          </a:p>
          <a:p>
            <a:r>
              <a:t>DNN_Aggresvation122/CHANGELOG.md</a:t>
            </a:r>
          </a:p>
          <a:p>
            <a:r>
              <a:t>DNN_Aggresvation125/CHANGELOG.md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4 次组会 · 第 9 页</a:t>
            </a:r>
          </a:p>
          <a:p>
            <a:r>
              <a:t>完成候选比较并固定 C3</a:t>
            </a:r>
          </a:p>
          <a:p/>
          <a:p>
            <a:r>
              <a:t>125 号比较旧 E、重建×3、重建＋随机×1／×3。原图以旧 E 归一化，柱顶为绝对值。</a:t>
            </a:r>
          </a:p>
          <a:p>
            <a:r>
              <a:t>C3：V MAE=0.0179，M² MAE=0.0149，Γ² MAE=0.0137；固定为后续统一配置。</a:t>
            </a:r>
          </a:p>
          <a:p/>
          <a:p>
            <a:r>
              <a:t>相对旧E，C3的V与M误差约降32%和29%。C2是三个独立单种子试验的平均，部署一次仍只用一组主干。C3按完整画像精度采用；C2在τ=0.5关键召回上更好，保留这一例外。</a:t>
            </a:r>
          </a:p>
          <a:p/>
          <a:p>
            <a:r>
              <a:t>来源：</a:t>
            </a:r>
          </a:p>
          <a:p>
            <a:r>
              <a:t>DNN_Aggresvation125/CHANGELOG.md</a:t>
            </a:r>
          </a:p>
          <a:p>
            <a:r>
              <a:t>DNN_Aggresvation125/figures/fig1_candidates.png</a:t>
            </a:r>
          </a:p>
          <a:p/>
          <a:p>
            <a:r>
              <a:t>图像处理：</a:t>
            </a:r>
          </a:p>
          <a:p>
            <a:r>
              <a:t>DNN_Aggresvation125/figures/fig1_candidates.png；原始图片直接嵌入，无重绘。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4 次组会 · 第 10 页</a:t>
            </a:r>
          </a:p>
          <a:p>
            <a:r>
              <a:t>回代后重新评价关键字段召回</a:t>
            </a:r>
          </a:p>
          <a:p/>
          <a:p>
            <a:r>
              <a:t>δ=0：τ=0.5 召回从 88.0% 升至 91.0%；τ=0.7 从 74.6% 升至 78.6%。</a:t>
            </a:r>
          </a:p>
          <a:p>
            <a:r>
              <a:t>δ=0.05 时两档召回略降，原始结果完整保留。</a:t>
            </a:r>
          </a:p>
          <a:p>
            <a:r>
              <a:t>选择 C3 的依据是整体画像更准，而不是每个应用指标都最好。</a:t>
            </a:r>
          </a:p>
          <a:p/>
          <a:p/>
          <a:p>
            <a:r>
              <a:t>来源：</a:t>
            </a:r>
          </a:p>
          <a:p>
            <a:r>
              <a:t>DNN_Aggresvation125/CHANGELOG.md</a:t>
            </a:r>
          </a:p>
          <a:p>
            <a:r>
              <a:t>DNN_Aggresvation125/figures/fig2_downstream.png</a:t>
            </a:r>
          </a:p>
          <a:p/>
          <a:p>
            <a:r>
              <a:t>图像处理：</a:t>
            </a:r>
          </a:p>
          <a:p>
            <a:r>
              <a:t>DNN_Aggresvation125/figures/fig2_downstream.png；原始图片直接嵌入，仅PPT显示裁剪 (0, 0.115, 0.337, 1)，可恢复。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4 次组会 · 第 11 页</a:t>
            </a:r>
          </a:p>
          <a:p>
            <a:r>
              <a:t>同步更新背景恢复与处置结果</a:t>
            </a:r>
          </a:p>
          <a:p/>
          <a:p>
            <a:r>
              <a:t>125 号同时重算危险组合处置、Γ 误差和背景召回。前三危险背景召回约由 67.1% 升至 73.7%。</a:t>
            </a:r>
          </a:p>
          <a:p>
            <a:r>
              <a:t>新旧结果使用相同目标和规则；只用估计值处置仍有残余危险组合，未将改进等同于全部消除。</a:t>
            </a:r>
          </a:p>
          <a:p/>
          <a:p/>
          <a:p>
            <a:r>
              <a:t>来源：</a:t>
            </a:r>
          </a:p>
          <a:p>
            <a:r>
              <a:t>DNN_Aggresvation125/CHANGELOG.md</a:t>
            </a:r>
          </a:p>
          <a:p>
            <a:r>
              <a:t>DNN_Aggresvation125/figures/fig2_downstream.png</a:t>
            </a:r>
          </a:p>
          <a:p/>
          <a:p>
            <a:r>
              <a:t>图像处理：</a:t>
            </a:r>
          </a:p>
          <a:p>
            <a:r>
              <a:t>DNN_Aggresvation125/figures/fig2_downstream.png；原始图片直接嵌入，仅PPT显示裁剪 (0.334, 0.115, 0.67, 1)，可恢复。</a:t>
            </a:r>
          </a:p>
          <a:p>
            <a:r>
              <a:t>DNN_Aggresvation125/figures/fig2_downstream.png；原始图片直接嵌入，仅PPT显示裁剪 (0.667, 0.115, 1, 1)，可恢复。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4 次组会 · 第 12 页</a:t>
            </a:r>
          </a:p>
          <a:p>
            <a:r>
              <a:t>本次完成的工作</a:t>
            </a:r>
          </a:p>
          <a:p/>
          <a:p>
            <a:r>
              <a:t>118：确认原预学习在小集合中的弱收益，明确需要改进的环节。</a:t>
            </a:r>
          </a:p>
          <a:p>
            <a:r>
              <a:t>122：完成掩码尝试、表征与秩诊断、大集合验证，以及重建后的尾部修复。</a:t>
            </a:r>
          </a:p>
          <a:p>
            <a:r>
              <a:t>125：固定“重建＋随机、三种子预测平均”的最终配置，全部下游结果已更新。</a:t>
            </a:r>
          </a:p>
          <a:p>
            <a:r>
              <a:t>失败分支和未提升指标均已记录；阶段论文采用最终配置，较轻方案保留为备选。</a:t>
            </a:r>
          </a:p>
          <a:p/>
          <a:p/>
          <a:p>
            <a:r>
              <a:t>来源：</a:t>
            </a:r>
          </a:p>
          <a:p>
            <a:r>
              <a:t>DNN_Aggresvation118/CHANGELOG.md</a:t>
            </a:r>
          </a:p>
          <a:p>
            <a:r>
              <a:t>DNN_Aggresvation122/CHANGELOG.md</a:t>
            </a:r>
          </a:p>
          <a:p>
            <a:r>
              <a:t>DNN_Aggresvation125/CHANGELOG.md</a:t>
            </a:r>
          </a:p>
          <a:p>
            <a:r>
              <a:t>paper/claude/V5.1_en/README.md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014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05A9C"/>
                </a:solidFill>
                <a:latin typeface="微软雅黑"/>
                <a:ea typeface="微软雅黑"/>
              </a:rPr>
              <a:t>本次工作：消融与预学习改进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微软雅黑"/>
                <a:ea typeface="微软雅黑"/>
              </a:rPr>
              <a:t>对应 118、122、125 号文件夹</a:t>
            </a:r>
          </a:p>
        </p:txBody>
      </p:sp>
      <p:sp>
        <p:nvSpPr>
          <p:cNvPr id="4" name="说明文字"/>
          <p:cNvSpPr txBox="1"/>
          <p:nvPr/>
        </p:nvSpPr>
        <p:spPr>
          <a:xfrm>
            <a:off x="777240" y="2240280"/>
            <a:ext cx="1065276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2700"/>
              </a:spcAft>
            </a:pPr>
            <a:r>
              <a:rPr sz="2400" b="0">
                <a:solidFill>
                  <a:srgbClr val="000000"/>
                </a:solidFill>
                <a:latin typeface="微软雅黑"/>
                <a:ea typeface="微软雅黑"/>
              </a:rPr>
              <a:t>• 消融发现原目标预测式预学习与随机主干接近，补做控制实验和表征诊断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2700"/>
              </a:spcAft>
            </a:pPr>
            <a:r>
              <a:rPr sz="2400" b="0">
                <a:solidFill>
                  <a:srgbClr val="000000"/>
                </a:solidFill>
                <a:latin typeface="微软雅黑"/>
                <a:ea typeface="微软雅黑"/>
              </a:rPr>
              <a:t>• 尝试小集合掩码、遮蔽列重建、随机特征互补与预测截断，比较成功和未奏效的修改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2700"/>
              </a:spcAft>
            </a:pPr>
            <a:r>
              <a:rPr sz="2400" b="0">
                <a:solidFill>
                  <a:srgbClr val="000000"/>
                </a:solidFill>
                <a:latin typeface="微软雅黑"/>
                <a:ea typeface="微软雅黑"/>
              </a:rPr>
              <a:t>• 固定最终估计器，并将它回代到字段画像、背景认证与阈值决策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601968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对应：对应 118、122、125 号文件夹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58368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1/12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014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05A9C"/>
                </a:solidFill>
                <a:latin typeface="微软雅黑"/>
                <a:ea typeface="微软雅黑"/>
              </a:rPr>
              <a:t>完成消融：随机主干与原预学习接近</a:t>
            </a:r>
          </a:p>
        </p:txBody>
      </p:sp>
      <p:pic>
        <p:nvPicPr>
          <p:cNvPr id="3" name="DNN_Aggresvation118/figures/fig1_variants.png [原图子图裁剪]" descr="原图A/B：V与M²误差消融，共用方法标签"/>
          <p:cNvPicPr>
            <a:picLocks noChangeAspect="1"/>
          </p:cNvPicPr>
          <p:nvPr/>
        </p:nvPicPr>
        <p:blipFill>
          <a:blip r:embed="rId2"/>
          <a:srcRect t="12000" r="44500"/>
          <a:stretch>
            <a:fillRect/>
          </a:stretch>
        </p:blipFill>
        <p:spPr>
          <a:xfrm>
            <a:off x="2032900" y="1069848"/>
            <a:ext cx="8114006" cy="3913632"/>
          </a:xfrm>
          <a:prstGeom prst="rect">
            <a:avLst/>
          </a:prstGeom>
        </p:spPr>
      </p:pic>
      <p:sp>
        <p:nvSpPr>
          <p:cNvPr id="4" name="说明文字"/>
          <p:cNvSpPr txBox="1"/>
          <p:nvPr/>
        </p:nvSpPr>
        <p:spPr>
          <a:xfrm>
            <a:off x="594360" y="5193792"/>
            <a:ext cx="109728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0">
                <a:solidFill>
                  <a:srgbClr val="000000"/>
                </a:solidFill>
                <a:latin typeface="微软雅黑"/>
                <a:ea typeface="微软雅黑"/>
              </a:rPr>
              <a:t>• 配对的单种子实验：随机主干 M² MAE≈0.0220，原预学习≈0.0228；原预学习的额外收益很弱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0">
                <a:solidFill>
                  <a:srgbClr val="000000"/>
                </a:solidFill>
                <a:latin typeface="微软雅黑"/>
                <a:ea typeface="微软雅黑"/>
              </a:rPr>
              <a:t>• 保留共用的方法标签和 V／M 两个子图。原图“本文”指旧 E；去掉非线性主干后误差明显增大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601968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对应：118　｜　实验原图（含子图裁剪）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58368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014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05A9C"/>
                </a:solidFill>
                <a:latin typeface="微软雅黑"/>
                <a:ea typeface="微软雅黑"/>
              </a:rPr>
              <a:t>尝试调整掩码与加入重建任务</a:t>
            </a:r>
          </a:p>
        </p:txBody>
      </p:sp>
      <p:pic>
        <p:nvPicPr>
          <p:cNvPr id="3" name="DNN_Aggresvation122/figures/fig1_collapse_and_V.png [原图子图裁剪]" descr="原图B：小集合误差与修改尝试"/>
          <p:cNvPicPr>
            <a:picLocks noChangeAspect="1"/>
          </p:cNvPicPr>
          <p:nvPr/>
        </p:nvPicPr>
        <p:blipFill>
          <a:blip r:embed="rId2"/>
          <a:srcRect l="33200" t="13000" r="33600"/>
          <a:stretch>
            <a:fillRect/>
          </a:stretch>
        </p:blipFill>
        <p:spPr>
          <a:xfrm>
            <a:off x="502920" y="1397629"/>
            <a:ext cx="6675120" cy="4711965"/>
          </a:xfrm>
          <a:prstGeom prst="rect">
            <a:avLst/>
          </a:prstGeom>
        </p:spPr>
      </p:pic>
      <p:sp>
        <p:nvSpPr>
          <p:cNvPr id="4" name="说明文字"/>
          <p:cNvSpPr txBox="1"/>
          <p:nvPr/>
        </p:nvSpPr>
        <p:spPr>
          <a:xfrm>
            <a:off x="7498079" y="1417320"/>
            <a:ext cx="4142232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2200"/>
              </a:spcAft>
            </a:pPr>
            <a:r>
              <a:rPr sz="2100" b="0">
                <a:solidFill>
                  <a:srgbClr val="000000"/>
                </a:solidFill>
                <a:latin typeface="微软雅黑"/>
                <a:ea typeface="微软雅黑"/>
              </a:rPr>
              <a:t>• 只增加小集合掩码比例：V MAE 约 0.0299→0.0303，没有改善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2200"/>
              </a:spcAft>
            </a:pPr>
            <a:r>
              <a:rPr sz="2100" b="0">
                <a:solidFill>
                  <a:srgbClr val="000000"/>
                </a:solidFill>
                <a:latin typeface="微软雅黑"/>
                <a:ea typeface="微软雅黑"/>
              </a:rPr>
              <a:t>• 加入遮蔽列重建：V MAE 降至约 0.0223，获得明确收益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2200"/>
              </a:spcAft>
            </a:pPr>
            <a:r>
              <a:rPr sz="2100" b="0">
                <a:solidFill>
                  <a:srgbClr val="000000"/>
                </a:solidFill>
                <a:latin typeface="微软雅黑"/>
                <a:ea typeface="微软雅黑"/>
              </a:rPr>
              <a:t>• 保留重建方向，继续检查它改善了哪些特征，以及是否影响 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601968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对应：122　｜　实验原图（含子图裁剪）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58368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014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05A9C"/>
                </a:solidFill>
                <a:latin typeface="微软雅黑"/>
                <a:ea typeface="微软雅黑"/>
              </a:rPr>
              <a:t>用有效维度检查表征变化</a:t>
            </a:r>
          </a:p>
        </p:txBody>
      </p:sp>
      <p:pic>
        <p:nvPicPr>
          <p:cNvPr id="3" name="DNN_Aggresvation122/figures/fig1_collapse_and_V.png [原图子图裁剪]" descr="原图A：表征有效维度"/>
          <p:cNvPicPr>
            <a:picLocks noChangeAspect="1"/>
          </p:cNvPicPr>
          <p:nvPr/>
        </p:nvPicPr>
        <p:blipFill>
          <a:blip r:embed="rId2"/>
          <a:srcRect t="13000" r="66900"/>
          <a:stretch>
            <a:fillRect/>
          </a:stretch>
        </p:blipFill>
        <p:spPr>
          <a:xfrm>
            <a:off x="502920" y="1390511"/>
            <a:ext cx="6675120" cy="4726200"/>
          </a:xfrm>
          <a:prstGeom prst="rect">
            <a:avLst/>
          </a:prstGeom>
        </p:spPr>
      </p:pic>
      <p:sp>
        <p:nvSpPr>
          <p:cNvPr id="4" name="说明文字"/>
          <p:cNvSpPr txBox="1"/>
          <p:nvPr/>
        </p:nvSpPr>
        <p:spPr>
          <a:xfrm>
            <a:off x="7498079" y="1417320"/>
            <a:ext cx="4142232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2200"/>
              </a:spcAft>
            </a:pPr>
            <a:r>
              <a:rPr sz="2100" b="0">
                <a:solidFill>
                  <a:srgbClr val="000000"/>
                </a:solidFill>
                <a:latin typeface="微软雅黑"/>
                <a:ea typeface="微软雅黑"/>
              </a:rPr>
              <a:t>• 协方差谱参与比：随机主干约 3.30，原预学习约 1.60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2200"/>
              </a:spcAft>
            </a:pPr>
            <a:r>
              <a:rPr sz="2100" b="0">
                <a:solidFill>
                  <a:srgbClr val="000000"/>
                </a:solidFill>
                <a:latin typeface="微软雅黑"/>
                <a:ea typeface="微软雅黑"/>
              </a:rPr>
              <a:t>• 加入重建后回升到约 2.75；仅改小集合掩码仍约 1.65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2200"/>
              </a:spcAft>
            </a:pPr>
            <a:r>
              <a:rPr sz="2100" b="0">
                <a:solidFill>
                  <a:srgbClr val="000000"/>
                </a:solidFill>
                <a:latin typeface="微软雅黑"/>
                <a:ea typeface="微软雅黑"/>
              </a:rPr>
              <a:t>• 结果支持原任务表征过于集中的解释，但有效维度本身不是性能保证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601968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对应：122　｜　实验原图（含子图裁剪）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58368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014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05A9C"/>
                </a:solidFill>
                <a:latin typeface="微软雅黑"/>
                <a:ea typeface="微软雅黑"/>
              </a:rPr>
              <a:t>补做秩截断试验</a:t>
            </a:r>
          </a:p>
        </p:txBody>
      </p:sp>
      <p:pic>
        <p:nvPicPr>
          <p:cNvPr id="3" name="DNN_Aggresvation122/figures/fig2_rank_truncation.png [原图子图裁剪]" descr="秩截断原图前两个数据组"/>
          <p:cNvPicPr>
            <a:picLocks noChangeAspect="1"/>
          </p:cNvPicPr>
          <p:nvPr/>
        </p:nvPicPr>
        <p:blipFill>
          <a:blip r:embed="rId2"/>
          <a:srcRect t="13000" r="49600"/>
          <a:stretch>
            <a:fillRect/>
          </a:stretch>
        </p:blipFill>
        <p:spPr>
          <a:xfrm>
            <a:off x="1505993" y="1069848"/>
            <a:ext cx="9167820" cy="3913632"/>
          </a:xfrm>
          <a:prstGeom prst="rect">
            <a:avLst/>
          </a:prstGeom>
        </p:spPr>
      </p:pic>
      <p:sp>
        <p:nvSpPr>
          <p:cNvPr id="4" name="说明文字"/>
          <p:cNvSpPr txBox="1"/>
          <p:nvPr/>
        </p:nvSpPr>
        <p:spPr>
          <a:xfrm>
            <a:off x="594360" y="5193792"/>
            <a:ext cx="109728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0">
                <a:solidFill>
                  <a:srgbClr val="000000"/>
                </a:solidFill>
                <a:latin typeface="微软雅黑"/>
                <a:ea typeface="微软雅黑"/>
              </a:rPr>
              <a:t>• 相同低秩下，预学习得到的前几个方向优于随机方向；保留更多随机特征后差距缩小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0">
                <a:solidFill>
                  <a:srgbClr val="000000"/>
                </a:solidFill>
                <a:latin typeface="微软雅黑"/>
                <a:ea typeface="微软雅黑"/>
              </a:rPr>
              <a:t>• 图为 RTS、NEM 的原始子图；每组抽样 200 个集合，未做单调闭包，独立解释其诊断结果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601968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对应：122　｜　实验原图（含子图裁剪）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58368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014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05A9C"/>
                </a:solidFill>
                <a:latin typeface="微软雅黑"/>
                <a:ea typeface="微软雅黑"/>
              </a:rPr>
              <a:t>扩大查询集合，检查预学习收益</a:t>
            </a:r>
          </a:p>
        </p:txBody>
      </p:sp>
      <p:pic>
        <p:nvPicPr>
          <p:cNvPr id="3" name="DNN_Aggresvation122/figures/fig3_set_size.png [原图]" descr="DNN_Aggresvation122/figures/fig3_set_siz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02920" y="1192660"/>
            <a:ext cx="11173968" cy="3668007"/>
          </a:xfrm>
          <a:prstGeom prst="rect">
            <a:avLst/>
          </a:prstGeom>
        </p:spPr>
      </p:pic>
      <p:sp>
        <p:nvSpPr>
          <p:cNvPr id="4" name="说明文字"/>
          <p:cNvSpPr txBox="1"/>
          <p:nvPr/>
        </p:nvSpPr>
        <p:spPr>
          <a:xfrm>
            <a:off x="594360" y="5193792"/>
            <a:ext cx="109728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0">
                <a:solidFill>
                  <a:srgbClr val="000000"/>
                </a:solidFill>
                <a:latin typeface="微软雅黑"/>
                <a:ea typeface="微软雅黑"/>
              </a:rPr>
              <a:t>• 规模 16 时，随机主干误差约 0.074，重建主干约 0.023；大集合下重建优势更加明显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0">
                <a:solidFill>
                  <a:srgbClr val="000000"/>
                </a:solidFill>
                <a:latin typeface="微软雅黑"/>
                <a:ea typeface="微软雅黑"/>
              </a:rPr>
              <a:t>• 图中阴影区的规模 6／10／16 使用树模型参考值，只在同一规模内比较主干，不跨区间比较绝对误差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601968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对应：122　｜　实验原图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58368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014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05A9C"/>
                </a:solidFill>
                <a:latin typeface="微软雅黑"/>
                <a:ea typeface="微软雅黑"/>
              </a:rPr>
              <a:t>排查重建后的尾部异常并加入截断</a:t>
            </a:r>
          </a:p>
        </p:txBody>
      </p:sp>
      <p:pic>
        <p:nvPicPr>
          <p:cNvPr id="3" name="DNN_Aggresvation122/figures/fig4_V_vs_M_tail.png [原图子图裁剪]" descr="原图A：集合值误差"/>
          <p:cNvPicPr>
            <a:picLocks noChangeAspect="1"/>
          </p:cNvPicPr>
          <p:nvPr/>
        </p:nvPicPr>
        <p:blipFill>
          <a:blip r:embed="rId2"/>
          <a:srcRect t="13000" r="75100"/>
          <a:stretch>
            <a:fillRect/>
          </a:stretch>
        </p:blipFill>
        <p:spPr>
          <a:xfrm>
            <a:off x="811102" y="1069848"/>
            <a:ext cx="4856319" cy="3913632"/>
          </a:xfrm>
          <a:prstGeom prst="rect">
            <a:avLst/>
          </a:prstGeom>
        </p:spPr>
      </p:pic>
      <p:pic>
        <p:nvPicPr>
          <p:cNvPr id="4" name="DNN_Aggresvation122/figures/fig4_V_vs_M_tail.png [原图子图裁剪]" descr="原图D：最大边际误差"/>
          <p:cNvPicPr>
            <a:picLocks noChangeAspect="1"/>
          </p:cNvPicPr>
          <p:nvPr/>
        </p:nvPicPr>
        <p:blipFill>
          <a:blip r:embed="rId2"/>
          <a:srcRect l="74800" t="13000"/>
          <a:stretch>
            <a:fillRect/>
          </a:stretch>
        </p:blipFill>
        <p:spPr>
          <a:xfrm>
            <a:off x="6483131" y="1069848"/>
            <a:ext cx="4914829" cy="3913632"/>
          </a:xfrm>
          <a:prstGeom prst="rect">
            <a:avLst/>
          </a:prstGeom>
        </p:spPr>
      </p:pic>
      <p:sp>
        <p:nvSpPr>
          <p:cNvPr id="5" name="说明文字"/>
          <p:cNvSpPr txBox="1"/>
          <p:nvPr/>
        </p:nvSpPr>
        <p:spPr>
          <a:xfrm>
            <a:off x="594360" y="5193792"/>
            <a:ext cx="109728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0">
                <a:solidFill>
                  <a:srgbClr val="000000"/>
                </a:solidFill>
                <a:latin typeface="微软雅黑"/>
                <a:ea typeface="微软雅黑"/>
              </a:rPr>
              <a:t>• 重建三种子使 V MAE 降至约 0.020，但未经保护的 M² MAE 升至约 0.0268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0">
                <a:solidFill>
                  <a:srgbClr val="000000"/>
                </a:solidFill>
                <a:latin typeface="微软雅黑"/>
                <a:ea typeface="微软雅黑"/>
              </a:rPr>
              <a:t>• 按训练标签范围截断预测后，M² MAE 降至约 0.0171。下面保留原图的 V／M 两个子图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601968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对应：122　｜　实验原图（含子图裁剪）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8368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014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05A9C"/>
                </a:solidFill>
                <a:latin typeface="微软雅黑"/>
                <a:ea typeface="微软雅黑"/>
              </a:rPr>
              <a:t>最终估计器采用的结构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417320"/>
            <a:ext cx="2743200" cy="105156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0000"/>
              </a:lnSpc>
            </a:pPr>
            <a:r>
              <a:rPr sz="2000" b="0">
                <a:solidFill>
                  <a:srgbClr val="000000"/>
                </a:solidFill>
                <a:latin typeface="微软雅黑"/>
                <a:ea typeface="微软雅黑"/>
              </a:rPr>
              <a:t>重建主干</a:t>
            </a:r>
          </a:p>
          <a:p>
            <a:pPr algn="ctr">
              <a:lnSpc>
                <a:spcPct val="110000"/>
              </a:lnSpc>
            </a:pPr>
            <a:r>
              <a:rPr sz="2000" b="0">
                <a:solidFill>
                  <a:srgbClr val="000000"/>
                </a:solidFill>
                <a:latin typeface="微软雅黑"/>
                <a:ea typeface="微软雅黑"/>
              </a:rPr>
              <a:t>在训练数据上预学习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2926080"/>
            <a:ext cx="2743200" cy="105156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0000"/>
              </a:lnSpc>
            </a:pPr>
            <a:r>
              <a:rPr sz="2000" b="0">
                <a:solidFill>
                  <a:srgbClr val="000000"/>
                </a:solidFill>
                <a:latin typeface="微软雅黑"/>
                <a:ea typeface="微软雅黑"/>
              </a:rPr>
              <a:t>随机主干</a:t>
            </a:r>
          </a:p>
          <a:p>
            <a:pPr algn="ctr">
              <a:lnSpc>
                <a:spcPct val="110000"/>
              </a:lnSpc>
            </a:pPr>
            <a:r>
              <a:rPr sz="2000" b="0">
                <a:solidFill>
                  <a:srgbClr val="000000"/>
                </a:solidFill>
                <a:latin typeface="微软雅黑"/>
                <a:ea typeface="微软雅黑"/>
              </a:rPr>
              <a:t>固定随机初始化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4160520" y="1847088"/>
            <a:ext cx="3429000" cy="164592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0000"/>
              </a:lnSpc>
            </a:pPr>
            <a:r>
              <a:rPr sz="2000" b="0">
                <a:solidFill>
                  <a:srgbClr val="000000"/>
                </a:solidFill>
                <a:latin typeface="微软雅黑"/>
                <a:ea typeface="微软雅黑"/>
              </a:rPr>
              <a:t>种子内拼接</a:t>
            </a:r>
          </a:p>
          <a:p>
            <a:pPr algn="ctr">
              <a:lnSpc>
                <a:spcPct val="110000"/>
              </a:lnSpc>
            </a:pPr>
            <a:r>
              <a:rPr sz="2000" b="0">
                <a:solidFill>
                  <a:srgbClr val="000000"/>
                </a:solidFill>
                <a:latin typeface="微软雅黑"/>
                <a:ea typeface="微软雅黑"/>
              </a:rPr>
              <a:t>重建＋随机＋原始字段</a:t>
            </a:r>
          </a:p>
          <a:p>
            <a:pPr algn="ctr">
              <a:lnSpc>
                <a:spcPct val="110000"/>
              </a:lnSpc>
            </a:pPr>
            <a:r>
              <a:rPr sz="2000" b="0">
                <a:solidFill>
                  <a:srgbClr val="000000"/>
                </a:solidFill>
                <a:latin typeface="微软雅黑"/>
                <a:ea typeface="微软雅黑"/>
              </a:rPr>
              <a:t>逐集合求 ridge 读出</a:t>
            </a:r>
          </a:p>
        </p:txBody>
      </p:sp>
      <p:sp>
        <p:nvSpPr>
          <p:cNvPr id="6" name="Rectangle 5"/>
          <p:cNvSpPr/>
          <p:nvPr/>
        </p:nvSpPr>
        <p:spPr>
          <a:xfrm>
            <a:off x="8366760" y="2011680"/>
            <a:ext cx="3182112" cy="132588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0000"/>
              </a:lnSpc>
            </a:pPr>
            <a:r>
              <a:rPr sz="2000" b="0">
                <a:solidFill>
                  <a:srgbClr val="000000"/>
                </a:solidFill>
                <a:latin typeface="微软雅黑"/>
                <a:ea typeface="微软雅黑"/>
              </a:rPr>
              <a:t>三个种子分别求解</a:t>
            </a:r>
          </a:p>
          <a:p>
            <a:pPr algn="ctr">
              <a:lnSpc>
                <a:spcPct val="110000"/>
              </a:lnSpc>
            </a:pPr>
            <a:r>
              <a:rPr sz="2000" b="0">
                <a:solidFill>
                  <a:srgbClr val="000000"/>
                </a:solidFill>
                <a:latin typeface="微软雅黑"/>
                <a:ea typeface="微软雅黑"/>
              </a:rPr>
              <a:t>预测平均后得到 V̂(S)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429000" y="1938528"/>
            <a:ext cx="612648" cy="438912"/>
          </a:xfrm>
          <a:prstGeom prst="line">
            <a:avLst/>
          </a:prstGeom>
          <a:ln w="1524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3429000" y="2953512"/>
            <a:ext cx="612648" cy="493776"/>
          </a:xfrm>
          <a:prstGeom prst="line">
            <a:avLst/>
          </a:prstGeom>
          <a:ln w="1524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680960" y="2670048"/>
            <a:ext cx="548640" cy="0"/>
          </a:xfrm>
          <a:prstGeom prst="line">
            <a:avLst/>
          </a:prstGeom>
          <a:ln w="1524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85800" y="4251960"/>
            <a:ext cx="108813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000000"/>
                </a:solidFill>
                <a:latin typeface="微软雅黑"/>
                <a:ea typeface="微软雅黑"/>
              </a:rPr>
              <a:t>共同设置：标准差下限、训练范围特征截断、五折选 λ、训练标签范围预测截断。</a:t>
            </a:r>
          </a:p>
        </p:txBody>
      </p:sp>
      <p:sp>
        <p:nvSpPr>
          <p:cNvPr id="11" name="说明文字"/>
          <p:cNvSpPr txBox="1"/>
          <p:nvPr/>
        </p:nvSpPr>
        <p:spPr>
          <a:xfrm>
            <a:off x="594360" y="5230368"/>
            <a:ext cx="109728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0">
                <a:solidFill>
                  <a:srgbClr val="000000"/>
                </a:solidFill>
                <a:latin typeface="微软雅黑"/>
                <a:ea typeface="微软雅黑"/>
              </a:rPr>
              <a:t>• 每个种子内部拼接重建与随机特征；三个种子之间平均预测，共三次独立读出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0">
                <a:solidFill>
                  <a:srgbClr val="000000"/>
                </a:solidFill>
                <a:latin typeface="微软雅黑"/>
                <a:ea typeface="微软雅黑"/>
              </a:rPr>
              <a:t>• 保留 115 的数值保护，并加入 122 的预测范围截断；最终 C3 按 125 号定义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601968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对应：115、122、125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82528" y="658368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014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05A9C"/>
                </a:solidFill>
                <a:latin typeface="微软雅黑"/>
                <a:ea typeface="微软雅黑"/>
              </a:rPr>
              <a:t>完成候选比较并固定 C3</a:t>
            </a:r>
          </a:p>
        </p:txBody>
      </p:sp>
      <p:pic>
        <p:nvPicPr>
          <p:cNvPr id="3" name="DNN_Aggresvation125/figures/fig1_candidates.png [原图]" descr="DNN_Aggresvation125/figures/fig1_candidates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02920" y="1352839"/>
            <a:ext cx="11173968" cy="3347649"/>
          </a:xfrm>
          <a:prstGeom prst="rect">
            <a:avLst/>
          </a:prstGeom>
        </p:spPr>
      </p:pic>
      <p:sp>
        <p:nvSpPr>
          <p:cNvPr id="4" name="说明文字"/>
          <p:cNvSpPr txBox="1"/>
          <p:nvPr/>
        </p:nvSpPr>
        <p:spPr>
          <a:xfrm>
            <a:off x="594360" y="5193792"/>
            <a:ext cx="109728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0">
                <a:solidFill>
                  <a:srgbClr val="000000"/>
                </a:solidFill>
                <a:latin typeface="微软雅黑"/>
                <a:ea typeface="微软雅黑"/>
              </a:rPr>
              <a:t>• 125 号比较旧 E、重建×3、重建＋随机×1／×3。原图以旧 E 归一化，柱顶为绝对值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0">
                <a:solidFill>
                  <a:srgbClr val="000000"/>
                </a:solidFill>
                <a:latin typeface="微软雅黑"/>
                <a:ea typeface="微软雅黑"/>
              </a:rPr>
              <a:t>• C3：V MAE=0.0179，M² MAE=0.0149，Γ² MAE=0.0137；固定为后续统一配置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601968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对应：125　｜　实验原图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58368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014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05A9C"/>
                </a:solidFill>
                <a:latin typeface="微软雅黑"/>
                <a:ea typeface="微软雅黑"/>
              </a:rPr>
              <a:t>回代后重新评价关键字段召回</a:t>
            </a:r>
          </a:p>
        </p:txBody>
      </p:sp>
      <p:pic>
        <p:nvPicPr>
          <p:cNvPr id="3" name="DNN_Aggresvation125/figures/fig2_downstream.png [原图子图裁剪]" descr="原图A：新旧关键字段召回"/>
          <p:cNvPicPr>
            <a:picLocks noChangeAspect="1"/>
          </p:cNvPicPr>
          <p:nvPr/>
        </p:nvPicPr>
        <p:blipFill>
          <a:blip r:embed="rId2"/>
          <a:srcRect t="11500" r="66300"/>
          <a:stretch>
            <a:fillRect/>
          </a:stretch>
        </p:blipFill>
        <p:spPr>
          <a:xfrm>
            <a:off x="502920" y="1386473"/>
            <a:ext cx="6675120" cy="4734276"/>
          </a:xfrm>
          <a:prstGeom prst="rect">
            <a:avLst/>
          </a:prstGeom>
        </p:spPr>
      </p:pic>
      <p:sp>
        <p:nvSpPr>
          <p:cNvPr id="4" name="说明文字"/>
          <p:cNvSpPr txBox="1"/>
          <p:nvPr/>
        </p:nvSpPr>
        <p:spPr>
          <a:xfrm>
            <a:off x="7498079" y="1417320"/>
            <a:ext cx="4142232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2200"/>
              </a:spcAft>
            </a:pPr>
            <a:r>
              <a:rPr sz="2100" b="0">
                <a:solidFill>
                  <a:srgbClr val="000000"/>
                </a:solidFill>
                <a:latin typeface="微软雅黑"/>
                <a:ea typeface="微软雅黑"/>
              </a:rPr>
              <a:t>• δ=0：τ=0.5 召回从 88.0% 升至 91.0%；τ=0.7 从 74.6% 升至 78.6%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2200"/>
              </a:spcAft>
            </a:pPr>
            <a:r>
              <a:rPr sz="2100" b="0">
                <a:solidFill>
                  <a:srgbClr val="000000"/>
                </a:solidFill>
                <a:latin typeface="微软雅黑"/>
                <a:ea typeface="微软雅黑"/>
              </a:rPr>
              <a:t>• δ=0.05 时两档召回略降，原始结果完整保留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2200"/>
              </a:spcAft>
            </a:pPr>
            <a:r>
              <a:rPr sz="2100" b="0">
                <a:solidFill>
                  <a:srgbClr val="000000"/>
                </a:solidFill>
                <a:latin typeface="微软雅黑"/>
                <a:ea typeface="微软雅黑"/>
              </a:rPr>
              <a:t>• 选择 C3 的依据是整体画像更准，而不是每个应用指标都最好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601968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对应：125　｜　实验原图（含子图裁剪）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58368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014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05A9C"/>
                </a:solidFill>
                <a:latin typeface="微软雅黑"/>
                <a:ea typeface="微软雅黑"/>
              </a:rPr>
              <a:t>同步更新背景恢复与处置结果</a:t>
            </a:r>
          </a:p>
        </p:txBody>
      </p:sp>
      <p:pic>
        <p:nvPicPr>
          <p:cNvPr id="3" name="DNN_Aggresvation125/figures/fig2_downstream.png [原图子图裁剪]" descr="原图B：残余危险组合"/>
          <p:cNvPicPr>
            <a:picLocks noChangeAspect="1"/>
          </p:cNvPicPr>
          <p:nvPr/>
        </p:nvPicPr>
        <p:blipFill>
          <a:blip r:embed="rId2"/>
          <a:srcRect l="33400" t="11500" r="33000"/>
          <a:stretch>
            <a:fillRect/>
          </a:stretch>
        </p:blipFill>
        <p:spPr>
          <a:xfrm>
            <a:off x="502920" y="1080158"/>
            <a:ext cx="5472684" cy="3893010"/>
          </a:xfrm>
          <a:prstGeom prst="rect">
            <a:avLst/>
          </a:prstGeom>
        </p:spPr>
      </p:pic>
      <p:pic>
        <p:nvPicPr>
          <p:cNvPr id="4" name="DNN_Aggresvation125/figures/fig2_downstream.png [原图子图裁剪]" descr="原图C：画像与背景恢复"/>
          <p:cNvPicPr>
            <a:picLocks noChangeAspect="1"/>
          </p:cNvPicPr>
          <p:nvPr/>
        </p:nvPicPr>
        <p:blipFill>
          <a:blip r:embed="rId2"/>
          <a:srcRect l="66700" t="11500"/>
          <a:stretch>
            <a:fillRect/>
          </a:stretch>
        </p:blipFill>
        <p:spPr>
          <a:xfrm>
            <a:off x="6214270" y="1069848"/>
            <a:ext cx="5452551" cy="3913632"/>
          </a:xfrm>
          <a:prstGeom prst="rect">
            <a:avLst/>
          </a:prstGeom>
        </p:spPr>
      </p:pic>
      <p:sp>
        <p:nvSpPr>
          <p:cNvPr id="5" name="说明文字"/>
          <p:cNvSpPr txBox="1"/>
          <p:nvPr/>
        </p:nvSpPr>
        <p:spPr>
          <a:xfrm>
            <a:off x="594360" y="5193792"/>
            <a:ext cx="109728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0">
                <a:solidFill>
                  <a:srgbClr val="000000"/>
                </a:solidFill>
                <a:latin typeface="微软雅黑"/>
                <a:ea typeface="微软雅黑"/>
              </a:rPr>
              <a:t>• 125 号同时重算危险组合处置、Γ 误差和背景召回。前三危险背景召回约由 67.1% 升至 73.7%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0">
                <a:solidFill>
                  <a:srgbClr val="000000"/>
                </a:solidFill>
                <a:latin typeface="微软雅黑"/>
                <a:ea typeface="微软雅黑"/>
              </a:rPr>
              <a:t>• 新旧结果使用相同目标和规则；只用估计值处置仍有残余危险组合，未将改进等同于全部消除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601968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对应：125　｜　实验原图（含子图裁剪）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8368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014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05A9C"/>
                </a:solidFill>
                <a:latin typeface="微软雅黑"/>
                <a:ea typeface="微软雅黑"/>
              </a:rPr>
              <a:t>本次完成的工作</a:t>
            </a:r>
          </a:p>
        </p:txBody>
      </p:sp>
      <p:sp>
        <p:nvSpPr>
          <p:cNvPr id="3" name="说明文字"/>
          <p:cNvSpPr txBox="1"/>
          <p:nvPr/>
        </p:nvSpPr>
        <p:spPr>
          <a:xfrm>
            <a:off x="685800" y="1280160"/>
            <a:ext cx="10881360" cy="5010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2200"/>
              </a:spcAft>
            </a:pPr>
            <a:r>
              <a:rPr sz="2300" b="0">
                <a:solidFill>
                  <a:srgbClr val="000000"/>
                </a:solidFill>
                <a:latin typeface="微软雅黑"/>
                <a:ea typeface="微软雅黑"/>
              </a:rPr>
              <a:t>• 118：确认原预学习在小集合中的弱收益，明确需要改进的环节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2200"/>
              </a:spcAft>
            </a:pPr>
            <a:r>
              <a:rPr sz="2300" b="0">
                <a:solidFill>
                  <a:srgbClr val="000000"/>
                </a:solidFill>
                <a:latin typeface="微软雅黑"/>
                <a:ea typeface="微软雅黑"/>
              </a:rPr>
              <a:t>• 122：完成掩码尝试、表征与秩诊断、大集合验证，以及重建后的尾部修复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2200"/>
              </a:spcAft>
            </a:pPr>
            <a:r>
              <a:rPr sz="2300" b="0">
                <a:solidFill>
                  <a:srgbClr val="000000"/>
                </a:solidFill>
                <a:latin typeface="微软雅黑"/>
                <a:ea typeface="微软雅黑"/>
              </a:rPr>
              <a:t>• 125：固定“重建＋随机、三种子预测平均”的最终配置，全部下游结果已更新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2200"/>
              </a:spcAft>
            </a:pPr>
            <a:r>
              <a:rPr sz="2300" b="0">
                <a:solidFill>
                  <a:srgbClr val="000000"/>
                </a:solidFill>
                <a:latin typeface="微软雅黑"/>
                <a:ea typeface="微软雅黑"/>
              </a:rPr>
              <a:t>• 失败分支和未提升指标均已记录；阶段论文采用最终配置，较轻方案保留为备选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601968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对应：118、122、125、paper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82528" y="658368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消融与预学习改进</dc:title>
  <dc:subject>组会进展汇报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