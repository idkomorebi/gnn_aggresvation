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次组会 · 第 1 页</a:t>
            </a:r>
          </a:p>
          <a:p>
            <a:r>
              <a:t>本次工作：正式协议与完整评估</a:t>
            </a:r>
          </a:p>
          <a:p/>
          <a:p>
            <a:r>
              <a:t>统一正式实验协议，比较单／多目标主干和参考模型族。</a:t>
            </a:r>
          </a:p>
          <a:p>
            <a:r>
              <a:t>生成完整风险表，完成评分基线与发布规则比较。</a:t>
            </a:r>
          </a:p>
          <a:p>
            <a:r>
              <a:t>补齐背景认证、区间评价和辅助标签量实验，形成 V3 阶段论文结果。</a:t>
            </a:r>
          </a:p>
          <a:p/>
          <a:p/>
          <a:p>
            <a:r>
              <a:t>来源：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次组会 · 第 2 页</a:t>
            </a:r>
          </a:p>
          <a:p>
            <a:r>
              <a:t>统一正式实验协议</a:t>
            </a:r>
          </a:p>
          <a:p/>
          <a:p>
            <a:r>
              <a:t>训练集拟合主干与专用模型；验证集选择攻击器轮次／类型和读出超参数；测试集报告样本外表现。</a:t>
            </a:r>
          </a:p>
          <a:p>
            <a:r>
              <a:t>参考能力来自单目标 DNN、多目标 DNN、梯度提升树的既定选择协议及单调处理。</a:t>
            </a:r>
          </a:p>
          <a:p>
            <a:r>
              <a:t>主干选择、读出消融、风险表和发布实验使用相同字段角色与数据拆分。</a:t>
            </a:r>
          </a:p>
          <a:p>
            <a:r>
              <a:t>报告的是有限样本、指定模型族下的经验能力。</a:t>
            </a:r>
          </a:p>
          <a:p/>
          <a:p>
            <a:r>
              <a:t>区分训练内部选择和研究方案开发：103号记录主估计器选型参照过测试MAE，因此不能将本轮方法开发写成完全未接触测试误差。101号独立审计是另一个历史实验；106号发布审查不是时间块独立重跑。</a:t>
            </a:r>
          </a:p>
          <a:p/>
          <a:p>
            <a:r>
              <a:t>来源：</a:t>
            </a:r>
          </a:p>
          <a:p>
            <a:r>
              <a:t>DNN_Aggresvation102/CHANGELOG.md</a:t>
            </a:r>
          </a:p>
          <a:p>
            <a:r>
              <a:t>DNN_Aggresvation103/CHANGELOG.md</a:t>
            </a:r>
          </a:p>
          <a:p>
            <a:r>
              <a:t>paper/FINAL_PROTOCOL.md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次组会 · 第 3 页</a:t>
            </a:r>
          </a:p>
          <a:p>
            <a:r>
              <a:t>完成单目标／多目标主干对照</a:t>
            </a:r>
          </a:p>
          <a:p/>
          <a:p>
            <a:r>
              <a:t>单种子对照中，多目标主干的集合值误差更小；一次查询可以同时服务 12 个目标。</a:t>
            </a:r>
          </a:p>
          <a:p>
            <a:r>
              <a:t>保留多目标主干作为正式配置，单目标主干作为消融。原图蓝色为 PJM，橙色为 CAISO。</a:t>
            </a:r>
          </a:p>
          <a:p/>
          <a:p/>
          <a:p>
            <a:r>
              <a:t>来源：</a:t>
            </a:r>
          </a:p>
          <a:p>
            <a:r>
              <a:t>DNN_Aggresvation102/CHANGELOG.md</a:t>
            </a:r>
          </a:p>
          <a:p>
            <a:r>
              <a:t>DNN_Aggresvation102/figures/fig1_single_vs_multi.png</a:t>
            </a:r>
          </a:p>
          <a:p/>
          <a:p>
            <a:r>
              <a:t>图像处理：</a:t>
            </a:r>
          </a:p>
          <a:p>
            <a:r>
              <a:t>DNN_Aggresvation102/figures/fig1_single_vs_multi.png；原始图片直接嵌入，仅PPT显示裁剪 (0, 0.11, 0.255, 1)，可恢复。</a:t>
            </a:r>
          </a:p>
          <a:p>
            <a:r>
              <a:t>DNN_Aggresvation102/figures/fig1_single_vs_multi.png；原始图片直接嵌入，仅PPT显示裁剪 (0.745, 0.11, 1,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次组会 · 第 4 页</a:t>
            </a:r>
          </a:p>
          <a:p>
            <a:r>
              <a:t>量化单目标方案的重复开销</a:t>
            </a:r>
          </a:p>
          <a:p/>
          <a:p>
            <a:r>
              <a:t>12 个目标的查询：PJM 46.5 ms 对 4.4 ms；CAISO 60.0 ms 对 5.6 ms。</a:t>
            </a:r>
          </a:p>
          <a:p>
            <a:r>
              <a:t>单目标预学习也需要重复训练。本轮同时根据精度和成本确定共享多目标方案。</a:t>
            </a:r>
          </a:p>
          <a:p/>
          <a:p/>
          <a:p>
            <a:r>
              <a:t>来源：</a:t>
            </a:r>
          </a:p>
          <a:p>
            <a:r>
              <a:t>DNN_Aggresvation102/CHANGELOG.md</a:t>
            </a:r>
          </a:p>
          <a:p>
            <a:r>
              <a:t>DNN_Aggresvation102/figures/fig2_single_cost.png</a:t>
            </a:r>
          </a:p>
          <a:p/>
          <a:p>
            <a:r>
              <a:t>图像处理：</a:t>
            </a:r>
          </a:p>
          <a:p>
            <a:r>
              <a:t>DNN_Aggresvation102/figures/fig2_single_cost.png；原始图片直接嵌入，无重绘。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次组会 · 第 5 页</a:t>
            </a:r>
          </a:p>
          <a:p>
            <a:r>
              <a:t>补齐三模型经验参考值</a:t>
            </a:r>
          </a:p>
          <a:p/>
          <a:p>
            <a:r>
              <a:t>103 号补算单目标 DNN 全量结果，形成正式参考表；树模型与两种 DNN 各有贡献。</a:t>
            </a:r>
          </a:p>
          <a:p>
            <a:r>
              <a:t>单一多目标 DNN 会低估部分集合能力；K≤2 正式结果统一按新参考表重新计算。</a:t>
            </a:r>
          </a:p>
          <a:p/>
          <a:p/>
          <a:p>
            <a:r>
              <a:t>来源：</a:t>
            </a:r>
          </a:p>
          <a:p>
            <a:r>
              <a:t>DNN_Aggresvation103/CHANGELOG.md</a:t>
            </a:r>
          </a:p>
          <a:p>
            <a:r>
              <a:t>DNN_Aggresvation103/figures/fig3_attacker_share.png</a:t>
            </a:r>
          </a:p>
          <a:p/>
          <a:p>
            <a:r>
              <a:t>图像处理：</a:t>
            </a:r>
          </a:p>
          <a:p>
            <a:r>
              <a:t>DNN_Aggresvation103/figures/fig3_attacker_share.png；原始图片直接嵌入，无重绘。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次组会 · 第 6 页</a:t>
            </a:r>
          </a:p>
          <a:p>
            <a:r>
              <a:t>重做读出组件比较</a:t>
            </a:r>
          </a:p>
          <a:p/>
          <a:p>
            <a:r>
              <a:t>在正式参考表上比较共享输出头与按集合求解的闭式读出。</a:t>
            </a:r>
          </a:p>
          <a:p>
            <a:r>
              <a:t>PJM 的 M² MAE 从约 0.118 降至 0.032；CAISO 也明显改善。</a:t>
            </a:r>
          </a:p>
          <a:p>
            <a:r>
              <a:t>逐集合适配读出是本轮最主要的有效改动。蓝色为 PJM，橙色为 CAISO。</a:t>
            </a:r>
          </a:p>
          <a:p/>
          <a:p/>
          <a:p>
            <a:r>
              <a:t>来源：</a:t>
            </a:r>
          </a:p>
          <a:p>
            <a:r>
              <a:t>DNN_Aggresvation103/CHANGELOG.md</a:t>
            </a:r>
          </a:p>
          <a:p>
            <a:r>
              <a:t>DNN_Aggresvation103/figures/fig1_baselines.png</a:t>
            </a:r>
          </a:p>
          <a:p/>
          <a:p>
            <a:r>
              <a:t>图像处理：</a:t>
            </a:r>
          </a:p>
          <a:p>
            <a:r>
              <a:t>DNN_Aggresvation103/figures/fig1_baselines.png；原始图片直接嵌入，仅PPT显示裁剪 (0.493, 0.1, 0.755,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次组会 · 第 7 页</a:t>
            </a:r>
          </a:p>
          <a:p>
            <a:r>
              <a:t>生成正式字段风险全表</a:t>
            </a:r>
          </a:p>
          <a:p/>
          <a:p>
            <a:r>
              <a:t>104 号形成 2×12×41×3＝2,952 条字段—目标—预算记录，并保存风险值和支撑背景。</a:t>
            </a:r>
          </a:p>
          <a:p>
            <a:r>
              <a:t>τ=0.7：PJM 的关键条目由 K=0 的 11 条增至 K=2 的 337 条；CAISO 由 18 增至 246 条。</a:t>
            </a:r>
          </a:p>
          <a:p/>
          <a:p>
            <a:r>
              <a:t>每个数据集有492个字段—目标条目，并不是337个不同字段。原图展示风险均值与放大条目占比，关键性统计取同号正式汇总表。</a:t>
            </a:r>
          </a:p>
          <a:p/>
          <a:p>
            <a:r>
              <a:t>来源：</a:t>
            </a:r>
          </a:p>
          <a:p>
            <a:r>
              <a:t>DNN_Aggresvation104/CHANGELOG.md</a:t>
            </a:r>
          </a:p>
          <a:p>
            <a:r>
              <a:t>DNN_Aggresvation104/figures/fig3_escalation_official.png</a:t>
            </a:r>
          </a:p>
          <a:p/>
          <a:p>
            <a:r>
              <a:t>图像处理：</a:t>
            </a:r>
          </a:p>
          <a:p>
            <a:r>
              <a:t>DNN_Aggresvation104/figures/fig3_escalation_official.png；原始图片直接嵌入，无重绘。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次组会 · 第 8 页</a:t>
            </a:r>
          </a:p>
          <a:p>
            <a:r>
              <a:t>完成评分基线比较</a:t>
            </a:r>
          </a:p>
          <a:p/>
          <a:p>
            <a:r>
              <a:t>置换重要性、SAGE 和一般相关性评分的效果较弱；精确单字段能力是很强的排序基线。</a:t>
            </a:r>
          </a:p>
          <a:p>
            <a:r>
              <a:t>PJM 上单字段与估计 M² 的 PR-AUC 接近，因此贡献表述落在风险幅度、具体背景和阈值证据上。</a:t>
            </a:r>
          </a:p>
          <a:p/>
          <a:p/>
          <a:p>
            <a:r>
              <a:t>来源：</a:t>
            </a:r>
          </a:p>
          <a:p>
            <a:r>
              <a:t>DNN_Aggresvation105/CHANGELOG.md</a:t>
            </a:r>
          </a:p>
          <a:p>
            <a:r>
              <a:t>DNN_Aggresvation105/figures/fig1_baseline_pr.png</a:t>
            </a:r>
          </a:p>
          <a:p/>
          <a:p>
            <a:r>
              <a:t>图像处理：</a:t>
            </a:r>
          </a:p>
          <a:p>
            <a:r>
              <a:t>DNN_Aggresvation105/figures/fig1_baseline_pr.png；原始图片直接嵌入，无重绘。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次组会 · 第 9 页</a:t>
            </a:r>
          </a:p>
          <a:p>
            <a:r>
              <a:t>完成发布规则的漏放／误拒评估</a:t>
            </a:r>
          </a:p>
          <a:p/>
          <a:p>
            <a:r>
              <a:t>每个数据集抽取 2,000 个三字段集合：单字段规则漏放约 19%／56% 的真实危险集合。</a:t>
            </a:r>
          </a:p>
          <a:p>
            <a:r>
              <a:t>精确 M 预算本次无漏放，但误拒约 86%／74%；逐阶预算降至约 50%／33%，展示了保守性的代价。</a:t>
            </a:r>
          </a:p>
          <a:p/>
          <a:p>
            <a:r>
              <a:t>危险放行率以真实危险集合为分母。零漏放仅是当前实验观察。图中还保留线性规则、直接估计与估计预算的结果。</a:t>
            </a:r>
          </a:p>
          <a:p/>
          <a:p>
            <a:r>
              <a:t>来源：</a:t>
            </a:r>
          </a:p>
          <a:p>
            <a:r>
              <a:t>DNN_Aggresvation106/CHANGELOG.md</a:t>
            </a:r>
          </a:p>
          <a:p>
            <a:r>
              <a:t>DNN_Aggresvation106/figures/fig1_release_audit.png</a:t>
            </a:r>
          </a:p>
          <a:p/>
          <a:p>
            <a:r>
              <a:t>图像处理：</a:t>
            </a:r>
          </a:p>
          <a:p>
            <a:r>
              <a:t>DNN_Aggresvation106/figures/fig1_release_audit.png；原始图片直接嵌入，无重绘。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次组会 · 第 10 页</a:t>
            </a:r>
          </a:p>
          <a:p>
            <a:r>
              <a:t>增加前三背景认证与区间报告</a:t>
            </a:r>
          </a:p>
          <a:p/>
          <a:p>
            <a:r>
              <a:t>108 号改为验证前三个背景：PJM K=2 的认证恢复比从 0.822 提高到 0.908。</a:t>
            </a:r>
          </a:p>
          <a:p>
            <a:r>
              <a:t>补做留一字段校准，α=0.01 的经验覆盖率约 98%；所需参考集合已在正式表中，无需额外训练。</a:t>
            </a:r>
          </a:p>
          <a:p/>
          <a:p/>
          <a:p>
            <a:r>
              <a:t>来源：</a:t>
            </a:r>
          </a:p>
          <a:p>
            <a:r>
              <a:t>DNN_Aggresvation108/CHANGELOG.md</a:t>
            </a:r>
          </a:p>
          <a:p>
            <a:r>
              <a:t>DNN_Aggresvation108/figures/fig1_interval_bounds.png</a:t>
            </a:r>
          </a:p>
          <a:p/>
          <a:p>
            <a:r>
              <a:t>图像处理：</a:t>
            </a:r>
          </a:p>
          <a:p>
            <a:r>
              <a:t>DNN_Aggresvation108/figures/fig1_interval_bounds.png；原始图片直接嵌入，仅PPT显示裁剪 (0, 0.11, 0.345, 1)，可恢复。</a:t>
            </a:r>
          </a:p>
          <a:p>
            <a:r>
              <a:t>DNN_Aggresvation108/figures/fig1_interval_bounds.png；原始图片直接嵌入，仅PPT显示裁剪 (0.675, 0.11, 1,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次组会 · 第 11 页</a:t>
            </a:r>
          </a:p>
          <a:p>
            <a:r>
              <a:t>量化区间判定的收益与代价</a:t>
            </a:r>
          </a:p>
          <a:p/>
          <a:p>
            <a:r>
              <a:t>PJM、τ=0.7：召回从 0.754 提高到 0.994，同时精确率降至 0.870。</a:t>
            </a:r>
          </a:p>
          <a:p>
            <a:r>
              <a:t>τ=0.9 时误报更明显，因此采用保守筛选后验证的流程；元训练版本和口径不同的 K=3 结果移作补充。</a:t>
            </a:r>
          </a:p>
          <a:p/>
          <a:p/>
          <a:p>
            <a:r>
              <a:t>来源：</a:t>
            </a:r>
          </a:p>
          <a:p>
            <a:r>
              <a:t>DNN_Aggresvation108/CHANGELOG.md</a:t>
            </a:r>
          </a:p>
          <a:p>
            <a:r>
              <a:t>DNN_Aggresvation108/figures/fig2_critical_interval.png</a:t>
            </a:r>
          </a:p>
          <a:p/>
          <a:p>
            <a:r>
              <a:t>图像处理：</a:t>
            </a:r>
          </a:p>
          <a:p>
            <a:r>
              <a:t>DNN_Aggresvation108/figures/fig2_critical_interval.png；原始图片直接嵌入，无重绘。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次组会 · 第 12 页</a:t>
            </a:r>
          </a:p>
          <a:p>
            <a:r>
              <a:t>补做辅助标签量敏感性实验</a:t>
            </a:r>
          </a:p>
          <a:p/>
          <a:p>
            <a:r>
              <a:t>109 号比较 10%、25%、50%、100% 的嵌套数据量；只用多目标 DNN，四档内部保持可比。</a:t>
            </a:r>
          </a:p>
          <a:p>
            <a:r>
              <a:t>10% 数据下三字段集合能力仍保留约 81%／90%；与此同时，部分小样本 M 反而高于完整数据。</a:t>
            </a:r>
          </a:p>
          <a:p/>
          <a:p/>
          <a:p>
            <a:r>
              <a:t>来源：</a:t>
            </a:r>
          </a:p>
          <a:p>
            <a:r>
              <a:t>DNN_Aggresvation109/CHANGELOG.md</a:t>
            </a:r>
          </a:p>
          <a:p>
            <a:r>
              <a:t>DNN_Aggresvation109/figures/fig1_naux_v_m.png</a:t>
            </a:r>
          </a:p>
          <a:p/>
          <a:p>
            <a:r>
              <a:t>图像处理：</a:t>
            </a:r>
          </a:p>
          <a:p>
            <a:r>
              <a:t>DNN_Aggresvation109/figures/fig1_naux_v_m.png；原始图片直接嵌入，仅PPT显示裁剪 (0, 0.12, 0.675,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次组会 · 第 13 页</a:t>
            </a:r>
          </a:p>
          <a:p>
            <a:r>
              <a:t>完成小样本最大值偏差的排查</a:t>
            </a:r>
          </a:p>
          <a:p/>
          <a:p>
            <a:r>
              <a:t>对 M 的变化分解后，发现能力下降与背景选择增益同时存在。</a:t>
            </a:r>
          </a:p>
          <a:p>
            <a:r>
              <a:t>小样本下选择增益可能盖过能力下降，不能据此解释成“数据越少越危险”。</a:t>
            </a:r>
          </a:p>
          <a:p>
            <a:r>
              <a:t>评价时同时报告认证与区间，辅助标签量实验已完成解释与口径修正。</a:t>
            </a:r>
          </a:p>
          <a:p/>
          <a:p/>
          <a:p>
            <a:r>
              <a:t>来源：</a:t>
            </a:r>
          </a:p>
          <a:p>
            <a:r>
              <a:t>DNN_Aggresvation109/CHANGELOG.md</a:t>
            </a:r>
          </a:p>
          <a:p>
            <a:r>
              <a:t>DNN_Aggresvation109/figures/fig4_winners_curse.png</a:t>
            </a:r>
          </a:p>
          <a:p/>
          <a:p>
            <a:r>
              <a:t>图像处理：</a:t>
            </a:r>
          </a:p>
          <a:p>
            <a:r>
              <a:t>DNN_Aggresvation109/figures/fig4_winners_curse.png；原始图片直接嵌入，仅PPT显示裁剪 (0.337, 0.12, 0.674,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次组会 · 第 14 页</a:t>
            </a:r>
          </a:p>
          <a:p>
            <a:r>
              <a:t>本次完成的工作</a:t>
            </a:r>
          </a:p>
          <a:p/>
          <a:p>
            <a:r>
              <a:t>102—103：确定共享主干、正式参考族和读出方案。</a:t>
            </a:r>
          </a:p>
          <a:p>
            <a:r>
              <a:t>104—106：风险全表、字段评分、发布规则均已完成。</a:t>
            </a:r>
          </a:p>
          <a:p>
            <a:r>
              <a:t>107—109：结果核查、认证与区间补充、辅助标签量实验已收束。</a:t>
            </a:r>
          </a:p>
          <a:p>
            <a:r>
              <a:t>对应英文论文 V3 的完整首轮证据已形成，阶段结果和适用范围均已记录。</a:t>
            </a:r>
          </a:p>
          <a:p/>
          <a:p/>
          <a:p>
            <a:r>
              <a:t>来源：</a:t>
            </a:r>
          </a:p>
          <a:p>
            <a:r>
              <a:t>DNN_Aggresvation107/CHANGELOG.md</a:t>
            </a:r>
          </a:p>
          <a:p>
            <a:r>
              <a:t>DNN_Aggresvation108/CHANGELOG.md</a:t>
            </a:r>
          </a:p>
          <a:p>
            <a:r>
              <a:t>DNN_Aggresvation109/CHANGELOG.md</a:t>
            </a:r>
          </a:p>
          <a:p>
            <a:r>
              <a:t>paper/claude/V3_en/README.md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本次工作：正式协议与完整评估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对应 102—109 号文件夹</a:t>
            </a:r>
          </a:p>
        </p:txBody>
      </p:sp>
      <p:sp>
        <p:nvSpPr>
          <p:cNvPr id="4" name="说明文字"/>
          <p:cNvSpPr txBox="1"/>
          <p:nvPr/>
        </p:nvSpPr>
        <p:spPr>
          <a:xfrm>
            <a:off x="777240" y="2240280"/>
            <a:ext cx="106527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统一正式实验协议，比较单／多目标主干和参考模型族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生成完整风险表，完成评分基线与发布规则比较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补齐背景认证、区间评价和辅助标签量实验，形成 V3 阶段论文结果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对应：对应 102—109 号文件夹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统一正式实验协议</a:t>
            </a:r>
          </a:p>
        </p:txBody>
      </p:sp>
      <p:sp>
        <p:nvSpPr>
          <p:cNvPr id="3" name="说明文字"/>
          <p:cNvSpPr txBox="1"/>
          <p:nvPr/>
        </p:nvSpPr>
        <p:spPr>
          <a:xfrm>
            <a:off x="685800" y="1280160"/>
            <a:ext cx="10881360" cy="501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训练集拟合主干与专用模型；验证集选择攻击器轮次／类型和读出超参数；测试集报告样本外表现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参考能力来自单目标 DNN、多目标 DNN、梯度提升树的既定选择协议及单调处理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主干选择、读出消融、风险表和发布实验使用相同字段角色与数据拆分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报告的是有限样本、指定模型族下的经验能力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对应：102、103、paper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完成单目标／多目标主干对照</a:t>
            </a:r>
          </a:p>
        </p:txBody>
      </p:sp>
      <p:pic>
        <p:nvPicPr>
          <p:cNvPr id="3" name="DNN_Aggresvation102/figures/fig1_single_vs_multi.png [原图子图裁剪]" descr="原图A：集合值误差"/>
          <p:cNvPicPr>
            <a:picLocks noChangeAspect="1"/>
          </p:cNvPicPr>
          <p:nvPr/>
        </p:nvPicPr>
        <p:blipFill>
          <a:blip r:embed="rId2"/>
          <a:srcRect t="11000" r="74500"/>
          <a:stretch>
            <a:fillRect/>
          </a:stretch>
        </p:blipFill>
        <p:spPr>
          <a:xfrm>
            <a:off x="1198745" y="1069848"/>
            <a:ext cx="4081032" cy="3913632"/>
          </a:xfrm>
          <a:prstGeom prst="rect">
            <a:avLst/>
          </a:prstGeom>
        </p:spPr>
      </p:pic>
      <p:pic>
        <p:nvPicPr>
          <p:cNvPr id="4" name="DNN_Aggresvation102/figures/fig1_single_vs_multi.png [原图子图裁剪]" descr="原图D：关键字段召回"/>
          <p:cNvPicPr>
            <a:picLocks noChangeAspect="1"/>
          </p:cNvPicPr>
          <p:nvPr/>
        </p:nvPicPr>
        <p:blipFill>
          <a:blip r:embed="rId2"/>
          <a:srcRect l="74500" t="11000"/>
          <a:stretch>
            <a:fillRect/>
          </a:stretch>
        </p:blipFill>
        <p:spPr>
          <a:xfrm>
            <a:off x="6900029" y="1069848"/>
            <a:ext cx="4081032" cy="3913632"/>
          </a:xfrm>
          <a:prstGeom prst="rect">
            <a:avLst/>
          </a:prstGeom>
        </p:spPr>
      </p:pic>
      <p:sp>
        <p:nvSpPr>
          <p:cNvPr id="5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单种子对照中，多目标主干的集合值误差更小；一次查询可以同时服务 12 个目标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保留多目标主干作为正式配置，单目标主干作为消融。原图蓝色为 PJM，橙色为 CAISO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对应：102　｜　实验原图（含子图裁剪）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量化单目标方案的重复开销</a:t>
            </a:r>
          </a:p>
        </p:txBody>
      </p:sp>
      <p:pic>
        <p:nvPicPr>
          <p:cNvPr id="3" name="DNN_Aggresvation102/figures/fig2_single_cost.png [原图]" descr="DNN_Aggresvation102/figures/fig2_single_cos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076490"/>
            <a:ext cx="11173968" cy="3900347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12 个目标的查询：PJM 46.5 ms 对 4.4 ms；CAISO 60.0 ms 对 5.6 ms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单目标预学习也需要重复训练。本轮同时根据精度和成本确定共享多目标方案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对应：102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补齐三模型经验参考值</a:t>
            </a:r>
          </a:p>
        </p:txBody>
      </p:sp>
      <p:pic>
        <p:nvPicPr>
          <p:cNvPr id="3" name="DNN_Aggresvation103/figures/fig3_attacker_share.png [原图]" descr="DNN_Aggresvation103/figures/fig3_attacker_shar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073562"/>
            <a:ext cx="11173968" cy="3906203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103 号补算单目标 DNN 全量结果，形成正式参考表；树模型与两种 DNN 各有贡献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单一多目标 DNN 会低估部分集合能力；K≤2 正式结果统一按新参考表重新计算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对应：103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重做读出组件比较</a:t>
            </a:r>
          </a:p>
        </p:txBody>
      </p:sp>
      <p:pic>
        <p:nvPicPr>
          <p:cNvPr id="3" name="DNN_Aggresvation103/figures/fig1_baselines.png [原图子图裁剪]" descr="原图C：M²误差"/>
          <p:cNvPicPr>
            <a:picLocks noChangeAspect="1"/>
          </p:cNvPicPr>
          <p:nvPr/>
        </p:nvPicPr>
        <p:blipFill>
          <a:blip r:embed="rId2"/>
          <a:srcRect l="49300" t="10000" r="24500"/>
          <a:stretch>
            <a:fillRect/>
          </a:stretch>
        </p:blipFill>
        <p:spPr>
          <a:xfrm>
            <a:off x="1079307" y="1170432"/>
            <a:ext cx="5522345" cy="5166360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7498079" y="1417320"/>
            <a:ext cx="4142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在正式参考表上比较共享输出头与按集合求解的闭式读出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PJM 的 M² MAE 从约 0.118 降至 0.032；CAISO 也明显改善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逐集合适配读出是本轮最主要的有效改动。蓝色为 PJM，橙色为 CAISO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对应：103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生成正式字段风险全表</a:t>
            </a:r>
          </a:p>
        </p:txBody>
      </p:sp>
      <p:pic>
        <p:nvPicPr>
          <p:cNvPr id="3" name="DNN_Aggresvation104/figures/fig3_escalation_official.png [原图]" descr="DNN_Aggresvation104/figures/fig3_escalation_offici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073562"/>
            <a:ext cx="11173968" cy="3906203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104 号形成 2×12×41×3＝2,952 条字段—目标—预算记录，并保存风险值和支撑背景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τ=0.7：PJM 的关键条目由 K=0 的 11 条增至 K=2 的 337 条；CAISO 由 18 增至 246 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对应：104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完成评分基线比较</a:t>
            </a:r>
          </a:p>
        </p:txBody>
      </p:sp>
      <p:pic>
        <p:nvPicPr>
          <p:cNvPr id="3" name="DNN_Aggresvation105/figures/fig1_baseline_pr.png [原图]" descr="DNN_Aggresvation105/figures/fig1_baseline_p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201164"/>
            <a:ext cx="11173968" cy="3650999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置换重要性、SAGE 和一般相关性评分的效果较弱；精确单字段能力是很强的排序基线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PJM 上单字段与估计 M² 的 PR-AUC 接近，因此贡献表述落在风险幅度、具体背景和阈值证据上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对应：105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完成发布规则的漏放／误拒评估</a:t>
            </a:r>
          </a:p>
        </p:txBody>
      </p:sp>
      <p:pic>
        <p:nvPicPr>
          <p:cNvPr id="3" name="DNN_Aggresvation106/figures/fig1_release_audit.png [原图]" descr="DNN_Aggresvation106/figures/fig1_release_audi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126152"/>
            <a:ext cx="11173968" cy="3801023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每个数据集抽取 2,000 个三字段集合：单字段规则漏放约 19%／56% 的真实危险集合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精确 M 预算本次无漏放，但误拒约 86%／74%；逐阶预算降至约 50%／33%，展示了保守性的代价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对应：106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增加前三背景认证与区间报告</a:t>
            </a:r>
          </a:p>
        </p:txBody>
      </p:sp>
      <p:pic>
        <p:nvPicPr>
          <p:cNvPr id="3" name="DNN_Aggresvation108/figures/fig1_interval_bounds.png [原图子图裁剪]" descr="原图A：前三背景认证"/>
          <p:cNvPicPr>
            <a:picLocks noChangeAspect="1"/>
          </p:cNvPicPr>
          <p:nvPr/>
        </p:nvPicPr>
        <p:blipFill>
          <a:blip r:embed="rId2"/>
          <a:srcRect t="11000" r="65500"/>
          <a:stretch>
            <a:fillRect/>
          </a:stretch>
        </p:blipFill>
        <p:spPr>
          <a:xfrm>
            <a:off x="716723" y="1069848"/>
            <a:ext cx="5045076" cy="3913632"/>
          </a:xfrm>
          <a:prstGeom prst="rect">
            <a:avLst/>
          </a:prstGeom>
        </p:spPr>
      </p:pic>
      <p:pic>
        <p:nvPicPr>
          <p:cNvPr id="4" name="DNN_Aggresvation108/figures/fig1_interval_bounds.png [原图子图裁剪]" descr="原图C：区间覆盖"/>
          <p:cNvPicPr>
            <a:picLocks noChangeAspect="1"/>
          </p:cNvPicPr>
          <p:nvPr/>
        </p:nvPicPr>
        <p:blipFill>
          <a:blip r:embed="rId2"/>
          <a:srcRect l="67500" t="11000"/>
          <a:stretch>
            <a:fillRect/>
          </a:stretch>
        </p:blipFill>
        <p:spPr>
          <a:xfrm>
            <a:off x="6564241" y="1069848"/>
            <a:ext cx="4752608" cy="3913632"/>
          </a:xfrm>
          <a:prstGeom prst="rect">
            <a:avLst/>
          </a:prstGeom>
        </p:spPr>
      </p:pic>
      <p:sp>
        <p:nvSpPr>
          <p:cNvPr id="5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108 号改为验证前三个背景：PJM K=2 的认证恢复比从 0.822 提高到 0.908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补做留一字段校准，α=0.01 的经验覆盖率约 98%；所需参考集合已在正式表中，无需额外训练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对应：108　｜　实验原图（含子图裁剪）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量化区间判定的收益与代价</a:t>
            </a:r>
          </a:p>
        </p:txBody>
      </p:sp>
      <p:pic>
        <p:nvPicPr>
          <p:cNvPr id="3" name="DNN_Aggresvation108/figures/fig2_critical_interval.png [原图]" descr="DNN_Aggresvation108/figures/fig2_critical_interv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119712"/>
            <a:ext cx="11173968" cy="3813902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PJM、τ=0.7：召回从 0.754 提高到 0.994，同时精确率降至 0.870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τ=0.9 时误报更明显，因此采用保守筛选后验证的流程；元训练版本和口径不同的 K=3 结果移作补充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对应：108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补做辅助标签量敏感性实验</a:t>
            </a:r>
          </a:p>
        </p:txBody>
      </p:sp>
      <p:pic>
        <p:nvPicPr>
          <p:cNvPr id="3" name="DNN_Aggresvation109/figures/fig1_naux_v_m.png [原图子图裁剪]" descr="原图A、B：辅助数据量与V、M"/>
          <p:cNvPicPr>
            <a:picLocks noChangeAspect="1"/>
          </p:cNvPicPr>
          <p:nvPr/>
        </p:nvPicPr>
        <p:blipFill>
          <a:blip r:embed="rId2"/>
          <a:srcRect t="12000" r="32500"/>
          <a:stretch>
            <a:fillRect/>
          </a:stretch>
        </p:blipFill>
        <p:spPr>
          <a:xfrm>
            <a:off x="1116715" y="1069848"/>
            <a:ext cx="9946377" cy="3913632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109 号比较 10%、25%、50%、100% 的嵌套数据量；只用多目标 DNN，四档内部保持可比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10% 数据下三字段集合能力仍保留约 81%／90%；与此同时，部分小样本 M 反而高于完整数据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对应：109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完成小样本最大值偏差的排查</a:t>
            </a:r>
          </a:p>
        </p:txBody>
      </p:sp>
      <p:pic>
        <p:nvPicPr>
          <p:cNvPr id="3" name="DNN_Aggresvation109/figures/fig4_winners_curse.png [原图子图裁剪]" descr="原图B：能力下降与选择增益分解"/>
          <p:cNvPicPr>
            <a:picLocks noChangeAspect="1"/>
          </p:cNvPicPr>
          <p:nvPr/>
        </p:nvPicPr>
        <p:blipFill>
          <a:blip r:embed="rId2"/>
          <a:srcRect l="33700" t="12000" r="32600"/>
          <a:stretch>
            <a:fillRect/>
          </a:stretch>
        </p:blipFill>
        <p:spPr>
          <a:xfrm>
            <a:off x="562806" y="1170432"/>
            <a:ext cx="6555347" cy="5166360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7498079" y="1417320"/>
            <a:ext cx="4142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对 M 的变化分解后，发现能力下降与背景选择增益同时存在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小样本下选择增益可能盖过能力下降，不能据此解释成“数据越少越危险”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评价时同时报告认证与区间，辅助标签量实验已完成解释与口径修正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对应：109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本次完成的工作</a:t>
            </a:r>
          </a:p>
        </p:txBody>
      </p:sp>
      <p:sp>
        <p:nvSpPr>
          <p:cNvPr id="3" name="说明文字"/>
          <p:cNvSpPr txBox="1"/>
          <p:nvPr/>
        </p:nvSpPr>
        <p:spPr>
          <a:xfrm>
            <a:off x="685800" y="1280160"/>
            <a:ext cx="10881360" cy="501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102—103：确定共享主干、正式参考族和读出方案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104—106：风险全表、字段评分、发布规则均已完成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107—109：结果核查、认证与区间补充、辅助标签量实验已收束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对应英文论文 V3 的完整首轮证据已形成，阶段结果和适用范围均已记录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对应：107、108、109、paper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正式协议与完整评估</dc:title>
  <dc:subject>组会进展汇报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