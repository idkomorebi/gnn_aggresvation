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8.svg" ContentType="image/svg+xml"/>
  <Override PartName="/ppt/media/image2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837" r:id="rId3"/>
    <p:sldId id="2839" r:id="rId4"/>
    <p:sldId id="2831" r:id="rId5"/>
    <p:sldId id="2838" r:id="rId6"/>
    <p:sldId id="2845" r:id="rId7"/>
    <p:sldId id="2846" r:id="rId8"/>
    <p:sldId id="2847" r:id="rId9"/>
    <p:sldId id="2852" r:id="rId10"/>
    <p:sldId id="2848" r:id="rId11"/>
    <p:sldId id="2849" r:id="rId12"/>
    <p:sldId id="2850" r:id="rId13"/>
    <p:sldId id="2851" r:id="rId14"/>
    <p:sldId id="2834" r:id="rId15"/>
    <p:sldId id="2853" r:id="rId16"/>
    <p:sldId id="2854" r:id="rId17"/>
    <p:sldId id="2855" r:id="rId18"/>
    <p:sldId id="2856" r:id="rId19"/>
    <p:sldId id="2857" r:id="rId20"/>
    <p:sldId id="2858" r:id="rId21"/>
    <p:sldId id="2859" r:id="rId22"/>
    <p:sldId id="2860" r:id="rId23"/>
    <p:sldId id="2861" r:id="rId24"/>
    <p:sldId id="2862" r:id="rId25"/>
    <p:sldId id="2863" r:id="rId26"/>
    <p:sldId id="2864" r:id="rId27"/>
    <p:sldId id="2865" r:id="rId28"/>
    <p:sldId id="2866" r:id="rId29"/>
    <p:sldId id="2867" r:id="rId30"/>
    <p:sldId id="2868" r:id="rId31"/>
    <p:sldId id="2869" r:id="rId32"/>
    <p:sldId id="2870" r:id="rId33"/>
    <p:sldId id="2871" r:id="rId34"/>
    <p:sldId id="2872" r:id="rId35"/>
    <p:sldId id="2873" r:id="rId36"/>
    <p:sldId id="2874" r:id="rId37"/>
    <p:sldId id="2875" r:id="rId38"/>
    <p:sldId id="2876" r:id="rId39"/>
    <p:sldId id="2879" r:id="rId40"/>
    <p:sldId id="2877" r:id="rId41"/>
    <p:sldId id="2842"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208"/>
    <a:srgbClr val="025BB5"/>
    <a:srgbClr val="005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24" d="100"/>
          <a:sy n="124" d="100"/>
        </p:scale>
        <p:origin x="78" y="45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notesMaster" Target="notesMasters/notesMaster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5F46AF-8510-40B5-9E0C-75627CDA9C2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B0AFDC-836C-4ED5-B957-2FE30670CEC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2" name="直接连接符 1"/>
          <p:cNvCxnSpPr/>
          <p:nvPr userDrawn="1"/>
        </p:nvCxnSpPr>
        <p:spPr>
          <a:xfrm>
            <a:off x="696000" y="1014463"/>
            <a:ext cx="10800000" cy="0"/>
          </a:xfrm>
          <a:prstGeom prst="line">
            <a:avLst/>
          </a:prstGeom>
          <a:ln w="12700">
            <a:solidFill>
              <a:srgbClr val="3B4681"/>
            </a:solidFill>
          </a:ln>
        </p:spPr>
        <p:style>
          <a:lnRef idx="1">
            <a:schemeClr val="accent1"/>
          </a:lnRef>
          <a:fillRef idx="0">
            <a:schemeClr val="accent1"/>
          </a:fillRef>
          <a:effectRef idx="0">
            <a:schemeClr val="accent1"/>
          </a:effectRef>
          <a:fontRef idx="minor">
            <a:schemeClr val="tx1"/>
          </a:fontRef>
        </p:style>
      </p:cxnSp>
      <p:pic>
        <p:nvPicPr>
          <p:cNvPr id="3"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463797" y="367263"/>
            <a:ext cx="2112253" cy="5657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lumMod val="50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©CSG 2020. All Rights Reserved</a:t>
            </a:r>
            <a:endParaRPr kumimoji="0" lang="en-US" altLang="zh-CN" sz="1200" b="0" i="0" u="none" strike="noStrike" kern="1200" cap="none" spc="0" normalizeH="0" baseline="0" noProof="0" dirty="0">
              <a:ln>
                <a:noFill/>
              </a:ln>
              <a:solidFill>
                <a:srgbClr val="FFFFFF">
                  <a:lumMod val="50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 name="直接连接符 2"/>
          <p:cNvCxnSpPr/>
          <p:nvPr userDrawn="1"/>
        </p:nvCxnSpPr>
        <p:spPr>
          <a:xfrm>
            <a:off x="0" y="836712"/>
            <a:ext cx="12192000" cy="0"/>
          </a:xfrm>
          <a:prstGeom prst="line">
            <a:avLst/>
          </a:prstGeom>
          <a:ln>
            <a:solidFill>
              <a:srgbClr val="00377B"/>
            </a:solidFill>
          </a:ln>
        </p:spPr>
        <p:style>
          <a:lnRef idx="1">
            <a:schemeClr val="accent1"/>
          </a:lnRef>
          <a:fillRef idx="0">
            <a:schemeClr val="accent1"/>
          </a:fillRef>
          <a:effectRef idx="0">
            <a:schemeClr val="accent1"/>
          </a:effectRef>
          <a:fontRef idx="minor">
            <a:schemeClr val="tx1"/>
          </a:fontRef>
        </p:style>
      </p:cxnSp>
      <p:sp>
        <p:nvSpPr>
          <p:cNvPr id="4" name="燕尾形 29"/>
          <p:cNvSpPr/>
          <p:nvPr userDrawn="1"/>
        </p:nvSpPr>
        <p:spPr>
          <a:xfrm>
            <a:off x="435495" y="388820"/>
            <a:ext cx="333375" cy="309995"/>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34"/>
          <p:cNvSpPr/>
          <p:nvPr userDrawn="1"/>
        </p:nvSpPr>
        <p:spPr>
          <a:xfrm>
            <a:off x="154940" y="388820"/>
            <a:ext cx="337705" cy="309995"/>
          </a:xfrm>
          <a:prstGeom prst="chevron">
            <a:avLst/>
          </a:prstGeom>
          <a:solidFill>
            <a:srgbClr val="B501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tags" Target="../tags/tag8.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4.xml"/><Relationship Id="rId6" Type="http://schemas.openxmlformats.org/officeDocument/2006/relationships/image" Target="../media/image12.png"/><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svg"/><Relationship Id="rId2" Type="http://schemas.openxmlformats.org/officeDocument/2006/relationships/image" Target="../media/image17.png"/><Relationship Id="rId12" Type="http://schemas.openxmlformats.org/officeDocument/2006/relationships/slideLayout" Target="../slideLayouts/slideLayout2.xml"/><Relationship Id="rId11" Type="http://schemas.openxmlformats.org/officeDocument/2006/relationships/image" Target="../media/image26.png"/><Relationship Id="rId10" Type="http://schemas.openxmlformats.org/officeDocument/2006/relationships/image" Target="../media/image25.png"/><Relationship Id="rId1" Type="http://schemas.openxmlformats.org/officeDocument/2006/relationships/image" Target="../media/image16.jpeg"/></Relationships>
</file>

<file path=ppt/slides/_rels/slide13.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15.png"/><Relationship Id="rId12" Type="http://schemas.openxmlformats.org/officeDocument/2006/relationships/slideLayout" Target="../slideLayouts/slideLayout2.xml"/><Relationship Id="rId11" Type="http://schemas.openxmlformats.org/officeDocument/2006/relationships/image" Target="../media/image36.png"/><Relationship Id="rId10" Type="http://schemas.openxmlformats.org/officeDocument/2006/relationships/image" Target="../media/image35.png"/><Relationship Id="rId1" Type="http://schemas.openxmlformats.org/officeDocument/2006/relationships/image" Target="../media/image27.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image" Target="../media/image39.jpe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hdphoto" Target="../media/image43.wdp"/><Relationship Id="rId4" Type="http://schemas.openxmlformats.org/officeDocument/2006/relationships/image" Target="../media/image4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4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6.png"/><Relationship Id="rId1" Type="http://schemas.openxmlformats.org/officeDocument/2006/relationships/image" Target="../media/image55.png"/></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7.emf"/><Relationship Id="rId1"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26.xml.rels><?xml version="1.0" encoding="UTF-8" standalone="yes"?>
<Relationships xmlns="http://schemas.openxmlformats.org/package/2006/relationships"><Relationship Id="rId9" Type="http://schemas.openxmlformats.org/officeDocument/2006/relationships/image" Target="../media/image77.png"/><Relationship Id="rId8" Type="http://schemas.openxmlformats.org/officeDocument/2006/relationships/image" Target="../media/image76.png"/><Relationship Id="rId7" Type="http://schemas.openxmlformats.org/officeDocument/2006/relationships/image" Target="../media/image75.png"/><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1" Type="http://schemas.openxmlformats.org/officeDocument/2006/relationships/slideLayout" Target="../slideLayouts/slideLayout2.xml"/><Relationship Id="rId10" Type="http://schemas.openxmlformats.org/officeDocument/2006/relationships/image" Target="../media/image78.png"/><Relationship Id="rId1" Type="http://schemas.openxmlformats.org/officeDocument/2006/relationships/image" Target="../media/image69.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image" Target="../media/image83.pn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86.png"/></Relationships>
</file>

<file path=ppt/slides/_rels/slide3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image" Target="../media/image92.png"/></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3.emf"/><Relationship Id="rId5" Type="http://schemas.openxmlformats.org/officeDocument/2006/relationships/image" Target="../media/image102.png"/><Relationship Id="rId4" Type="http://schemas.openxmlformats.org/officeDocument/2006/relationships/image" Target="../media/image101.png"/><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image" Target="../media/image98.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7.png"/><Relationship Id="rId3" Type="http://schemas.openxmlformats.org/officeDocument/2006/relationships/image" Target="../media/image106.png"/><Relationship Id="rId2" Type="http://schemas.openxmlformats.org/officeDocument/2006/relationships/image" Target="../media/image105.emf"/><Relationship Id="rId1" Type="http://schemas.openxmlformats.org/officeDocument/2006/relationships/image" Target="../media/image104.emf"/></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9.png"/><Relationship Id="rId1" Type="http://schemas.openxmlformats.org/officeDocument/2006/relationships/image" Target="../media/image108.png"/></Relationships>
</file>

<file path=ppt/slides/_rels/slide34.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image" Target="../media/image112.png"/><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111.png"/><Relationship Id="rId3" Type="http://schemas.openxmlformats.org/officeDocument/2006/relationships/tags" Target="../tags/tag16.xml"/><Relationship Id="rId2" Type="http://schemas.openxmlformats.org/officeDocument/2006/relationships/tags" Target="../tags/tag15.xml"/><Relationship Id="rId10" Type="http://schemas.openxmlformats.org/officeDocument/2006/relationships/slideLayout" Target="../slideLayouts/slideLayout2.xml"/><Relationship Id="rId1" Type="http://schemas.openxmlformats.org/officeDocument/2006/relationships/image" Target="../media/image110.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image" Target="../media/image113.png"/></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5.png"/><Relationship Id="rId3" Type="http://schemas.openxmlformats.org/officeDocument/2006/relationships/image" Target="../media/image114.png"/><Relationship Id="rId2" Type="http://schemas.openxmlformats.org/officeDocument/2006/relationships/tags" Target="../tags/tag24.xml"/><Relationship Id="rId1" Type="http://schemas.openxmlformats.org/officeDocument/2006/relationships/tags" Target="../tags/tag23.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image" Target="../media/image116.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1454963" y="1195648"/>
            <a:ext cx="9396184" cy="2085340"/>
          </a:xfrm>
          <a:prstGeom prst="rect">
            <a:avLst/>
          </a:prstGeom>
        </p:spPr>
        <p:txBody>
          <a:bodyPr wrap="square">
            <a:spAutoFit/>
          </a:bodyPr>
          <a:lstStyle/>
          <a:p>
            <a:pPr algn="ctr">
              <a:lnSpc>
                <a:spcPct val="120000"/>
              </a:lnSpc>
              <a:buFont typeface="Arial" panose="020B0604020202020204" pitchFamily="34" charset="0"/>
              <a:buNone/>
            </a:pPr>
            <a:r>
              <a:rPr lang="zh-CN" altLang="en-US" sz="5400" b="1" noProof="0" dirty="0">
                <a:ln>
                  <a:noFill/>
                </a:ln>
                <a:gradFill flip="none" rotWithShape="1">
                  <a:gsLst>
                    <a:gs pos="0">
                      <a:srgbClr val="FFC000">
                        <a:lumMod val="60000"/>
                        <a:lumOff val="40000"/>
                      </a:srgbClr>
                    </a:gs>
                    <a:gs pos="100000">
                      <a:prstClr val="white"/>
                    </a:gs>
                  </a:gsLst>
                  <a:lin ang="5400000" scaled="1"/>
                  <a:tileRect/>
                </a:gra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电力敏感信息暴露风险评估及防范关键技术研究项目</a:t>
            </a:r>
            <a:endParaRPr kumimoji="1" lang="zh-CN" altLang="zh-CN" sz="5400" b="1" i="0" u="none" strike="noStrike" kern="1200" cap="none" spc="0" normalizeH="0" baseline="0" noProof="0" dirty="0">
              <a:ln>
                <a:noFill/>
              </a:ln>
              <a:gradFill flip="none" rotWithShape="1">
                <a:gsLst>
                  <a:gs pos="0">
                    <a:srgbClr val="FFC000">
                      <a:lumMod val="60000"/>
                      <a:lumOff val="40000"/>
                    </a:srgbClr>
                  </a:gs>
                  <a:gs pos="100000">
                    <a:prstClr val="white"/>
                  </a:gs>
                </a:gsLst>
                <a:lin ang="5400000" scaled="1"/>
                <a:tileRect/>
              </a:gra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5" name="组合 14"/>
          <p:cNvGrpSpPr/>
          <p:nvPr/>
        </p:nvGrpSpPr>
        <p:grpSpPr>
          <a:xfrm>
            <a:off x="1454963" y="3362387"/>
            <a:ext cx="9282074" cy="309525"/>
            <a:chOff x="1614758" y="3602052"/>
            <a:chExt cx="9282074" cy="309525"/>
          </a:xfrm>
        </p:grpSpPr>
        <p:sp>
          <p:nvSpPr>
            <p:cNvPr id="8" name="文本占位符 2"/>
            <p:cNvSpPr txBox="1"/>
            <p:nvPr/>
          </p:nvSpPr>
          <p:spPr>
            <a:xfrm>
              <a:off x="3891728" y="3602052"/>
              <a:ext cx="4676174" cy="3095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sz="2000" b="1" dirty="0">
                  <a:solidFill>
                    <a:schemeClr val="bg1"/>
                  </a:solidFill>
                  <a:latin typeface="微软雅黑" panose="020B0503020204020204" pitchFamily="34" charset="-122"/>
                  <a:ea typeface="微软雅黑" panose="020B0503020204020204" pitchFamily="34" charset="-122"/>
                  <a:sym typeface="+mn-ea"/>
                </a:rPr>
                <a:t>课题一</a:t>
              </a:r>
              <a:r>
                <a:rPr lang="en-US" altLang="zh-CN" sz="2000" b="1" dirty="0">
                  <a:solidFill>
                    <a:schemeClr val="bg1"/>
                  </a:solidFill>
                  <a:latin typeface="微软雅黑" panose="020B0503020204020204" pitchFamily="34" charset="-122"/>
                  <a:ea typeface="微软雅黑" panose="020B0503020204020204" pitchFamily="34" charset="-122"/>
                  <a:sym typeface="+mn-ea"/>
                </a:rPr>
                <a:t>7</a:t>
              </a:r>
              <a:r>
                <a:rPr lang="zh-CN" altLang="en-US" sz="2000" b="1" dirty="0">
                  <a:solidFill>
                    <a:schemeClr val="bg1"/>
                  </a:solidFill>
                  <a:latin typeface="微软雅黑" panose="020B0503020204020204" pitchFamily="34" charset="-122"/>
                  <a:ea typeface="微软雅黑" panose="020B0503020204020204" pitchFamily="34" charset="-122"/>
                  <a:sym typeface="+mn-ea"/>
                </a:rPr>
                <a:t>月月度进度推进会</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9" name="直接连接符 8"/>
            <p:cNvCxnSpPr/>
            <p:nvPr/>
          </p:nvCxnSpPr>
          <p:spPr>
            <a:xfrm>
              <a:off x="1614758" y="3780409"/>
              <a:ext cx="2100716" cy="0"/>
            </a:xfrm>
            <a:prstGeom prst="line">
              <a:avLst/>
            </a:prstGeom>
            <a:ln>
              <a:solidFill>
                <a:srgbClr val="F3D1A4"/>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900932" y="3811602"/>
              <a:ext cx="1995900" cy="0"/>
            </a:xfrm>
            <a:prstGeom prst="line">
              <a:avLst/>
            </a:prstGeom>
            <a:ln>
              <a:solidFill>
                <a:srgbClr val="F3D1A4"/>
              </a:solidFill>
            </a:ln>
          </p:spPr>
          <p:style>
            <a:lnRef idx="1">
              <a:schemeClr val="accent1"/>
            </a:lnRef>
            <a:fillRef idx="0">
              <a:schemeClr val="accent1"/>
            </a:fillRef>
            <a:effectRef idx="0">
              <a:schemeClr val="accent1"/>
            </a:effectRef>
            <a:fontRef idx="minor">
              <a:schemeClr val="tx1"/>
            </a:fontRef>
          </p:style>
        </p:cxnSp>
      </p:grpSp>
      <p:pic>
        <p:nvPicPr>
          <p:cNvPr id="11" name="Picture 2" descr="http://vi.xjtu.edu.cn/images/a4-5xbwhit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65576" y="598015"/>
            <a:ext cx="2060848" cy="551974"/>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p:cNvSpPr/>
          <p:nvPr/>
        </p:nvSpPr>
        <p:spPr>
          <a:xfrm>
            <a:off x="3230381" y="3868215"/>
            <a:ext cx="5731239" cy="2368550"/>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cs typeface="+mn-cs"/>
              </a:rPr>
              <a:t>  </a:t>
            </a:r>
            <a:r>
              <a:rPr lang="zh-CN" altLang="en-US" sz="2000" b="1"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sym typeface="+mn-ea"/>
              </a:rPr>
              <a:t>南网科研院标准化与技术情报中心</a:t>
            </a:r>
            <a:endParaRPr lang="zh-CN" altLang="en-US" sz="2000" b="1"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endParaRPr>
          </a:p>
          <a:p>
            <a:pPr algn="ctr">
              <a:lnSpc>
                <a:spcPct val="150000"/>
              </a:lnSpc>
              <a:spcBef>
                <a:spcPts val="0"/>
              </a:spcBef>
              <a:spcAft>
                <a:spcPts val="0"/>
              </a:spcAft>
              <a:buClrTx/>
              <a:buSzTx/>
              <a:buFontTx/>
              <a:defRPr/>
            </a:pPr>
            <a:r>
              <a:rPr lang="zh-CN" altLang="en-US" sz="2000" b="1"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sym typeface="+mn-ea"/>
              </a:rPr>
              <a:t>西安交通大学 网络空间学院</a:t>
            </a:r>
            <a:endParaRPr lang="zh-CN" altLang="en-US" sz="2000" b="1"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endParaRPr>
          </a:p>
          <a:p>
            <a:pPr algn="ctr">
              <a:lnSpc>
                <a:spcPct val="150000"/>
              </a:lnSpc>
              <a:spcBef>
                <a:spcPts val="0"/>
              </a:spcBef>
              <a:spcAft>
                <a:spcPts val="0"/>
              </a:spcAft>
              <a:buClrTx/>
              <a:buSzTx/>
              <a:buFontTx/>
              <a:defRPr/>
            </a:pPr>
            <a:r>
              <a:rPr lang="zh-CN" altLang="en-US" sz="2000" b="1"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sym typeface="+mn-ea"/>
              </a:rPr>
              <a:t>2026年7月30日</a:t>
            </a:r>
            <a:endParaRPr lang="zh-CN" altLang="en-US" sz="2000" b="1"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cs typeface="+mn-cs"/>
              </a:rPr>
              <a:t>    </a:t>
            </a:r>
            <a:endParaRPr kumimoji="0" lang="zh-CN" altLang="en-US" sz="1400" b="1" i="0" u="none" strike="noStrike" kern="1200" cap="none" spc="0" normalizeH="0" baseline="0"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w="0"/>
              <a:solidFill>
                <a:prstClr val="white"/>
              </a:solidFill>
              <a:effectLst>
                <a:outerShdw blurRad="38100" dist="25400" dir="5400000" algn="ctr" rotWithShape="0">
                  <a:srgbClr val="6E747A">
                    <a:alpha val="43000"/>
                  </a:srgbClr>
                </a:outerShdw>
              </a:effectLst>
              <a:uLnTx/>
              <a:uFillTx/>
              <a:latin typeface="方正公文小标宋" panose="02000500000000000000" charset="-122"/>
              <a:ea typeface="方正公文小标宋" panose="02000500000000000000"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rotWithShape="1">
          <a:blip r:embed="rId1">
            <a:extLst>
              <a:ext uri="{28A0092B-C50C-407E-A947-70E740481C1C}">
                <a14:useLocalDpi xmlns:a14="http://schemas.microsoft.com/office/drawing/2010/main" val="0"/>
              </a:ext>
            </a:extLst>
          </a:blip>
          <a:srcRect l="51" t="20074" r="-443" b="46946"/>
          <a:stretch>
            <a:fillRect/>
          </a:stretch>
        </p:blipFill>
        <p:spPr>
          <a:xfrm>
            <a:off x="0" y="0"/>
            <a:ext cx="12239625" cy="2262460"/>
          </a:xfrm>
          <a:prstGeom prst="rect">
            <a:avLst/>
          </a:prstGeom>
        </p:spPr>
      </p:pic>
      <p:sp>
        <p:nvSpPr>
          <p:cNvPr id="49" name="Oval 4"/>
          <p:cNvSpPr/>
          <p:nvPr/>
        </p:nvSpPr>
        <p:spPr>
          <a:xfrm>
            <a:off x="3904407" y="3045941"/>
            <a:ext cx="648000" cy="648000"/>
          </a:xfrm>
          <a:prstGeom prst="ellipse">
            <a:avLst/>
          </a:prstGeom>
          <a:solidFill>
            <a:srgbClr val="00206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rPr>
              <a:t>1</a:t>
            </a:r>
            <a:endParaRPr kumimoji="0" lang="id-ID"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endParaRPr>
          </a:p>
        </p:txBody>
      </p:sp>
      <p:sp>
        <p:nvSpPr>
          <p:cNvPr id="50" name="Oval 4"/>
          <p:cNvSpPr/>
          <p:nvPr/>
        </p:nvSpPr>
        <p:spPr>
          <a:xfrm>
            <a:off x="3904407" y="4224521"/>
            <a:ext cx="648000" cy="648000"/>
          </a:xfrm>
          <a:prstGeom prst="ellipse">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rPr>
              <a:t>2</a:t>
            </a:r>
            <a:endParaRPr kumimoji="0" lang="id-ID"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endParaRPr>
          </a:p>
        </p:txBody>
      </p:sp>
      <p:sp>
        <p:nvSpPr>
          <p:cNvPr id="51" name="Oval 4"/>
          <p:cNvSpPr/>
          <p:nvPr/>
        </p:nvSpPr>
        <p:spPr>
          <a:xfrm>
            <a:off x="3904407" y="5403101"/>
            <a:ext cx="648000" cy="648000"/>
          </a:xfrm>
          <a:prstGeom prst="ellipse">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rPr>
              <a:t>3</a:t>
            </a:r>
            <a:endParaRPr kumimoji="0" lang="id-ID"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endParaRPr>
          </a:p>
        </p:txBody>
      </p:sp>
      <p:sp>
        <p:nvSpPr>
          <p:cNvPr id="53" name="Text Box 17"/>
          <p:cNvSpPr txBox="1">
            <a:spLocks noChangeArrowheads="1"/>
          </p:cNvSpPr>
          <p:nvPr/>
        </p:nvSpPr>
        <p:spPr bwMode="auto">
          <a:xfrm>
            <a:off x="4817559" y="3128237"/>
            <a:ext cx="746524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charset="-122"/>
                <a:ea typeface="宋体" panose="02010600030101010101" pitchFamily="2" charset="-122"/>
              </a:defRPr>
            </a:lvl1pPr>
            <a:lvl2pPr marL="742950" indent="-285750">
              <a:defRPr b="1">
                <a:solidFill>
                  <a:schemeClr val="bg1"/>
                </a:solidFill>
                <a:latin typeface="黑体" panose="02010609060101010101" charset="-122"/>
                <a:ea typeface="宋体" panose="02010600030101010101" pitchFamily="2" charset="-122"/>
              </a:defRPr>
            </a:lvl2pPr>
            <a:lvl3pPr marL="1143000" indent="-228600">
              <a:defRPr b="1">
                <a:solidFill>
                  <a:schemeClr val="bg1"/>
                </a:solidFill>
                <a:latin typeface="黑体" panose="02010609060101010101" charset="-122"/>
                <a:ea typeface="宋体" panose="02010600030101010101" pitchFamily="2" charset="-122"/>
              </a:defRPr>
            </a:lvl3pPr>
            <a:lvl4pPr marL="1600200" indent="-228600">
              <a:defRPr b="1">
                <a:solidFill>
                  <a:schemeClr val="bg1"/>
                </a:solidFill>
                <a:latin typeface="黑体" panose="02010609060101010101" charset="-122"/>
                <a:ea typeface="宋体" panose="02010600030101010101" pitchFamily="2" charset="-122"/>
              </a:defRPr>
            </a:lvl4pPr>
            <a:lvl5pPr marL="2057400" indent="-228600">
              <a:defRPr b="1">
                <a:solidFill>
                  <a:schemeClr val="bg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9pPr>
          </a:lstStyle>
          <a:p>
            <a:pPr eaLnBrk="0" fontAlgn="base" hangingPunct="0">
              <a:spcBef>
                <a:spcPct val="0"/>
              </a:spcBef>
              <a:spcAft>
                <a:spcPct val="0"/>
              </a:spcAft>
              <a:defRPr/>
            </a:pPr>
            <a:r>
              <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指标完成</a:t>
            </a:r>
            <a:r>
              <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情况</a:t>
            </a:r>
            <a:endPar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 name="Text Box 17"/>
          <p:cNvSpPr txBox="1">
            <a:spLocks noChangeArrowheads="1"/>
          </p:cNvSpPr>
          <p:nvPr/>
        </p:nvSpPr>
        <p:spPr bwMode="auto">
          <a:xfrm>
            <a:off x="4817560" y="4306817"/>
            <a:ext cx="528402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charset="-122"/>
                <a:ea typeface="宋体" panose="02010600030101010101" pitchFamily="2" charset="-122"/>
              </a:defRPr>
            </a:lvl1pPr>
            <a:lvl2pPr marL="742950" indent="-285750">
              <a:defRPr b="1">
                <a:solidFill>
                  <a:schemeClr val="bg1"/>
                </a:solidFill>
                <a:latin typeface="黑体" panose="02010609060101010101" charset="-122"/>
                <a:ea typeface="宋体" panose="02010600030101010101" pitchFamily="2" charset="-122"/>
              </a:defRPr>
            </a:lvl2pPr>
            <a:lvl3pPr marL="1143000" indent="-228600">
              <a:defRPr b="1">
                <a:solidFill>
                  <a:schemeClr val="bg1"/>
                </a:solidFill>
                <a:latin typeface="黑体" panose="02010609060101010101" charset="-122"/>
                <a:ea typeface="宋体" panose="02010600030101010101" pitchFamily="2" charset="-122"/>
              </a:defRPr>
            </a:lvl3pPr>
            <a:lvl4pPr marL="1600200" indent="-228600">
              <a:defRPr b="1">
                <a:solidFill>
                  <a:schemeClr val="bg1"/>
                </a:solidFill>
                <a:latin typeface="黑体" panose="02010609060101010101" charset="-122"/>
                <a:ea typeface="宋体" panose="02010600030101010101" pitchFamily="2" charset="-122"/>
              </a:defRPr>
            </a:lvl4pPr>
            <a:lvl5pPr marL="2057400" indent="-228600">
              <a:defRPr b="1">
                <a:solidFill>
                  <a:schemeClr val="bg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9pPr>
          </a:lstStyle>
          <a:p>
            <a:pPr eaLnBrk="0" fontAlgn="base" hangingPunct="0">
              <a:spcBef>
                <a:spcPct val="0"/>
              </a:spcBef>
              <a:spcAft>
                <a:spcPct val="0"/>
              </a:spcAft>
              <a:defRPr/>
            </a:pPr>
            <a:r>
              <a:rPr lang="zh-CN" altLang="en-US" sz="3200" noProof="0" dirty="0">
                <a:ln>
                  <a:noFill/>
                </a:ln>
                <a:solidFill>
                  <a:srgbClr val="BFBFBF"/>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近期工作进展</a:t>
            </a:r>
            <a:endParaRPr kumimoji="0" lang="zh-CN" altLang="en-US" sz="3200" b="1" i="0" u="none" strike="noStrike" kern="1200" cap="none" spc="0" normalizeH="0" baseline="0" noProof="0" dirty="0">
              <a:ln>
                <a:noFill/>
              </a:ln>
              <a:solidFill>
                <a:srgbClr val="BFBFBF"/>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a:p>
            <a:pPr eaLnBrk="0" fontAlgn="base" hangingPunct="0">
              <a:spcBef>
                <a:spcPct val="0"/>
              </a:spcBef>
              <a:spcAft>
                <a:spcPct val="0"/>
              </a:spcAft>
              <a:defRPr/>
            </a:pPr>
            <a:endPar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Text Box 17"/>
          <p:cNvSpPr txBox="1">
            <a:spLocks noChangeArrowheads="1"/>
          </p:cNvSpPr>
          <p:nvPr/>
        </p:nvSpPr>
        <p:spPr bwMode="auto">
          <a:xfrm>
            <a:off x="4817562" y="5485397"/>
            <a:ext cx="528401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charset="-122"/>
                <a:ea typeface="宋体" panose="02010600030101010101" pitchFamily="2" charset="-122"/>
              </a:defRPr>
            </a:lvl1pPr>
            <a:lvl2pPr marL="742950" indent="-285750">
              <a:defRPr b="1">
                <a:solidFill>
                  <a:schemeClr val="bg1"/>
                </a:solidFill>
                <a:latin typeface="黑体" panose="02010609060101010101" charset="-122"/>
                <a:ea typeface="宋体" panose="02010600030101010101" pitchFamily="2" charset="-122"/>
              </a:defRPr>
            </a:lvl2pPr>
            <a:lvl3pPr marL="1143000" indent="-228600">
              <a:defRPr b="1">
                <a:solidFill>
                  <a:schemeClr val="bg1"/>
                </a:solidFill>
                <a:latin typeface="黑体" panose="02010609060101010101" charset="-122"/>
                <a:ea typeface="宋体" panose="02010600030101010101" pitchFamily="2" charset="-122"/>
              </a:defRPr>
            </a:lvl3pPr>
            <a:lvl4pPr marL="1600200" indent="-228600">
              <a:defRPr b="1">
                <a:solidFill>
                  <a:schemeClr val="bg1"/>
                </a:solidFill>
                <a:latin typeface="黑体" panose="02010609060101010101" charset="-122"/>
                <a:ea typeface="宋体" panose="02010600030101010101" pitchFamily="2" charset="-122"/>
              </a:defRPr>
            </a:lvl4pPr>
            <a:lvl5pPr marL="2057400" indent="-228600">
              <a:defRPr b="1">
                <a:solidFill>
                  <a:schemeClr val="bg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9pPr>
          </a:lstStyle>
          <a:p>
            <a:pPr eaLnBrk="0" fontAlgn="base" hangingPunct="0">
              <a:spcBef>
                <a:spcPct val="0"/>
              </a:spcBef>
              <a:spcAft>
                <a:spcPct val="0"/>
              </a:spcAft>
              <a:defRPr/>
            </a:pPr>
            <a:r>
              <a:rPr lang="zh-CN" altLang="en-US" sz="3200" noProof="0" dirty="0">
                <a:ln>
                  <a:noFill/>
                </a:ln>
                <a:solidFill>
                  <a:srgbClr val="FFFFFF">
                    <a:lumMod val="75000"/>
                  </a:srgbClr>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下一步工作计划</a:t>
            </a:r>
            <a:endParaRPr kumimoji="0" lang="zh-CN" altLang="en-US" sz="3200" b="1" i="0" u="none" strike="noStrike" kern="1200" cap="none" spc="0" normalizeH="0" baseline="0" noProof="0" dirty="0">
              <a:ln>
                <a:noFill/>
              </a:ln>
              <a:solidFill>
                <a:srgbClr val="FFFFFF">
                  <a:lumMod val="75000"/>
                </a:srgbClr>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a:p>
            <a:pPr eaLnBrk="0" fontAlgn="base" hangingPunct="0">
              <a:spcBef>
                <a:spcPct val="0"/>
              </a:spcBef>
              <a:spcAft>
                <a:spcPct val="0"/>
              </a:spcAft>
              <a:defRPr/>
            </a:pPr>
            <a:endPar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5" name="组合 64"/>
          <p:cNvGrpSpPr/>
          <p:nvPr/>
        </p:nvGrpSpPr>
        <p:grpSpPr>
          <a:xfrm>
            <a:off x="2760720" y="774153"/>
            <a:ext cx="6670560" cy="1374579"/>
            <a:chOff x="2790024" y="149517"/>
            <a:chExt cx="6670560" cy="1374579"/>
          </a:xfrm>
        </p:grpSpPr>
        <p:sp>
          <p:nvSpPr>
            <p:cNvPr id="66" name="标题 1"/>
            <p:cNvSpPr txBox="1"/>
            <p:nvPr/>
          </p:nvSpPr>
          <p:spPr>
            <a:xfrm>
              <a:off x="4722148" y="149517"/>
              <a:ext cx="2743200" cy="1217930"/>
            </a:xfrm>
            <a:prstGeom prst="rect">
              <a:avLst/>
            </a:prstGeom>
            <a:noFill/>
            <a:ln>
              <a:noFill/>
            </a:ln>
          </p:spPr>
          <p:txBody>
            <a:bodyPr vert="horz" wrap="none" lIns="0" tIns="0" rIns="0" bIns="0" rtlCol="0" anchor="t">
              <a:spAutoFit/>
            </a:bodyPr>
            <a:lstStyle/>
            <a:p>
              <a:pPr marL="0" marR="0" lvl="0" indent="0" algn="l" defTabSz="914400" eaLnBrk="1" fontAlgn="auto" latinLnBrk="0" hangingPunct="1">
                <a:lnSpc>
                  <a:spcPct val="110000"/>
                </a:lnSpc>
                <a:spcBef>
                  <a:spcPts val="0"/>
                </a:spcBef>
                <a:spcAft>
                  <a:spcPts val="0"/>
                </a:spcAft>
                <a:buClrTx/>
                <a:buSzTx/>
                <a:buFontTx/>
                <a:buNone/>
                <a:defRPr/>
              </a:pPr>
              <a:r>
                <a:rPr kumimoji="1" lang="en-US" altLang="zh-CN" sz="5400" kern="0" noProof="0" dirty="0" err="1">
                  <a:ln w="12700">
                    <a:noFill/>
                  </a:ln>
                  <a:solidFill>
                    <a:prstClr val="white"/>
                  </a:solidFill>
                  <a:effectLst/>
                  <a:uLnTx/>
                  <a:uFillTx/>
                  <a:latin typeface="+mj-ea"/>
                  <a:ea typeface="+mj-ea"/>
                  <a:cs typeface="OPPOSans H"/>
                  <a:sym typeface="+mn-ea"/>
                </a:rPr>
                <a:t>汇报</a:t>
              </a:r>
              <a:r>
                <a:rPr kumimoji="1" lang="zh-CN" altLang="en-US" sz="5400" kern="0" noProof="0" dirty="0" err="1">
                  <a:ln w="12700">
                    <a:noFill/>
                  </a:ln>
                  <a:solidFill>
                    <a:prstClr val="white"/>
                  </a:solidFill>
                  <a:effectLst/>
                  <a:uLnTx/>
                  <a:uFillTx/>
                  <a:latin typeface="+mj-ea"/>
                  <a:ea typeface="+mj-ea"/>
                  <a:cs typeface="OPPOSans H"/>
                  <a:sym typeface="+mn-ea"/>
                </a:rPr>
                <a:t>提纲</a:t>
              </a:r>
              <a:endParaRPr kumimoji="0" lang="zh-CN" altLang="en-US" b="1" i="0" u="none" strike="noStrike" kern="1200" cap="none" spc="0" normalizeH="0" baseline="0" noProof="0" dirty="0">
                <a:ln>
                  <a:noFill/>
                </a:ln>
                <a:solidFill>
                  <a:srgbClr val="2B4663"/>
                </a:solidFill>
                <a:effectLst>
                  <a:outerShdw blurRad="38100" dist="19050" dir="2700000" algn="tl" rotWithShape="0">
                    <a:srgbClr val="000000">
                      <a:alpha val="40000"/>
                    </a:srgbClr>
                  </a:outerShdw>
                </a:effectLst>
                <a:uLnTx/>
                <a:uFillTx/>
                <a:latin typeface="Arial" panose="020B0604020202020204" pitchFamily="34" charset="0"/>
                <a:ea typeface="微软雅黑" panose="020B0503020204020204" pitchFamily="34" charset="-122"/>
                <a:cs typeface="Arial" panose="020B0604020202020204" pitchFamily="34" charset="0"/>
                <a:sym typeface="+mn-ea"/>
              </a:endParaRPr>
            </a:p>
            <a:p>
              <a:pPr marL="0" marR="0" lvl="0" indent="0" defTabSz="914400" eaLnBrk="1" fontAlgn="auto" latinLnBrk="0" hangingPunct="1">
                <a:lnSpc>
                  <a:spcPct val="11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prstClr val="white"/>
                </a:solidFill>
                <a:effectLst/>
                <a:uLnTx/>
                <a:uFillTx/>
                <a:latin typeface="+mj-ea"/>
                <a:ea typeface="+mj-ea"/>
              </a:endParaRPr>
            </a:p>
          </p:txBody>
        </p:sp>
        <p:sp>
          <p:nvSpPr>
            <p:cNvPr id="67" name="标题 1"/>
            <p:cNvSpPr txBox="1"/>
            <p:nvPr/>
          </p:nvSpPr>
          <p:spPr>
            <a:xfrm>
              <a:off x="5046674" y="958946"/>
              <a:ext cx="309880" cy="565150"/>
            </a:xfrm>
            <a:prstGeom prst="rect">
              <a:avLst/>
            </a:prstGeom>
            <a:noFill/>
            <a:ln>
              <a:noFill/>
            </a:ln>
          </p:spPr>
          <p:txBody>
            <a:bodyPr vert="horz" wrap="none" lIns="91440" tIns="45720" rIns="91440" bIns="45720" rtlCol="0" anchor="t">
              <a:spAutoFit/>
            </a:bodyPr>
            <a:lstStyle/>
            <a:p>
              <a:pPr marL="0" marR="0" lvl="0" indent="0" defTabSz="914400" eaLnBrk="1" fontAlgn="auto" latinLnBrk="0" hangingPunct="1">
                <a:lnSpc>
                  <a:spcPct val="110000"/>
                </a:lnSpc>
                <a:spcBef>
                  <a:spcPts val="0"/>
                </a:spcBef>
                <a:spcAft>
                  <a:spcPts val="0"/>
                </a:spcAft>
                <a:buClrTx/>
                <a:buSzTx/>
                <a:buFontTx/>
                <a:buNone/>
                <a:defRPr/>
              </a:pPr>
              <a:endParaRPr kumimoji="1" lang="zh-CN" altLang="en-US" sz="2800" b="0" i="0" u="none" strike="noStrike" kern="0" cap="none" spc="0" normalizeH="0" baseline="0" noProof="0" dirty="0">
                <a:ln>
                  <a:noFill/>
                </a:ln>
                <a:solidFill>
                  <a:prstClr val="white"/>
                </a:solidFill>
                <a:effectLst/>
                <a:uLnTx/>
                <a:uFillTx/>
                <a:latin typeface="+mj-lt"/>
                <a:ea typeface="等线" panose="02010600030101010101" pitchFamily="2" charset="-122"/>
              </a:endParaRPr>
            </a:p>
          </p:txBody>
        </p:sp>
        <p:cxnSp>
          <p:nvCxnSpPr>
            <p:cNvPr id="68" name="标题 1"/>
            <p:cNvCxnSpPr/>
            <p:nvPr/>
          </p:nvCxnSpPr>
          <p:spPr>
            <a:xfrm>
              <a:off x="3637425" y="528615"/>
              <a:ext cx="790688" cy="0"/>
            </a:xfrm>
            <a:prstGeom prst="line">
              <a:avLst/>
            </a:prstGeom>
            <a:noFill/>
            <a:ln w="6350" cap="sq">
              <a:solidFill>
                <a:sysClr val="window" lastClr="FFFFFF"/>
              </a:solidFill>
              <a:miter/>
            </a:ln>
          </p:spPr>
        </p:cxnSp>
        <p:cxnSp>
          <p:nvCxnSpPr>
            <p:cNvPr id="69" name="标题 1"/>
            <p:cNvCxnSpPr/>
            <p:nvPr/>
          </p:nvCxnSpPr>
          <p:spPr>
            <a:xfrm>
              <a:off x="2790024" y="687946"/>
              <a:ext cx="1884026" cy="0"/>
            </a:xfrm>
            <a:prstGeom prst="line">
              <a:avLst/>
            </a:prstGeom>
            <a:noFill/>
            <a:ln w="6350" cap="sq">
              <a:solidFill>
                <a:sysClr val="window" lastClr="FFFFFF"/>
              </a:solidFill>
              <a:miter/>
            </a:ln>
          </p:spPr>
        </p:cxnSp>
        <p:cxnSp>
          <p:nvCxnSpPr>
            <p:cNvPr id="70" name="标题 1"/>
            <p:cNvCxnSpPr/>
            <p:nvPr/>
          </p:nvCxnSpPr>
          <p:spPr>
            <a:xfrm flipH="1">
              <a:off x="7712005" y="528615"/>
              <a:ext cx="790688" cy="0"/>
            </a:xfrm>
            <a:prstGeom prst="line">
              <a:avLst/>
            </a:prstGeom>
            <a:noFill/>
            <a:ln w="6350" cap="sq">
              <a:solidFill>
                <a:sysClr val="window" lastClr="FFFFFF"/>
              </a:solidFill>
              <a:miter/>
            </a:ln>
          </p:spPr>
        </p:cxnSp>
        <p:cxnSp>
          <p:nvCxnSpPr>
            <p:cNvPr id="71" name="标题 1"/>
            <p:cNvCxnSpPr/>
            <p:nvPr/>
          </p:nvCxnSpPr>
          <p:spPr>
            <a:xfrm flipH="1">
              <a:off x="7576558" y="687946"/>
              <a:ext cx="1884026" cy="0"/>
            </a:xfrm>
            <a:prstGeom prst="line">
              <a:avLst/>
            </a:prstGeom>
            <a:noFill/>
            <a:ln w="6350" cap="sq">
              <a:solidFill>
                <a:sysClr val="window" lastClr="FFFFFF"/>
              </a:solidFill>
              <a:miter/>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形状 14"/>
          <p:cNvSpPr/>
          <p:nvPr/>
        </p:nvSpPr>
        <p:spPr>
          <a:xfrm>
            <a:off x="13559427" y="508452"/>
            <a:ext cx="2837162" cy="1525356"/>
          </a:xfrm>
          <a:custGeom>
            <a:avLst/>
            <a:gdLst>
              <a:gd name="connsiteX0" fmla="*/ 0 w 2241629"/>
              <a:gd name="connsiteY0" fmla="*/ 0 h 1205177"/>
              <a:gd name="connsiteX1" fmla="*/ 2241629 w 2241629"/>
              <a:gd name="connsiteY1" fmla="*/ 0 h 1205177"/>
              <a:gd name="connsiteX2" fmla="*/ 2241629 w 2241629"/>
              <a:gd name="connsiteY2" fmla="*/ 1205177 h 1205177"/>
              <a:gd name="connsiteX3" fmla="*/ 0 w 2241629"/>
              <a:gd name="connsiteY3" fmla="*/ 1205177 h 1205177"/>
              <a:gd name="connsiteX4" fmla="*/ 0 w 2241629"/>
              <a:gd name="connsiteY4" fmla="*/ 0 h 1205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629" h="1205177">
                <a:moveTo>
                  <a:pt x="0" y="0"/>
                </a:moveTo>
                <a:lnTo>
                  <a:pt x="2241629" y="0"/>
                </a:lnTo>
                <a:lnTo>
                  <a:pt x="2241629" y="1205177"/>
                </a:lnTo>
                <a:lnTo>
                  <a:pt x="0" y="120517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endParaRPr lang="zh-CN" altLang="en-US" sz="3600" kern="1200"/>
          </a:p>
        </p:txBody>
      </p:sp>
      <p:sp>
        <p:nvSpPr>
          <p:cNvPr id="34" name="文本框 33"/>
          <p:cNvSpPr txBox="1"/>
          <p:nvPr/>
        </p:nvSpPr>
        <p:spPr>
          <a:xfrm>
            <a:off x="665043" y="328398"/>
            <a:ext cx="5067300" cy="1076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项目中期考核指标完成情况</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1" name="表格 10"/>
          <p:cNvGraphicFramePr>
            <a:graphicFrameLocks noGrp="1"/>
          </p:cNvGraphicFramePr>
          <p:nvPr/>
        </p:nvGraphicFramePr>
        <p:xfrm>
          <a:off x="329388" y="2982900"/>
          <a:ext cx="11477459" cy="3684141"/>
        </p:xfrm>
        <a:graphic>
          <a:graphicData uri="http://schemas.openxmlformats.org/drawingml/2006/table">
            <a:tbl>
              <a:tblPr firstRow="1" bandRow="1">
                <a:tableStyleId>{85BE263C-DBD7-4A20-BB59-AAB30ACAA65A}</a:tableStyleId>
              </a:tblPr>
              <a:tblGrid>
                <a:gridCol w="853692"/>
                <a:gridCol w="4788000"/>
                <a:gridCol w="4356000"/>
                <a:gridCol w="1479767"/>
              </a:tblGrid>
              <a:tr h="482068">
                <a:tc>
                  <a:txBody>
                    <a:bodyPr/>
                    <a:lstStyle/>
                    <a:p>
                      <a:pPr algn="ct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序号</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项目中期考核指标（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2026</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月）</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已完成工作</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完成情况</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12406">
                <a:tc>
                  <a:txBody>
                    <a:bodyPr/>
                    <a:lstStyle/>
                    <a:p>
                      <a:pPr algn="ctr">
                        <a:lnSpc>
                          <a:spcPct val="10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r>
                        <a:rPr lang="zh-CN" altLang="en-US" sz="2000" b="1" dirty="0">
                          <a:latin typeface="微软雅黑" panose="020B0503020204020204" pitchFamily="34" charset="-122"/>
                          <a:ea typeface="微软雅黑" panose="020B0503020204020204" pitchFamily="34" charset="-122"/>
                        </a:rPr>
                        <a:t>研究报告：</a:t>
                      </a:r>
                      <a:r>
                        <a:rPr lang="zh-CN" altLang="en-US" sz="2000" dirty="0">
                          <a:latin typeface="微软雅黑" panose="020B0503020204020204" pitchFamily="34" charset="-122"/>
                          <a:ea typeface="微软雅黑" panose="020B0503020204020204" pitchFamily="34" charset="-122"/>
                        </a:rPr>
                        <a:t>基于多源信息跨域融合的反向逆推机理中期研究报告</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份</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algn="just">
                        <a:lnSpc>
                          <a:spcPct val="10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已完成</a:t>
                      </a:r>
                      <a:r>
                        <a:rPr lang="zh-CN" altLang="en-US" sz="2000" dirty="0">
                          <a:latin typeface="微软雅黑" panose="020B0503020204020204" pitchFamily="34" charset="-122"/>
                          <a:ea typeface="微软雅黑" panose="020B0503020204020204" pitchFamily="34" charset="-122"/>
                        </a:rPr>
                        <a:t>基于多源信息跨域融合的反向逆推机理中期研究报告初稿</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份</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rPr>
                        <a:t>已完成</a:t>
                      </a:r>
                      <a:endParaRPr lang="zh-CN" altLang="en-US" sz="20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80351">
                <a:tc>
                  <a:txBody>
                    <a:bodyPr/>
                    <a:lstStyle/>
                    <a:p>
                      <a:pPr algn="ctr">
                        <a:lnSpc>
                          <a:spcPct val="10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r>
                        <a:rPr lang="zh-CN" altLang="en-US" sz="2000" b="1" kern="1200" dirty="0">
                          <a:solidFill>
                            <a:schemeClr val="dk1"/>
                          </a:solidFill>
                          <a:latin typeface="微软雅黑" panose="020B0503020204020204" pitchFamily="34" charset="-122"/>
                          <a:ea typeface="微软雅黑" panose="020B0503020204020204" pitchFamily="34" charset="-122"/>
                          <a:cs typeface="+mn-cs"/>
                        </a:rPr>
                        <a:t>发明专利：</a:t>
                      </a:r>
                      <a:r>
                        <a:rPr lang="zh-CN" altLang="en-US" sz="2000" kern="1200" dirty="0">
                          <a:solidFill>
                            <a:schemeClr val="dk1"/>
                          </a:solidFill>
                          <a:latin typeface="微软雅黑" panose="020B0503020204020204" pitchFamily="34" charset="-122"/>
                          <a:ea typeface="微软雅黑" panose="020B0503020204020204" pitchFamily="34" charset="-122"/>
                          <a:cs typeface="+mn-cs"/>
                        </a:rPr>
                        <a:t>受理发明专利</a:t>
                      </a:r>
                      <a:r>
                        <a:rPr lang="en-US" altLang="zh-CN" sz="2000" kern="1200" dirty="0">
                          <a:solidFill>
                            <a:schemeClr val="dk1"/>
                          </a:solidFill>
                          <a:latin typeface="微软雅黑" panose="020B0503020204020204" pitchFamily="34" charset="-122"/>
                          <a:ea typeface="微软雅黑" panose="020B0503020204020204" pitchFamily="34" charset="-122"/>
                          <a:cs typeface="+mn-cs"/>
                        </a:rPr>
                        <a:t>3</a:t>
                      </a:r>
                      <a:r>
                        <a:rPr lang="zh-CN" altLang="en-US" sz="2000" kern="1200" dirty="0">
                          <a:solidFill>
                            <a:schemeClr val="dk1"/>
                          </a:solidFill>
                          <a:latin typeface="微软雅黑" panose="020B0503020204020204" pitchFamily="34" charset="-122"/>
                          <a:ea typeface="微软雅黑" panose="020B0503020204020204" pitchFamily="34" charset="-122"/>
                          <a:cs typeface="+mn-cs"/>
                        </a:rPr>
                        <a:t>项</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已完成发明专利底稿</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项，拟提交知识产权局，预计</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号取得</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项受理通知书</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rPr>
                        <a:t>部分完成</a:t>
                      </a:r>
                      <a:endParaRPr lang="zh-CN" altLang="en-US" sz="20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83275">
                <a:tc>
                  <a:txBody>
                    <a:bodyPr/>
                    <a:lstStyle/>
                    <a:p>
                      <a:pPr algn="ctr">
                        <a:lnSpc>
                          <a:spcPct val="10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r>
                        <a:rPr lang="zh-CN" altLang="en-US" sz="2000" b="1" kern="1200" dirty="0">
                          <a:solidFill>
                            <a:schemeClr val="dk1"/>
                          </a:solidFill>
                          <a:latin typeface="微软雅黑" panose="020B0503020204020204" pitchFamily="34" charset="-122"/>
                          <a:ea typeface="微软雅黑" panose="020B0503020204020204" pitchFamily="34" charset="-122"/>
                          <a:cs typeface="+mn-cs"/>
                        </a:rPr>
                        <a:t>论文：</a:t>
                      </a:r>
                      <a:r>
                        <a:rPr lang="zh-CN" altLang="en-US" sz="2000" b="0" kern="1200" dirty="0">
                          <a:solidFill>
                            <a:schemeClr val="dk1"/>
                          </a:solidFill>
                          <a:latin typeface="微软雅黑" panose="020B0503020204020204" pitchFamily="34" charset="-122"/>
                          <a:ea typeface="微软雅黑" panose="020B0503020204020204" pitchFamily="34" charset="-122"/>
                          <a:cs typeface="+mn-cs"/>
                        </a:rPr>
                        <a:t>录用核心期刊论文</a:t>
                      </a:r>
                      <a:r>
                        <a:rPr lang="en-US" altLang="zh-CN" sz="2000" b="0" kern="1200" dirty="0">
                          <a:solidFill>
                            <a:schemeClr val="dk1"/>
                          </a:solidFill>
                          <a:latin typeface="微软雅黑" panose="020B0503020204020204" pitchFamily="34" charset="-122"/>
                          <a:ea typeface="微软雅黑" panose="020B0503020204020204" pitchFamily="34" charset="-122"/>
                          <a:cs typeface="+mn-cs"/>
                        </a:rPr>
                        <a:t>1</a:t>
                      </a:r>
                      <a:r>
                        <a:rPr lang="zh-CN" altLang="en-US" sz="2000" b="0" kern="1200" dirty="0">
                          <a:solidFill>
                            <a:schemeClr val="dk1"/>
                          </a:solidFill>
                          <a:latin typeface="微软雅黑" panose="020B0503020204020204" pitchFamily="34" charset="-122"/>
                          <a:ea typeface="微软雅黑" panose="020B0503020204020204" pitchFamily="34" charset="-122"/>
                          <a:cs typeface="+mn-cs"/>
                        </a:rPr>
                        <a:t>篇</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1200"/>
                        </a:spcAft>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已投稿</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篇中文核心论文至</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南方电网技术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，并录用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EI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会议论文</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rPr>
                        <a:t>部分完成</a:t>
                      </a:r>
                      <a:endParaRPr lang="zh-CN" altLang="en-US" sz="20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0253">
                <a:tc>
                  <a:txBody>
                    <a:bodyPr/>
                    <a:lstStyle/>
                    <a:p>
                      <a:pPr algn="ctr">
                        <a:lnSpc>
                          <a:spcPct val="10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r>
                        <a:rPr lang="zh-CN" altLang="en-US" sz="2000" b="1" kern="1200" dirty="0">
                          <a:solidFill>
                            <a:schemeClr val="dk1"/>
                          </a:solidFill>
                          <a:latin typeface="微软雅黑" panose="020B0503020204020204" pitchFamily="34" charset="-122"/>
                          <a:ea typeface="微软雅黑" panose="020B0503020204020204" pitchFamily="34" charset="-122"/>
                          <a:cs typeface="+mn-cs"/>
                        </a:rPr>
                        <a:t>标准：</a:t>
                      </a:r>
                      <a:r>
                        <a:rPr lang="zh-CN" altLang="en-US" sz="2000" kern="1200" dirty="0">
                          <a:solidFill>
                            <a:schemeClr val="dk1"/>
                          </a:solidFill>
                          <a:latin typeface="微软雅黑" panose="020B0503020204020204" pitchFamily="34" charset="-122"/>
                          <a:ea typeface="微软雅黑" panose="020B0503020204020204" pitchFamily="34" charset="-122"/>
                          <a:cs typeface="+mn-cs"/>
                        </a:rPr>
                        <a:t>企业</a:t>
                      </a:r>
                      <a:r>
                        <a:rPr lang="en-US" altLang="zh-CN" sz="2000" kern="1200" dirty="0">
                          <a:solidFill>
                            <a:schemeClr val="dk1"/>
                          </a:solidFill>
                          <a:latin typeface="微软雅黑" panose="020B0503020204020204" pitchFamily="34" charset="-122"/>
                          <a:ea typeface="微软雅黑" panose="020B0503020204020204" pitchFamily="34" charset="-122"/>
                          <a:cs typeface="+mn-cs"/>
                        </a:rPr>
                        <a:t>/</a:t>
                      </a:r>
                      <a:r>
                        <a:rPr lang="zh-CN" altLang="en-US" sz="2000" kern="1200" dirty="0">
                          <a:solidFill>
                            <a:schemeClr val="dk1"/>
                          </a:solidFill>
                          <a:latin typeface="微软雅黑" panose="020B0503020204020204" pitchFamily="34" charset="-122"/>
                          <a:ea typeface="微软雅黑" panose="020B0503020204020204" pitchFamily="34" charset="-122"/>
                          <a:cs typeface="+mn-cs"/>
                        </a:rPr>
                        <a:t>行业或以上标准（初稿）</a:t>
                      </a:r>
                      <a:r>
                        <a:rPr lang="en-US" altLang="zh-CN" sz="2000" kern="1200" dirty="0">
                          <a:solidFill>
                            <a:schemeClr val="dk1"/>
                          </a:solidFill>
                          <a:latin typeface="微软雅黑" panose="020B0503020204020204" pitchFamily="34" charset="-122"/>
                          <a:ea typeface="微软雅黑" panose="020B0503020204020204" pitchFamily="34" charset="-122"/>
                          <a:cs typeface="+mn-cs"/>
                        </a:rPr>
                        <a:t>1</a:t>
                      </a:r>
                      <a:r>
                        <a:rPr lang="zh-CN" altLang="en-US" sz="2000" kern="1200" dirty="0">
                          <a:solidFill>
                            <a:schemeClr val="dk1"/>
                          </a:solidFill>
                          <a:latin typeface="微软雅黑" panose="020B0503020204020204" pitchFamily="34" charset="-122"/>
                          <a:ea typeface="微软雅黑" panose="020B0503020204020204" pitchFamily="34" charset="-122"/>
                          <a:cs typeface="+mn-cs"/>
                        </a:rPr>
                        <a:t>份</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已完成行业标准申请</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rPr>
                        <a:t>部分完成</a:t>
                      </a:r>
                      <a:endParaRPr lang="zh-CN" altLang="en-US" sz="20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3" name="文本框 12"/>
          <p:cNvSpPr txBox="1"/>
          <p:nvPr/>
        </p:nvSpPr>
        <p:spPr>
          <a:xfrm>
            <a:off x="437207" y="1077849"/>
            <a:ext cx="2186724"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lang="zh-CN" altLang="en-US" sz="2600" b="1" dirty="0">
                <a:solidFill>
                  <a:srgbClr val="000000"/>
                </a:solidFill>
                <a:latin typeface="微软雅黑" panose="020B0503020204020204" pitchFamily="34" charset="-122"/>
                <a:ea typeface="微软雅黑" panose="020B0503020204020204" pitchFamily="34" charset="-122"/>
              </a:rPr>
              <a:t>整体概述</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 name="object 11"/>
          <p:cNvSpPr txBox="1"/>
          <p:nvPr>
            <p:custDataLst>
              <p:tags r:id="rId1"/>
            </p:custDataLst>
          </p:nvPr>
        </p:nvSpPr>
        <p:spPr>
          <a:xfrm>
            <a:off x="325796" y="1507839"/>
            <a:ext cx="11540407" cy="1343894"/>
          </a:xfrm>
          <a:prstGeom prst="rect">
            <a:avLst/>
          </a:prstGeom>
          <a:solidFill>
            <a:schemeClr val="bg1"/>
          </a:solidFill>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marL="0" marR="0" lvl="0" indent="457200" algn="just" defTabSz="914400" rtl="0" eaLnBrk="1" fontAlgn="auto" latinLnBrk="0" hangingPunct="1">
              <a:lnSpc>
                <a:spcPct val="150000"/>
              </a:lnSpc>
              <a:spcBef>
                <a:spcPts val="0"/>
              </a:spcBef>
              <a:spcAft>
                <a:spcPts val="1200"/>
              </a:spcAft>
              <a:buClrTx/>
              <a:buSzTx/>
              <a:buFontTx/>
              <a:buNone/>
              <a:defRPr/>
            </a:pPr>
            <a:r>
              <a:rPr kumimoji="0" lang="zh-CN" altLang="en-US" sz="2000" b="0" i="0" u="non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项目实施过程中，课题团队建立了周会、双周会和月度例会相结合的常态化沟通机制，持续跟踪研究进展，及时协调解决关键问题，并围绕阶段成果开展总结与优化，确保各项研究任务高质量、有序推进，整体考核指标完成如下</a:t>
            </a:r>
            <a:endParaRPr kumimoji="0" lang="zh-CN" altLang="en-US" sz="2000" b="0" i="0" u="non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665043" y="328398"/>
            <a:ext cx="506730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项目中期考核指标完成情况</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22" name="TextBox 8"/>
          <p:cNvSpPr>
            <a:spLocks noChangeArrowheads="1"/>
          </p:cNvSpPr>
          <p:nvPr>
            <p:custDataLst>
              <p:tags r:id="rId1"/>
            </p:custDataLst>
          </p:nvPr>
        </p:nvSpPr>
        <p:spPr bwMode="auto">
          <a:xfrm>
            <a:off x="765810" y="291783"/>
            <a:ext cx="9139238"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26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文本框 22"/>
          <p:cNvSpPr txBox="1"/>
          <p:nvPr/>
        </p:nvSpPr>
        <p:spPr>
          <a:xfrm>
            <a:off x="437207" y="1169924"/>
            <a:ext cx="2186724"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研究报告</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24" name="图片 23"/>
          <p:cNvPicPr>
            <a:picLocks noChangeAspect="1"/>
          </p:cNvPicPr>
          <p:nvPr/>
        </p:nvPicPr>
        <p:blipFill>
          <a:blip r:embed="rId2"/>
          <a:stretch>
            <a:fillRect/>
          </a:stretch>
        </p:blipFill>
        <p:spPr>
          <a:xfrm>
            <a:off x="378559" y="3239355"/>
            <a:ext cx="2313801" cy="3300569"/>
          </a:xfrm>
          <a:prstGeom prst="rect">
            <a:avLst/>
          </a:prstGeom>
          <a:ln>
            <a:solidFill>
              <a:schemeClr val="tx1"/>
            </a:solidFill>
          </a:ln>
        </p:spPr>
      </p:pic>
      <p:pic>
        <p:nvPicPr>
          <p:cNvPr id="25" name="图片 24"/>
          <p:cNvPicPr>
            <a:picLocks noChangeAspect="1"/>
          </p:cNvPicPr>
          <p:nvPr/>
        </p:nvPicPr>
        <p:blipFill>
          <a:blip r:embed="rId3"/>
          <a:stretch>
            <a:fillRect/>
          </a:stretch>
        </p:blipFill>
        <p:spPr>
          <a:xfrm>
            <a:off x="2878543" y="3239355"/>
            <a:ext cx="4723800" cy="3300568"/>
          </a:xfrm>
          <a:prstGeom prst="rect">
            <a:avLst/>
          </a:prstGeom>
          <a:ln>
            <a:solidFill>
              <a:schemeClr val="tx1"/>
            </a:solidFill>
          </a:ln>
        </p:spPr>
      </p:pic>
      <p:pic>
        <p:nvPicPr>
          <p:cNvPr id="26" name="图片 25"/>
          <p:cNvPicPr>
            <a:picLocks noChangeAspect="1"/>
          </p:cNvPicPr>
          <p:nvPr/>
        </p:nvPicPr>
        <p:blipFill>
          <a:blip r:embed="rId4"/>
          <a:stretch>
            <a:fillRect/>
          </a:stretch>
        </p:blipFill>
        <p:spPr>
          <a:xfrm>
            <a:off x="5566459" y="3239355"/>
            <a:ext cx="4457078" cy="3316278"/>
          </a:xfrm>
          <a:prstGeom prst="rect">
            <a:avLst/>
          </a:prstGeom>
          <a:ln>
            <a:solidFill>
              <a:schemeClr val="tx1"/>
            </a:solidFill>
          </a:ln>
        </p:spPr>
      </p:pic>
      <p:pic>
        <p:nvPicPr>
          <p:cNvPr id="27" name="图片 26"/>
          <p:cNvPicPr>
            <a:picLocks noChangeAspect="1"/>
          </p:cNvPicPr>
          <p:nvPr/>
        </p:nvPicPr>
        <p:blipFill>
          <a:blip r:embed="rId5"/>
          <a:srcRect r="28662"/>
          <a:stretch>
            <a:fillRect/>
          </a:stretch>
        </p:blipFill>
        <p:spPr>
          <a:xfrm>
            <a:off x="8347137" y="3235480"/>
            <a:ext cx="3577593" cy="3316278"/>
          </a:xfrm>
          <a:prstGeom prst="rect">
            <a:avLst/>
          </a:prstGeom>
          <a:ln>
            <a:solidFill>
              <a:schemeClr val="tx1"/>
            </a:solidFill>
          </a:ln>
        </p:spPr>
      </p:pic>
      <p:sp>
        <p:nvSpPr>
          <p:cNvPr id="28" name="object 11"/>
          <p:cNvSpPr txBox="1"/>
          <p:nvPr>
            <p:custDataLst>
              <p:tags r:id="rId6"/>
            </p:custDataLst>
          </p:nvPr>
        </p:nvSpPr>
        <p:spPr>
          <a:xfrm>
            <a:off x="325796" y="1646214"/>
            <a:ext cx="11540407" cy="1343894"/>
          </a:xfrm>
          <a:prstGeom prst="rect">
            <a:avLst/>
          </a:prstGeom>
          <a:solidFill>
            <a:schemeClr val="bg1"/>
          </a:solidFill>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marL="0" marR="0" lvl="0" indent="457200" algn="just" defTabSz="914400" rtl="0" eaLnBrk="1" fontAlgn="auto" latinLnBrk="0" hangingPunct="1">
              <a:lnSpc>
                <a:spcPct val="150000"/>
              </a:lnSpc>
              <a:spcBef>
                <a:spcPts val="0"/>
              </a:spcBef>
              <a:spcAft>
                <a:spcPts val="1200"/>
              </a:spcAft>
              <a:buClrTx/>
              <a:buSzTx/>
              <a:buFontTx/>
              <a:buNone/>
              <a:defRPr/>
            </a:pPr>
            <a:r>
              <a:rPr kumimoji="0" lang="zh-CN" altLang="en-US" sz="2000" b="0" i="0" u="non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本报告首先分析电力数据的</a:t>
            </a:r>
            <a:r>
              <a:rPr kumimoji="0" lang="zh-CN" altLang="en-US" sz="2000" i="0" u="non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关联</a:t>
            </a:r>
            <a:r>
              <a:rPr kumimoji="0" lang="zh-CN" altLang="en-US" sz="2000" b="0" i="0" u="non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模式及逆推机理；随后融合环评报告、开源地图和电力市场等多源数据，研究电网拓扑结构与线路参数的反向推断方法；在此基础上，进一步提出融合大语言模型与强化学习的数据分类分级方法，为识别推断型泄露风险提供理论依据与技术支撑</a:t>
            </a:r>
            <a:endParaRPr kumimoji="0" lang="zh-CN" altLang="en-US" sz="2000" b="0" i="0" u="non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665043" y="328398"/>
            <a:ext cx="5067300" cy="1076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项目中期考核指标完成情况</a:t>
            </a:r>
            <a:endParaRPr kumimoji="0" lang="zh-CN" altLang="en-US" sz="3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437207" y="1178302"/>
            <a:ext cx="2186724"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专利</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6" name="表格 15"/>
          <p:cNvGraphicFramePr>
            <a:graphicFrameLocks noGrp="1"/>
          </p:cNvGraphicFramePr>
          <p:nvPr/>
        </p:nvGraphicFramePr>
        <p:xfrm>
          <a:off x="572261" y="2812221"/>
          <a:ext cx="11191927" cy="3554766"/>
        </p:xfrm>
        <a:graphic>
          <a:graphicData uri="http://schemas.openxmlformats.org/drawingml/2006/table">
            <a:tbl>
              <a:tblPr firstRow="1" bandRow="1">
                <a:tableStyleId>{5C22544A-7EE6-4342-B048-85BDC9FD1C3A}</a:tableStyleId>
              </a:tblPr>
              <a:tblGrid>
                <a:gridCol w="2700000"/>
                <a:gridCol w="3816000"/>
                <a:gridCol w="1728000"/>
                <a:gridCol w="2947927"/>
              </a:tblGrid>
              <a:tr h="550984">
                <a:tc>
                  <a:txBody>
                    <a:bodyPr/>
                    <a:lstStyle/>
                    <a:p>
                      <a:r>
                        <a:rPr lang="zh-CN" altLang="en-US" sz="1800" dirty="0">
                          <a:latin typeface="Arial" panose="020B0604020202020204" pitchFamily="34" charset="0"/>
                          <a:ea typeface="微软雅黑" panose="020B0503020204020204" pitchFamily="34" charset="-122"/>
                          <a:cs typeface="Arial" panose="020B0604020202020204" pitchFamily="34" charset="0"/>
                        </a:rPr>
                        <a:t>专利</a:t>
                      </a:r>
                      <a:endParaRPr lang="zh-CN" altLang="en-US" sz="1800" dirty="0">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zh-CN" altLang="en-US" sz="1800" strike="noStrike" dirty="0">
                          <a:latin typeface="Arial" panose="020B0604020202020204" pitchFamily="34" charset="0"/>
                          <a:ea typeface="微软雅黑" panose="020B0503020204020204" pitchFamily="34" charset="-122"/>
                          <a:cs typeface="Arial" panose="020B0604020202020204" pitchFamily="34" charset="0"/>
                        </a:rPr>
                        <a:t>发明人</a:t>
                      </a:r>
                      <a:endParaRPr lang="zh-CN" altLang="en-US" sz="1800" strike="noStrike" dirty="0">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zh-CN" altLang="en-US" sz="1800" strike="noStrike" dirty="0">
                          <a:latin typeface="Arial" panose="020B0604020202020204" pitchFamily="34" charset="0"/>
                          <a:ea typeface="微软雅黑" panose="020B0503020204020204" pitchFamily="34" charset="-122"/>
                          <a:cs typeface="Arial" panose="020B0604020202020204" pitchFamily="34" charset="0"/>
                        </a:rPr>
                        <a:t>进度</a:t>
                      </a:r>
                      <a:endParaRPr lang="zh-CN" altLang="en-US" sz="1800" strike="noStrike" dirty="0">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zh-CN" altLang="en-US" sz="1800" strike="noStrike" dirty="0">
                          <a:latin typeface="Arial" panose="020B0604020202020204" pitchFamily="34" charset="0"/>
                          <a:ea typeface="微软雅黑" panose="020B0503020204020204" pitchFamily="34" charset="-122"/>
                          <a:cs typeface="Arial" panose="020B0604020202020204" pitchFamily="34" charset="0"/>
                        </a:rPr>
                        <a:t>申请人</a:t>
                      </a:r>
                      <a:endParaRPr lang="zh-CN" altLang="en-US" sz="1800" strike="noStrike" dirty="0">
                        <a:latin typeface="Arial" panose="020B0604020202020204" pitchFamily="34" charset="0"/>
                        <a:ea typeface="微软雅黑" panose="020B0503020204020204" pitchFamily="34" charset="-122"/>
                        <a:cs typeface="Arial" panose="020B0604020202020204" pitchFamily="34" charset="0"/>
                      </a:endParaRPr>
                    </a:p>
                  </a:txBody>
                  <a:tcPr anchor="ctr"/>
                </a:tc>
              </a:tr>
              <a:tr h="85033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latin typeface="Arial" panose="020B0604020202020204" pitchFamily="34" charset="0"/>
                          <a:ea typeface="微软雅黑" panose="020B0503020204020204" pitchFamily="34" charset="-122"/>
                          <a:cs typeface="Arial" panose="020B0604020202020204" pitchFamily="34" charset="0"/>
                        </a:rPr>
                        <a:t>一种面向动态拓扑的电网运行状态推断方法及系统</a:t>
                      </a:r>
                      <a:endParaRPr lang="zh-CN" altLang="en-US" sz="1800" dirty="0">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c>
                  <a:txBody>
                    <a:bodyPr/>
                    <a:lstStyle/>
                    <a:p>
                      <a:pPr marL="0" algn="l" defTabSz="914400" rtl="0" eaLnBrk="1" latinLnBrk="0" hangingPunct="1"/>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陶文伟、李家璐、郑茂然、刘春晓、马骞、雷傲宇、刘明顺、王治邦、范俊秋、谭伟涛、王宏</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c>
                  <a:txBody>
                    <a:bodyPr/>
                    <a:lstStyle/>
                    <a:p>
                      <a:pPr marL="0" algn="l" defTabSz="914400" rtl="0" eaLnBrk="1" latinLnBrk="0" hangingPunct="1"/>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计划</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7</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月</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27</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日反馈受理通知书</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c>
                  <a:txBody>
                    <a:bodyPr/>
                    <a:lstStyle/>
                    <a:p>
                      <a:pPr marL="0" algn="l" defTabSz="914400" rtl="0" eaLnBrk="1" latinLnBrk="0" hangingPunct="1"/>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中国南方电网有限责任公司</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r>
              <a:tr h="1044691">
                <a:tc>
                  <a:txBody>
                    <a:bodyPr/>
                    <a:lstStyle/>
                    <a:p>
                      <a:r>
                        <a:rPr lang="zh-CN" altLang="en-US" sz="1800" dirty="0">
                          <a:latin typeface="Arial" panose="020B0604020202020204" pitchFamily="34" charset="0"/>
                          <a:ea typeface="微软雅黑" panose="020B0503020204020204" pitchFamily="34" charset="-122"/>
                          <a:cs typeface="Arial" panose="020B0604020202020204" pitchFamily="34" charset="0"/>
                        </a:rPr>
                        <a:t>一种电力数据隐性推断多路径识别方法与系统</a:t>
                      </a:r>
                      <a:endParaRPr lang="zh-CN" altLang="en-US" sz="1800" dirty="0">
                        <a:latin typeface="Arial" panose="020B0604020202020204" pitchFamily="34" charset="0"/>
                        <a:ea typeface="微软雅黑" panose="020B0503020204020204" pitchFamily="34" charset="-122"/>
                        <a:cs typeface="Arial" panose="020B0604020202020204" pitchFamily="34" charset="0"/>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雷傲宇、陶文伟、郑茂然、李家璐、刘春晓、马骞、王治邦、刘明顺、范俊秋、谭伟涛、王宏</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计划</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7</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月</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30</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日反馈受理通知书</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中国南方电网有限责任公司</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txBody>
                  <a:tcPr anchor="ctr">
                    <a:noFill/>
                  </a:tcPr>
                </a:tc>
              </a:tr>
              <a:tr h="1044691">
                <a:tc>
                  <a:txBody>
                    <a:bodyPr/>
                    <a:lstStyle/>
                    <a:p>
                      <a:r>
                        <a:rPr lang="zh-CN" altLang="en-US" sz="1800" dirty="0">
                          <a:latin typeface="Arial" panose="020B0604020202020204" pitchFamily="34" charset="0"/>
                          <a:ea typeface="微软雅黑" panose="020B0503020204020204" pitchFamily="34" charset="-122"/>
                          <a:cs typeface="Arial" panose="020B0604020202020204" pitchFamily="34" charset="0"/>
                        </a:rPr>
                        <a:t>一种基于强化学习的数据安全等级动态更新方法</a:t>
                      </a:r>
                      <a:endParaRPr lang="zh-CN" altLang="en-US" sz="1800" dirty="0">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郑茂然、陶文伟、马骞、雷傲宇、李家璐、刘春晓、范俊秋、刘明顺、王治邦、谭伟涛、王宏</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计划</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8</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月</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10</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日反馈受理通知书</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中国南方电网有限责任公司</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r>
            </a:tbl>
          </a:graphicData>
        </a:graphic>
      </p:graphicFrame>
      <p:sp>
        <p:nvSpPr>
          <p:cNvPr id="7" name="object 11"/>
          <p:cNvSpPr txBox="1"/>
          <p:nvPr>
            <p:custDataLst>
              <p:tags r:id="rId1"/>
            </p:custDataLst>
          </p:nvPr>
        </p:nvSpPr>
        <p:spPr>
          <a:xfrm>
            <a:off x="572261" y="1568708"/>
            <a:ext cx="11047478" cy="1055995"/>
          </a:xfrm>
          <a:prstGeom prst="rect">
            <a:avLst/>
          </a:prstGeom>
          <a:solidFill>
            <a:schemeClr val="bg1"/>
          </a:solidFill>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marL="0" marR="0" lvl="0" indent="457200" algn="l" defTabSz="914400" rtl="0" eaLnBrk="1" fontAlgn="auto" latinLnBrk="0" hangingPunct="1">
              <a:lnSpc>
                <a:spcPct val="150000"/>
              </a:lnSpc>
              <a:spcBef>
                <a:spcPts val="0"/>
              </a:spcBef>
              <a:spcAft>
                <a:spcPts val="1200"/>
              </a:spcAft>
              <a:buClrTx/>
              <a:buSzTx/>
              <a:buFontTx/>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项专利均已立案撰写，待补充发明人身份证号，即可提交知识产权局，取得</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项受理通知书</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665043" y="328398"/>
            <a:ext cx="506730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项目中期考核指标完成情况</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7207" y="1221722"/>
            <a:ext cx="2186724"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论文</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object 11"/>
          <p:cNvSpPr txBox="1"/>
          <p:nvPr>
            <p:custDataLst>
              <p:tags r:id="rId1"/>
            </p:custDataLst>
          </p:nvPr>
        </p:nvSpPr>
        <p:spPr>
          <a:xfrm>
            <a:off x="310625" y="1913219"/>
            <a:ext cx="11622157" cy="1055995"/>
          </a:xfrm>
          <a:prstGeom prst="rect">
            <a:avLst/>
          </a:prstGeom>
          <a:solidFill>
            <a:schemeClr val="bg1"/>
          </a:solidFill>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marL="0" marR="0" lvl="0" indent="457200" algn="l" defTabSz="914400" rtl="0" eaLnBrk="1" fontAlgn="auto" latinLnBrk="0" hangingPunct="1">
              <a:lnSpc>
                <a:spcPct val="150000"/>
              </a:lnSpc>
              <a:spcBef>
                <a:spcPts val="0"/>
              </a:spcBef>
              <a:spcAft>
                <a:spcPts val="120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一篇中文核心论文已投稿至</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南方电网技术</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，正在审查，一篇</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EI</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论文于</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月</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16</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日投稿至</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CASE</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会议，</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月</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27</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录用，</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6</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月</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15</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日提交最终版论文，</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8</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月</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17-21</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日在沈阳开会汇报</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graphicFrame>
        <p:nvGraphicFramePr>
          <p:cNvPr id="8" name="表格 7"/>
          <p:cNvGraphicFramePr>
            <a:graphicFrameLocks noGrp="1"/>
          </p:cNvGraphicFramePr>
          <p:nvPr/>
        </p:nvGraphicFramePr>
        <p:xfrm>
          <a:off x="274772" y="3449895"/>
          <a:ext cx="11693861" cy="2688323"/>
        </p:xfrm>
        <a:graphic>
          <a:graphicData uri="http://schemas.openxmlformats.org/drawingml/2006/table">
            <a:tbl>
              <a:tblPr firstRow="1" bandRow="1">
                <a:tableStyleId>{5C22544A-7EE6-4342-B048-85BDC9FD1C3A}</a:tableStyleId>
              </a:tblPr>
              <a:tblGrid>
                <a:gridCol w="3293084"/>
                <a:gridCol w="3649291"/>
                <a:gridCol w="2936704"/>
                <a:gridCol w="1814782"/>
              </a:tblGrid>
              <a:tr h="378892">
                <a:tc>
                  <a:txBody>
                    <a:bodyPr/>
                    <a:lstStyle/>
                    <a:p>
                      <a:r>
                        <a:rPr lang="zh-CN" altLang="en-US" sz="1800" dirty="0">
                          <a:latin typeface="Arial" panose="020B0604020202020204" pitchFamily="34" charset="0"/>
                          <a:ea typeface="微软雅黑" panose="020B0503020204020204" pitchFamily="34" charset="-122"/>
                          <a:cs typeface="Arial" panose="020B0604020202020204" pitchFamily="34" charset="0"/>
                        </a:rPr>
                        <a:t>论文名</a:t>
                      </a:r>
                      <a:endParaRPr lang="zh-CN" altLang="en-US" sz="1800" dirty="0">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zh-CN" altLang="en-US" sz="1800" strike="noStrike" dirty="0">
                          <a:latin typeface="Arial" panose="020B0604020202020204" pitchFamily="34" charset="0"/>
                          <a:ea typeface="微软雅黑" panose="020B0503020204020204" pitchFamily="34" charset="-122"/>
                          <a:cs typeface="Arial" panose="020B0604020202020204" pitchFamily="34" charset="0"/>
                        </a:rPr>
                        <a:t>作者</a:t>
                      </a:r>
                      <a:endParaRPr lang="zh-CN" altLang="en-US" sz="1800" strike="noStrike" dirty="0">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zh-CN" altLang="en-US" sz="1800" strike="noStrike" dirty="0">
                          <a:latin typeface="Arial" panose="020B0604020202020204" pitchFamily="34" charset="0"/>
                          <a:ea typeface="微软雅黑" panose="020B0503020204020204" pitchFamily="34" charset="-122"/>
                          <a:cs typeface="Arial" panose="020B0604020202020204" pitchFamily="34" charset="0"/>
                        </a:rPr>
                        <a:t>进度</a:t>
                      </a:r>
                      <a:endParaRPr lang="zh-CN" altLang="en-US" sz="1800" strike="noStrike" dirty="0">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zh-CN" altLang="en-US" sz="1800" strike="noStrike" dirty="0">
                          <a:latin typeface="Arial" panose="020B0604020202020204" pitchFamily="34" charset="0"/>
                          <a:ea typeface="微软雅黑" panose="020B0503020204020204" pitchFamily="34" charset="-122"/>
                          <a:cs typeface="Arial" panose="020B0604020202020204" pitchFamily="34" charset="0"/>
                        </a:rPr>
                        <a:t>期刊</a:t>
                      </a:r>
                      <a:r>
                        <a:rPr lang="en-US" altLang="zh-CN" sz="1800" strike="noStrike" dirty="0">
                          <a:latin typeface="Arial" panose="020B0604020202020204" pitchFamily="34" charset="0"/>
                          <a:ea typeface="微软雅黑" panose="020B0503020204020204" pitchFamily="34" charset="-122"/>
                          <a:cs typeface="Arial" panose="020B0604020202020204" pitchFamily="34" charset="0"/>
                        </a:rPr>
                        <a:t>/</a:t>
                      </a:r>
                      <a:r>
                        <a:rPr lang="zh-CN" altLang="en-US" sz="1800" strike="noStrike" dirty="0">
                          <a:latin typeface="Arial" panose="020B0604020202020204" pitchFamily="34" charset="0"/>
                          <a:ea typeface="微软雅黑" panose="020B0503020204020204" pitchFamily="34" charset="-122"/>
                          <a:cs typeface="Arial" panose="020B0604020202020204" pitchFamily="34" charset="0"/>
                        </a:rPr>
                        <a:t>会议</a:t>
                      </a:r>
                      <a:endParaRPr lang="zh-CN" altLang="en-US" sz="1800" strike="noStrike" dirty="0">
                        <a:latin typeface="Arial" panose="020B0604020202020204" pitchFamily="34" charset="0"/>
                        <a:ea typeface="微软雅黑" panose="020B0503020204020204" pitchFamily="34" charset="-122"/>
                        <a:cs typeface="Arial" panose="020B0604020202020204" pitchFamily="34" charset="0"/>
                      </a:endParaRPr>
                    </a:p>
                  </a:txBody>
                  <a:tcPr anchor="ctr"/>
                </a:tc>
              </a:tr>
              <a:tr h="1395031">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1800" dirty="0">
                          <a:latin typeface="Arial" panose="020B0604020202020204" pitchFamily="34" charset="0"/>
                          <a:ea typeface="微软雅黑" panose="020B0503020204020204" pitchFamily="34" charset="-122"/>
                          <a:cs typeface="Arial" panose="020B0604020202020204" pitchFamily="34" charset="0"/>
                        </a:rPr>
                        <a:t>Data Dynamic Classification and Grading for Power Systems Based on Correlation Awareness and GRPO</a:t>
                      </a:r>
                      <a:endParaRPr lang="zh-CN" altLang="en-US" sz="1800" dirty="0">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c>
                  <a:txBody>
                    <a:bodyPr/>
                    <a:lstStyle/>
                    <a:p>
                      <a:pPr marL="0" algn="l" defTabSz="914400" rtl="0" eaLnBrk="1" latinLnBrk="0" hangingPunct="1"/>
                      <a:r>
                        <a:rPr lang="en-US" altLang="zh-CN" sz="1800" strike="noStrike" kern="1200" dirty="0" err="1">
                          <a:solidFill>
                            <a:schemeClr val="dk1"/>
                          </a:solidFill>
                          <a:latin typeface="Arial" panose="020B0604020202020204" pitchFamily="34" charset="0"/>
                          <a:ea typeface="微软雅黑" panose="020B0503020204020204" pitchFamily="34" charset="-122"/>
                          <a:cs typeface="Arial" panose="020B0604020202020204" pitchFamily="34" charset="0"/>
                        </a:rPr>
                        <a:t>Wenwei</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 Tao</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（陶文伟）、</a:t>
                      </a:r>
                      <a:r>
                        <a:rPr lang="en-US" altLang="zh-CN" sz="1800" strike="noStrike" kern="1200" dirty="0" err="1">
                          <a:solidFill>
                            <a:schemeClr val="dk1"/>
                          </a:solidFill>
                          <a:latin typeface="Arial" panose="020B0604020202020204" pitchFamily="34" charset="0"/>
                          <a:ea typeface="微软雅黑" panose="020B0503020204020204" pitchFamily="34" charset="-122"/>
                          <a:cs typeface="Arial" panose="020B0604020202020204" pitchFamily="34" charset="0"/>
                        </a:rPr>
                        <a:t>Jialu</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 Li</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（李家璐）、</a:t>
                      </a:r>
                      <a:r>
                        <a:rPr lang="en-US" altLang="zh-CN" sz="1800" strike="noStrike" kern="1200" dirty="0" err="1">
                          <a:solidFill>
                            <a:schemeClr val="dk1"/>
                          </a:solidFill>
                          <a:latin typeface="Arial" panose="020B0604020202020204" pitchFamily="34" charset="0"/>
                          <a:ea typeface="微软雅黑" panose="020B0503020204020204" pitchFamily="34" charset="-122"/>
                          <a:cs typeface="Arial" panose="020B0604020202020204" pitchFamily="34" charset="0"/>
                        </a:rPr>
                        <a:t>Namin</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 Hou</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（侯纳敏）、</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Hong Wang</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（王宏）、</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Weitao Tan</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（谭伟涛）</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c>
                  <a:txBody>
                    <a:bodyPr/>
                    <a:lstStyle/>
                    <a:p>
                      <a:pPr marL="0" algn="l" defTabSz="914400" rtl="0" eaLnBrk="1" latinLnBrk="0" hangingPunct="1"/>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已录用；</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6</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月</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15</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日已提交最终版；拟于</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8</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月</a:t>
                      </a:r>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17—21</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日参会汇报</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c>
                  <a:txBody>
                    <a:bodyPr/>
                    <a:lstStyle/>
                    <a:p>
                      <a:pPr marL="0" algn="l" defTabSz="914400" rtl="0" eaLnBrk="1" latinLnBrk="0" hangingPunct="1"/>
                      <a:r>
                        <a:rPr lang="en-US" altLang="zh-CN"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IEEE CASE</a:t>
                      </a: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会议</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solidFill>
                      <a:srgbClr val="E7E7E7"/>
                    </a:solidFill>
                  </a:tcPr>
                </a:tc>
              </a:tr>
              <a:tr h="875950">
                <a:tc>
                  <a:txBody>
                    <a:bodyPr/>
                    <a:lstStyle/>
                    <a:p>
                      <a:r>
                        <a:rPr lang="zh-CN" altLang="en-US" sz="1800" dirty="0">
                          <a:latin typeface="Arial" panose="020B0604020202020204" pitchFamily="34" charset="0"/>
                          <a:ea typeface="微软雅黑" panose="020B0503020204020204" pitchFamily="34" charset="-122"/>
                          <a:cs typeface="Arial" panose="020B0604020202020204" pitchFamily="34" charset="0"/>
                        </a:rPr>
                        <a:t>基于多相关性筛选与</a:t>
                      </a:r>
                      <a:r>
                        <a:rPr lang="en-US" altLang="zh-CN" sz="1800" dirty="0">
                          <a:latin typeface="Arial" panose="020B0604020202020204" pitchFamily="34" charset="0"/>
                          <a:ea typeface="微软雅黑" panose="020B0503020204020204" pitchFamily="34" charset="-122"/>
                          <a:cs typeface="Arial" panose="020B0604020202020204" pitchFamily="34" charset="0"/>
                        </a:rPr>
                        <a:t>L1</a:t>
                      </a:r>
                      <a:r>
                        <a:rPr lang="zh-CN" altLang="en-US" sz="1800" dirty="0">
                          <a:latin typeface="Arial" panose="020B0604020202020204" pitchFamily="34" charset="0"/>
                          <a:ea typeface="微软雅黑" panose="020B0503020204020204" pitchFamily="34" charset="-122"/>
                          <a:cs typeface="Arial" panose="020B0604020202020204" pitchFamily="34" charset="0"/>
                        </a:rPr>
                        <a:t>门控深度神经网络的电力数据隐性推断源定位方法</a:t>
                      </a:r>
                      <a:endParaRPr lang="zh-CN" altLang="en-US" sz="1800" dirty="0">
                        <a:latin typeface="Arial" panose="020B0604020202020204" pitchFamily="34" charset="0"/>
                        <a:ea typeface="微软雅黑" panose="020B0503020204020204" pitchFamily="34" charset="-122"/>
                        <a:cs typeface="Arial" panose="020B0604020202020204" pitchFamily="34" charset="0"/>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郑茂然、陶文伟、李家璐、雷傲宇、谭伟涛、王宏、杜浩存</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rPr>
                        <a:t>已投稿，正在审查</a:t>
                      </a:r>
                      <a:endParaRPr lang="zh-CN" altLang="en-US" sz="1800" strike="noStrike" kern="1200" dirty="0">
                        <a:solidFill>
                          <a:schemeClr val="dk1"/>
                        </a:solidFill>
                        <a:latin typeface="Arial" panose="020B0604020202020204" pitchFamily="34" charset="0"/>
                        <a:ea typeface="微软雅黑" panose="020B0503020204020204" pitchFamily="34" charset="-122"/>
                        <a:cs typeface="Arial" panose="020B0604020202020204" pitchFamily="34" charset="0"/>
                      </a:endParaRPr>
                    </a:p>
                  </a:txBody>
                  <a:tcPr anchor="ctr">
                    <a:noFill/>
                  </a:tcPr>
                </a:tc>
                <a:tc>
                  <a:txBody>
                    <a:bodyPr/>
                    <a:lstStyle/>
                    <a:p>
                      <a:pPr>
                        <a:buNone/>
                      </a:pPr>
                      <a:r>
                        <a:rPr kumimoji="0" lang="zh-CN" altLang="en-US" sz="1800" b="0" i="0" u="none" strike="noStrike" kern="1200" cap="none" spc="0" normalizeH="0" baseline="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南方电网技术</a:t>
                      </a:r>
                      <a:endParaRPr kumimoji="0" lang="en-US" altLang="zh-CN" sz="1800" b="0" i="0" u="none" strike="noStrike" kern="1200" cap="none" spc="0" normalizeH="0" baseline="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txBody>
                  <a:tcPr anchor="ctr">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665043" y="328398"/>
            <a:ext cx="506730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项目中期考核指标完成情况</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16" name="object 11"/>
          <p:cNvSpPr txBox="1"/>
          <p:nvPr>
            <p:custDataLst>
              <p:tags r:id="rId1"/>
            </p:custDataLst>
          </p:nvPr>
        </p:nvSpPr>
        <p:spPr>
          <a:xfrm>
            <a:off x="325796" y="1460682"/>
            <a:ext cx="11540407" cy="1609993"/>
          </a:xfrm>
          <a:prstGeom prst="rect">
            <a:avLst/>
          </a:prstGeom>
          <a:solidFill>
            <a:schemeClr val="bg1"/>
          </a:solidFill>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marL="0" marR="0" lvl="0" indent="457200" algn="just" defTabSz="914400" rtl="0" eaLnBrk="1" fontAlgn="auto" latinLnBrk="0" hangingPunct="1">
              <a:lnSpc>
                <a:spcPct val="150000"/>
              </a:lnSpc>
              <a:spcBef>
                <a:spcPts val="0"/>
              </a:spcBef>
              <a:spcAft>
                <a:spcPts val="120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完成</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电力行业数据安全风险评估指南</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行业标准初稿，涵盖数据风险评估、评估实施、风险识别、风险分析与评价等方面，已通过电力行业信息标准化技术委员会审议，同意推荐申报立项，预计</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2027</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年发布</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p:cNvPicPr>
            <a:picLocks noChangeAspect="1"/>
          </p:cNvPicPr>
          <p:nvPr/>
        </p:nvPicPr>
        <p:blipFill>
          <a:blip r:embed="rId2"/>
          <a:stretch>
            <a:fillRect/>
          </a:stretch>
        </p:blipFill>
        <p:spPr>
          <a:xfrm>
            <a:off x="643877" y="3105122"/>
            <a:ext cx="6101066" cy="3718672"/>
          </a:xfrm>
          <a:prstGeom prst="rect">
            <a:avLst/>
          </a:prstGeom>
        </p:spPr>
      </p:pic>
      <p:pic>
        <p:nvPicPr>
          <p:cNvPr id="11" name="图片 10"/>
          <p:cNvPicPr>
            <a:picLocks noChangeAspect="1"/>
          </p:cNvPicPr>
          <p:nvPr/>
        </p:nvPicPr>
        <p:blipFill>
          <a:blip r:embed="rId3"/>
          <a:stretch>
            <a:fillRect/>
          </a:stretch>
        </p:blipFill>
        <p:spPr>
          <a:xfrm>
            <a:off x="6965921" y="2646041"/>
            <a:ext cx="2626016" cy="4177754"/>
          </a:xfrm>
          <a:prstGeom prst="rect">
            <a:avLst/>
          </a:prstGeom>
        </p:spPr>
      </p:pic>
      <p:sp>
        <p:nvSpPr>
          <p:cNvPr id="13" name="文本框 12"/>
          <p:cNvSpPr txBox="1"/>
          <p:nvPr/>
        </p:nvSpPr>
        <p:spPr>
          <a:xfrm>
            <a:off x="9934997" y="4550252"/>
            <a:ext cx="2031325"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mn-cs"/>
              </a:rPr>
              <a:t>同意推荐申报立项</a:t>
            </a:r>
            <a:endParaRPr kumimoji="0" lang="zh-CN" altLang="en-US" sz="1800" b="1" i="0" u="none" strike="noStrike" kern="1200" cap="none" spc="0" normalizeH="0" baseline="0" noProof="0" dirty="0">
              <a:ln>
                <a:noFill/>
              </a:ln>
              <a:solidFill>
                <a:srgbClr val="C00000"/>
              </a:solidFill>
              <a:effectLst/>
              <a:uLnTx/>
              <a:uFillTx/>
              <a:latin typeface="Arial" panose="020B0604020202020204"/>
              <a:ea typeface="微软雅黑" panose="020B0503020204020204" pitchFamily="34" charset="-122"/>
              <a:cs typeface="+mn-cs"/>
            </a:endParaRPr>
          </a:p>
        </p:txBody>
      </p:sp>
      <p:sp>
        <p:nvSpPr>
          <p:cNvPr id="14" name="矩形 13"/>
          <p:cNvSpPr/>
          <p:nvPr/>
        </p:nvSpPr>
        <p:spPr>
          <a:xfrm>
            <a:off x="6965921" y="4427216"/>
            <a:ext cx="2748098" cy="65649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15" name="直接箭头连接符 14"/>
          <p:cNvCxnSpPr>
            <a:stCxn id="14" idx="3"/>
            <a:endCxn id="13" idx="1"/>
          </p:cNvCxnSpPr>
          <p:nvPr/>
        </p:nvCxnSpPr>
        <p:spPr>
          <a:xfrm flipV="1">
            <a:off x="9714019" y="4734918"/>
            <a:ext cx="220978" cy="2054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437207" y="1094478"/>
            <a:ext cx="2186724"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标准</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rotWithShape="1">
          <a:blip r:embed="rId1">
            <a:extLst>
              <a:ext uri="{28A0092B-C50C-407E-A947-70E740481C1C}">
                <a14:useLocalDpi xmlns:a14="http://schemas.microsoft.com/office/drawing/2010/main" val="0"/>
              </a:ext>
            </a:extLst>
          </a:blip>
          <a:srcRect l="51" t="20074" r="-443" b="46946"/>
          <a:stretch>
            <a:fillRect/>
          </a:stretch>
        </p:blipFill>
        <p:spPr>
          <a:xfrm>
            <a:off x="0" y="0"/>
            <a:ext cx="12239625" cy="2262460"/>
          </a:xfrm>
          <a:prstGeom prst="rect">
            <a:avLst/>
          </a:prstGeom>
        </p:spPr>
      </p:pic>
      <p:sp>
        <p:nvSpPr>
          <p:cNvPr id="49" name="Oval 4"/>
          <p:cNvSpPr/>
          <p:nvPr/>
        </p:nvSpPr>
        <p:spPr>
          <a:xfrm>
            <a:off x="3904407" y="3045941"/>
            <a:ext cx="648000" cy="648000"/>
          </a:xfrm>
          <a:prstGeom prst="ellipse">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rPr>
              <a:t>1</a:t>
            </a:r>
            <a:endParaRPr kumimoji="0" lang="id-ID"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endParaRPr>
          </a:p>
        </p:txBody>
      </p:sp>
      <p:sp>
        <p:nvSpPr>
          <p:cNvPr id="50" name="Oval 4"/>
          <p:cNvSpPr/>
          <p:nvPr/>
        </p:nvSpPr>
        <p:spPr>
          <a:xfrm>
            <a:off x="3904407" y="4224521"/>
            <a:ext cx="648000" cy="648000"/>
          </a:xfrm>
          <a:prstGeom prst="ellipse">
            <a:avLst/>
          </a:prstGeom>
          <a:solidFill>
            <a:schemeClr val="accent1">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rPr>
              <a:t>2</a:t>
            </a:r>
            <a:endParaRPr kumimoji="0" lang="id-ID"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endParaRPr>
          </a:p>
        </p:txBody>
      </p:sp>
      <p:sp>
        <p:nvSpPr>
          <p:cNvPr id="51" name="Oval 4"/>
          <p:cNvSpPr/>
          <p:nvPr/>
        </p:nvSpPr>
        <p:spPr>
          <a:xfrm>
            <a:off x="3904407" y="5403101"/>
            <a:ext cx="648000" cy="648000"/>
          </a:xfrm>
          <a:prstGeom prst="ellipse">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rPr>
              <a:t>3</a:t>
            </a:r>
            <a:endParaRPr kumimoji="0" lang="id-ID"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endParaRPr>
          </a:p>
        </p:txBody>
      </p:sp>
      <p:sp>
        <p:nvSpPr>
          <p:cNvPr id="53" name="Text Box 17"/>
          <p:cNvSpPr txBox="1">
            <a:spLocks noChangeArrowheads="1"/>
          </p:cNvSpPr>
          <p:nvPr/>
        </p:nvSpPr>
        <p:spPr bwMode="auto">
          <a:xfrm>
            <a:off x="4817559" y="3128237"/>
            <a:ext cx="746524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charset="-122"/>
                <a:ea typeface="宋体" panose="02010600030101010101" pitchFamily="2" charset="-122"/>
              </a:defRPr>
            </a:lvl1pPr>
            <a:lvl2pPr marL="742950" indent="-285750">
              <a:defRPr b="1">
                <a:solidFill>
                  <a:schemeClr val="bg1"/>
                </a:solidFill>
                <a:latin typeface="黑体" panose="02010609060101010101" charset="-122"/>
                <a:ea typeface="宋体" panose="02010600030101010101" pitchFamily="2" charset="-122"/>
              </a:defRPr>
            </a:lvl2pPr>
            <a:lvl3pPr marL="1143000" indent="-228600">
              <a:defRPr b="1">
                <a:solidFill>
                  <a:schemeClr val="bg1"/>
                </a:solidFill>
                <a:latin typeface="黑体" panose="02010609060101010101" charset="-122"/>
                <a:ea typeface="宋体" panose="02010600030101010101" pitchFamily="2" charset="-122"/>
              </a:defRPr>
            </a:lvl3pPr>
            <a:lvl4pPr marL="1600200" indent="-228600">
              <a:defRPr b="1">
                <a:solidFill>
                  <a:schemeClr val="bg1"/>
                </a:solidFill>
                <a:latin typeface="黑体" panose="02010609060101010101" charset="-122"/>
                <a:ea typeface="宋体" panose="02010600030101010101" pitchFamily="2" charset="-122"/>
              </a:defRPr>
            </a:lvl4pPr>
            <a:lvl5pPr marL="2057400" indent="-228600">
              <a:defRPr b="1">
                <a:solidFill>
                  <a:schemeClr val="bg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9pPr>
          </a:lstStyle>
          <a:p>
            <a:pPr eaLnBrk="0" fontAlgn="base" hangingPunct="0">
              <a:spcBef>
                <a:spcPct val="0"/>
              </a:spcBef>
              <a:spcAft>
                <a:spcPct val="0"/>
              </a:spcAft>
              <a:defRPr/>
            </a:pPr>
            <a:r>
              <a:rPr lang="zh-CN" altLang="en-US" sz="3200" dirty="0">
                <a:solidFill>
                  <a:schemeClr val="bg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指标完成情况</a:t>
            </a:r>
            <a:endParaRPr lang="zh-CN" altLang="en-US" sz="3200" dirty="0">
              <a:solidFill>
                <a:schemeClr val="bg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 name="Text Box 17"/>
          <p:cNvSpPr txBox="1">
            <a:spLocks noChangeArrowheads="1"/>
          </p:cNvSpPr>
          <p:nvPr/>
        </p:nvSpPr>
        <p:spPr bwMode="auto">
          <a:xfrm>
            <a:off x="4817560" y="4306817"/>
            <a:ext cx="52840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charset="-122"/>
                <a:ea typeface="宋体" panose="02010600030101010101" pitchFamily="2" charset="-122"/>
              </a:defRPr>
            </a:lvl1pPr>
            <a:lvl2pPr marL="742950" indent="-285750">
              <a:defRPr b="1">
                <a:solidFill>
                  <a:schemeClr val="bg1"/>
                </a:solidFill>
                <a:latin typeface="黑体" panose="02010609060101010101" charset="-122"/>
                <a:ea typeface="宋体" panose="02010600030101010101" pitchFamily="2" charset="-122"/>
              </a:defRPr>
            </a:lvl2pPr>
            <a:lvl3pPr marL="1143000" indent="-228600">
              <a:defRPr b="1">
                <a:solidFill>
                  <a:schemeClr val="bg1"/>
                </a:solidFill>
                <a:latin typeface="黑体" panose="02010609060101010101" charset="-122"/>
                <a:ea typeface="宋体" panose="02010600030101010101" pitchFamily="2" charset="-122"/>
              </a:defRPr>
            </a:lvl3pPr>
            <a:lvl4pPr marL="1600200" indent="-228600">
              <a:defRPr b="1">
                <a:solidFill>
                  <a:schemeClr val="bg1"/>
                </a:solidFill>
                <a:latin typeface="黑体" panose="02010609060101010101" charset="-122"/>
                <a:ea typeface="宋体" panose="02010600030101010101" pitchFamily="2" charset="-122"/>
              </a:defRPr>
            </a:lvl4pPr>
            <a:lvl5pPr marL="2057400" indent="-228600">
              <a:defRPr b="1">
                <a:solidFill>
                  <a:schemeClr val="bg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9pPr>
          </a:lstStyle>
          <a:p>
            <a:pPr eaLnBrk="0" fontAlgn="base" hangingPunct="0">
              <a:spcBef>
                <a:spcPct val="0"/>
              </a:spcBef>
              <a:spcAft>
                <a:spcPct val="0"/>
              </a:spcAft>
              <a:defRPr/>
            </a:pPr>
            <a:r>
              <a:rPr lang="zh-CN" altLang="en-US" sz="320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近期工作进展</a:t>
            </a:r>
            <a:endParaRPr kumimoji="0" lang="zh-CN" altLang="en-US" sz="32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55" name="Text Box 17"/>
          <p:cNvSpPr txBox="1">
            <a:spLocks noChangeArrowheads="1"/>
          </p:cNvSpPr>
          <p:nvPr/>
        </p:nvSpPr>
        <p:spPr bwMode="auto">
          <a:xfrm>
            <a:off x="4817562" y="5485397"/>
            <a:ext cx="5284018"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charset="-122"/>
                <a:ea typeface="宋体" panose="02010600030101010101" pitchFamily="2" charset="-122"/>
              </a:defRPr>
            </a:lvl1pPr>
            <a:lvl2pPr marL="742950" indent="-285750">
              <a:defRPr b="1">
                <a:solidFill>
                  <a:schemeClr val="bg1"/>
                </a:solidFill>
                <a:latin typeface="黑体" panose="02010609060101010101" charset="-122"/>
                <a:ea typeface="宋体" panose="02010600030101010101" pitchFamily="2" charset="-122"/>
              </a:defRPr>
            </a:lvl2pPr>
            <a:lvl3pPr marL="1143000" indent="-228600">
              <a:defRPr b="1">
                <a:solidFill>
                  <a:schemeClr val="bg1"/>
                </a:solidFill>
                <a:latin typeface="黑体" panose="02010609060101010101" charset="-122"/>
                <a:ea typeface="宋体" panose="02010600030101010101" pitchFamily="2" charset="-122"/>
              </a:defRPr>
            </a:lvl3pPr>
            <a:lvl4pPr marL="1600200" indent="-228600">
              <a:defRPr b="1">
                <a:solidFill>
                  <a:schemeClr val="bg1"/>
                </a:solidFill>
                <a:latin typeface="黑体" panose="02010609060101010101" charset="-122"/>
                <a:ea typeface="宋体" panose="02010600030101010101" pitchFamily="2" charset="-122"/>
              </a:defRPr>
            </a:lvl4pPr>
            <a:lvl5pPr marL="2057400" indent="-228600">
              <a:defRPr b="1">
                <a:solidFill>
                  <a:schemeClr val="bg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9pPr>
          </a:lstStyle>
          <a:p>
            <a:pPr eaLnBrk="0" fontAlgn="base" hangingPunct="0">
              <a:spcBef>
                <a:spcPct val="0"/>
              </a:spcBef>
              <a:spcAft>
                <a:spcPct val="0"/>
              </a:spcAft>
              <a:defRPr/>
            </a:pPr>
            <a:r>
              <a:rPr lang="zh-CN" altLang="en-US" sz="3200" noProof="0" dirty="0">
                <a:ln>
                  <a:noFill/>
                </a:ln>
                <a:solidFill>
                  <a:srgbClr val="FFFFFF">
                    <a:lumMod val="75000"/>
                  </a:srgbClr>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下一步工作计划</a:t>
            </a:r>
            <a:endPar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5" name="组合 64"/>
          <p:cNvGrpSpPr/>
          <p:nvPr/>
        </p:nvGrpSpPr>
        <p:grpSpPr>
          <a:xfrm>
            <a:off x="2760720" y="774153"/>
            <a:ext cx="6670560" cy="1374579"/>
            <a:chOff x="2790024" y="149517"/>
            <a:chExt cx="6670560" cy="1374579"/>
          </a:xfrm>
        </p:grpSpPr>
        <p:sp>
          <p:nvSpPr>
            <p:cNvPr id="66" name="标题 1"/>
            <p:cNvSpPr txBox="1"/>
            <p:nvPr/>
          </p:nvSpPr>
          <p:spPr>
            <a:xfrm>
              <a:off x="4722148" y="149517"/>
              <a:ext cx="2743200" cy="1217930"/>
            </a:xfrm>
            <a:prstGeom prst="rect">
              <a:avLst/>
            </a:prstGeom>
            <a:noFill/>
            <a:ln>
              <a:noFill/>
            </a:ln>
          </p:spPr>
          <p:txBody>
            <a:bodyPr vert="horz" wrap="none" lIns="0" tIns="0" rIns="0" bIns="0" rtlCol="0" anchor="t">
              <a:spAutoFit/>
            </a:bodyPr>
            <a:lstStyle/>
            <a:p>
              <a:pPr marL="0" marR="0" lvl="0" indent="0" algn="l" defTabSz="914400" eaLnBrk="1" fontAlgn="auto" latinLnBrk="0" hangingPunct="1">
                <a:lnSpc>
                  <a:spcPct val="110000"/>
                </a:lnSpc>
                <a:spcBef>
                  <a:spcPts val="0"/>
                </a:spcBef>
                <a:spcAft>
                  <a:spcPts val="0"/>
                </a:spcAft>
                <a:buClrTx/>
                <a:buSzTx/>
                <a:buFontTx/>
                <a:buNone/>
                <a:defRPr/>
              </a:pPr>
              <a:r>
                <a:rPr kumimoji="1" lang="en-US" altLang="zh-CN" sz="5400" kern="0" noProof="0" dirty="0" err="1">
                  <a:ln w="12700">
                    <a:noFill/>
                  </a:ln>
                  <a:solidFill>
                    <a:prstClr val="white"/>
                  </a:solidFill>
                  <a:effectLst/>
                  <a:uLnTx/>
                  <a:uFillTx/>
                  <a:latin typeface="+mj-ea"/>
                  <a:ea typeface="+mj-ea"/>
                  <a:cs typeface="OPPOSans H"/>
                  <a:sym typeface="+mn-ea"/>
                </a:rPr>
                <a:t>汇报</a:t>
              </a:r>
              <a:r>
                <a:rPr kumimoji="1" lang="zh-CN" altLang="en-US" sz="5400" kern="0" noProof="0" dirty="0" err="1">
                  <a:ln w="12700">
                    <a:noFill/>
                  </a:ln>
                  <a:solidFill>
                    <a:prstClr val="white"/>
                  </a:solidFill>
                  <a:effectLst/>
                  <a:uLnTx/>
                  <a:uFillTx/>
                  <a:latin typeface="+mj-ea"/>
                  <a:ea typeface="+mj-ea"/>
                  <a:cs typeface="OPPOSans H"/>
                  <a:sym typeface="+mn-ea"/>
                </a:rPr>
                <a:t>提纲</a:t>
              </a:r>
              <a:endParaRPr kumimoji="0" lang="zh-CN" altLang="en-US" b="1" i="0" u="none" strike="noStrike" kern="1200" cap="none" spc="0" normalizeH="0" baseline="0" noProof="0" dirty="0">
                <a:ln>
                  <a:noFill/>
                </a:ln>
                <a:solidFill>
                  <a:srgbClr val="2B4663"/>
                </a:solidFill>
                <a:effectLst>
                  <a:outerShdw blurRad="38100" dist="19050" dir="2700000" algn="tl" rotWithShape="0">
                    <a:srgbClr val="000000">
                      <a:alpha val="40000"/>
                    </a:srgbClr>
                  </a:outerShdw>
                </a:effectLst>
                <a:uLnTx/>
                <a:uFillTx/>
                <a:latin typeface="Arial" panose="020B0604020202020204" pitchFamily="34" charset="0"/>
                <a:ea typeface="微软雅黑" panose="020B0503020204020204" pitchFamily="34" charset="-122"/>
                <a:cs typeface="Arial" panose="020B0604020202020204" pitchFamily="34" charset="0"/>
                <a:sym typeface="+mn-ea"/>
              </a:endParaRPr>
            </a:p>
            <a:p>
              <a:pPr marL="0" marR="0" lvl="0" indent="0" defTabSz="914400" eaLnBrk="1" fontAlgn="auto" latinLnBrk="0" hangingPunct="1">
                <a:lnSpc>
                  <a:spcPct val="11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prstClr val="white"/>
                </a:solidFill>
                <a:effectLst/>
                <a:uLnTx/>
                <a:uFillTx/>
                <a:latin typeface="+mj-ea"/>
                <a:ea typeface="+mj-ea"/>
              </a:endParaRPr>
            </a:p>
          </p:txBody>
        </p:sp>
        <p:sp>
          <p:nvSpPr>
            <p:cNvPr id="67" name="标题 1"/>
            <p:cNvSpPr txBox="1"/>
            <p:nvPr/>
          </p:nvSpPr>
          <p:spPr>
            <a:xfrm>
              <a:off x="5046674" y="958946"/>
              <a:ext cx="309880" cy="565150"/>
            </a:xfrm>
            <a:prstGeom prst="rect">
              <a:avLst/>
            </a:prstGeom>
            <a:noFill/>
            <a:ln>
              <a:noFill/>
            </a:ln>
          </p:spPr>
          <p:txBody>
            <a:bodyPr vert="horz" wrap="none" lIns="91440" tIns="45720" rIns="91440" bIns="45720" rtlCol="0" anchor="t">
              <a:spAutoFit/>
            </a:bodyPr>
            <a:lstStyle/>
            <a:p>
              <a:pPr marL="0" marR="0" lvl="0" indent="0" defTabSz="914400" eaLnBrk="1" fontAlgn="auto" latinLnBrk="0" hangingPunct="1">
                <a:lnSpc>
                  <a:spcPct val="110000"/>
                </a:lnSpc>
                <a:spcBef>
                  <a:spcPts val="0"/>
                </a:spcBef>
                <a:spcAft>
                  <a:spcPts val="0"/>
                </a:spcAft>
                <a:buClrTx/>
                <a:buSzTx/>
                <a:buFontTx/>
                <a:buNone/>
                <a:defRPr/>
              </a:pPr>
              <a:endParaRPr kumimoji="1" lang="zh-CN" altLang="en-US" sz="2800" b="0" i="0" u="none" strike="noStrike" kern="0" cap="none" spc="0" normalizeH="0" baseline="0" noProof="0" dirty="0">
                <a:ln>
                  <a:noFill/>
                </a:ln>
                <a:solidFill>
                  <a:prstClr val="white"/>
                </a:solidFill>
                <a:effectLst/>
                <a:uLnTx/>
                <a:uFillTx/>
                <a:latin typeface="+mj-lt"/>
                <a:ea typeface="等线" panose="02010600030101010101" pitchFamily="2" charset="-122"/>
              </a:endParaRPr>
            </a:p>
          </p:txBody>
        </p:sp>
        <p:cxnSp>
          <p:nvCxnSpPr>
            <p:cNvPr id="68" name="标题 1"/>
            <p:cNvCxnSpPr/>
            <p:nvPr/>
          </p:nvCxnSpPr>
          <p:spPr>
            <a:xfrm>
              <a:off x="3637425" y="528615"/>
              <a:ext cx="790688" cy="0"/>
            </a:xfrm>
            <a:prstGeom prst="line">
              <a:avLst/>
            </a:prstGeom>
            <a:noFill/>
            <a:ln w="6350" cap="sq">
              <a:solidFill>
                <a:sysClr val="window" lastClr="FFFFFF"/>
              </a:solidFill>
              <a:miter/>
            </a:ln>
          </p:spPr>
        </p:cxnSp>
        <p:cxnSp>
          <p:nvCxnSpPr>
            <p:cNvPr id="69" name="标题 1"/>
            <p:cNvCxnSpPr/>
            <p:nvPr/>
          </p:nvCxnSpPr>
          <p:spPr>
            <a:xfrm>
              <a:off x="2790024" y="687946"/>
              <a:ext cx="1884026" cy="0"/>
            </a:xfrm>
            <a:prstGeom prst="line">
              <a:avLst/>
            </a:prstGeom>
            <a:noFill/>
            <a:ln w="6350" cap="sq">
              <a:solidFill>
                <a:sysClr val="window" lastClr="FFFFFF"/>
              </a:solidFill>
              <a:miter/>
            </a:ln>
          </p:spPr>
        </p:cxnSp>
        <p:cxnSp>
          <p:nvCxnSpPr>
            <p:cNvPr id="70" name="标题 1"/>
            <p:cNvCxnSpPr/>
            <p:nvPr/>
          </p:nvCxnSpPr>
          <p:spPr>
            <a:xfrm flipH="1">
              <a:off x="7712005" y="528615"/>
              <a:ext cx="790688" cy="0"/>
            </a:xfrm>
            <a:prstGeom prst="line">
              <a:avLst/>
            </a:prstGeom>
            <a:noFill/>
            <a:ln w="6350" cap="sq">
              <a:solidFill>
                <a:sysClr val="window" lastClr="FFFFFF"/>
              </a:solidFill>
              <a:miter/>
            </a:ln>
          </p:spPr>
        </p:cxnSp>
        <p:cxnSp>
          <p:nvCxnSpPr>
            <p:cNvPr id="71" name="标题 1"/>
            <p:cNvCxnSpPr/>
            <p:nvPr/>
          </p:nvCxnSpPr>
          <p:spPr>
            <a:xfrm flipH="1">
              <a:off x="7576558" y="687946"/>
              <a:ext cx="1884026" cy="0"/>
            </a:xfrm>
            <a:prstGeom prst="line">
              <a:avLst/>
            </a:prstGeom>
            <a:noFill/>
            <a:ln w="6350" cap="sq">
              <a:solidFill>
                <a:sysClr val="window" lastClr="FFFFFF"/>
              </a:solidFill>
              <a:miter/>
            </a:ln>
          </p:spPr>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665043" y="328398"/>
            <a:ext cx="3032125"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课题一研究内容</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4" name="TextBox 2"/>
          <p:cNvSpPr txBox="1"/>
          <p:nvPr>
            <p:custDataLst>
              <p:tags r:id="rId1"/>
            </p:custDataLst>
          </p:nvPr>
        </p:nvSpPr>
        <p:spPr>
          <a:xfrm>
            <a:off x="152400" y="1061622"/>
            <a:ext cx="11715750" cy="1051680"/>
          </a:xfrm>
          <a:prstGeom prst="rect">
            <a:avLst/>
          </a:prstGeom>
          <a:noFill/>
          <a:ln w="12700">
            <a:solidFill>
              <a:schemeClr val="accent1"/>
            </a:solidFill>
            <a:prstDash val="dash"/>
          </a:ln>
        </p:spPr>
        <p:txBody>
          <a:bodyPr wrap="square" lIns="107950" tIns="107950" rIns="107950" bIns="107950" rtlCol="0" anchor="ctr" anchorCtr="0">
            <a:noAutofit/>
          </a:bodyPr>
          <a:lstStyle/>
          <a:p>
            <a:pPr marL="0" marR="0" lvl="0" indent="457200" algn="just" defTabSz="914400" rtl="0" eaLnBrk="1" fontAlgn="auto" latinLnBrk="0" hangingPunct="1">
              <a:lnSpc>
                <a:spcPct val="120000"/>
              </a:lnSpc>
              <a:spcBef>
                <a:spcPts val="0"/>
              </a:spcBef>
              <a:spcAft>
                <a:spcPts val="300"/>
              </a:spcAft>
              <a:buClrTx/>
              <a:buSzTx/>
              <a:buFont typeface="Wingdings" panose="05000000000000000000" charset="0"/>
              <a:buNone/>
              <a:defRPr/>
            </a:pP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object 11"/>
          <p:cNvSpPr txBox="1"/>
          <p:nvPr>
            <p:custDataLst>
              <p:tags r:id="rId2"/>
            </p:custDataLst>
          </p:nvPr>
        </p:nvSpPr>
        <p:spPr>
          <a:xfrm>
            <a:off x="310042" y="1142807"/>
            <a:ext cx="11510955" cy="850810"/>
          </a:xfrm>
          <a:prstGeom prst="rect">
            <a:avLst/>
          </a:prstGeom>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marL="0" marR="0" lvl="0" indent="457200" algn="l" defTabSz="914400" rtl="0" eaLnBrk="1" fontAlgn="auto" latinLnBrk="0" hangingPunct="1">
              <a:lnSpc>
                <a:spcPct val="13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聚焦</a:t>
            </a:r>
            <a:r>
              <a:rPr kumimoji="0" lang="zh-CN" altLang="en-US" sz="2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多源信息跨域融合的反向逆推机理</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，明确</a:t>
            </a:r>
            <a:r>
              <a:rPr kumimoji="0" lang="zh-CN" altLang="en-US" sz="2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敏感信息边界并建立其分级分类体系</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；同时构建多维度风险评估指标体系，实现</a:t>
            </a:r>
            <a:r>
              <a:rPr kumimoji="0" lang="zh-CN" altLang="en-US" sz="2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单一及多源关联信息泄露风险的量化评估</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endPar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rotWithShape="1">
          <a:blip r:embed="rId3"/>
          <a:srcRect b="51206"/>
          <a:stretch>
            <a:fillRect/>
          </a:stretch>
        </p:blipFill>
        <p:spPr>
          <a:xfrm>
            <a:off x="162339" y="4491611"/>
            <a:ext cx="11668597" cy="2073976"/>
          </a:xfrm>
          <a:prstGeom prst="rect">
            <a:avLst/>
          </a:prstGeom>
        </p:spPr>
      </p:pic>
      <p:pic>
        <p:nvPicPr>
          <p:cNvPr id="7" name="图片 6"/>
          <p:cNvPicPr>
            <a:picLocks noChangeAspect="1"/>
          </p:cNvPicPr>
          <p:nvPr/>
        </p:nvPicPr>
        <p:blipFill rotWithShape="1">
          <a:blip r:embed="rId3"/>
          <a:srcRect t="52094"/>
          <a:stretch>
            <a:fillRect/>
          </a:stretch>
        </p:blipFill>
        <p:spPr>
          <a:xfrm>
            <a:off x="162339" y="2233178"/>
            <a:ext cx="11668597" cy="1959238"/>
          </a:xfrm>
          <a:prstGeom prst="rect">
            <a:avLst/>
          </a:prstGeom>
        </p:spPr>
      </p:pic>
      <p:sp>
        <p:nvSpPr>
          <p:cNvPr id="8" name="下箭头 8"/>
          <p:cNvSpPr/>
          <p:nvPr/>
        </p:nvSpPr>
        <p:spPr>
          <a:xfrm>
            <a:off x="2683189" y="4192416"/>
            <a:ext cx="815723" cy="299195"/>
          </a:xfrm>
          <a:prstGeom prst="down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665043" y="328398"/>
            <a:ext cx="3032125" cy="1076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mn-ea"/>
              </a:rPr>
              <a:t>目前已完成工作</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TextBox 2"/>
          <p:cNvSpPr txBox="1"/>
          <p:nvPr>
            <p:custDataLst>
              <p:tags r:id="rId1"/>
            </p:custDataLst>
          </p:nvPr>
        </p:nvSpPr>
        <p:spPr>
          <a:xfrm>
            <a:off x="287655" y="1031875"/>
            <a:ext cx="11466195" cy="1219835"/>
          </a:xfrm>
          <a:prstGeom prst="rect">
            <a:avLst/>
          </a:prstGeom>
          <a:noFill/>
          <a:ln w="12700">
            <a:solidFill>
              <a:schemeClr val="accent1"/>
            </a:solidFill>
            <a:prstDash val="dash"/>
          </a:ln>
        </p:spPr>
        <p:txBody>
          <a:bodyPr wrap="square" lIns="107950" tIns="107950" rIns="107950" bIns="107950" rtlCol="0" anchor="ctr" anchorCtr="0">
            <a:noAutofit/>
          </a:bodyPr>
          <a:lstStyle/>
          <a:p>
            <a:pPr marL="0" marR="0" lvl="0" indent="457200" algn="just" defTabSz="914400" rtl="0" eaLnBrk="1" fontAlgn="auto" latinLnBrk="0" hangingPunct="1">
              <a:lnSpc>
                <a:spcPct val="120000"/>
              </a:lnSpc>
              <a:spcBef>
                <a:spcPts val="0"/>
              </a:spcBef>
              <a:spcAft>
                <a:spcPts val="300"/>
              </a:spcAft>
              <a:buClrTx/>
              <a:buSzTx/>
              <a:buFont typeface="Wingdings" panose="05000000000000000000" charset="0"/>
              <a:buNone/>
              <a:defRPr/>
            </a:pPr>
            <a:endPar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object 11"/>
          <p:cNvSpPr txBox="1"/>
          <p:nvPr>
            <p:custDataLst>
              <p:tags r:id="rId2"/>
            </p:custDataLst>
          </p:nvPr>
        </p:nvSpPr>
        <p:spPr>
          <a:xfrm>
            <a:off x="363021" y="960201"/>
            <a:ext cx="11315271" cy="1290931"/>
          </a:xfrm>
          <a:prstGeom prst="rect">
            <a:avLst/>
          </a:prstGeom>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marL="0" marR="0" lvl="0" indent="457200" algn="l" defTabSz="914400" rtl="0" eaLnBrk="1" fontAlgn="auto" latinLnBrk="0" hangingPunct="1">
              <a:lnSpc>
                <a:spcPct val="13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针对“多源信息跨域融合的反向逆推方法研究”，对电力数据泄露威胁进行</a:t>
            </a:r>
            <a:r>
              <a:rPr kumimoji="0" lang="zh-CN" altLang="en-US" sz="2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建模并归纳反向逆推范式</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，同时分别提出了</a:t>
            </a:r>
            <a:r>
              <a:rPr kumimoji="0" lang="zh-CN" altLang="en-US" sz="2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基于数据驱动与基于机理驱动的反向逆推方法</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2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构建电网数据分类分级体系</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，已基本完成任务一研究内容</a:t>
            </a:r>
            <a:endPar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243" name="组合 242"/>
          <p:cNvGrpSpPr/>
          <p:nvPr/>
        </p:nvGrpSpPr>
        <p:grpSpPr>
          <a:xfrm>
            <a:off x="926781" y="2383266"/>
            <a:ext cx="10285721" cy="4393297"/>
            <a:chOff x="1202075" y="2507092"/>
            <a:chExt cx="9473369" cy="4222482"/>
          </a:xfrm>
        </p:grpSpPr>
        <p:sp>
          <p:nvSpPr>
            <p:cNvPr id="8" name="图形 58"/>
            <p:cNvSpPr/>
            <p:nvPr/>
          </p:nvSpPr>
          <p:spPr>
            <a:xfrm rot="16200000">
              <a:off x="5814553" y="4437435"/>
              <a:ext cx="247009" cy="356166"/>
            </a:xfrm>
            <a:custGeom>
              <a:avLst/>
              <a:gdLst>
                <a:gd name="connsiteX0" fmla="*/ 519208 w 733425"/>
                <a:gd name="connsiteY0" fmla="*/ 517727 h 861325"/>
                <a:gd name="connsiteX1" fmla="*/ 666369 w 733425"/>
                <a:gd name="connsiteY1" fmla="*/ 0 h 861325"/>
                <a:gd name="connsiteX2" fmla="*/ 67056 w 733425"/>
                <a:gd name="connsiteY2" fmla="*/ 0 h 861325"/>
                <a:gd name="connsiteX3" fmla="*/ 214217 w 733425"/>
                <a:gd name="connsiteY3" fmla="*/ 517727 h 861325"/>
                <a:gd name="connsiteX4" fmla="*/ 0 w 733425"/>
                <a:gd name="connsiteY4" fmla="*/ 517727 h 861325"/>
                <a:gd name="connsiteX5" fmla="*/ 366713 w 733425"/>
                <a:gd name="connsiteY5" fmla="*/ 861326 h 861325"/>
                <a:gd name="connsiteX6" fmla="*/ 733425 w 733425"/>
                <a:gd name="connsiteY6" fmla="*/ 517727 h 861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3425" h="861325">
                  <a:moveTo>
                    <a:pt x="519208" y="517727"/>
                  </a:moveTo>
                  <a:lnTo>
                    <a:pt x="666369" y="0"/>
                  </a:lnTo>
                  <a:lnTo>
                    <a:pt x="67056" y="0"/>
                  </a:lnTo>
                  <a:lnTo>
                    <a:pt x="214217" y="517727"/>
                  </a:lnTo>
                  <a:lnTo>
                    <a:pt x="0" y="517727"/>
                  </a:lnTo>
                  <a:lnTo>
                    <a:pt x="366713" y="861326"/>
                  </a:lnTo>
                  <a:lnTo>
                    <a:pt x="733425" y="517727"/>
                  </a:lnTo>
                  <a:close/>
                </a:path>
              </a:pathLst>
            </a:custGeom>
            <a:gradFill>
              <a:gsLst>
                <a:gs pos="0">
                  <a:srgbClr val="C00000"/>
                </a:gs>
                <a:gs pos="100000">
                  <a:srgbClr val="C00000">
                    <a:alpha val="0"/>
                  </a:srgbClr>
                </a:gs>
              </a:gsLst>
              <a:lin ang="16200000" scaled="0"/>
            </a:gradFill>
            <a:ln w="15875" cap="flat">
              <a:noFill/>
              <a:prstDash val="solid"/>
              <a:miter lim="800000"/>
            </a:ln>
          </p:spPr>
          <p:txBody>
            <a:bodyPr vert="horz" wrap="square" lIns="91440" tIns="45719" rIns="91440" bIns="45719"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ea"/>
                <a:sym typeface="Arial" panose="020B0604020202020204" pitchFamily="34" charset="0"/>
              </a:endParaRPr>
            </a:p>
          </p:txBody>
        </p:sp>
        <p:sp>
          <p:nvSpPr>
            <p:cNvPr id="172" name="图形 58"/>
            <p:cNvSpPr/>
            <p:nvPr/>
          </p:nvSpPr>
          <p:spPr>
            <a:xfrm rot="10800000">
              <a:off x="3199237" y="5562668"/>
              <a:ext cx="230890" cy="160927"/>
            </a:xfrm>
            <a:custGeom>
              <a:avLst/>
              <a:gdLst>
                <a:gd name="connsiteX0" fmla="*/ 519208 w 733425"/>
                <a:gd name="connsiteY0" fmla="*/ 517727 h 861325"/>
                <a:gd name="connsiteX1" fmla="*/ 666369 w 733425"/>
                <a:gd name="connsiteY1" fmla="*/ 0 h 861325"/>
                <a:gd name="connsiteX2" fmla="*/ 67056 w 733425"/>
                <a:gd name="connsiteY2" fmla="*/ 0 h 861325"/>
                <a:gd name="connsiteX3" fmla="*/ 214217 w 733425"/>
                <a:gd name="connsiteY3" fmla="*/ 517727 h 861325"/>
                <a:gd name="connsiteX4" fmla="*/ 0 w 733425"/>
                <a:gd name="connsiteY4" fmla="*/ 517727 h 861325"/>
                <a:gd name="connsiteX5" fmla="*/ 366713 w 733425"/>
                <a:gd name="connsiteY5" fmla="*/ 861326 h 861325"/>
                <a:gd name="connsiteX6" fmla="*/ 733425 w 733425"/>
                <a:gd name="connsiteY6" fmla="*/ 517727 h 861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3425" h="861325">
                  <a:moveTo>
                    <a:pt x="519208" y="517727"/>
                  </a:moveTo>
                  <a:lnTo>
                    <a:pt x="666369" y="0"/>
                  </a:lnTo>
                  <a:lnTo>
                    <a:pt x="67056" y="0"/>
                  </a:lnTo>
                  <a:lnTo>
                    <a:pt x="214217" y="517727"/>
                  </a:lnTo>
                  <a:lnTo>
                    <a:pt x="0" y="517727"/>
                  </a:lnTo>
                  <a:lnTo>
                    <a:pt x="366713" y="861326"/>
                  </a:lnTo>
                  <a:lnTo>
                    <a:pt x="733425" y="517727"/>
                  </a:lnTo>
                  <a:close/>
                </a:path>
              </a:pathLst>
            </a:custGeom>
            <a:gradFill>
              <a:gsLst>
                <a:gs pos="0">
                  <a:srgbClr val="C00000"/>
                </a:gs>
                <a:gs pos="100000">
                  <a:srgbClr val="C00000">
                    <a:alpha val="0"/>
                  </a:srgbClr>
                </a:gs>
              </a:gsLst>
              <a:lin ang="16200000" scaled="0"/>
            </a:gradFill>
            <a:ln w="15875" cap="flat">
              <a:noFill/>
              <a:prstDash val="solid"/>
              <a:miter lim="800000"/>
            </a:ln>
          </p:spPr>
          <p:txBody>
            <a:bodyPr vert="horz" wrap="square" lIns="91440" tIns="45720" rIns="91440" bIns="45720" numCol="1" anchor="t" anchorCtr="0" compatLnSpc="1">
              <a:noAutofit/>
            </a:bodyPr>
            <a:lstStyle/>
            <a:p>
              <a:endParaRPr lang="zh-CN" altLang="en-US" sz="1100">
                <a:solidFill>
                  <a:prstClr val="black"/>
                </a:solidFill>
                <a:ea typeface="微软雅黑" panose="020B0503020204020204" pitchFamily="34" charset="-122"/>
                <a:cs typeface="+mn-ea"/>
                <a:sym typeface="Arial" panose="020B0604020202020204" pitchFamily="34" charset="0"/>
              </a:endParaRPr>
            </a:p>
          </p:txBody>
        </p:sp>
        <p:sp>
          <p:nvSpPr>
            <p:cNvPr id="173" name="文本框 103"/>
            <p:cNvSpPr txBox="1">
              <a:spLocks noChangeArrowheads="1"/>
            </p:cNvSpPr>
            <p:nvPr/>
          </p:nvSpPr>
          <p:spPr bwMode="auto">
            <a:xfrm>
              <a:off x="3412703" y="5517044"/>
              <a:ext cx="691768" cy="270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defRPr/>
              </a:pPr>
              <a:r>
                <a:rPr lang="zh-CN" altLang="en-US" sz="11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支撑</a:t>
              </a:r>
              <a:endParaRPr lang="zh-CN" altLang="en-US" sz="11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0" name="图形 58"/>
            <p:cNvSpPr/>
            <p:nvPr/>
          </p:nvSpPr>
          <p:spPr>
            <a:xfrm rot="10800000">
              <a:off x="8153680" y="5562668"/>
              <a:ext cx="230890" cy="160927"/>
            </a:xfrm>
            <a:custGeom>
              <a:avLst/>
              <a:gdLst>
                <a:gd name="connsiteX0" fmla="*/ 519208 w 733425"/>
                <a:gd name="connsiteY0" fmla="*/ 517727 h 861325"/>
                <a:gd name="connsiteX1" fmla="*/ 666369 w 733425"/>
                <a:gd name="connsiteY1" fmla="*/ 0 h 861325"/>
                <a:gd name="connsiteX2" fmla="*/ 67056 w 733425"/>
                <a:gd name="connsiteY2" fmla="*/ 0 h 861325"/>
                <a:gd name="connsiteX3" fmla="*/ 214217 w 733425"/>
                <a:gd name="connsiteY3" fmla="*/ 517727 h 861325"/>
                <a:gd name="connsiteX4" fmla="*/ 0 w 733425"/>
                <a:gd name="connsiteY4" fmla="*/ 517727 h 861325"/>
                <a:gd name="connsiteX5" fmla="*/ 366713 w 733425"/>
                <a:gd name="connsiteY5" fmla="*/ 861326 h 861325"/>
                <a:gd name="connsiteX6" fmla="*/ 733425 w 733425"/>
                <a:gd name="connsiteY6" fmla="*/ 517727 h 861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3425" h="861325">
                  <a:moveTo>
                    <a:pt x="519208" y="517727"/>
                  </a:moveTo>
                  <a:lnTo>
                    <a:pt x="666369" y="0"/>
                  </a:lnTo>
                  <a:lnTo>
                    <a:pt x="67056" y="0"/>
                  </a:lnTo>
                  <a:lnTo>
                    <a:pt x="214217" y="517727"/>
                  </a:lnTo>
                  <a:lnTo>
                    <a:pt x="0" y="517727"/>
                  </a:lnTo>
                  <a:lnTo>
                    <a:pt x="366713" y="861326"/>
                  </a:lnTo>
                  <a:lnTo>
                    <a:pt x="733425" y="517727"/>
                  </a:lnTo>
                  <a:close/>
                </a:path>
              </a:pathLst>
            </a:custGeom>
            <a:gradFill>
              <a:gsLst>
                <a:gs pos="0">
                  <a:srgbClr val="C00000"/>
                </a:gs>
                <a:gs pos="100000">
                  <a:srgbClr val="C00000">
                    <a:alpha val="0"/>
                  </a:srgbClr>
                </a:gs>
              </a:gsLst>
              <a:lin ang="16200000" scaled="0"/>
            </a:gradFill>
            <a:ln w="15875" cap="flat">
              <a:noFill/>
              <a:prstDash val="solid"/>
              <a:miter lim="800000"/>
            </a:ln>
          </p:spPr>
          <p:txBody>
            <a:bodyPr vert="horz" wrap="square" lIns="91440" tIns="45720" rIns="91440" bIns="45720" numCol="1" anchor="t" anchorCtr="0" compatLnSpc="1">
              <a:noAutofit/>
            </a:bodyPr>
            <a:lstStyle/>
            <a:p>
              <a:endParaRPr lang="zh-CN" altLang="en-US" sz="1100" dirty="0">
                <a:solidFill>
                  <a:prstClr val="black"/>
                </a:solidFill>
                <a:ea typeface="微软雅黑" panose="020B0503020204020204" pitchFamily="34" charset="-122"/>
                <a:cs typeface="+mn-ea"/>
                <a:sym typeface="Arial" panose="020B0604020202020204" pitchFamily="34" charset="0"/>
              </a:endParaRPr>
            </a:p>
          </p:txBody>
        </p:sp>
        <p:sp>
          <p:nvSpPr>
            <p:cNvPr id="171" name="文本框 103"/>
            <p:cNvSpPr txBox="1">
              <a:spLocks noChangeArrowheads="1"/>
            </p:cNvSpPr>
            <p:nvPr/>
          </p:nvSpPr>
          <p:spPr bwMode="auto">
            <a:xfrm>
              <a:off x="8367146" y="5517044"/>
              <a:ext cx="691768" cy="270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defRPr/>
              </a:pPr>
              <a:r>
                <a:rPr lang="zh-CN" altLang="en-US" sz="11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支撑</a:t>
              </a:r>
              <a:endParaRPr lang="zh-CN" altLang="en-US" sz="11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2" name="矩形 141"/>
            <p:cNvSpPr/>
            <p:nvPr/>
          </p:nvSpPr>
          <p:spPr>
            <a:xfrm>
              <a:off x="1533661" y="3695879"/>
              <a:ext cx="4123900" cy="1864357"/>
            </a:xfrm>
            <a:prstGeom prst="rect">
              <a:avLst/>
            </a:prstGeom>
            <a:solidFill>
              <a:schemeClr val="bg1"/>
            </a:solidFill>
            <a:ln w="3175" cap="flat" cmpd="sng" algn="ctr">
              <a:solidFill>
                <a:srgbClr val="4BACC6"/>
              </a:solidFill>
              <a:prstDash val="solid"/>
              <a:round/>
              <a:headEnd type="none" w="med" len="med"/>
              <a:tailEnd type="none" w="med" len="med"/>
            </a:ln>
          </p:spPr>
          <p:txBody>
            <a:bodyPr rot="0" spcFirstLastPara="0" vertOverflow="overflow" horzOverflow="overflow" vert="horz" wrap="square" lIns="0" tIns="0" rIns="0" bIns="0" numCol="1" spcCol="0" rtlCol="0" fromWordArt="0" anchor="t" anchorCtr="0" forceAA="0" compatLnSpc="1">
              <a:noAutofit/>
            </a:bodyPr>
            <a:lstStyle/>
            <a:p>
              <a:endParaRPr lang="zh-CN" altLang="en-US" sz="1100" dirty="0">
                <a:solidFill>
                  <a:schemeClr val="accent2"/>
                </a:solidFill>
                <a:latin typeface="Arial" panose="020B0604020202020204" pitchFamily="34" charset="0"/>
                <a:ea typeface="黑体" panose="02010609060101010101" charset="-122"/>
              </a:endParaRPr>
            </a:p>
          </p:txBody>
        </p:sp>
        <p:sp>
          <p:nvSpPr>
            <p:cNvPr id="143" name="矩形: 圆角 142"/>
            <p:cNvSpPr/>
            <p:nvPr/>
          </p:nvSpPr>
          <p:spPr bwMode="auto">
            <a:xfrm>
              <a:off x="1614909" y="4104032"/>
              <a:ext cx="3936496" cy="436557"/>
            </a:xfrm>
            <a:prstGeom prst="roundRect">
              <a:avLst>
                <a:gd name="adj" fmla="val 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defRPr/>
              </a:pPr>
              <a:endParaRPr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44" name="矩形: 圆角 143"/>
            <p:cNvSpPr/>
            <p:nvPr/>
          </p:nvSpPr>
          <p:spPr bwMode="auto">
            <a:xfrm>
              <a:off x="1538312" y="3601632"/>
              <a:ext cx="4119250" cy="462301"/>
            </a:xfrm>
            <a:prstGeom prst="roundRect">
              <a:avLst>
                <a:gd name="adj" fmla="val 0"/>
              </a:avLst>
            </a:prstGeom>
            <a:solidFill>
              <a:schemeClr val="bg1"/>
            </a:solidFill>
            <a:ln w="635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lnSpc>
                  <a:spcPct val="150000"/>
                </a:lnSpc>
              </a:pPr>
              <a:endParaRPr lang="zh-CN" altLang="en-US" sz="1100">
                <a:solidFill>
                  <a:prstClr val="black"/>
                </a:solidFill>
                <a:latin typeface="微软雅黑" panose="020B0503020204020204" pitchFamily="34" charset="-122"/>
                <a:ea typeface="微软雅黑" panose="020B0503020204020204" pitchFamily="34" charset="-122"/>
                <a:cs typeface="+mn-ea"/>
              </a:endParaRPr>
            </a:p>
          </p:txBody>
        </p:sp>
        <p:sp>
          <p:nvSpPr>
            <p:cNvPr id="145" name="文本框 144"/>
            <p:cNvSpPr txBox="1"/>
            <p:nvPr/>
          </p:nvSpPr>
          <p:spPr>
            <a:xfrm>
              <a:off x="2600088" y="4096917"/>
              <a:ext cx="1931787" cy="175719"/>
            </a:xfrm>
            <a:prstGeom prst="rect">
              <a:avLst/>
            </a:prstGeom>
            <a:noFill/>
          </p:spPr>
          <p:txBody>
            <a:bodyPr wrap="square" lIns="0" tIns="0" rIns="0" bIns="0" rtlCol="0">
              <a:spAutoFit/>
            </a:bodyPr>
            <a:lstStyle/>
            <a:p>
              <a:pPr algn="ctr">
                <a:lnSpc>
                  <a:spcPct val="114000"/>
                </a:lnSpc>
                <a:defRPr/>
              </a:pPr>
              <a:r>
                <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数据来源</a:t>
              </a:r>
              <a:endPar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6" name="矩形: 圆角 145"/>
            <p:cNvSpPr/>
            <p:nvPr/>
          </p:nvSpPr>
          <p:spPr bwMode="auto">
            <a:xfrm>
              <a:off x="1614908" y="4642613"/>
              <a:ext cx="3936497" cy="507016"/>
            </a:xfrm>
            <a:prstGeom prst="roundRect">
              <a:avLst>
                <a:gd name="adj" fmla="val 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defRPr/>
              </a:pPr>
              <a:endParaRPr lang="zh-CN" altLang="en-US" sz="1050" dirty="0">
                <a:solidFill>
                  <a:schemeClr val="tx1"/>
                </a:solidFill>
                <a:latin typeface="微软雅黑" panose="020B0503020204020204" pitchFamily="34" charset="-122"/>
                <a:ea typeface="微软雅黑" panose="020B0503020204020204" pitchFamily="34" charset="-122"/>
              </a:endParaRPr>
            </a:p>
          </p:txBody>
        </p:sp>
        <p:sp>
          <p:nvSpPr>
            <p:cNvPr id="147" name="文本框 146"/>
            <p:cNvSpPr txBox="1"/>
            <p:nvPr/>
          </p:nvSpPr>
          <p:spPr>
            <a:xfrm>
              <a:off x="2697050" y="4644033"/>
              <a:ext cx="1768150" cy="175719"/>
            </a:xfrm>
            <a:prstGeom prst="rect">
              <a:avLst/>
            </a:prstGeom>
            <a:noFill/>
          </p:spPr>
          <p:txBody>
            <a:bodyPr wrap="square" lIns="0" tIns="0" rIns="0" bIns="0" rtlCol="0">
              <a:spAutoFit/>
            </a:bodyPr>
            <a:lstStyle/>
            <a:p>
              <a:pPr algn="ctr">
                <a:lnSpc>
                  <a:spcPct val="114000"/>
                </a:lnSpc>
                <a:defRPr/>
              </a:pPr>
              <a:r>
                <a:rPr lang="zh-CN" altLang="en-US" sz="1050"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大语言模型</a:t>
              </a:r>
              <a:r>
                <a:rPr lang="en-US" altLang="zh-CN" sz="1050"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&amp;GIS</a:t>
              </a:r>
              <a:r>
                <a:rPr lang="zh-CN" altLang="en-US" sz="1050"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解析</a:t>
              </a:r>
              <a:endPar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8" name="矩形: 圆角 167"/>
            <p:cNvSpPr/>
            <p:nvPr/>
          </p:nvSpPr>
          <p:spPr bwMode="auto">
            <a:xfrm>
              <a:off x="1563145" y="3583508"/>
              <a:ext cx="4094415" cy="418249"/>
            </a:xfrm>
            <a:prstGeom prst="roundRect">
              <a:avLst>
                <a:gd name="adj" fmla="val 0"/>
              </a:avLst>
            </a:prstGeom>
            <a:solidFill>
              <a:schemeClr val="bg1"/>
            </a:solidFill>
            <a:ln w="635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lnSpc>
                  <a:spcPct val="150000"/>
                </a:lnSpc>
              </a:pPr>
              <a:endParaRPr lang="zh-CN" altLang="en-US" sz="1100">
                <a:solidFill>
                  <a:prstClr val="black"/>
                </a:solidFill>
                <a:latin typeface="微软雅黑" panose="020B0503020204020204" pitchFamily="34" charset="-122"/>
                <a:ea typeface="微软雅黑" panose="020B0503020204020204" pitchFamily="34" charset="-122"/>
                <a:cs typeface="+mn-ea"/>
              </a:endParaRPr>
            </a:p>
          </p:txBody>
        </p:sp>
        <p:sp>
          <p:nvSpPr>
            <p:cNvPr id="169" name="矩形 168"/>
            <p:cNvSpPr/>
            <p:nvPr/>
          </p:nvSpPr>
          <p:spPr>
            <a:xfrm>
              <a:off x="1563145" y="3701412"/>
              <a:ext cx="4094415" cy="301820"/>
            </a:xfrm>
            <a:prstGeom prst="rect">
              <a:avLst/>
            </a:prstGeom>
            <a:gradFill>
              <a:gsLst>
                <a:gs pos="60000">
                  <a:srgbClr val="003399">
                    <a:alpha val="6000"/>
                  </a:srgbClr>
                </a:gs>
                <a:gs pos="40000">
                  <a:srgbClr val="003399">
                    <a:alpha val="6000"/>
                  </a:srgbClr>
                </a:gs>
                <a:gs pos="0">
                  <a:srgbClr val="003399">
                    <a:alpha val="0"/>
                  </a:srgbClr>
                </a:gs>
                <a:gs pos="100000">
                  <a:srgbClr val="003399">
                    <a:alpha val="0"/>
                  </a:srgbClr>
                </a:gs>
              </a:gsLst>
              <a:lin ang="0" scaled="0"/>
            </a:gradFill>
            <a:ln w="6350" cap="flat" cmpd="sng" algn="ctr">
              <a:gradFill>
                <a:gsLst>
                  <a:gs pos="0">
                    <a:srgbClr val="003399">
                      <a:alpha val="0"/>
                    </a:srgbClr>
                  </a:gs>
                  <a:gs pos="20000">
                    <a:srgbClr val="003399">
                      <a:alpha val="50000"/>
                    </a:srgbClr>
                  </a:gs>
                  <a:gs pos="80000">
                    <a:srgbClr val="003399">
                      <a:alpha val="50000"/>
                    </a:srgbClr>
                  </a:gs>
                  <a:gs pos="100000">
                    <a:srgbClr val="003399">
                      <a:alpha val="0"/>
                    </a:srgbClr>
                  </a:gs>
                </a:gsLst>
                <a:lin ang="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100">
                <a:solidFill>
                  <a:prstClr val="white"/>
                </a:solidFill>
                <a:latin typeface="Calibri" panose="020F0502020204030204"/>
                <a:ea typeface="等线" panose="02010600030101010101" pitchFamily="2" charset="-122"/>
              </a:endParaRPr>
            </a:p>
          </p:txBody>
        </p:sp>
        <p:sp>
          <p:nvSpPr>
            <p:cNvPr id="165" name="文本框 103"/>
            <p:cNvSpPr txBox="1">
              <a:spLocks noChangeArrowheads="1"/>
            </p:cNvSpPr>
            <p:nvPr/>
          </p:nvSpPr>
          <p:spPr bwMode="auto">
            <a:xfrm>
              <a:off x="1614909" y="3758610"/>
              <a:ext cx="1026518" cy="17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defRPr/>
              </a:pPr>
              <a:r>
                <a:rPr lang="zh-CN" altLang="en-US" sz="1100" b="1" spc="-30" dirty="0">
                  <a:solidFill>
                    <a:srgbClr val="2F5597"/>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1100" b="1" spc="-30" dirty="0">
                  <a:solidFill>
                    <a:srgbClr val="2F5597"/>
                  </a:solidFill>
                  <a:latin typeface="微软雅黑" panose="020B0503020204020204" pitchFamily="34" charset="-122"/>
                  <a:ea typeface="微软雅黑" panose="020B0503020204020204" pitchFamily="34" charset="-122"/>
                  <a:sym typeface="微软雅黑" panose="020B0503020204020204" pitchFamily="34" charset="-122"/>
                </a:rPr>
                <a:t>2</a:t>
              </a:r>
              <a:endParaRPr lang="en-US" altLang="zh-CN" sz="1100" b="1" spc="-30" dirty="0">
                <a:solidFill>
                  <a:srgbClr val="2F5597"/>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66" name="直接连接符 165"/>
            <p:cNvCxnSpPr/>
            <p:nvPr/>
          </p:nvCxnSpPr>
          <p:spPr bwMode="auto">
            <a:xfrm>
              <a:off x="2665012" y="3781470"/>
              <a:ext cx="0" cy="159513"/>
            </a:xfrm>
            <a:prstGeom prst="line">
              <a:avLst/>
            </a:prstGeom>
            <a:solidFill>
              <a:schemeClr val="accent1"/>
            </a:solidFill>
            <a:ln w="6350" cap="rnd" cmpd="sng" algn="ctr">
              <a:solidFill>
                <a:schemeClr val="bg1">
                  <a:lumMod val="50000"/>
                  <a:alpha val="40000"/>
                </a:schemeClr>
              </a:solidFill>
              <a:prstDash val="solid"/>
              <a:round/>
              <a:headEnd type="none" w="med" len="med"/>
              <a:tailEnd type="none" w="med" len="med"/>
            </a:ln>
            <a:effectLst/>
          </p:spPr>
        </p:cxnSp>
        <p:sp>
          <p:nvSpPr>
            <p:cNvPr id="167" name="文本框 103"/>
            <p:cNvSpPr txBox="1">
              <a:spLocks noChangeArrowheads="1"/>
            </p:cNvSpPr>
            <p:nvPr/>
          </p:nvSpPr>
          <p:spPr bwMode="auto">
            <a:xfrm>
              <a:off x="2822060" y="3758610"/>
              <a:ext cx="2729239" cy="17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buNone/>
                <a:defRPr/>
              </a:pPr>
              <a:r>
                <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基于数据驱动的电网拓扑反向逆推</a:t>
              </a:r>
              <a:endPar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9" name="文本框 103"/>
            <p:cNvSpPr txBox="1">
              <a:spLocks noChangeArrowheads="1"/>
            </p:cNvSpPr>
            <p:nvPr/>
          </p:nvSpPr>
          <p:spPr bwMode="auto">
            <a:xfrm>
              <a:off x="3300592" y="5104162"/>
              <a:ext cx="1410890" cy="254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0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信息融合</a:t>
              </a:r>
              <a:endParaRPr lang="zh-CN" altLang="en-US" sz="1000"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50" name="直接连接符 149"/>
            <p:cNvCxnSpPr/>
            <p:nvPr/>
          </p:nvCxnSpPr>
          <p:spPr>
            <a:xfrm flipH="1">
              <a:off x="3570156" y="5156878"/>
              <a:ext cx="1" cy="148635"/>
            </a:xfrm>
            <a:prstGeom prst="line">
              <a:avLst/>
            </a:prstGeom>
            <a:ln w="12700">
              <a:solidFill>
                <a:srgbClr val="006F6B"/>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flipH="1">
              <a:off x="2616756" y="4529688"/>
              <a:ext cx="1" cy="100824"/>
            </a:xfrm>
            <a:prstGeom prst="line">
              <a:avLst/>
            </a:prstGeom>
            <a:ln w="12700">
              <a:solidFill>
                <a:srgbClr val="006F6B"/>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flipH="1">
              <a:off x="4541965" y="4529355"/>
              <a:ext cx="1" cy="100824"/>
            </a:xfrm>
            <a:prstGeom prst="line">
              <a:avLst/>
            </a:prstGeom>
            <a:ln w="12700">
              <a:solidFill>
                <a:srgbClr val="006F6B"/>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05"/>
            <p:cNvSpPr>
              <a:spLocks noChangeArrowheads="1"/>
            </p:cNvSpPr>
            <p:nvPr>
              <p:custDataLst>
                <p:tags r:id="rId3"/>
              </p:custDataLst>
            </p:nvPr>
          </p:nvSpPr>
          <p:spPr bwMode="auto">
            <a:xfrm rot="16200000">
              <a:off x="439341" y="4466483"/>
              <a:ext cx="1864356" cy="338881"/>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数据驱动</a:t>
              </a:r>
              <a:endParaRPr lang="zh-CN" altLang="en-US" sz="1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4" name="文本框 153"/>
            <p:cNvSpPr txBox="1"/>
            <p:nvPr/>
          </p:nvSpPr>
          <p:spPr>
            <a:xfrm>
              <a:off x="1613993" y="5306358"/>
              <a:ext cx="3937307" cy="166784"/>
            </a:xfrm>
            <a:prstGeom prst="rect">
              <a:avLst/>
            </a:prstGeom>
            <a:solidFill>
              <a:srgbClr val="8FAADC"/>
            </a:solidFill>
            <a:ln>
              <a:solidFill>
                <a:srgbClr val="006F6B"/>
              </a:solidFill>
            </a:ln>
          </p:spPr>
          <p:txBody>
            <a:bodyPr wrap="square" lIns="0" tIns="0" rIns="0" bIns="0" rtlCol="0">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电网拓扑</a:t>
              </a:r>
              <a:endParaRPr kumimoji="0" lang="zh-CN" altLang="en-US" sz="1050" b="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1" name="矩形: 圆角 160"/>
            <p:cNvSpPr/>
            <p:nvPr/>
          </p:nvSpPr>
          <p:spPr bwMode="auto">
            <a:xfrm>
              <a:off x="1857725" y="4839638"/>
              <a:ext cx="1525706" cy="260113"/>
            </a:xfrm>
            <a:prstGeom prst="roundRect">
              <a:avLst>
                <a:gd name="adj" fmla="val 0"/>
              </a:avLst>
            </a:prstGeom>
            <a:solidFill>
              <a:srgbClr val="B4C7E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62" name="文本框 161"/>
            <p:cNvSpPr txBox="1"/>
            <p:nvPr/>
          </p:nvSpPr>
          <p:spPr>
            <a:xfrm>
              <a:off x="1907503" y="4895009"/>
              <a:ext cx="1435051" cy="185795"/>
            </a:xfrm>
            <a:prstGeom prst="rect">
              <a:avLst/>
            </a:prstGeom>
            <a:noFill/>
            <a:ln>
              <a:noFill/>
            </a:ln>
          </p:spPr>
          <p:txBody>
            <a:bodyPr wrap="square" lIns="0" tIns="0" rIns="0" bIns="0" rtlCol="0">
              <a:noAutofit/>
            </a:bodyPr>
            <a:lstStyle/>
            <a:p>
              <a:pPr marL="0" marR="0" lvl="0" indent="0" algn="ctr" defTabSz="914400" rtl="0" eaLnBrk="1" fontAlgn="auto" latinLnBrk="0" hangingPunct="1">
                <a:lnSpc>
                  <a:spcPct val="104000"/>
                </a:lnSpc>
                <a:spcBef>
                  <a:spcPts val="0"/>
                </a:spcBef>
                <a:spcAft>
                  <a:spcPts val="0"/>
                </a:spcAft>
                <a:buClrTx/>
                <a:buSzTx/>
                <a:buFontTx/>
                <a:buNone/>
                <a:defRPr/>
              </a:pP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结构化工程信息</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59" name="矩形: 圆角 158"/>
            <p:cNvSpPr/>
            <p:nvPr/>
          </p:nvSpPr>
          <p:spPr bwMode="auto">
            <a:xfrm>
              <a:off x="3764279" y="4839638"/>
              <a:ext cx="1525706" cy="260113"/>
            </a:xfrm>
            <a:prstGeom prst="roundRect">
              <a:avLst>
                <a:gd name="adj" fmla="val 0"/>
              </a:avLst>
            </a:prstGeom>
            <a:solidFill>
              <a:srgbClr val="B4C7E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60" name="文本框 159"/>
            <p:cNvSpPr txBox="1"/>
            <p:nvPr/>
          </p:nvSpPr>
          <p:spPr>
            <a:xfrm>
              <a:off x="3899431" y="4890000"/>
              <a:ext cx="1248217" cy="148636"/>
            </a:xfrm>
            <a:prstGeom prst="rect">
              <a:avLst/>
            </a:prstGeom>
            <a:noFill/>
            <a:ln>
              <a:noFill/>
            </a:ln>
          </p:spPr>
          <p:txBody>
            <a:bodyPr wrap="square" lIns="0" tIns="0" rIns="0" bIns="0" rtlCol="0">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设施空间位置</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57" name="矩形 105"/>
            <p:cNvSpPr>
              <a:spLocks noChangeArrowheads="1"/>
            </p:cNvSpPr>
            <p:nvPr/>
          </p:nvSpPr>
          <p:spPr bwMode="auto">
            <a:xfrm>
              <a:off x="1857725" y="4300975"/>
              <a:ext cx="1525706" cy="174646"/>
            </a:xfrm>
            <a:prstGeom prst="rect">
              <a:avLst/>
            </a:prstGeom>
            <a:solidFill>
              <a:srgbClr val="E5F2F7"/>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环评报告</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158" name="矩形 105"/>
            <p:cNvSpPr>
              <a:spLocks noChangeArrowheads="1"/>
            </p:cNvSpPr>
            <p:nvPr/>
          </p:nvSpPr>
          <p:spPr bwMode="auto">
            <a:xfrm>
              <a:off x="3758586" y="4300975"/>
              <a:ext cx="1525706" cy="174646"/>
            </a:xfrm>
            <a:prstGeom prst="rect">
              <a:avLst/>
            </a:prstGeom>
            <a:solidFill>
              <a:srgbClr val="E5F2F7"/>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开源地图数据</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114" name="矩形 113"/>
            <p:cNvSpPr/>
            <p:nvPr/>
          </p:nvSpPr>
          <p:spPr>
            <a:xfrm>
              <a:off x="6544101" y="3675688"/>
              <a:ext cx="4123900" cy="1857691"/>
            </a:xfrm>
            <a:prstGeom prst="rect">
              <a:avLst/>
            </a:prstGeom>
            <a:solidFill>
              <a:schemeClr val="bg1"/>
            </a:solidFill>
            <a:ln w="3175" cap="flat" cmpd="sng" algn="ctr">
              <a:solidFill>
                <a:srgbClr val="4BACC6"/>
              </a:solidFill>
              <a:prstDash val="solid"/>
              <a:round/>
              <a:headEnd type="none" w="med" len="med"/>
              <a:tailEnd type="none" w="med" len="med"/>
            </a:ln>
          </p:spPr>
          <p:txBody>
            <a:bodyPr rot="0" spcFirstLastPara="0" vertOverflow="overflow" horzOverflow="overflow" vert="horz" wrap="square" lIns="0" tIns="0" rIns="0" bIns="0" numCol="1" spcCol="0" rtlCol="0" fromWordArt="0" anchor="t" anchorCtr="0" forceAA="0" compatLnSpc="1">
              <a:noAutofit/>
            </a:bodyPr>
            <a:lstStyle/>
            <a:p>
              <a:endParaRPr lang="zh-CN" altLang="en-US" sz="1100">
                <a:solidFill>
                  <a:schemeClr val="accent2"/>
                </a:solidFill>
                <a:latin typeface="Arial" panose="020B0604020202020204" pitchFamily="34" charset="0"/>
                <a:ea typeface="黑体" panose="02010609060101010101" charset="-122"/>
              </a:endParaRPr>
            </a:p>
          </p:txBody>
        </p:sp>
        <p:sp>
          <p:nvSpPr>
            <p:cNvPr id="140" name="矩形: 圆角 139"/>
            <p:cNvSpPr/>
            <p:nvPr/>
          </p:nvSpPr>
          <p:spPr bwMode="auto">
            <a:xfrm>
              <a:off x="6554242" y="3675689"/>
              <a:ext cx="4113759" cy="326068"/>
            </a:xfrm>
            <a:prstGeom prst="roundRect">
              <a:avLst>
                <a:gd name="adj" fmla="val 0"/>
              </a:avLst>
            </a:prstGeom>
            <a:solidFill>
              <a:schemeClr val="bg1"/>
            </a:solidFill>
            <a:ln w="635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lnSpc>
                  <a:spcPct val="150000"/>
                </a:lnSpc>
              </a:pPr>
              <a:endParaRPr lang="zh-CN" altLang="en-US" sz="1100">
                <a:solidFill>
                  <a:prstClr val="black"/>
                </a:solidFill>
                <a:latin typeface="微软雅黑" panose="020B0503020204020204" pitchFamily="34" charset="-122"/>
                <a:ea typeface="微软雅黑" panose="020B0503020204020204" pitchFamily="34" charset="-122"/>
                <a:cs typeface="+mn-ea"/>
              </a:endParaRPr>
            </a:p>
          </p:txBody>
        </p:sp>
        <p:sp>
          <p:nvSpPr>
            <p:cNvPr id="141" name="矩形 140"/>
            <p:cNvSpPr/>
            <p:nvPr/>
          </p:nvSpPr>
          <p:spPr>
            <a:xfrm>
              <a:off x="6554242" y="3684354"/>
              <a:ext cx="4113759" cy="318878"/>
            </a:xfrm>
            <a:prstGeom prst="rect">
              <a:avLst/>
            </a:prstGeom>
            <a:gradFill>
              <a:gsLst>
                <a:gs pos="60000">
                  <a:srgbClr val="003399">
                    <a:alpha val="6000"/>
                  </a:srgbClr>
                </a:gs>
                <a:gs pos="40000">
                  <a:srgbClr val="003399">
                    <a:alpha val="6000"/>
                  </a:srgbClr>
                </a:gs>
                <a:gs pos="0">
                  <a:srgbClr val="003399">
                    <a:alpha val="0"/>
                  </a:srgbClr>
                </a:gs>
                <a:gs pos="100000">
                  <a:srgbClr val="003399">
                    <a:alpha val="0"/>
                  </a:srgbClr>
                </a:gs>
              </a:gsLst>
              <a:lin ang="0" scaled="0"/>
            </a:gradFill>
            <a:ln w="6350" cap="flat" cmpd="sng" algn="ctr">
              <a:gradFill>
                <a:gsLst>
                  <a:gs pos="0">
                    <a:srgbClr val="003399">
                      <a:alpha val="0"/>
                    </a:srgbClr>
                  </a:gs>
                  <a:gs pos="20000">
                    <a:srgbClr val="003399">
                      <a:alpha val="50000"/>
                    </a:srgbClr>
                  </a:gs>
                  <a:gs pos="80000">
                    <a:srgbClr val="003399">
                      <a:alpha val="50000"/>
                    </a:srgbClr>
                  </a:gs>
                  <a:gs pos="100000">
                    <a:srgbClr val="003399">
                      <a:alpha val="0"/>
                    </a:srgbClr>
                  </a:gs>
                </a:gsLst>
                <a:lin ang="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100">
                <a:solidFill>
                  <a:prstClr val="white"/>
                </a:solidFill>
                <a:latin typeface="Calibri" panose="020F0502020204030204"/>
                <a:ea typeface="等线" panose="02010600030101010101" pitchFamily="2" charset="-122"/>
              </a:endParaRPr>
            </a:p>
          </p:txBody>
        </p:sp>
        <p:sp>
          <p:nvSpPr>
            <p:cNvPr id="137" name="文本框 103"/>
            <p:cNvSpPr txBox="1">
              <a:spLocks noChangeArrowheads="1"/>
            </p:cNvSpPr>
            <p:nvPr/>
          </p:nvSpPr>
          <p:spPr bwMode="auto">
            <a:xfrm>
              <a:off x="6618094" y="3781470"/>
              <a:ext cx="1031370" cy="17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defRPr/>
              </a:pPr>
              <a:r>
                <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3</a:t>
              </a:r>
              <a:endParaRPr lang="en-US" altLang="zh-CN"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38" name="直接连接符 137"/>
            <p:cNvCxnSpPr/>
            <p:nvPr/>
          </p:nvCxnSpPr>
          <p:spPr bwMode="auto">
            <a:xfrm>
              <a:off x="7665046" y="3705243"/>
              <a:ext cx="0" cy="296700"/>
            </a:xfrm>
            <a:prstGeom prst="line">
              <a:avLst/>
            </a:prstGeom>
            <a:solidFill>
              <a:schemeClr val="accent1"/>
            </a:solidFill>
            <a:ln w="6350" cap="rnd" cmpd="sng" algn="ctr">
              <a:solidFill>
                <a:schemeClr val="bg1">
                  <a:lumMod val="50000"/>
                  <a:alpha val="40000"/>
                </a:schemeClr>
              </a:solidFill>
              <a:prstDash val="solid"/>
              <a:round/>
              <a:headEnd type="none" w="med" len="med"/>
              <a:tailEnd type="none" w="med" len="med"/>
            </a:ln>
            <a:effectLst/>
          </p:spPr>
        </p:cxnSp>
        <p:sp>
          <p:nvSpPr>
            <p:cNvPr id="139" name="文本框 103"/>
            <p:cNvSpPr txBox="1">
              <a:spLocks noChangeArrowheads="1"/>
            </p:cNvSpPr>
            <p:nvPr/>
          </p:nvSpPr>
          <p:spPr bwMode="auto">
            <a:xfrm>
              <a:off x="7837746" y="3781470"/>
              <a:ext cx="2618935" cy="17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buNone/>
                <a:defRPr/>
              </a:pPr>
              <a:r>
                <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基于模型驱动的电网线路参数反向逆推</a:t>
              </a:r>
              <a:endPar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6" name="矩形 105"/>
            <p:cNvSpPr>
              <a:spLocks noChangeArrowheads="1"/>
            </p:cNvSpPr>
            <p:nvPr>
              <p:custDataLst>
                <p:tags r:id="rId4"/>
              </p:custDataLst>
            </p:nvPr>
          </p:nvSpPr>
          <p:spPr bwMode="auto">
            <a:xfrm rot="16200000">
              <a:off x="5448940" y="4447849"/>
              <a:ext cx="1865872" cy="338881"/>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机理驱动</a:t>
              </a:r>
              <a:endParaRPr lang="zh-CN" altLang="en-US" sz="1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3" name="矩形: 圆角 132"/>
            <p:cNvSpPr/>
            <p:nvPr/>
          </p:nvSpPr>
          <p:spPr bwMode="auto">
            <a:xfrm>
              <a:off x="6637803" y="4097460"/>
              <a:ext cx="3936496" cy="407715"/>
            </a:xfrm>
            <a:prstGeom prst="roundRect">
              <a:avLst>
                <a:gd name="adj" fmla="val 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defRPr/>
              </a:pPr>
              <a:endParaRPr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34" name="文本框 133"/>
            <p:cNvSpPr txBox="1"/>
            <p:nvPr/>
          </p:nvSpPr>
          <p:spPr>
            <a:xfrm>
              <a:off x="7639649" y="4090344"/>
              <a:ext cx="1931787" cy="175719"/>
            </a:xfrm>
            <a:prstGeom prst="rect">
              <a:avLst/>
            </a:prstGeom>
            <a:solidFill>
              <a:schemeClr val="tx2"/>
            </a:solidFill>
          </p:spPr>
          <p:txBody>
            <a:bodyPr wrap="square" lIns="0" tIns="0" rIns="0" bIns="0" rtlCol="0">
              <a:spAutoFit/>
            </a:bodyPr>
            <a:lstStyle/>
            <a:p>
              <a:pPr algn="ctr">
                <a:lnSpc>
                  <a:spcPct val="114000"/>
                </a:lnSpc>
                <a:defRPr/>
              </a:pPr>
              <a:r>
                <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数据条件</a:t>
              </a:r>
              <a:endPar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1" name="矩形: 圆角 130"/>
            <p:cNvSpPr/>
            <p:nvPr/>
          </p:nvSpPr>
          <p:spPr bwMode="auto">
            <a:xfrm>
              <a:off x="6643188" y="4618037"/>
              <a:ext cx="3936498" cy="310730"/>
            </a:xfrm>
            <a:prstGeom prst="roundRect">
              <a:avLst>
                <a:gd name="adj" fmla="val 0"/>
              </a:avLst>
            </a:prstGeom>
            <a:solidFill>
              <a:schemeClr val="accent4"/>
            </a:solidFill>
            <a:ln w="6350">
              <a:solidFill>
                <a:srgbClr val="4F81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32" name="文本框 131"/>
            <p:cNvSpPr txBox="1"/>
            <p:nvPr/>
          </p:nvSpPr>
          <p:spPr>
            <a:xfrm>
              <a:off x="6690485" y="4689754"/>
              <a:ext cx="3830110" cy="211633"/>
            </a:xfrm>
            <a:prstGeom prst="rect">
              <a:avLst/>
            </a:prstGeom>
            <a:solidFill>
              <a:schemeClr val="accent4"/>
            </a:solidFill>
            <a:ln>
              <a:noFill/>
            </a:ln>
          </p:spPr>
          <p:txBody>
            <a:bodyPr wrap="square" lIns="0" tIns="0" rIns="0" bIns="0" rtlCol="0">
              <a:noAutofit/>
            </a:bodyPr>
            <a:lstStyle/>
            <a:p>
              <a:pPr marL="0" marR="0" lvl="0" indent="0" algn="ctr" defTabSz="914400" rtl="0" eaLnBrk="1" fontAlgn="auto" latinLnBrk="0" hangingPunct="1">
                <a:lnSpc>
                  <a:spcPct val="104000"/>
                </a:lnSpc>
                <a:spcBef>
                  <a:spcPts val="0"/>
                </a:spcBef>
                <a:spcAft>
                  <a:spcPts val="0"/>
                </a:spcAft>
                <a:buClrTx/>
                <a:buSzTx/>
                <a:buFontTx/>
                <a:buNone/>
                <a:defRPr/>
              </a:pPr>
              <a:r>
                <a:rPr lang="zh-CN" altLang="en-US" sz="1100" b="1"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电力市场模型</a:t>
              </a:r>
              <a:r>
                <a:rPr lang="en-US" altLang="zh-CN" sz="1100" b="1"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&amp;</a:t>
              </a:r>
              <a:r>
                <a:rPr lang="zh-CN" altLang="en-US" sz="1100" b="1"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逆向推断</a:t>
              </a:r>
              <a:endParaRPr kumimoji="0" lang="zh-CN" altLang="en-US" sz="1100" b="1"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cxnSp>
          <p:nvCxnSpPr>
            <p:cNvPr id="119" name="直接连接符 118"/>
            <p:cNvCxnSpPr/>
            <p:nvPr/>
          </p:nvCxnSpPr>
          <p:spPr>
            <a:xfrm flipH="1">
              <a:off x="8605540" y="4504043"/>
              <a:ext cx="1" cy="111476"/>
            </a:xfrm>
            <a:prstGeom prst="line">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615957" y="4928768"/>
              <a:ext cx="1" cy="130056"/>
            </a:xfrm>
            <a:prstGeom prst="line">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7" name="矩形: 圆角 126"/>
            <p:cNvSpPr/>
            <p:nvPr/>
          </p:nvSpPr>
          <p:spPr bwMode="auto">
            <a:xfrm>
              <a:off x="6637803" y="5057359"/>
              <a:ext cx="3936496" cy="427022"/>
            </a:xfrm>
            <a:prstGeom prst="roundRect">
              <a:avLst>
                <a:gd name="adj" fmla="val 0"/>
              </a:avLst>
            </a:prstGeom>
            <a:solidFill>
              <a:srgbClr val="E8EEF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defRPr/>
              </a:pPr>
              <a:endParaRPr lang="zh-CN" altLang="en-US" sz="1100" dirty="0">
                <a:solidFill>
                  <a:schemeClr val="tx1"/>
                </a:solidFill>
                <a:latin typeface="微软雅黑" panose="020B0503020204020204" pitchFamily="34" charset="-122"/>
                <a:ea typeface="微软雅黑" panose="020B0503020204020204" pitchFamily="34" charset="-122"/>
              </a:endParaRPr>
            </a:p>
          </p:txBody>
        </p:sp>
        <p:sp>
          <p:nvSpPr>
            <p:cNvPr id="128" name="文本框 127"/>
            <p:cNvSpPr txBox="1"/>
            <p:nvPr/>
          </p:nvSpPr>
          <p:spPr>
            <a:xfrm>
              <a:off x="7639649" y="5061441"/>
              <a:ext cx="1931787" cy="184124"/>
            </a:xfrm>
            <a:prstGeom prst="rect">
              <a:avLst/>
            </a:prstGeom>
            <a:noFill/>
          </p:spPr>
          <p:txBody>
            <a:bodyPr wrap="square" lIns="0" tIns="0" rIns="0" bIns="0" rtlCol="0">
              <a:spAutoFit/>
            </a:bodyPr>
            <a:lstStyle/>
            <a:p>
              <a:pPr algn="ctr">
                <a:lnSpc>
                  <a:spcPct val="114000"/>
                </a:lnSpc>
                <a:defRPr/>
              </a:pPr>
              <a:r>
                <a:rPr lang="zh-CN" altLang="en-US" sz="110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典型场景测试</a:t>
              </a:r>
              <a:endParaRPr lang="zh-CN" altLang="en-US" sz="110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9" name="文本框 128"/>
            <p:cNvSpPr txBox="1"/>
            <p:nvPr/>
          </p:nvSpPr>
          <p:spPr>
            <a:xfrm>
              <a:off x="6728002" y="5267453"/>
              <a:ext cx="1722572" cy="175719"/>
            </a:xfrm>
            <a:prstGeom prst="rect">
              <a:avLst/>
            </a:prstGeom>
            <a:solidFill>
              <a:srgbClr val="8FAADC"/>
            </a:solidFill>
            <a:ln>
              <a:solidFill>
                <a:srgbClr val="006F6B"/>
              </a:solidFill>
            </a:ln>
          </p:spPr>
          <p:txBody>
            <a:bodyPr wrap="square" lIns="0" tIns="0" rIns="0" bIns="0" rtlCol="0">
              <a:spAutoFit/>
            </a:bodyPr>
            <a:lstStyle/>
            <a:p>
              <a:pPr algn="ctr">
                <a:lnSpc>
                  <a:spcPct val="114000"/>
                </a:lnSpc>
                <a:defRPr/>
              </a:pPr>
              <a:r>
                <a:rPr lang="en-US" altLang="zh-CN"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IEEE</a:t>
              </a:r>
              <a:r>
                <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标准算例</a:t>
              </a:r>
              <a:endPar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0" name="文本框 129"/>
            <p:cNvSpPr txBox="1"/>
            <p:nvPr/>
          </p:nvSpPr>
          <p:spPr>
            <a:xfrm>
              <a:off x="8760691" y="5267454"/>
              <a:ext cx="1722572" cy="175719"/>
            </a:xfrm>
            <a:prstGeom prst="rect">
              <a:avLst/>
            </a:prstGeom>
            <a:solidFill>
              <a:srgbClr val="8FAADC"/>
            </a:solidFill>
            <a:ln>
              <a:solidFill>
                <a:srgbClr val="006F6B"/>
              </a:solidFill>
            </a:ln>
          </p:spPr>
          <p:txBody>
            <a:bodyPr wrap="square" lIns="0" tIns="0" rIns="0" bIns="0" rtlCol="0">
              <a:spAutoFit/>
            </a:bodyPr>
            <a:lstStyle/>
            <a:p>
              <a:pPr algn="ctr">
                <a:lnSpc>
                  <a:spcPct val="114000"/>
                </a:lnSpc>
                <a:defRPr/>
              </a:pPr>
              <a:r>
                <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广东</a:t>
              </a:r>
              <a:r>
                <a:rPr lang="en-US" altLang="zh-CN"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500kV</a:t>
              </a:r>
              <a:r>
                <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电网系统</a:t>
              </a:r>
              <a:endParaRPr lang="zh-CN" altLang="en-US" sz="105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2" name="矩形 105"/>
            <p:cNvSpPr>
              <a:spLocks noChangeArrowheads="1"/>
            </p:cNvSpPr>
            <p:nvPr/>
          </p:nvSpPr>
          <p:spPr bwMode="auto">
            <a:xfrm>
              <a:off x="6734561" y="4300975"/>
              <a:ext cx="1082760" cy="174646"/>
            </a:xfrm>
            <a:prstGeom prst="rect">
              <a:avLst/>
            </a:prstGeom>
            <a:solidFill>
              <a:srgbClr val="E5F2F7"/>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完整电价</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123" name="矩形 105"/>
            <p:cNvSpPr>
              <a:spLocks noChangeArrowheads="1"/>
            </p:cNvSpPr>
            <p:nvPr/>
          </p:nvSpPr>
          <p:spPr bwMode="auto">
            <a:xfrm>
              <a:off x="8059858" y="4300975"/>
              <a:ext cx="1082760" cy="174646"/>
            </a:xfrm>
            <a:prstGeom prst="rect">
              <a:avLst/>
            </a:prstGeom>
            <a:solidFill>
              <a:srgbClr val="E5F2F7"/>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部分拓扑</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124" name="矩形 105"/>
            <p:cNvSpPr>
              <a:spLocks noChangeArrowheads="1"/>
            </p:cNvSpPr>
            <p:nvPr/>
          </p:nvSpPr>
          <p:spPr bwMode="auto">
            <a:xfrm>
              <a:off x="9385153" y="4300975"/>
              <a:ext cx="1082760" cy="174646"/>
            </a:xfrm>
            <a:prstGeom prst="rect">
              <a:avLst/>
            </a:prstGeom>
            <a:solidFill>
              <a:srgbClr val="E5F2F7"/>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完整拓扑</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125" name="加号 124"/>
            <p:cNvSpPr/>
            <p:nvPr/>
          </p:nvSpPr>
          <p:spPr>
            <a:xfrm>
              <a:off x="7839412" y="4312539"/>
              <a:ext cx="196866" cy="148635"/>
            </a:xfrm>
            <a:prstGeom prst="mathPlus">
              <a:avLst>
                <a:gd name="adj1" fmla="val 960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 name="直接连接符 125"/>
            <p:cNvCxnSpPr/>
            <p:nvPr/>
          </p:nvCxnSpPr>
          <p:spPr>
            <a:xfrm flipH="1">
              <a:off x="9218688" y="4297529"/>
              <a:ext cx="105512" cy="176787"/>
            </a:xfrm>
            <a:prstGeom prst="line">
              <a:avLst/>
            </a:prstGeom>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1534454" y="5773448"/>
              <a:ext cx="9140990" cy="951364"/>
            </a:xfrm>
            <a:prstGeom prst="rect">
              <a:avLst/>
            </a:prstGeom>
            <a:solidFill>
              <a:schemeClr val="bg1"/>
            </a:solidFill>
            <a:ln w="3175" cap="flat" cmpd="sng" algn="ctr">
              <a:solidFill>
                <a:srgbClr val="616161"/>
              </a:solidFill>
              <a:prstDash val="solid"/>
              <a:round/>
              <a:headEnd type="none" w="med" len="med"/>
              <a:tailEnd type="none" w="med" len="med"/>
            </a:ln>
          </p:spPr>
          <p:txBody>
            <a:bodyPr rot="0" spcFirstLastPara="0" vertOverflow="overflow" horzOverflow="overflow" vert="horz" wrap="square" lIns="0" tIns="0" rIns="0" bIns="0" numCol="1" spcCol="0" rtlCol="0" fromWordArt="0" anchor="t" anchorCtr="0" forceAA="0" compatLnSpc="1">
              <a:noAutofit/>
            </a:bodyPr>
            <a:lstStyle/>
            <a:p>
              <a:endParaRPr lang="zh-CN" altLang="en-US" sz="1100"/>
            </a:p>
          </p:txBody>
        </p:sp>
        <p:sp>
          <p:nvSpPr>
            <p:cNvPr id="112" name="矩形: 圆角 111"/>
            <p:cNvSpPr/>
            <p:nvPr/>
          </p:nvSpPr>
          <p:spPr bwMode="auto">
            <a:xfrm>
              <a:off x="1525681" y="5787282"/>
              <a:ext cx="8567923" cy="240681"/>
            </a:xfrm>
            <a:prstGeom prst="roundRect">
              <a:avLst>
                <a:gd name="adj" fmla="val 0"/>
              </a:avLst>
            </a:prstGeom>
            <a:solidFill>
              <a:schemeClr val="bg1"/>
            </a:solidFill>
            <a:ln w="635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lnSpc>
                  <a:spcPct val="150000"/>
                </a:lnSpc>
              </a:pPr>
              <a:endParaRPr lang="zh-CN" altLang="en-US" sz="1100" b="1">
                <a:solidFill>
                  <a:prstClr val="black"/>
                </a:solidFill>
                <a:latin typeface="微软雅黑" panose="020B0503020204020204" pitchFamily="34" charset="-122"/>
                <a:ea typeface="微软雅黑" panose="020B0503020204020204" pitchFamily="34" charset="-122"/>
                <a:cs typeface="+mn-ea"/>
              </a:endParaRPr>
            </a:p>
          </p:txBody>
        </p:sp>
        <p:sp>
          <p:nvSpPr>
            <p:cNvPr id="113" name="矩形 112"/>
            <p:cNvSpPr/>
            <p:nvPr/>
          </p:nvSpPr>
          <p:spPr>
            <a:xfrm>
              <a:off x="1518738" y="5772840"/>
              <a:ext cx="9156111" cy="247010"/>
            </a:xfrm>
            <a:prstGeom prst="rect">
              <a:avLst/>
            </a:prstGeom>
            <a:gradFill>
              <a:gsLst>
                <a:gs pos="60000">
                  <a:srgbClr val="003399">
                    <a:alpha val="6000"/>
                  </a:srgbClr>
                </a:gs>
                <a:gs pos="40000">
                  <a:srgbClr val="003399">
                    <a:alpha val="6000"/>
                  </a:srgbClr>
                </a:gs>
                <a:gs pos="0">
                  <a:srgbClr val="003399">
                    <a:alpha val="0"/>
                  </a:srgbClr>
                </a:gs>
                <a:gs pos="100000">
                  <a:srgbClr val="003399">
                    <a:alpha val="0"/>
                  </a:srgbClr>
                </a:gs>
              </a:gsLst>
              <a:lin ang="0" scaled="0"/>
            </a:gradFill>
            <a:ln w="6350" cap="flat" cmpd="sng" algn="ctr">
              <a:solidFill>
                <a:srgbClr val="007F7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100" b="1">
                <a:solidFill>
                  <a:prstClr val="white"/>
                </a:solidFill>
                <a:latin typeface="Calibri" panose="020F0502020204030204"/>
                <a:ea typeface="等线" panose="02010600030101010101" pitchFamily="2" charset="-122"/>
              </a:endParaRPr>
            </a:p>
          </p:txBody>
        </p:sp>
        <p:sp>
          <p:nvSpPr>
            <p:cNvPr id="109" name="文本框 103"/>
            <p:cNvSpPr txBox="1">
              <a:spLocks noChangeArrowheads="1"/>
            </p:cNvSpPr>
            <p:nvPr/>
          </p:nvSpPr>
          <p:spPr bwMode="auto">
            <a:xfrm>
              <a:off x="1672636" y="5825574"/>
              <a:ext cx="1035027" cy="17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defRPr/>
              </a:pPr>
              <a:r>
                <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1</a:t>
              </a:r>
              <a:endParaRPr lang="en-US" altLang="zh-CN"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10" name="直接连接符 109"/>
            <p:cNvCxnSpPr/>
            <p:nvPr/>
          </p:nvCxnSpPr>
          <p:spPr bwMode="auto">
            <a:xfrm>
              <a:off x="2644365" y="5843350"/>
              <a:ext cx="0" cy="130246"/>
            </a:xfrm>
            <a:prstGeom prst="line">
              <a:avLst/>
            </a:prstGeom>
            <a:solidFill>
              <a:schemeClr val="accent1"/>
            </a:solidFill>
            <a:ln w="6350" cap="rnd" cmpd="sng" algn="ctr">
              <a:solidFill>
                <a:schemeClr val="bg1">
                  <a:lumMod val="50000"/>
                  <a:alpha val="40000"/>
                </a:schemeClr>
              </a:solidFill>
              <a:prstDash val="solid"/>
              <a:round/>
              <a:headEnd type="none" w="med" len="med"/>
              <a:tailEnd type="none" w="med" len="med"/>
            </a:ln>
            <a:effectLst/>
          </p:spPr>
        </p:cxnSp>
        <p:sp>
          <p:nvSpPr>
            <p:cNvPr id="111" name="文本框 103"/>
            <p:cNvSpPr txBox="1">
              <a:spLocks noChangeArrowheads="1"/>
            </p:cNvSpPr>
            <p:nvPr/>
          </p:nvSpPr>
          <p:spPr bwMode="auto">
            <a:xfrm>
              <a:off x="2715680" y="5817372"/>
              <a:ext cx="5532034" cy="17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buNone/>
                <a:defRPr/>
              </a:pPr>
              <a:r>
                <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电力系统数据泄露威胁建模与推断范式归纳</a:t>
              </a:r>
              <a:endPar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5" name="矩形 105"/>
            <p:cNvSpPr>
              <a:spLocks noChangeArrowheads="1"/>
            </p:cNvSpPr>
            <p:nvPr/>
          </p:nvSpPr>
          <p:spPr bwMode="auto">
            <a:xfrm>
              <a:off x="2100051" y="6403818"/>
              <a:ext cx="1247111" cy="278691"/>
            </a:xfrm>
            <a:prstGeom prst="rect">
              <a:avLst/>
            </a:prstGeom>
            <a:solidFill>
              <a:srgbClr val="8FAADC"/>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050" i="0" u="none" strike="noStrike" kern="1200" cap="none" spc="0" normalizeH="0" baseline="0" noProof="0" dirty="0">
                <a:ln>
                  <a:noFill/>
                </a:ln>
                <a:solidFill>
                  <a:srgbClr val="007F7F"/>
                </a:solidFill>
                <a:effectLst/>
                <a:uLnTx/>
                <a:uFillTx/>
                <a:latin typeface="微软雅黑" panose="020B0503020204020204" pitchFamily="34" charset="-122"/>
                <a:ea typeface="微软雅黑" panose="020B0503020204020204" pitchFamily="34" charset="-122"/>
                <a:cs typeface="+mn-cs"/>
              </a:endParaRPr>
            </a:p>
          </p:txBody>
        </p:sp>
        <p:sp>
          <p:nvSpPr>
            <p:cNvPr id="106" name="文本框 105"/>
            <p:cNvSpPr txBox="1"/>
            <p:nvPr/>
          </p:nvSpPr>
          <p:spPr>
            <a:xfrm>
              <a:off x="1931367" y="6412214"/>
              <a:ext cx="1587222" cy="209666"/>
            </a:xfrm>
            <a:prstGeom prst="rect">
              <a:avLst/>
            </a:prstGeom>
            <a:noFill/>
          </p:spPr>
          <p:txBody>
            <a:bodyPr wrap="square"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sz="1050" dirty="0">
                  <a:solidFill>
                    <a:srgbClr val="00367A"/>
                  </a:solidFill>
                  <a:latin typeface="微软雅黑" panose="020B0503020204020204" pitchFamily="34" charset="-122"/>
                  <a:ea typeface="微软雅黑" panose="020B0503020204020204" pitchFamily="34" charset="-122"/>
                </a:rPr>
                <a:t>敏感</a:t>
              </a: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rPr>
                <a:t>业务数据</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endParaRPr>
            </a:p>
          </p:txBody>
        </p:sp>
        <p:sp>
          <p:nvSpPr>
            <p:cNvPr id="103" name="矩形 105"/>
            <p:cNvSpPr>
              <a:spLocks noChangeArrowheads="1"/>
            </p:cNvSpPr>
            <p:nvPr/>
          </p:nvSpPr>
          <p:spPr bwMode="auto">
            <a:xfrm>
              <a:off x="2100051" y="6050405"/>
              <a:ext cx="1247111" cy="278691"/>
            </a:xfrm>
            <a:prstGeom prst="rect">
              <a:avLst/>
            </a:prstGeom>
            <a:solidFill>
              <a:srgbClr val="8FAADC"/>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050" i="0" u="none" strike="noStrike" kern="1200" cap="none" spc="0" normalizeH="0" baseline="0" noProof="0" dirty="0">
                <a:ln>
                  <a:noFill/>
                </a:ln>
                <a:solidFill>
                  <a:srgbClr val="007F7F"/>
                </a:solidFill>
                <a:effectLst/>
                <a:uLnTx/>
                <a:uFillTx/>
                <a:latin typeface="微软雅黑" panose="020B0503020204020204" pitchFamily="34" charset="-122"/>
                <a:ea typeface="微软雅黑" panose="020B0503020204020204" pitchFamily="34" charset="-122"/>
                <a:cs typeface="+mn-cs"/>
              </a:endParaRPr>
            </a:p>
          </p:txBody>
        </p:sp>
        <p:sp>
          <p:nvSpPr>
            <p:cNvPr id="104" name="文本框 103"/>
            <p:cNvSpPr txBox="1"/>
            <p:nvPr/>
          </p:nvSpPr>
          <p:spPr>
            <a:xfrm>
              <a:off x="1919636" y="6059098"/>
              <a:ext cx="1587222" cy="209666"/>
            </a:xfrm>
            <a:prstGeom prst="rect">
              <a:avLst/>
            </a:prstGeom>
            <a:noFill/>
          </p:spPr>
          <p:txBody>
            <a:bodyPr wrap="square"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sz="1050" dirty="0">
                  <a:solidFill>
                    <a:srgbClr val="00367A"/>
                  </a:solidFill>
                  <a:latin typeface="微软雅黑" panose="020B0503020204020204" pitchFamily="34" charset="-122"/>
                  <a:ea typeface="微软雅黑" panose="020B0503020204020204" pitchFamily="34" charset="-122"/>
                </a:rPr>
                <a:t>公开</a:t>
              </a: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rPr>
                <a:t>数据源</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endParaRPr>
            </a:p>
          </p:txBody>
        </p:sp>
        <p:sp>
          <p:nvSpPr>
            <p:cNvPr id="101" name="左大括号 100"/>
            <p:cNvSpPr/>
            <p:nvPr/>
          </p:nvSpPr>
          <p:spPr>
            <a:xfrm>
              <a:off x="1857725" y="6120771"/>
              <a:ext cx="215055" cy="483641"/>
            </a:xfrm>
            <a:prstGeom prst="leftBrace">
              <a:avLst/>
            </a:prstGeom>
            <a:ln w="12700">
              <a:solidFill>
                <a:srgbClr val="4F81B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02" name="文本框 101"/>
            <p:cNvSpPr txBox="1"/>
            <p:nvPr/>
          </p:nvSpPr>
          <p:spPr>
            <a:xfrm>
              <a:off x="1487977" y="6142868"/>
              <a:ext cx="510144" cy="428872"/>
            </a:xfrm>
            <a:prstGeom prst="rect">
              <a:avLst/>
            </a:prstGeom>
            <a:noFill/>
          </p:spPr>
          <p:txBody>
            <a:bodyPr wrap="square">
              <a:sp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梳理</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65" name="矩形 105"/>
            <p:cNvSpPr>
              <a:spLocks noChangeArrowheads="1"/>
            </p:cNvSpPr>
            <p:nvPr>
              <p:custDataLst>
                <p:tags r:id="rId5"/>
              </p:custDataLst>
            </p:nvPr>
          </p:nvSpPr>
          <p:spPr bwMode="auto">
            <a:xfrm rot="16200000">
              <a:off x="887697" y="6075878"/>
              <a:ext cx="968510" cy="338881"/>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范式归纳</a:t>
              </a:r>
              <a:endParaRPr lang="zh-CN" altLang="en-US" sz="1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66" name="直接连接符 65"/>
            <p:cNvCxnSpPr/>
            <p:nvPr/>
          </p:nvCxnSpPr>
          <p:spPr>
            <a:xfrm>
              <a:off x="3387022" y="6377372"/>
              <a:ext cx="336514" cy="0"/>
            </a:xfrm>
            <a:prstGeom prst="line">
              <a:avLst/>
            </a:prstGeom>
            <a:ln w="12700">
              <a:solidFill>
                <a:srgbClr val="4F81BD"/>
              </a:solidFill>
              <a:tailEnd type="triangle"/>
            </a:ln>
          </p:spPr>
          <p:style>
            <a:lnRef idx="1">
              <a:schemeClr val="accent1"/>
            </a:lnRef>
            <a:fillRef idx="0">
              <a:schemeClr val="accent1"/>
            </a:fillRef>
            <a:effectRef idx="0">
              <a:schemeClr val="accent1"/>
            </a:effectRef>
            <a:fontRef idx="minor">
              <a:schemeClr val="tx1"/>
            </a:fontRef>
          </p:style>
        </p:cxnSp>
        <p:grpSp>
          <p:nvGrpSpPr>
            <p:cNvPr id="88" name="组合 87"/>
            <p:cNvGrpSpPr/>
            <p:nvPr/>
          </p:nvGrpSpPr>
          <p:grpSpPr>
            <a:xfrm>
              <a:off x="6661020" y="6041830"/>
              <a:ext cx="1356470" cy="668858"/>
              <a:chOff x="5668009" y="3981686"/>
              <a:chExt cx="992209" cy="648000"/>
            </a:xfrm>
          </p:grpSpPr>
          <p:sp>
            <p:nvSpPr>
              <p:cNvPr id="95" name="矩形 105"/>
              <p:cNvSpPr>
                <a:spLocks noChangeArrowheads="1"/>
              </p:cNvSpPr>
              <p:nvPr/>
            </p:nvSpPr>
            <p:spPr bwMode="auto">
              <a:xfrm>
                <a:off x="5842135" y="3983058"/>
                <a:ext cx="818083" cy="216000"/>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状态估计</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96" name="矩形 105"/>
              <p:cNvSpPr>
                <a:spLocks noChangeArrowheads="1"/>
              </p:cNvSpPr>
              <p:nvPr/>
            </p:nvSpPr>
            <p:spPr bwMode="auto">
              <a:xfrm>
                <a:off x="5842135" y="4195729"/>
                <a:ext cx="818083" cy="216000"/>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参数辨识</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97" name="矩形 105"/>
              <p:cNvSpPr>
                <a:spLocks noChangeArrowheads="1"/>
              </p:cNvSpPr>
              <p:nvPr/>
            </p:nvSpPr>
            <p:spPr bwMode="auto">
              <a:xfrm>
                <a:off x="5842135" y="4408401"/>
                <a:ext cx="818083" cy="216000"/>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盲源分离</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668009" y="3981686"/>
                <a:ext cx="145535" cy="648000"/>
              </a:xfrm>
              <a:prstGeom prst="rect">
                <a:avLst/>
              </a:prstGeom>
              <a:solidFill>
                <a:schemeClr val="tx2"/>
              </a:solidFill>
              <a:ln w="6350">
                <a:solidFill>
                  <a:srgbClr val="8FAADC"/>
                </a:solidFill>
              </a:ln>
            </p:spPr>
            <p:txBody>
              <a:bodyPr wrap="square" lIns="0" tIns="0" rIns="0" bIns="0" rtlCol="0">
                <a:noAutofit/>
              </a:bodyPr>
              <a:lstStyle/>
              <a:p>
                <a:pPr marL="0" marR="0" lvl="0" indent="0" algn="ctr" defTabSz="914400" rtl="0" eaLnBrk="0" fontAlgn="base" latinLnBrk="0" hangingPunct="0">
                  <a:spcBef>
                    <a:spcPct val="0"/>
                  </a:spcBef>
                  <a:spcAft>
                    <a:spcPct val="0"/>
                  </a:spcAft>
                  <a:buClrTx/>
                  <a:buSzTx/>
                  <a:buFontTx/>
                  <a:buNone/>
                  <a:defRPr/>
                </a:pPr>
                <a:r>
                  <a:rPr kumimoji="0" lang="zh-CN" altLang="en-US" sz="1050" b="1" i="0" u="none" strike="noStrike" kern="1200" cap="none" spc="-3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推断场景</a:t>
                </a:r>
                <a:endParaRPr kumimoji="0" lang="zh-CN" altLang="en-US" sz="1050" b="1" i="0" u="none" strike="noStrike" kern="1200" cap="none" spc="-3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89" name="组合 88"/>
            <p:cNvGrpSpPr/>
            <p:nvPr/>
          </p:nvGrpSpPr>
          <p:grpSpPr>
            <a:xfrm>
              <a:off x="8471333" y="6034891"/>
              <a:ext cx="1862191" cy="668858"/>
              <a:chOff x="5668009" y="3977876"/>
              <a:chExt cx="1362126" cy="648000"/>
            </a:xfrm>
          </p:grpSpPr>
          <p:sp>
            <p:nvSpPr>
              <p:cNvPr id="91" name="矩形 105"/>
              <p:cNvSpPr>
                <a:spLocks noChangeArrowheads="1"/>
              </p:cNvSpPr>
              <p:nvPr/>
            </p:nvSpPr>
            <p:spPr bwMode="auto">
              <a:xfrm>
                <a:off x="5842134" y="3983058"/>
                <a:ext cx="1188000" cy="216000"/>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模型驱动</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92" name="矩形 105"/>
              <p:cNvSpPr>
                <a:spLocks noChangeArrowheads="1"/>
              </p:cNvSpPr>
              <p:nvPr/>
            </p:nvSpPr>
            <p:spPr bwMode="auto">
              <a:xfrm>
                <a:off x="5842134" y="4195729"/>
                <a:ext cx="1188000" cy="216000"/>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数据驱动</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93" name="矩形 92"/>
              <p:cNvSpPr>
                <a:spLocks noChangeArrowheads="1"/>
              </p:cNvSpPr>
              <p:nvPr/>
            </p:nvSpPr>
            <p:spPr bwMode="auto">
              <a:xfrm>
                <a:off x="5842135" y="4408401"/>
                <a:ext cx="1188000" cy="216000"/>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数据</a:t>
                </a:r>
                <a:r>
                  <a:rPr lang="en-US" altLang="zh-CN" sz="1050" dirty="0">
                    <a:solidFill>
                      <a:srgbClr val="00367A"/>
                    </a:solidFill>
                    <a:latin typeface="微软雅黑" panose="020B0503020204020204" pitchFamily="34" charset="-122"/>
                    <a:ea typeface="微软雅黑" panose="020B0503020204020204" pitchFamily="34" charset="-122"/>
                  </a:rPr>
                  <a:t>-</a:t>
                </a:r>
                <a:r>
                  <a:rPr lang="zh-CN" altLang="en-US" sz="1050" dirty="0">
                    <a:solidFill>
                      <a:srgbClr val="00367A"/>
                    </a:solidFill>
                    <a:latin typeface="微软雅黑" panose="020B0503020204020204" pitchFamily="34" charset="-122"/>
                    <a:ea typeface="微软雅黑" panose="020B0503020204020204" pitchFamily="34" charset="-122"/>
                  </a:rPr>
                  <a:t>模型双驱动</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94" name="文本框 93"/>
              <p:cNvSpPr txBox="1"/>
              <p:nvPr/>
            </p:nvSpPr>
            <p:spPr>
              <a:xfrm>
                <a:off x="5668009" y="3977876"/>
                <a:ext cx="174125" cy="648000"/>
              </a:xfrm>
              <a:prstGeom prst="rect">
                <a:avLst/>
              </a:prstGeom>
              <a:solidFill>
                <a:schemeClr val="accent5">
                  <a:lumMod val="20000"/>
                  <a:lumOff val="80000"/>
                </a:schemeClr>
              </a:solidFill>
              <a:ln w="6350">
                <a:solidFill>
                  <a:srgbClr val="8FAADC"/>
                </a:solidFill>
              </a:ln>
            </p:spPr>
            <p:txBody>
              <a:bodyPr wrap="square" lIns="0" tIns="0" rIns="0" bIns="0" rtlCol="0">
                <a:noAutofit/>
              </a:bodyPr>
              <a:lstStyle/>
              <a:p>
                <a:pPr marL="0" marR="0" lvl="0" indent="0" algn="ctr" defTabSz="914400" rtl="0" eaLnBrk="0" fontAlgn="base" latinLnBrk="0" hangingPunct="0">
                  <a:spcBef>
                    <a:spcPct val="0"/>
                  </a:spcBef>
                  <a:spcAft>
                    <a:spcPct val="0"/>
                  </a:spcAft>
                  <a:buClrTx/>
                  <a:buSzTx/>
                  <a:buFontTx/>
                  <a:buNone/>
                  <a:defRPr/>
                </a:pPr>
                <a:r>
                  <a:rPr kumimoji="0" lang="zh-CN" altLang="en-US" sz="1050" b="1" i="0" u="none" strike="noStrike" kern="1200" cap="none" spc="-3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推断方法</a:t>
                </a:r>
                <a:endParaRPr kumimoji="0" lang="zh-CN" altLang="en-US" sz="1050" b="1" i="0" u="none" strike="noStrike" kern="1200" cap="none" spc="-3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90" name="文本框 89"/>
                <p:cNvSpPr txBox="1"/>
                <p:nvPr/>
              </p:nvSpPr>
              <p:spPr>
                <a:xfrm>
                  <a:off x="8042492" y="6165090"/>
                  <a:ext cx="421065" cy="3812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altLang="zh-CN" sz="2400" b="1" i="0" u="none" strike="noStrike" kern="1200" cap="none" spc="0" normalizeH="0" baseline="0" noProof="0" smtClean="0">
                            <a:ln>
                              <a:noFill/>
                            </a:ln>
                            <a:solidFill>
                              <a:srgbClr val="00367A"/>
                            </a:solidFill>
                            <a:effectLst/>
                            <a:uLnTx/>
                            <a:uFillTx/>
                            <a:latin typeface="Cambria Math" panose="02040503050406030204" pitchFamily="18" charset="0"/>
                            <a:cs typeface="+mn-cs"/>
                          </a:rPr>
                          <m:t>+</m:t>
                        </m:r>
                      </m:oMath>
                    </m:oMathPara>
                  </a14:m>
                  <a:endParaRPr kumimoji="0" lang="zh-CN" altLang="en-US" sz="2400" b="1" i="0" u="none" strike="noStrike" kern="1200" cap="none" spc="0" normalizeH="0" baseline="0" noProof="0" dirty="0">
                    <a:ln>
                      <a:noFill/>
                    </a:ln>
                    <a:solidFill>
                      <a:srgbClr val="00367A"/>
                    </a:solidFill>
                    <a:effectLst/>
                    <a:uLnTx/>
                    <a:uFillTx/>
                    <a:latin typeface="Arial" panose="020B0604020202020204"/>
                    <a:ea typeface="微软雅黑" panose="020B0503020204020204" pitchFamily="34" charset="-122"/>
                    <a:cs typeface="+mn-cs"/>
                  </a:endParaRPr>
                </a:p>
              </p:txBody>
            </p:sp>
          </mc:Choice>
          <mc:Fallback>
            <p:sp>
              <p:nvSpPr>
                <p:cNvPr id="90" name="文本框 89"/>
                <p:cNvSpPr txBox="1">
                  <a:spLocks noRot="1" noChangeAspect="1" noMove="1" noResize="1" noEditPoints="1" noAdjustHandles="1" noChangeArrowheads="1" noChangeShapeType="1" noTextEdit="1"/>
                </p:cNvSpPr>
                <p:nvPr/>
              </p:nvSpPr>
              <p:spPr>
                <a:xfrm>
                  <a:off x="8042492" y="6165090"/>
                  <a:ext cx="421065" cy="381220"/>
                </a:xfrm>
                <a:prstGeom prst="rect">
                  <a:avLst/>
                </a:prstGeom>
                <a:blipFill rotWithShape="1">
                  <a:blip r:embed="rId6"/>
                </a:blipFill>
              </p:spPr>
              <p:txBody>
                <a:bodyPr/>
                <a:lstStyle/>
                <a:p>
                  <a:r>
                    <a:rPr lang="zh-CN" altLang="en-US">
                      <a:noFill/>
                    </a:rPr>
                    <a:t> </a:t>
                  </a:r>
                </a:p>
              </p:txBody>
            </p:sp>
          </mc:Fallback>
        </mc:AlternateContent>
        <p:sp>
          <p:nvSpPr>
            <p:cNvPr id="87" name="双括号 86"/>
            <p:cNvSpPr/>
            <p:nvPr/>
          </p:nvSpPr>
          <p:spPr>
            <a:xfrm>
              <a:off x="6534378" y="6045146"/>
              <a:ext cx="3922305" cy="654149"/>
            </a:xfrm>
            <a:prstGeom prst="bracketPair">
              <a:avLst>
                <a:gd name="adj" fmla="val 915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367A"/>
                </a:solidFill>
              </a:endParaRPr>
            </a:p>
          </p:txBody>
        </p:sp>
        <p:cxnSp>
          <p:nvCxnSpPr>
            <p:cNvPr id="84" name="直接连接符 83"/>
            <p:cNvCxnSpPr/>
            <p:nvPr/>
          </p:nvCxnSpPr>
          <p:spPr>
            <a:xfrm flipV="1">
              <a:off x="3770358" y="6162584"/>
              <a:ext cx="209014" cy="222953"/>
            </a:xfrm>
            <a:prstGeom prst="line">
              <a:avLst/>
            </a:prstGeom>
            <a:ln>
              <a:solidFill>
                <a:srgbClr val="4F81BD"/>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flipV="1">
              <a:off x="3773646" y="6380945"/>
              <a:ext cx="209014" cy="222953"/>
            </a:xfrm>
            <a:prstGeom prst="line">
              <a:avLst/>
            </a:prstGeom>
            <a:ln>
              <a:solidFill>
                <a:srgbClr val="4F81BD"/>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4419479" y="6139972"/>
              <a:ext cx="336514" cy="0"/>
            </a:xfrm>
            <a:prstGeom prst="line">
              <a:avLst/>
            </a:prstGeom>
            <a:ln w="12700">
              <a:solidFill>
                <a:srgbClr val="4F81BD"/>
              </a:solidFill>
              <a:tailEnd type="triangle"/>
            </a:ln>
          </p:spPr>
          <p:style>
            <a:lnRef idx="1">
              <a:schemeClr val="accent1"/>
            </a:lnRef>
            <a:fillRef idx="0">
              <a:schemeClr val="accent1"/>
            </a:fillRef>
            <a:effectRef idx="0">
              <a:schemeClr val="accent1"/>
            </a:effectRef>
            <a:fontRef idx="minor">
              <a:schemeClr val="tx1"/>
            </a:fontRef>
          </p:style>
        </p:cxnSp>
        <p:sp>
          <p:nvSpPr>
            <p:cNvPr id="70" name="矩形 105"/>
            <p:cNvSpPr>
              <a:spLocks noChangeArrowheads="1"/>
            </p:cNvSpPr>
            <p:nvPr/>
          </p:nvSpPr>
          <p:spPr bwMode="auto">
            <a:xfrm>
              <a:off x="4052511" y="6034018"/>
              <a:ext cx="311169" cy="677310"/>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关联模式</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82" name="矩形 105"/>
            <p:cNvSpPr>
              <a:spLocks noChangeArrowheads="1"/>
            </p:cNvSpPr>
            <p:nvPr/>
          </p:nvSpPr>
          <p:spPr bwMode="auto">
            <a:xfrm>
              <a:off x="4786099" y="6048456"/>
              <a:ext cx="1013827" cy="195411"/>
            </a:xfrm>
            <a:prstGeom prst="rect">
              <a:avLst/>
            </a:prstGeom>
            <a:solidFill>
              <a:srgbClr val="B4C7E7"/>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050" i="0" u="none" strike="noStrike" kern="1200" cap="none" spc="0" normalizeH="0" baseline="0" noProof="0" dirty="0">
                <a:ln>
                  <a:noFill/>
                </a:ln>
                <a:solidFill>
                  <a:srgbClr val="007F7F"/>
                </a:solidFill>
                <a:effectLst/>
                <a:uLnTx/>
                <a:uFillTx/>
                <a:latin typeface="微软雅黑" panose="020B0503020204020204" pitchFamily="34" charset="-122"/>
                <a:ea typeface="微软雅黑" panose="020B0503020204020204" pitchFamily="34" charset="-122"/>
                <a:cs typeface="+mn-cs"/>
              </a:endParaRPr>
            </a:p>
          </p:txBody>
        </p:sp>
        <p:sp>
          <p:nvSpPr>
            <p:cNvPr id="83" name="文本框 82"/>
            <p:cNvSpPr txBox="1"/>
            <p:nvPr/>
          </p:nvSpPr>
          <p:spPr>
            <a:xfrm>
              <a:off x="4882787" y="6012666"/>
              <a:ext cx="816964" cy="209664"/>
            </a:xfrm>
            <a:prstGeom prst="rect">
              <a:avLst/>
            </a:prstGeom>
            <a:noFill/>
          </p:spPr>
          <p:txBody>
            <a:bodyPr wrap="square"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rPr>
                <a:t>跨属性</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endParaRPr>
            </a:p>
          </p:txBody>
        </p:sp>
        <p:sp>
          <p:nvSpPr>
            <p:cNvPr id="80" name="矩形 105"/>
            <p:cNvSpPr>
              <a:spLocks noChangeArrowheads="1"/>
            </p:cNvSpPr>
            <p:nvPr/>
          </p:nvSpPr>
          <p:spPr bwMode="auto">
            <a:xfrm>
              <a:off x="4786099" y="6271727"/>
              <a:ext cx="1013827" cy="195411"/>
            </a:xfrm>
            <a:prstGeom prst="rect">
              <a:avLst/>
            </a:prstGeom>
            <a:solidFill>
              <a:srgbClr val="B4C7E7"/>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050" i="0" u="none" strike="noStrike" kern="1200" cap="none" spc="0" normalizeH="0" baseline="0" noProof="0" dirty="0">
                <a:ln>
                  <a:noFill/>
                </a:ln>
                <a:solidFill>
                  <a:srgbClr val="007F7F"/>
                </a:solidFill>
                <a:effectLst/>
                <a:uLnTx/>
                <a:uFillTx/>
                <a:latin typeface="微软雅黑" panose="020B0503020204020204" pitchFamily="34" charset="-122"/>
                <a:ea typeface="微软雅黑" panose="020B0503020204020204" pitchFamily="34" charset="-122"/>
                <a:cs typeface="+mn-cs"/>
              </a:endParaRPr>
            </a:p>
          </p:txBody>
        </p:sp>
        <p:sp>
          <p:nvSpPr>
            <p:cNvPr id="81" name="文本框 80"/>
            <p:cNvSpPr txBox="1"/>
            <p:nvPr/>
          </p:nvSpPr>
          <p:spPr>
            <a:xfrm>
              <a:off x="4882787" y="6235937"/>
              <a:ext cx="816964" cy="209664"/>
            </a:xfrm>
            <a:prstGeom prst="rect">
              <a:avLst/>
            </a:prstGeom>
            <a:noFill/>
          </p:spPr>
          <p:txBody>
            <a:bodyPr wrap="square"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sz="1050" dirty="0">
                  <a:solidFill>
                    <a:srgbClr val="00367A"/>
                  </a:solidFill>
                  <a:latin typeface="微软雅黑" panose="020B0503020204020204" pitchFamily="34" charset="-122"/>
                  <a:ea typeface="微软雅黑" panose="020B0503020204020204" pitchFamily="34" charset="-122"/>
                </a:rPr>
                <a:t>跨时间</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78" name="矩形 105"/>
            <p:cNvSpPr>
              <a:spLocks noChangeArrowheads="1"/>
            </p:cNvSpPr>
            <p:nvPr/>
          </p:nvSpPr>
          <p:spPr bwMode="auto">
            <a:xfrm>
              <a:off x="4786100" y="6511963"/>
              <a:ext cx="1013405" cy="185742"/>
            </a:xfrm>
            <a:prstGeom prst="rect">
              <a:avLst/>
            </a:prstGeom>
            <a:solidFill>
              <a:srgbClr val="B4C7E7"/>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050" i="0" u="none" strike="noStrike" kern="1200" cap="none" spc="0" normalizeH="0" baseline="0" noProof="0" dirty="0">
                <a:ln>
                  <a:noFill/>
                </a:ln>
                <a:solidFill>
                  <a:srgbClr val="007F7F"/>
                </a:solidFill>
                <a:effectLst/>
                <a:uLnTx/>
                <a:uFillTx/>
                <a:latin typeface="微软雅黑" panose="020B0503020204020204" pitchFamily="34" charset="-122"/>
                <a:ea typeface="微软雅黑" panose="020B0503020204020204" pitchFamily="34" charset="-122"/>
                <a:cs typeface="+mn-cs"/>
              </a:endParaRPr>
            </a:p>
          </p:txBody>
        </p:sp>
        <p:sp>
          <p:nvSpPr>
            <p:cNvPr id="79" name="文本框 78"/>
            <p:cNvSpPr txBox="1"/>
            <p:nvPr/>
          </p:nvSpPr>
          <p:spPr>
            <a:xfrm>
              <a:off x="4713762" y="6472681"/>
              <a:ext cx="1158080" cy="209665"/>
            </a:xfrm>
            <a:prstGeom prst="rect">
              <a:avLst/>
            </a:prstGeom>
            <a:noFill/>
          </p:spPr>
          <p:txBody>
            <a:bodyPr wrap="square"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rPr>
                <a:t>跨空间</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endParaRPr>
            </a:p>
          </p:txBody>
        </p:sp>
        <p:cxnSp>
          <p:nvCxnSpPr>
            <p:cNvPr id="72" name="直接连接符 71"/>
            <p:cNvCxnSpPr/>
            <p:nvPr/>
          </p:nvCxnSpPr>
          <p:spPr>
            <a:xfrm>
              <a:off x="4419479" y="6371743"/>
              <a:ext cx="336514" cy="0"/>
            </a:xfrm>
            <a:prstGeom prst="line">
              <a:avLst/>
            </a:prstGeom>
            <a:ln w="12700">
              <a:solidFill>
                <a:srgbClr val="4F81BD"/>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4419479" y="6603514"/>
              <a:ext cx="336514" cy="0"/>
            </a:xfrm>
            <a:prstGeom prst="line">
              <a:avLst/>
            </a:prstGeom>
            <a:ln w="12700">
              <a:solidFill>
                <a:srgbClr val="4F81BD"/>
              </a:solidFill>
              <a:tailEnd type="triangle"/>
            </a:ln>
          </p:spPr>
          <p:style>
            <a:lnRef idx="1">
              <a:schemeClr val="accent1"/>
            </a:lnRef>
            <a:fillRef idx="0">
              <a:schemeClr val="accent1"/>
            </a:fillRef>
            <a:effectRef idx="0">
              <a:schemeClr val="accent1"/>
            </a:effectRef>
            <a:fontRef idx="minor">
              <a:schemeClr val="tx1"/>
            </a:fontRef>
          </p:style>
        </p:cxnSp>
        <p:sp>
          <p:nvSpPr>
            <p:cNvPr id="74" name="箭头: 右 73"/>
            <p:cNvSpPr/>
            <p:nvPr/>
          </p:nvSpPr>
          <p:spPr>
            <a:xfrm>
              <a:off x="5938057" y="6234608"/>
              <a:ext cx="473553" cy="264315"/>
            </a:xfrm>
            <a:prstGeom prst="rightArrow">
              <a:avLst/>
            </a:prstGeom>
            <a:solidFill>
              <a:srgbClr val="4F81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图形 58"/>
            <p:cNvSpPr/>
            <p:nvPr/>
          </p:nvSpPr>
          <p:spPr>
            <a:xfrm rot="10800000">
              <a:off x="8450574" y="3491958"/>
              <a:ext cx="230891" cy="160927"/>
            </a:xfrm>
            <a:custGeom>
              <a:avLst/>
              <a:gdLst>
                <a:gd name="connsiteX0" fmla="*/ 519208 w 733425"/>
                <a:gd name="connsiteY0" fmla="*/ 517727 h 861325"/>
                <a:gd name="connsiteX1" fmla="*/ 666369 w 733425"/>
                <a:gd name="connsiteY1" fmla="*/ 0 h 861325"/>
                <a:gd name="connsiteX2" fmla="*/ 67056 w 733425"/>
                <a:gd name="connsiteY2" fmla="*/ 0 h 861325"/>
                <a:gd name="connsiteX3" fmla="*/ 214217 w 733425"/>
                <a:gd name="connsiteY3" fmla="*/ 517727 h 861325"/>
                <a:gd name="connsiteX4" fmla="*/ 0 w 733425"/>
                <a:gd name="connsiteY4" fmla="*/ 517727 h 861325"/>
                <a:gd name="connsiteX5" fmla="*/ 366713 w 733425"/>
                <a:gd name="connsiteY5" fmla="*/ 861326 h 861325"/>
                <a:gd name="connsiteX6" fmla="*/ 733425 w 733425"/>
                <a:gd name="connsiteY6" fmla="*/ 517727 h 861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3425" h="861325">
                  <a:moveTo>
                    <a:pt x="519208" y="517727"/>
                  </a:moveTo>
                  <a:lnTo>
                    <a:pt x="666369" y="0"/>
                  </a:lnTo>
                  <a:lnTo>
                    <a:pt x="67056" y="0"/>
                  </a:lnTo>
                  <a:lnTo>
                    <a:pt x="214217" y="517727"/>
                  </a:lnTo>
                  <a:lnTo>
                    <a:pt x="0" y="517727"/>
                  </a:lnTo>
                  <a:lnTo>
                    <a:pt x="366713" y="861326"/>
                  </a:lnTo>
                  <a:lnTo>
                    <a:pt x="733425" y="517727"/>
                  </a:lnTo>
                  <a:close/>
                </a:path>
              </a:pathLst>
            </a:custGeom>
            <a:gradFill>
              <a:gsLst>
                <a:gs pos="0">
                  <a:srgbClr val="C00000"/>
                </a:gs>
                <a:gs pos="100000">
                  <a:srgbClr val="C00000">
                    <a:alpha val="0"/>
                  </a:srgbClr>
                </a:gs>
              </a:gsLst>
              <a:lin ang="16200000" scaled="0"/>
            </a:gradFill>
            <a:ln w="15875" cap="flat">
              <a:noFill/>
              <a:prstDash val="solid"/>
              <a:miter lim="800000"/>
            </a:ln>
          </p:spPr>
          <p:txBody>
            <a:bodyPr vert="horz" wrap="square" lIns="91440" tIns="45720" rIns="91440" bIns="45720" numCol="1" anchor="t" anchorCtr="0" compatLnSpc="1">
              <a:noAutofit/>
            </a:bodyPr>
            <a:lstStyle/>
            <a:p>
              <a:endParaRPr lang="zh-CN" altLang="en-US" sz="1100">
                <a:solidFill>
                  <a:prstClr val="black"/>
                </a:solidFill>
                <a:ea typeface="微软雅黑" panose="020B0503020204020204" pitchFamily="34" charset="-122"/>
                <a:cs typeface="+mn-ea"/>
                <a:sym typeface="Arial" panose="020B0604020202020204" pitchFamily="34" charset="0"/>
              </a:endParaRPr>
            </a:p>
          </p:txBody>
        </p:sp>
        <p:sp>
          <p:nvSpPr>
            <p:cNvPr id="15" name="图形 58"/>
            <p:cNvSpPr/>
            <p:nvPr/>
          </p:nvSpPr>
          <p:spPr>
            <a:xfrm rot="10800000">
              <a:off x="3480166" y="3496222"/>
              <a:ext cx="230891" cy="160927"/>
            </a:xfrm>
            <a:custGeom>
              <a:avLst/>
              <a:gdLst>
                <a:gd name="connsiteX0" fmla="*/ 519208 w 733425"/>
                <a:gd name="connsiteY0" fmla="*/ 517727 h 861325"/>
                <a:gd name="connsiteX1" fmla="*/ 666369 w 733425"/>
                <a:gd name="connsiteY1" fmla="*/ 0 h 861325"/>
                <a:gd name="connsiteX2" fmla="*/ 67056 w 733425"/>
                <a:gd name="connsiteY2" fmla="*/ 0 h 861325"/>
                <a:gd name="connsiteX3" fmla="*/ 214217 w 733425"/>
                <a:gd name="connsiteY3" fmla="*/ 517727 h 861325"/>
                <a:gd name="connsiteX4" fmla="*/ 0 w 733425"/>
                <a:gd name="connsiteY4" fmla="*/ 517727 h 861325"/>
                <a:gd name="connsiteX5" fmla="*/ 366713 w 733425"/>
                <a:gd name="connsiteY5" fmla="*/ 861326 h 861325"/>
                <a:gd name="connsiteX6" fmla="*/ 733425 w 733425"/>
                <a:gd name="connsiteY6" fmla="*/ 517727 h 861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3425" h="861325">
                  <a:moveTo>
                    <a:pt x="519208" y="517727"/>
                  </a:moveTo>
                  <a:lnTo>
                    <a:pt x="666369" y="0"/>
                  </a:lnTo>
                  <a:lnTo>
                    <a:pt x="67056" y="0"/>
                  </a:lnTo>
                  <a:lnTo>
                    <a:pt x="214217" y="517727"/>
                  </a:lnTo>
                  <a:lnTo>
                    <a:pt x="0" y="517727"/>
                  </a:lnTo>
                  <a:lnTo>
                    <a:pt x="366713" y="861326"/>
                  </a:lnTo>
                  <a:lnTo>
                    <a:pt x="733425" y="517727"/>
                  </a:lnTo>
                  <a:close/>
                </a:path>
              </a:pathLst>
            </a:custGeom>
            <a:gradFill>
              <a:gsLst>
                <a:gs pos="0">
                  <a:srgbClr val="C00000"/>
                </a:gs>
                <a:gs pos="100000">
                  <a:srgbClr val="C00000">
                    <a:alpha val="0"/>
                  </a:srgbClr>
                </a:gs>
              </a:gsLst>
              <a:lin ang="16200000" scaled="0"/>
            </a:gradFill>
            <a:ln w="15875" cap="flat">
              <a:noFill/>
              <a:prstDash val="solid"/>
              <a:miter lim="800000"/>
            </a:ln>
          </p:spPr>
          <p:txBody>
            <a:bodyPr vert="horz" wrap="square" lIns="91440" tIns="45720" rIns="91440" bIns="45720" numCol="1" anchor="t" anchorCtr="0" compatLnSpc="1">
              <a:noAutofit/>
            </a:bodyPr>
            <a:lstStyle/>
            <a:p>
              <a:endParaRPr lang="zh-CN" altLang="en-US" sz="1100">
                <a:solidFill>
                  <a:prstClr val="black"/>
                </a:solidFill>
                <a:ea typeface="微软雅黑" panose="020B0503020204020204" pitchFamily="34" charset="-122"/>
                <a:cs typeface="+mn-ea"/>
                <a:sym typeface="Arial" panose="020B0604020202020204" pitchFamily="34" charset="0"/>
              </a:endParaRPr>
            </a:p>
          </p:txBody>
        </p:sp>
        <p:sp>
          <p:nvSpPr>
            <p:cNvPr id="17" name="矩形 16"/>
            <p:cNvSpPr/>
            <p:nvPr/>
          </p:nvSpPr>
          <p:spPr>
            <a:xfrm>
              <a:off x="1534018" y="2519476"/>
              <a:ext cx="9140990" cy="951364"/>
            </a:xfrm>
            <a:prstGeom prst="rect">
              <a:avLst/>
            </a:prstGeom>
            <a:solidFill>
              <a:schemeClr val="bg1"/>
            </a:solidFill>
            <a:ln w="3175" cap="flat" cmpd="sng" algn="ctr">
              <a:solidFill>
                <a:srgbClr val="616161"/>
              </a:solidFill>
              <a:prstDash val="solid"/>
              <a:round/>
              <a:headEnd type="none" w="med" len="med"/>
              <a:tailEnd type="none" w="med" len="med"/>
            </a:ln>
          </p:spPr>
          <p:txBody>
            <a:bodyPr rot="0" spcFirstLastPara="0" vertOverflow="overflow" horzOverflow="overflow" vert="horz" wrap="square" lIns="0" tIns="0" rIns="0" bIns="0" numCol="1" spcCol="0" rtlCol="0" fromWordArt="0" anchor="t" anchorCtr="0" forceAA="0" compatLnSpc="1">
              <a:noAutofit/>
            </a:bodyPr>
            <a:lstStyle/>
            <a:p>
              <a:endParaRPr lang="zh-CN" altLang="en-US" sz="1100" dirty="0"/>
            </a:p>
          </p:txBody>
        </p:sp>
        <p:sp>
          <p:nvSpPr>
            <p:cNvPr id="60" name="矩形: 圆角 59"/>
            <p:cNvSpPr/>
            <p:nvPr/>
          </p:nvSpPr>
          <p:spPr bwMode="auto">
            <a:xfrm>
              <a:off x="1525245" y="2533310"/>
              <a:ext cx="8567923" cy="240681"/>
            </a:xfrm>
            <a:prstGeom prst="roundRect">
              <a:avLst>
                <a:gd name="adj" fmla="val 0"/>
              </a:avLst>
            </a:prstGeom>
            <a:solidFill>
              <a:schemeClr val="bg1"/>
            </a:solidFill>
            <a:ln w="635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lnSpc>
                  <a:spcPct val="150000"/>
                </a:lnSpc>
              </a:pPr>
              <a:endParaRPr lang="zh-CN" altLang="en-US" sz="1100" b="1">
                <a:solidFill>
                  <a:prstClr val="black"/>
                </a:solidFill>
                <a:latin typeface="微软雅黑" panose="020B0503020204020204" pitchFamily="34" charset="-122"/>
                <a:ea typeface="微软雅黑" panose="020B0503020204020204" pitchFamily="34" charset="-122"/>
                <a:cs typeface="+mn-ea"/>
              </a:endParaRPr>
            </a:p>
          </p:txBody>
        </p:sp>
        <p:sp>
          <p:nvSpPr>
            <p:cNvPr id="61" name="矩形 60"/>
            <p:cNvSpPr/>
            <p:nvPr/>
          </p:nvSpPr>
          <p:spPr>
            <a:xfrm>
              <a:off x="1518302" y="2509714"/>
              <a:ext cx="9156111" cy="247010"/>
            </a:xfrm>
            <a:prstGeom prst="rect">
              <a:avLst/>
            </a:prstGeom>
            <a:gradFill>
              <a:gsLst>
                <a:gs pos="60000">
                  <a:srgbClr val="003399">
                    <a:alpha val="6000"/>
                  </a:srgbClr>
                </a:gs>
                <a:gs pos="40000">
                  <a:srgbClr val="003399">
                    <a:alpha val="6000"/>
                  </a:srgbClr>
                </a:gs>
                <a:gs pos="0">
                  <a:srgbClr val="003399">
                    <a:alpha val="0"/>
                  </a:srgbClr>
                </a:gs>
                <a:gs pos="100000">
                  <a:srgbClr val="003399">
                    <a:alpha val="0"/>
                  </a:srgbClr>
                </a:gs>
              </a:gsLst>
              <a:lin ang="0" scaled="0"/>
            </a:gradFill>
            <a:ln w="6350" cap="flat" cmpd="sng" algn="ctr">
              <a:solidFill>
                <a:srgbClr val="007F7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100" b="1">
                <a:solidFill>
                  <a:prstClr val="white"/>
                </a:solidFill>
                <a:latin typeface="Calibri" panose="020F0502020204030204"/>
                <a:ea typeface="等线" panose="02010600030101010101" pitchFamily="2" charset="-122"/>
              </a:endParaRPr>
            </a:p>
          </p:txBody>
        </p:sp>
        <p:sp>
          <p:nvSpPr>
            <p:cNvPr id="57" name="文本框 103"/>
            <p:cNvSpPr txBox="1">
              <a:spLocks noChangeArrowheads="1"/>
            </p:cNvSpPr>
            <p:nvPr/>
          </p:nvSpPr>
          <p:spPr bwMode="auto">
            <a:xfrm>
              <a:off x="1672200" y="2571602"/>
              <a:ext cx="1035027" cy="17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defRPr/>
              </a:pPr>
              <a:r>
                <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4</a:t>
              </a:r>
              <a:endParaRPr lang="en-US" altLang="zh-CN"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8" name="直接连接符 57"/>
            <p:cNvCxnSpPr/>
            <p:nvPr/>
          </p:nvCxnSpPr>
          <p:spPr bwMode="auto">
            <a:xfrm>
              <a:off x="2643929" y="2589378"/>
              <a:ext cx="0" cy="130246"/>
            </a:xfrm>
            <a:prstGeom prst="line">
              <a:avLst/>
            </a:prstGeom>
            <a:solidFill>
              <a:schemeClr val="accent1"/>
            </a:solidFill>
            <a:ln w="6350" cap="rnd" cmpd="sng" algn="ctr">
              <a:solidFill>
                <a:schemeClr val="bg1">
                  <a:lumMod val="50000"/>
                  <a:alpha val="40000"/>
                </a:schemeClr>
              </a:solidFill>
              <a:prstDash val="solid"/>
              <a:round/>
              <a:headEnd type="none" w="med" len="med"/>
              <a:tailEnd type="none" w="med" len="med"/>
            </a:ln>
            <a:effectLst/>
          </p:spPr>
        </p:cxnSp>
        <p:sp>
          <p:nvSpPr>
            <p:cNvPr id="59" name="文本框 103"/>
            <p:cNvSpPr txBox="1">
              <a:spLocks noChangeArrowheads="1"/>
            </p:cNvSpPr>
            <p:nvPr/>
          </p:nvSpPr>
          <p:spPr bwMode="auto">
            <a:xfrm>
              <a:off x="2715244" y="2563400"/>
              <a:ext cx="5532034" cy="17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a:spAutoFit/>
            </a:bodyPr>
            <a:lstStyle>
              <a:lvl1pPr>
                <a:spcBef>
                  <a:spcPct val="20000"/>
                </a:spcBef>
                <a:buChar char="•"/>
                <a:defRPr sz="3200">
                  <a:solidFill>
                    <a:schemeClr val="bg2"/>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2"/>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2"/>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2"/>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buNone/>
                <a:defRPr/>
              </a:pPr>
              <a:r>
                <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基于知识增强与数据驱动的电网数据分类分级体系构建</a:t>
              </a:r>
              <a:endParaRPr lang="zh-CN" altLang="en-US" sz="110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3" name="矩形 105"/>
            <p:cNvSpPr>
              <a:spLocks noChangeArrowheads="1"/>
            </p:cNvSpPr>
            <p:nvPr/>
          </p:nvSpPr>
          <p:spPr bwMode="auto">
            <a:xfrm>
              <a:off x="1619826" y="3152932"/>
              <a:ext cx="962404" cy="278691"/>
            </a:xfrm>
            <a:prstGeom prst="rect">
              <a:avLst/>
            </a:prstGeom>
            <a:solidFill>
              <a:srgbClr val="8FAADC"/>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050" i="0" u="none" strike="noStrike" kern="1200" cap="none" spc="0" normalizeH="0" baseline="0" noProof="0" dirty="0">
                <a:ln>
                  <a:noFill/>
                </a:ln>
                <a:solidFill>
                  <a:srgbClr val="007F7F"/>
                </a:solidFill>
                <a:effectLst/>
                <a:uLnTx/>
                <a:uFillTx/>
                <a:latin typeface="微软雅黑" panose="020B0503020204020204" pitchFamily="34" charset="-122"/>
                <a:ea typeface="微软雅黑" panose="020B0503020204020204" pitchFamily="34" charset="-122"/>
                <a:cs typeface="+mn-cs"/>
              </a:endParaRPr>
            </a:p>
          </p:txBody>
        </p:sp>
        <p:sp>
          <p:nvSpPr>
            <p:cNvPr id="54" name="文本框 53"/>
            <p:cNvSpPr txBox="1"/>
            <p:nvPr/>
          </p:nvSpPr>
          <p:spPr>
            <a:xfrm>
              <a:off x="1489652" y="3161327"/>
              <a:ext cx="1224870" cy="209666"/>
            </a:xfrm>
            <a:prstGeom prst="rect">
              <a:avLst/>
            </a:prstGeom>
            <a:noFill/>
          </p:spPr>
          <p:txBody>
            <a:bodyPr wrap="square"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rPr>
                <a:t>异构数据</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endParaRPr>
            </a:p>
          </p:txBody>
        </p:sp>
        <p:sp>
          <p:nvSpPr>
            <p:cNvPr id="51" name="矩形 105"/>
            <p:cNvSpPr>
              <a:spLocks noChangeArrowheads="1"/>
            </p:cNvSpPr>
            <p:nvPr/>
          </p:nvSpPr>
          <p:spPr bwMode="auto">
            <a:xfrm>
              <a:off x="1619826" y="2799521"/>
              <a:ext cx="962404" cy="278691"/>
            </a:xfrm>
            <a:prstGeom prst="rect">
              <a:avLst/>
            </a:prstGeom>
            <a:solidFill>
              <a:srgbClr val="8FAADC"/>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050" i="0" u="none" strike="noStrike" kern="1200" cap="none" spc="0" normalizeH="0" baseline="0" noProof="0" dirty="0">
                <a:ln>
                  <a:noFill/>
                </a:ln>
                <a:solidFill>
                  <a:srgbClr val="007F7F"/>
                </a:solidFill>
                <a:effectLst/>
                <a:uLnTx/>
                <a:uFillTx/>
                <a:latin typeface="微软雅黑" panose="020B0503020204020204" pitchFamily="34" charset="-122"/>
                <a:ea typeface="微软雅黑" panose="020B0503020204020204" pitchFamily="34" charset="-122"/>
                <a:cs typeface="+mn-cs"/>
              </a:endParaRPr>
            </a:p>
          </p:txBody>
        </p:sp>
        <p:sp>
          <p:nvSpPr>
            <p:cNvPr id="52" name="文本框 51"/>
            <p:cNvSpPr txBox="1"/>
            <p:nvPr/>
          </p:nvSpPr>
          <p:spPr>
            <a:xfrm>
              <a:off x="1480599" y="2808210"/>
              <a:ext cx="1224870" cy="209666"/>
            </a:xfrm>
            <a:prstGeom prst="rect">
              <a:avLst/>
            </a:prstGeom>
            <a:noFill/>
          </p:spPr>
          <p:txBody>
            <a:bodyPr wrap="square"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rPr>
                <a:t>文本文件</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endParaRPr>
            </a:p>
          </p:txBody>
        </p:sp>
        <p:sp>
          <p:nvSpPr>
            <p:cNvPr id="20" name="矩形 105"/>
            <p:cNvSpPr>
              <a:spLocks noChangeArrowheads="1"/>
            </p:cNvSpPr>
            <p:nvPr>
              <p:custDataLst>
                <p:tags r:id="rId7"/>
              </p:custDataLst>
            </p:nvPr>
          </p:nvSpPr>
          <p:spPr bwMode="auto">
            <a:xfrm rot="16200000">
              <a:off x="887261" y="2821906"/>
              <a:ext cx="968510" cy="338881"/>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分类分级</a:t>
              </a:r>
              <a:endParaRPr lang="zh-CN" altLang="en-US" sz="1200" b="1" dirty="0">
                <a:solidFill>
                  <a:schemeClr val="l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2592709" y="2956216"/>
              <a:ext cx="236557" cy="0"/>
            </a:xfrm>
            <a:prstGeom prst="line">
              <a:avLst/>
            </a:prstGeom>
            <a:ln w="12700">
              <a:solidFill>
                <a:srgbClr val="4F81BD"/>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105"/>
            <p:cNvSpPr>
              <a:spLocks noChangeArrowheads="1"/>
            </p:cNvSpPr>
            <p:nvPr/>
          </p:nvSpPr>
          <p:spPr bwMode="auto">
            <a:xfrm>
              <a:off x="8839368" y="2786268"/>
              <a:ext cx="1727550" cy="222953"/>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结构化规则抽取</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46" name="矩形 105"/>
            <p:cNvSpPr>
              <a:spLocks noChangeArrowheads="1"/>
            </p:cNvSpPr>
            <p:nvPr/>
          </p:nvSpPr>
          <p:spPr bwMode="auto">
            <a:xfrm>
              <a:off x="8839368" y="3005785"/>
              <a:ext cx="1727550" cy="222953"/>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敏感特征识别</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47" name="矩形 46"/>
            <p:cNvSpPr>
              <a:spLocks noChangeArrowheads="1"/>
            </p:cNvSpPr>
            <p:nvPr/>
          </p:nvSpPr>
          <p:spPr bwMode="auto">
            <a:xfrm>
              <a:off x="8839369" y="3225303"/>
              <a:ext cx="1727550" cy="222953"/>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安全等级动态更新</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8641867" y="2780919"/>
              <a:ext cx="215285" cy="668858"/>
            </a:xfrm>
            <a:prstGeom prst="rect">
              <a:avLst/>
            </a:prstGeom>
            <a:solidFill>
              <a:schemeClr val="accent5">
                <a:lumMod val="20000"/>
                <a:lumOff val="80000"/>
              </a:schemeClr>
            </a:solidFill>
            <a:ln w="6350">
              <a:solidFill>
                <a:srgbClr val="8FAADC"/>
              </a:solidFill>
            </a:ln>
          </p:spPr>
          <p:txBody>
            <a:bodyPr wrap="square" lIns="0" tIns="0" rIns="0" bIns="0" rtlCol="0">
              <a:noAutofit/>
            </a:bodyPr>
            <a:lstStyle/>
            <a:p>
              <a:pPr marL="0" marR="0" lvl="0" indent="0" algn="ctr" defTabSz="914400" rtl="0" eaLnBrk="0" fontAlgn="base" latinLnBrk="0" hangingPunct="0">
                <a:spcBef>
                  <a:spcPct val="0"/>
                </a:spcBef>
                <a:spcAft>
                  <a:spcPct val="0"/>
                </a:spcAft>
                <a:buClrTx/>
                <a:buSzTx/>
                <a:buFontTx/>
                <a:buNone/>
                <a:defRPr/>
              </a:pPr>
              <a:r>
                <a:rPr lang="zh-CN" altLang="en-US" sz="1050" b="1" spc="-30" dirty="0">
                  <a:solidFill>
                    <a:srgbClr val="00367A"/>
                  </a:solidFill>
                  <a:latin typeface="微软雅黑" panose="020B0503020204020204" pitchFamily="34" charset="-122"/>
                  <a:ea typeface="微软雅黑" panose="020B0503020204020204" pitchFamily="34" charset="-122"/>
                  <a:sym typeface="微软雅黑" panose="020B0503020204020204" pitchFamily="34" charset="-122"/>
                </a:rPr>
                <a:t>效果测试</a:t>
              </a:r>
              <a:endParaRPr kumimoji="0" lang="zh-CN" altLang="en-US" sz="1050" b="1" i="0" u="none" strike="noStrike" kern="1200" cap="none" spc="-3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矩形 105"/>
            <p:cNvSpPr>
              <a:spLocks noChangeArrowheads="1"/>
            </p:cNvSpPr>
            <p:nvPr/>
          </p:nvSpPr>
          <p:spPr bwMode="auto">
            <a:xfrm>
              <a:off x="4174472" y="2793531"/>
              <a:ext cx="311169" cy="677310"/>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分类依据</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24" name="箭头: 右 23"/>
            <p:cNvSpPr/>
            <p:nvPr/>
          </p:nvSpPr>
          <p:spPr>
            <a:xfrm>
              <a:off x="8104617" y="2983110"/>
              <a:ext cx="440073" cy="245628"/>
            </a:xfrm>
            <a:prstGeom prst="rightArrow">
              <a:avLst/>
            </a:prstGeom>
            <a:solidFill>
              <a:srgbClr val="4F81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2592709" y="3297593"/>
              <a:ext cx="236557" cy="0"/>
            </a:xfrm>
            <a:prstGeom prst="line">
              <a:avLst/>
            </a:prstGeom>
            <a:ln w="12700">
              <a:solidFill>
                <a:srgbClr val="4F81BD"/>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105"/>
            <p:cNvSpPr>
              <a:spLocks noChangeArrowheads="1"/>
            </p:cNvSpPr>
            <p:nvPr/>
          </p:nvSpPr>
          <p:spPr bwMode="auto">
            <a:xfrm>
              <a:off x="2833938" y="3153597"/>
              <a:ext cx="1051518" cy="278691"/>
            </a:xfrm>
            <a:prstGeom prst="rect">
              <a:avLst/>
            </a:prstGeom>
            <a:solidFill>
              <a:srgbClr val="8FAADC"/>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050" i="0" u="none" strike="noStrike" kern="1200" cap="none" spc="0" normalizeH="0" baseline="0" noProof="0" dirty="0">
                <a:ln>
                  <a:noFill/>
                </a:ln>
                <a:solidFill>
                  <a:srgbClr val="007F7F"/>
                </a:solidFill>
                <a:effectLst/>
                <a:uLnTx/>
                <a:uFillTx/>
                <a:latin typeface="微软雅黑" panose="020B0503020204020204" pitchFamily="34" charset="-122"/>
                <a:ea typeface="微软雅黑" panose="020B0503020204020204" pitchFamily="34" charset="-122"/>
                <a:cs typeface="+mn-cs"/>
              </a:endParaRPr>
            </a:p>
          </p:txBody>
        </p:sp>
        <p:sp>
          <p:nvSpPr>
            <p:cNvPr id="44" name="文本框 43"/>
            <p:cNvSpPr txBox="1"/>
            <p:nvPr/>
          </p:nvSpPr>
          <p:spPr>
            <a:xfrm>
              <a:off x="2691710" y="3161993"/>
              <a:ext cx="1338287" cy="209666"/>
            </a:xfrm>
            <a:prstGeom prst="rect">
              <a:avLst/>
            </a:prstGeom>
            <a:noFill/>
          </p:spPr>
          <p:txBody>
            <a:bodyPr wrap="square"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sz="1050" dirty="0">
                  <a:solidFill>
                    <a:srgbClr val="00367A"/>
                  </a:solidFill>
                  <a:latin typeface="微软雅黑" panose="020B0503020204020204" pitchFamily="34" charset="-122"/>
                  <a:ea typeface="微软雅黑" panose="020B0503020204020204" pitchFamily="34" charset="-122"/>
                </a:rPr>
                <a:t>敏感</a:t>
              </a: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rPr>
                <a:t>特征</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endParaRPr>
            </a:p>
          </p:txBody>
        </p:sp>
        <p:sp>
          <p:nvSpPr>
            <p:cNvPr id="41" name="矩形 105"/>
            <p:cNvSpPr>
              <a:spLocks noChangeArrowheads="1"/>
            </p:cNvSpPr>
            <p:nvPr/>
          </p:nvSpPr>
          <p:spPr bwMode="auto">
            <a:xfrm>
              <a:off x="2833938" y="2800187"/>
              <a:ext cx="1051518" cy="278691"/>
            </a:xfrm>
            <a:prstGeom prst="rect">
              <a:avLst/>
            </a:prstGeom>
            <a:solidFill>
              <a:srgbClr val="8FAADC"/>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zh-CN" altLang="en-US" sz="1050" i="0" u="none" strike="noStrike" kern="1200" cap="none" spc="0" normalizeH="0" baseline="0" noProof="0" dirty="0">
                <a:ln>
                  <a:noFill/>
                </a:ln>
                <a:solidFill>
                  <a:srgbClr val="007F7F"/>
                </a:solidFill>
                <a:effectLst/>
                <a:uLnTx/>
                <a:uFillTx/>
                <a:latin typeface="微软雅黑" panose="020B0503020204020204" pitchFamily="34" charset="-122"/>
                <a:ea typeface="微软雅黑" panose="020B0503020204020204" pitchFamily="34" charset="-122"/>
                <a:cs typeface="+mn-cs"/>
              </a:endParaRPr>
            </a:p>
          </p:txBody>
        </p:sp>
        <p:sp>
          <p:nvSpPr>
            <p:cNvPr id="42" name="文本框 41"/>
            <p:cNvSpPr txBox="1"/>
            <p:nvPr/>
          </p:nvSpPr>
          <p:spPr>
            <a:xfrm>
              <a:off x="2681819" y="2808876"/>
              <a:ext cx="1338287" cy="209666"/>
            </a:xfrm>
            <a:prstGeom prst="rect">
              <a:avLst/>
            </a:prstGeom>
            <a:noFill/>
          </p:spPr>
          <p:txBody>
            <a:bodyPr wrap="square" rtlCol="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rPr>
                <a:t>规则知识</a:t>
              </a:r>
              <a:endParaRPr kumimoji="0" lang="zh-CN" altLang="en-US" sz="1050" i="0" u="none" strike="noStrike" kern="1200" cap="none" spc="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endParaRPr>
            </a:p>
          </p:txBody>
        </p:sp>
        <p:sp>
          <p:nvSpPr>
            <p:cNvPr id="27" name="右大括号 26"/>
            <p:cNvSpPr/>
            <p:nvPr/>
          </p:nvSpPr>
          <p:spPr>
            <a:xfrm>
              <a:off x="3898560" y="2844904"/>
              <a:ext cx="235145" cy="56927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8" name="直接连接符 27"/>
            <p:cNvCxnSpPr/>
            <p:nvPr/>
          </p:nvCxnSpPr>
          <p:spPr>
            <a:xfrm>
              <a:off x="5920540" y="3117889"/>
              <a:ext cx="336514" cy="0"/>
            </a:xfrm>
            <a:prstGeom prst="line">
              <a:avLst/>
            </a:prstGeom>
            <a:ln w="12700">
              <a:solidFill>
                <a:srgbClr val="4F81BD"/>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105"/>
            <p:cNvSpPr>
              <a:spLocks noChangeArrowheads="1"/>
            </p:cNvSpPr>
            <p:nvPr/>
          </p:nvSpPr>
          <p:spPr bwMode="auto">
            <a:xfrm>
              <a:off x="6812300" y="2784746"/>
              <a:ext cx="1195140" cy="222953"/>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风险控制</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36" name="矩形 105"/>
            <p:cNvSpPr>
              <a:spLocks noChangeArrowheads="1"/>
            </p:cNvSpPr>
            <p:nvPr/>
          </p:nvSpPr>
          <p:spPr bwMode="auto">
            <a:xfrm>
              <a:off x="6812300" y="3004262"/>
              <a:ext cx="1195140" cy="222953"/>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数据可用性</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37" name="矩形 36"/>
            <p:cNvSpPr>
              <a:spLocks noChangeArrowheads="1"/>
            </p:cNvSpPr>
            <p:nvPr/>
          </p:nvSpPr>
          <p:spPr bwMode="auto">
            <a:xfrm>
              <a:off x="6812301" y="3223780"/>
              <a:ext cx="1195139" cy="222953"/>
            </a:xfrm>
            <a:prstGeom prst="rect">
              <a:avLst/>
            </a:prstGeom>
            <a:solidFill>
              <a:srgbClr val="E5F2F7"/>
            </a:solid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ct val="0"/>
                </a:spcBef>
                <a:defRPr/>
              </a:pPr>
              <a:r>
                <a:rPr lang="zh-CN" altLang="en-US" sz="1050" dirty="0">
                  <a:solidFill>
                    <a:srgbClr val="00367A"/>
                  </a:solidFill>
                  <a:latin typeface="微软雅黑" panose="020B0503020204020204" pitchFamily="34" charset="-122"/>
                  <a:ea typeface="微软雅黑" panose="020B0503020204020204" pitchFamily="34" charset="-122"/>
                </a:rPr>
                <a:t>监管合规</a:t>
              </a:r>
              <a:endParaRPr lang="zh-CN" altLang="en-US" sz="1050" dirty="0">
                <a:solidFill>
                  <a:srgbClr val="00367A"/>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6625233" y="2779397"/>
              <a:ext cx="174977" cy="668858"/>
            </a:xfrm>
            <a:prstGeom prst="rect">
              <a:avLst/>
            </a:prstGeom>
            <a:solidFill>
              <a:schemeClr val="accent5">
                <a:lumMod val="20000"/>
                <a:lumOff val="80000"/>
              </a:schemeClr>
            </a:solidFill>
            <a:ln w="6350">
              <a:solidFill>
                <a:srgbClr val="8FAADC"/>
              </a:solidFill>
            </a:ln>
          </p:spPr>
          <p:txBody>
            <a:bodyPr wrap="square" lIns="0" tIns="0" rIns="0" bIns="0" rtlCol="0">
              <a:noAutofit/>
            </a:bodyPr>
            <a:lstStyle/>
            <a:p>
              <a:pPr marL="0" marR="0" lvl="0" indent="0" algn="ctr" defTabSz="914400" rtl="0" eaLnBrk="0" fontAlgn="base" latinLnBrk="0" hangingPunct="0">
                <a:spcBef>
                  <a:spcPct val="0"/>
                </a:spcBef>
                <a:spcAft>
                  <a:spcPct val="0"/>
                </a:spcAft>
                <a:buClrTx/>
                <a:buSzTx/>
                <a:buFontTx/>
                <a:buNone/>
                <a:defRPr/>
              </a:pPr>
              <a:r>
                <a:rPr kumimoji="0" lang="zh-CN" altLang="en-US" sz="1050" b="1" i="0" u="none" strike="noStrike" kern="1200" cap="none" spc="-3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动态平衡</a:t>
              </a:r>
              <a:endParaRPr kumimoji="0" lang="zh-CN" altLang="en-US" sz="1050" b="1" i="0" u="none" strike="noStrike" kern="1200" cap="none" spc="-30" normalizeH="0" baseline="0" noProof="0" dirty="0">
                <a:ln>
                  <a:noFill/>
                </a:ln>
                <a:solidFill>
                  <a:srgbClr val="00367A"/>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cxnSp>
          <p:nvCxnSpPr>
            <p:cNvPr id="33" name="直接连接符 32"/>
            <p:cNvCxnSpPr/>
            <p:nvPr/>
          </p:nvCxnSpPr>
          <p:spPr>
            <a:xfrm flipV="1">
              <a:off x="6304070" y="2899765"/>
              <a:ext cx="209014" cy="222953"/>
            </a:xfrm>
            <a:prstGeom prst="line">
              <a:avLst/>
            </a:prstGeom>
            <a:ln>
              <a:solidFill>
                <a:srgbClr val="4F81BD"/>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6307358" y="3118125"/>
              <a:ext cx="209014" cy="222953"/>
            </a:xfrm>
            <a:prstGeom prst="line">
              <a:avLst/>
            </a:prstGeom>
            <a:ln>
              <a:solidFill>
                <a:srgbClr val="4F81BD"/>
              </a:solidFill>
            </a:ln>
          </p:spPr>
          <p:style>
            <a:lnRef idx="1">
              <a:schemeClr val="accent1"/>
            </a:lnRef>
            <a:fillRef idx="0">
              <a:schemeClr val="accent1"/>
            </a:fillRef>
            <a:effectRef idx="0">
              <a:schemeClr val="accent1"/>
            </a:effectRef>
            <a:fontRef idx="minor">
              <a:schemeClr val="tx1"/>
            </a:fontRef>
          </p:style>
        </p:cxnSp>
        <p:sp>
          <p:nvSpPr>
            <p:cNvPr id="31" name="矩形 105"/>
            <p:cNvSpPr>
              <a:spLocks noChangeArrowheads="1"/>
            </p:cNvSpPr>
            <p:nvPr/>
          </p:nvSpPr>
          <p:spPr bwMode="auto">
            <a:xfrm>
              <a:off x="4864009" y="2983815"/>
              <a:ext cx="1033022" cy="278691"/>
            </a:xfrm>
            <a:prstGeom prst="rect">
              <a:avLst/>
            </a:prstGeom>
            <a:solidFill>
              <a:srgbClr val="8FAADC"/>
            </a:solidFill>
            <a:ln w="635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050" dirty="0">
                  <a:solidFill>
                    <a:srgbClr val="00367A"/>
                  </a:solidFill>
                  <a:latin typeface="微软雅黑" panose="020B0503020204020204" pitchFamily="34" charset="-122"/>
                  <a:ea typeface="微软雅黑" panose="020B0503020204020204" pitchFamily="34" charset="-122"/>
                </a:rPr>
                <a:t>初始分类</a:t>
              </a:r>
              <a:endParaRPr lang="zh-CN" altLang="en-US" sz="1050" dirty="0">
                <a:solidFill>
                  <a:srgbClr val="00367A"/>
                </a:solidFill>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4524494" y="3117889"/>
              <a:ext cx="336514" cy="0"/>
            </a:xfrm>
            <a:prstGeom prst="line">
              <a:avLst/>
            </a:prstGeom>
            <a:ln w="12700">
              <a:solidFill>
                <a:srgbClr val="4F81BD"/>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665043" y="328398"/>
            <a:ext cx="2625090" cy="1076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mn-ea"/>
              </a:rPr>
              <a:t>数据对象分析</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pic>
        <p:nvPicPr>
          <p:cNvPr id="1025" name="图片 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27670" y="4239639"/>
            <a:ext cx="4477081" cy="205565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20256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pic>
        <p:nvPicPr>
          <p:cNvPr id="1032"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860" y="4089372"/>
            <a:ext cx="4684819" cy="215104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表格 7"/>
          <p:cNvGraphicFramePr>
            <a:graphicFrameLocks noGrp="1"/>
          </p:cNvGraphicFramePr>
          <p:nvPr/>
        </p:nvGraphicFramePr>
        <p:xfrm>
          <a:off x="1606550" y="2865988"/>
          <a:ext cx="9176833" cy="1209966"/>
        </p:xfrm>
        <a:graphic>
          <a:graphicData uri="http://schemas.openxmlformats.org/drawingml/2006/table">
            <a:tbl>
              <a:tblPr firstRow="1" bandRow="1">
                <a:tableStyleId>{7E9639D4-E3E2-4D34-9284-5A2195B3D0D7}</a:tableStyleId>
              </a:tblPr>
              <a:tblGrid>
                <a:gridCol w="2455450"/>
                <a:gridCol w="3580527"/>
                <a:gridCol w="3140856"/>
              </a:tblGrid>
              <a:tr h="253381">
                <a:tc>
                  <a:txBody>
                    <a:bodyPr/>
                    <a:lstStyle/>
                    <a:p>
                      <a:pPr algn="ctr">
                        <a:buNone/>
                      </a:pPr>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研究任务</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buNone/>
                      </a:pPr>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公开输入</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buNone/>
                      </a:pPr>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敏感输出</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r h="437343">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拓扑逆推</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工程文本、公开</a:t>
                      </a:r>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GIS</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站点、线路及连接关系</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r>
              <a:tr h="437343">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线路参数逆推</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拓扑、电价、阻塞信息</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线路电抗、导纳矩阵</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r>
            </a:tbl>
          </a:graphicData>
        </a:graphic>
      </p:graphicFrame>
      <p:sp>
        <p:nvSpPr>
          <p:cNvPr id="13" name="矩形 12"/>
          <p:cNvSpPr/>
          <p:nvPr/>
        </p:nvSpPr>
        <p:spPr>
          <a:xfrm>
            <a:off x="3958714" y="2495735"/>
            <a:ext cx="4451199"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公开数据与反向逆推目标对应关系</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1518974" y="6376374"/>
            <a:ext cx="151322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公开电网拓扑</a:t>
            </a:r>
            <a:endPar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9145213" y="6376374"/>
            <a:ext cx="143541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公开电价数据</a:t>
            </a:r>
            <a:endPar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5266096" y="4239639"/>
            <a:ext cx="1776156" cy="1984625"/>
          </a:xfrm>
          <a:prstGeom prst="rect">
            <a:avLst/>
          </a:prstGeom>
          <a:ln>
            <a:solidFill>
              <a:srgbClr val="E7E6E6"/>
            </a:solidFill>
          </a:ln>
        </p:spPr>
      </p:pic>
      <p:sp>
        <p:nvSpPr>
          <p:cNvPr id="10" name="文本框 9"/>
          <p:cNvSpPr txBox="1"/>
          <p:nvPr/>
        </p:nvSpPr>
        <p:spPr>
          <a:xfrm>
            <a:off x="5427706" y="6376374"/>
            <a:ext cx="151322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公开工程文本</a:t>
            </a:r>
            <a:endPar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p:cNvSpPr txBox="1"/>
          <p:nvPr/>
        </p:nvSpPr>
        <p:spPr>
          <a:xfrm>
            <a:off x="486137" y="1166765"/>
            <a:ext cx="11418614" cy="1323439"/>
          </a:xfrm>
          <a:prstGeom prst="rect">
            <a:avLst/>
          </a:prstGeom>
          <a:solidFill>
            <a:schemeClr val="bg1"/>
          </a:solid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1" lang="zh-CN" altLang="en-US"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电网拓扑和线路参数是支撑潮流计算、市场出清及运行分析的关键基础数据，具有较高敏感性，本任务将二者作为主要反向逆推对象。当前，工程文本、公开</a:t>
            </a:r>
            <a:r>
              <a:rPr kumimoji="1" lang="en-US" altLang="zh-CN"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GIS</a:t>
            </a:r>
            <a:r>
              <a:rPr kumimoji="1" lang="zh-CN" altLang="en-US"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、节点电价和阻塞信息等数据可通过多种公开渠道获取，并可借助空间关联分析和电力系统机理映射，对电网拓扑和线路参数进行反向推断，因而研究对象选择符合实际数据边界和数据开放目录要求</a:t>
            </a:r>
            <a:endParaRPr kumimoji="1" lang="en-US" altLang="zh-CN"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665043" y="328398"/>
            <a:ext cx="8577580" cy="1076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836654" y="1848941"/>
            <a:ext cx="1059443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以电网拓扑、输变电站点信息、输电线路参数等敏感数据为对象，</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mn-lt"/>
              </a:rPr>
              <a:t>自动抓取并分析相关网站信息和开源数据</a:t>
            </a: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，分析</a:t>
            </a:r>
            <a:r>
              <a:rPr kumimoji="1"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国内电力系统敏感数据泄露情况</a:t>
            </a:r>
            <a:endParaRPr kumimoji="1"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4" name="组合 3"/>
          <p:cNvGrpSpPr/>
          <p:nvPr/>
        </p:nvGrpSpPr>
        <p:grpSpPr>
          <a:xfrm>
            <a:off x="858426" y="2856540"/>
            <a:ext cx="10254743" cy="3552552"/>
            <a:chOff x="765223" y="2970812"/>
            <a:chExt cx="10956098" cy="3866211"/>
          </a:xfrm>
        </p:grpSpPr>
        <p:grpSp>
          <p:nvGrpSpPr>
            <p:cNvPr id="5" name="组合 4"/>
            <p:cNvGrpSpPr/>
            <p:nvPr/>
          </p:nvGrpSpPr>
          <p:grpSpPr>
            <a:xfrm>
              <a:off x="5113354" y="2970812"/>
              <a:ext cx="6607967" cy="3866211"/>
              <a:chOff x="2246081" y="1586453"/>
              <a:chExt cx="6120944" cy="4049276"/>
            </a:xfrm>
          </p:grpSpPr>
          <p:cxnSp>
            <p:nvCxnSpPr>
              <p:cNvPr id="17" name="直接箭头连接符 16"/>
              <p:cNvCxnSpPr/>
              <p:nvPr/>
            </p:nvCxnSpPr>
            <p:spPr>
              <a:xfrm>
                <a:off x="3601453" y="2679297"/>
                <a:ext cx="112114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a:off x="6000497" y="2679297"/>
                <a:ext cx="1054273"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a:xfrm>
                <a:off x="7556941" y="3331258"/>
                <a:ext cx="0" cy="58665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0" name="文本框 19"/>
              <p:cNvSpPr txBox="1"/>
              <p:nvPr/>
            </p:nvSpPr>
            <p:spPr>
              <a:xfrm>
                <a:off x="6180126" y="2214269"/>
                <a:ext cx="823336" cy="419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整理</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6151019" y="3943190"/>
                <a:ext cx="787556" cy="419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解析</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3684575" y="3943190"/>
                <a:ext cx="941611" cy="4190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推断</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3" name="直接箭头连接符 22"/>
              <p:cNvCxnSpPr/>
              <p:nvPr/>
            </p:nvCxnSpPr>
            <p:spPr>
              <a:xfrm flipH="1">
                <a:off x="3604786" y="4418421"/>
                <a:ext cx="111448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文本框 23"/>
              <p:cNvSpPr txBox="1"/>
              <p:nvPr/>
            </p:nvSpPr>
            <p:spPr>
              <a:xfrm>
                <a:off x="2280321" y="1586454"/>
                <a:ext cx="1420298" cy="419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开源数据</a:t>
                </a:r>
                <a:endPar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5" name="文本框 24"/>
              <p:cNvSpPr txBox="1"/>
              <p:nvPr/>
            </p:nvSpPr>
            <p:spPr>
              <a:xfrm>
                <a:off x="4788902" y="1586453"/>
                <a:ext cx="1548615" cy="419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爬虫程序</a:t>
                </a:r>
                <a:endPar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6" name="文本框 25"/>
              <p:cNvSpPr txBox="1"/>
              <p:nvPr/>
            </p:nvSpPr>
            <p:spPr>
              <a:xfrm>
                <a:off x="6746858" y="1586454"/>
                <a:ext cx="1620167" cy="419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相关信息</a:t>
                </a:r>
                <a:endPar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7" name="文本框 26"/>
              <p:cNvSpPr txBox="1"/>
              <p:nvPr/>
            </p:nvSpPr>
            <p:spPr>
              <a:xfrm>
                <a:off x="7022984" y="5131135"/>
                <a:ext cx="1106959" cy="419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大模型</a:t>
                </a:r>
                <a:endPar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276378" y="4085793"/>
                <a:ext cx="657116" cy="657116"/>
              </a:xfrm>
              <a:prstGeom prst="rect">
                <a:avLst/>
              </a:prstGeom>
            </p:spPr>
          </p:pic>
          <p:sp>
            <p:nvSpPr>
              <p:cNvPr id="29" name="文本框 28"/>
              <p:cNvSpPr txBox="1"/>
              <p:nvPr/>
            </p:nvSpPr>
            <p:spPr>
              <a:xfrm>
                <a:off x="4520054" y="5131134"/>
                <a:ext cx="1642587" cy="419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结构化数据</a:t>
                </a:r>
                <a:endPar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0" name="文本框 29"/>
              <p:cNvSpPr txBox="1"/>
              <p:nvPr/>
            </p:nvSpPr>
            <p:spPr>
              <a:xfrm>
                <a:off x="2246081" y="5131135"/>
                <a:ext cx="1454538" cy="50459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敏感信息</a:t>
                </a:r>
                <a:endPar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1" name="直接箭头连接符 30"/>
              <p:cNvCxnSpPr/>
              <p:nvPr/>
            </p:nvCxnSpPr>
            <p:spPr>
              <a:xfrm flipH="1">
                <a:off x="6038769" y="4418421"/>
                <a:ext cx="10160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2" name="文本框 31"/>
              <p:cNvSpPr txBox="1"/>
              <p:nvPr/>
            </p:nvSpPr>
            <p:spPr>
              <a:xfrm>
                <a:off x="3700619" y="2199854"/>
                <a:ext cx="819434" cy="4190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爬取</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33" name="图形 3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55397" y="2247261"/>
                <a:ext cx="827874" cy="928658"/>
              </a:xfrm>
              <a:prstGeom prst="rect">
                <a:avLst/>
              </a:prstGeom>
            </p:spPr>
          </p:pic>
          <p:pic>
            <p:nvPicPr>
              <p:cNvPr id="34" name="图片 33"/>
              <p:cNvPicPr>
                <a:picLocks noChangeAspect="1"/>
              </p:cNvPicPr>
              <p:nvPr/>
            </p:nvPicPr>
            <p:blipFill>
              <a:blip r:embed="rId4"/>
              <a:stretch>
                <a:fillRect/>
              </a:stretch>
            </p:blipFill>
            <p:spPr>
              <a:xfrm>
                <a:off x="4988807" y="2250579"/>
                <a:ext cx="918181" cy="918180"/>
              </a:xfrm>
              <a:prstGeom prst="rect">
                <a:avLst/>
              </a:prstGeom>
            </p:spPr>
          </p:pic>
          <p:pic>
            <p:nvPicPr>
              <p:cNvPr id="35" name="图形 3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27977" y="2284848"/>
                <a:ext cx="809961" cy="809962"/>
              </a:xfrm>
              <a:prstGeom prst="rect">
                <a:avLst/>
              </a:prstGeom>
            </p:spPr>
          </p:pic>
          <p:sp>
            <p:nvSpPr>
              <p:cNvPr id="36" name="文本框 35"/>
              <p:cNvSpPr txBox="1"/>
              <p:nvPr/>
            </p:nvSpPr>
            <p:spPr>
              <a:xfrm>
                <a:off x="6652686" y="3319388"/>
                <a:ext cx="813438" cy="419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输入</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37" name="图片 36"/>
              <p:cNvPicPr>
                <a:picLocks noChangeAspect="1"/>
              </p:cNvPicPr>
              <p:nvPr/>
            </p:nvPicPr>
            <p:blipFill>
              <a:blip r:embed="rId7"/>
              <a:stretch>
                <a:fillRect/>
              </a:stretch>
            </p:blipFill>
            <p:spPr>
              <a:xfrm>
                <a:off x="4954194" y="3968510"/>
                <a:ext cx="1027494" cy="1027493"/>
              </a:xfrm>
              <a:prstGeom prst="rect">
                <a:avLst/>
              </a:prstGeom>
            </p:spPr>
          </p:pic>
          <p:pic>
            <p:nvPicPr>
              <p:cNvPr id="38" name="图片 37"/>
              <p:cNvPicPr>
                <a:picLocks noChangeAspect="1"/>
              </p:cNvPicPr>
              <p:nvPr/>
            </p:nvPicPr>
            <p:blipFill>
              <a:blip r:embed="rId8"/>
              <a:stretch>
                <a:fillRect/>
              </a:stretch>
            </p:blipFill>
            <p:spPr>
              <a:xfrm>
                <a:off x="2562046" y="3968510"/>
                <a:ext cx="1027494" cy="1027493"/>
              </a:xfrm>
              <a:prstGeom prst="rect">
                <a:avLst/>
              </a:prstGeom>
            </p:spPr>
          </p:pic>
        </p:grpSp>
        <p:pic>
          <p:nvPicPr>
            <p:cNvPr id="7" name="图片 6"/>
            <p:cNvPicPr>
              <a:picLocks noChangeAspect="1"/>
            </p:cNvPicPr>
            <p:nvPr/>
          </p:nvPicPr>
          <p:blipFill>
            <a:blip r:embed="rId9"/>
            <a:stretch>
              <a:fillRect/>
            </a:stretch>
          </p:blipFill>
          <p:spPr>
            <a:xfrm>
              <a:off x="794443" y="4990784"/>
              <a:ext cx="3580806" cy="1815658"/>
            </a:xfrm>
            <a:prstGeom prst="rect">
              <a:avLst/>
            </a:prstGeom>
            <a:ln>
              <a:solidFill>
                <a:schemeClr val="bg2">
                  <a:lumMod val="90000"/>
                </a:schemeClr>
              </a:solidFill>
            </a:ln>
          </p:spPr>
        </p:pic>
        <p:grpSp>
          <p:nvGrpSpPr>
            <p:cNvPr id="8" name="组合 7"/>
            <p:cNvGrpSpPr/>
            <p:nvPr/>
          </p:nvGrpSpPr>
          <p:grpSpPr>
            <a:xfrm>
              <a:off x="765223" y="3259663"/>
              <a:ext cx="3639247" cy="1377072"/>
              <a:chOff x="3823980" y="2155029"/>
              <a:chExt cx="2289428" cy="776761"/>
            </a:xfrm>
          </p:grpSpPr>
          <p:sp>
            <p:nvSpPr>
              <p:cNvPr id="10" name="文本框 9"/>
              <p:cNvSpPr txBox="1"/>
              <p:nvPr/>
            </p:nvSpPr>
            <p:spPr>
              <a:xfrm>
                <a:off x="3823980" y="2155029"/>
                <a:ext cx="824382" cy="2759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新闻网页</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1" name="图形 1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89945" y="2430424"/>
                <a:ext cx="446378" cy="422019"/>
              </a:xfrm>
              <a:prstGeom prst="rect">
                <a:avLst/>
              </a:prstGeom>
            </p:spPr>
          </p:pic>
          <p:sp>
            <p:nvSpPr>
              <p:cNvPr id="12" name="文本框 11"/>
              <p:cNvSpPr txBox="1"/>
              <p:nvPr/>
            </p:nvSpPr>
            <p:spPr>
              <a:xfrm>
                <a:off x="4529232" y="2155029"/>
                <a:ext cx="901865" cy="2759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环评报告</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a:xfrm>
                <a:off x="4806342" y="2415290"/>
                <a:ext cx="347644" cy="429340"/>
              </a:xfrm>
              <a:prstGeom prst="rect">
                <a:avLst/>
              </a:prstGeom>
            </p:spPr>
          </p:pic>
          <p:sp>
            <p:nvSpPr>
              <p:cNvPr id="14" name="文本框 13"/>
              <p:cNvSpPr txBox="1"/>
              <p:nvPr/>
            </p:nvSpPr>
            <p:spPr>
              <a:xfrm>
                <a:off x="5277618" y="2155029"/>
                <a:ext cx="835790" cy="2759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开源</a:t>
                </a:r>
                <a:r>
                  <a:rPr kumimoji="0" lang="en-US" altLang="zh-CN"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GIS</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5" name="图片 14"/>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a:xfrm>
                <a:off x="5473377" y="2426763"/>
                <a:ext cx="426336" cy="429340"/>
              </a:xfrm>
              <a:prstGeom prst="rect">
                <a:avLst/>
              </a:prstGeom>
            </p:spPr>
          </p:pic>
          <p:sp>
            <p:nvSpPr>
              <p:cNvPr id="16" name="矩形: 圆角 15"/>
              <p:cNvSpPr/>
              <p:nvPr/>
            </p:nvSpPr>
            <p:spPr bwMode="auto">
              <a:xfrm>
                <a:off x="3873206" y="2155030"/>
                <a:ext cx="2240202" cy="776760"/>
              </a:xfrm>
              <a:prstGeom prst="roundRect">
                <a:avLst>
                  <a:gd name="adj" fmla="val 10587"/>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rgbClr val="FFFFFF"/>
                  </a:solidFill>
                  <a:effectLst/>
                  <a:uLnTx/>
                  <a:uFillTx/>
                  <a:latin typeface="黑体" panose="02010609060101010101" charset="-122"/>
                  <a:ea typeface="宋体" panose="02010600030101010101" pitchFamily="2" charset="-122"/>
                  <a:cs typeface="+mn-cs"/>
                </a:endParaRPr>
              </a:p>
            </p:txBody>
          </p:sp>
        </p:grpSp>
        <p:sp>
          <p:nvSpPr>
            <p:cNvPr id="9" name="箭头: 右 7"/>
            <p:cNvSpPr/>
            <p:nvPr/>
          </p:nvSpPr>
          <p:spPr>
            <a:xfrm>
              <a:off x="4516503" y="3748144"/>
              <a:ext cx="561495" cy="40011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sp>
          <p:nvSpPr>
            <p:cNvPr id="39" name="箭头: 右 8"/>
            <p:cNvSpPr/>
            <p:nvPr/>
          </p:nvSpPr>
          <p:spPr>
            <a:xfrm flipH="1">
              <a:off x="4516503" y="5698558"/>
              <a:ext cx="561495" cy="40011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grpSp>
      <p:sp>
        <p:nvSpPr>
          <p:cNvPr id="40" name="文本框 39"/>
          <p:cNvSpPr txBox="1"/>
          <p:nvPr/>
        </p:nvSpPr>
        <p:spPr>
          <a:xfrm>
            <a:off x="437206" y="1158124"/>
            <a:ext cx="8274633"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研究目标</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40" name="箭头: 右 39"/>
          <p:cNvSpPr/>
          <p:nvPr/>
        </p:nvSpPr>
        <p:spPr>
          <a:xfrm>
            <a:off x="4538053" y="3777152"/>
            <a:ext cx="955738" cy="369332"/>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41" name="箭头: 右 40"/>
          <p:cNvSpPr/>
          <p:nvPr/>
        </p:nvSpPr>
        <p:spPr>
          <a:xfrm>
            <a:off x="8706650" y="3786138"/>
            <a:ext cx="955738" cy="369332"/>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42" name="文本框 41"/>
          <p:cNvSpPr txBox="1"/>
          <p:nvPr/>
        </p:nvSpPr>
        <p:spPr>
          <a:xfrm>
            <a:off x="2947558" y="4606312"/>
            <a:ext cx="149861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环境影响报告书</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pdf</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格式）</a:t>
            </a:r>
            <a:endParaRPr kumimoji="0" lang="zh-CN" altLang="en-US" sz="14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43" name="文本框 42"/>
          <p:cNvSpPr txBox="1"/>
          <p:nvPr/>
        </p:nvSpPr>
        <p:spPr>
          <a:xfrm>
            <a:off x="7528280" y="4714033"/>
            <a:ext cx="142314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大语言模型</a:t>
            </a:r>
            <a:endParaRPr kumimoji="0" lang="zh-CN" altLang="en-US" sz="14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44" name="文本框 43"/>
          <p:cNvSpPr txBox="1"/>
          <p:nvPr/>
        </p:nvSpPr>
        <p:spPr>
          <a:xfrm>
            <a:off x="9748348" y="4606312"/>
            <a:ext cx="1354690"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涉电敏感</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信息数据集</a:t>
            </a:r>
            <a:endPar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5" name="文本框 44"/>
          <p:cNvSpPr txBox="1"/>
          <p:nvPr/>
        </p:nvSpPr>
        <p:spPr>
          <a:xfrm>
            <a:off x="4641463" y="4192581"/>
            <a:ext cx="66809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生成</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6" name="文本框 45"/>
          <p:cNvSpPr txBox="1"/>
          <p:nvPr/>
        </p:nvSpPr>
        <p:spPr>
          <a:xfrm>
            <a:off x="8889893" y="4185717"/>
            <a:ext cx="70441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抽取</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7" name="文本框 46"/>
          <p:cNvSpPr txBox="1"/>
          <p:nvPr/>
        </p:nvSpPr>
        <p:spPr>
          <a:xfrm>
            <a:off x="5680509" y="4606312"/>
            <a:ext cx="966030"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预处理后的文本</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48" name="Picture 1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1869" t="2228" r="19500" b="22982"/>
          <a:stretch>
            <a:fillRect/>
          </a:stretch>
        </p:blipFill>
        <p:spPr bwMode="auto">
          <a:xfrm>
            <a:off x="4765818" y="3394204"/>
            <a:ext cx="398269" cy="372454"/>
          </a:xfrm>
          <a:prstGeom prst="rect">
            <a:avLst/>
          </a:prstGeom>
          <a:noFill/>
          <a:extLst>
            <a:ext uri="{909E8E84-426E-40DD-AFC4-6F175D3DCCD1}">
              <a14:hiddenFill xmlns:a14="http://schemas.microsoft.com/office/drawing/2010/main">
                <a:solidFill>
                  <a:srgbClr val="FFFFFF"/>
                </a:solidFill>
              </a14:hiddenFill>
            </a:ext>
          </a:extLst>
        </p:spPr>
      </p:pic>
      <p:sp>
        <p:nvSpPr>
          <p:cNvPr id="49" name="箭头: 右 48"/>
          <p:cNvSpPr/>
          <p:nvPr/>
        </p:nvSpPr>
        <p:spPr>
          <a:xfrm>
            <a:off x="6805128" y="3795125"/>
            <a:ext cx="862928" cy="351359"/>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50" name="文本框 49"/>
          <p:cNvSpPr txBox="1"/>
          <p:nvPr/>
        </p:nvSpPr>
        <p:spPr>
          <a:xfrm>
            <a:off x="6891054" y="4191556"/>
            <a:ext cx="66809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输入</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51" name="图片 50"/>
          <p:cNvPicPr>
            <a:picLocks noChangeAspect="1"/>
          </p:cNvPicPr>
          <p:nvPr/>
        </p:nvPicPr>
        <p:blipFill>
          <a:blip r:embed="rId2"/>
          <a:stretch>
            <a:fillRect/>
          </a:stretch>
        </p:blipFill>
        <p:spPr>
          <a:xfrm>
            <a:off x="3183194" y="3426144"/>
            <a:ext cx="1056200" cy="1180167"/>
          </a:xfrm>
          <a:prstGeom prst="rect">
            <a:avLst/>
          </a:prstGeom>
          <a:ln>
            <a:solidFill>
              <a:srgbClr val="E7E6E6"/>
            </a:solidFill>
          </a:ln>
        </p:spPr>
      </p:pic>
      <p:pic>
        <p:nvPicPr>
          <p:cNvPr id="52" name="图片 51"/>
          <p:cNvPicPr>
            <a:picLocks noChangeAspect="1"/>
          </p:cNvPicPr>
          <p:nvPr/>
        </p:nvPicPr>
        <p:blipFill>
          <a:blip r:embed="rId3"/>
          <a:stretch>
            <a:fillRect/>
          </a:stretch>
        </p:blipFill>
        <p:spPr>
          <a:xfrm>
            <a:off x="1986707" y="3396686"/>
            <a:ext cx="505604" cy="380466"/>
          </a:xfrm>
          <a:prstGeom prst="rect">
            <a:avLst/>
          </a:prstGeom>
        </p:spPr>
      </p:pic>
      <p:sp>
        <p:nvSpPr>
          <p:cNvPr id="53" name="箭头: 右 52"/>
          <p:cNvSpPr/>
          <p:nvPr/>
        </p:nvSpPr>
        <p:spPr>
          <a:xfrm>
            <a:off x="1840815" y="3786138"/>
            <a:ext cx="955738" cy="369332"/>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54" name="文本框 53"/>
          <p:cNvSpPr txBox="1"/>
          <p:nvPr/>
        </p:nvSpPr>
        <p:spPr>
          <a:xfrm>
            <a:off x="1965284" y="4191556"/>
            <a:ext cx="66809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爬取</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55" name="组合 54"/>
          <p:cNvGrpSpPr/>
          <p:nvPr/>
        </p:nvGrpSpPr>
        <p:grpSpPr>
          <a:xfrm>
            <a:off x="1640037" y="1726429"/>
            <a:ext cx="2203557" cy="1607367"/>
            <a:chOff x="380709" y="1752025"/>
            <a:chExt cx="2203557" cy="3969213"/>
          </a:xfrm>
        </p:grpSpPr>
        <p:sp>
          <p:nvSpPr>
            <p:cNvPr id="56" name="Number1"/>
            <p:cNvSpPr/>
            <p:nvPr/>
          </p:nvSpPr>
          <p:spPr>
            <a:xfrm>
              <a:off x="948436" y="1752025"/>
              <a:ext cx="1068102" cy="1001797"/>
            </a:xfrm>
            <a:prstGeom prst="rect">
              <a:avLst/>
            </a:prstGeom>
            <a:solidFill>
              <a:srgbClr val="5B9BD5"/>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1</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7" name="Bullet1"/>
            <p:cNvSpPr txBox="1"/>
            <p:nvPr/>
          </p:nvSpPr>
          <p:spPr>
            <a:xfrm>
              <a:off x="441087" y="2798431"/>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多源数据采集</a:t>
              </a:r>
              <a:endParaRPr kumimoji="0" lang="en-US" altLang="zh-CN"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8" name="Text1"/>
            <p:cNvSpPr txBox="1"/>
            <p:nvPr/>
          </p:nvSpPr>
          <p:spPr>
            <a:xfrm>
              <a:off x="380709" y="3583760"/>
              <a:ext cx="2203557" cy="2137478"/>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rtl="0" eaLnBrk="1" fontAlgn="auto" latinLnBrk="0" hangingPunct="1">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批量获取环境影响报告和开源地图 </a:t>
              </a: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a:t>
              </a:r>
              <a:r>
                <a:rPr kumimoji="0" lang="en-US" altLang="zh-CN" sz="14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pbf</a:t>
              </a: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 </a:t>
              </a: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数据，并分类存储。</a:t>
              </a:r>
              <a:endPar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grpSp>
        <p:nvGrpSpPr>
          <p:cNvPr id="59" name="组合 58"/>
          <p:cNvGrpSpPr/>
          <p:nvPr/>
        </p:nvGrpSpPr>
        <p:grpSpPr>
          <a:xfrm>
            <a:off x="4031722" y="1726429"/>
            <a:ext cx="2090002" cy="1160106"/>
            <a:chOff x="2695391" y="1752025"/>
            <a:chExt cx="2090002" cy="2864752"/>
          </a:xfrm>
        </p:grpSpPr>
        <p:sp>
          <p:nvSpPr>
            <p:cNvPr id="60" name="Number2"/>
            <p:cNvSpPr/>
            <p:nvPr/>
          </p:nvSpPr>
          <p:spPr>
            <a:xfrm>
              <a:off x="3202740" y="1752025"/>
              <a:ext cx="1068102" cy="1001797"/>
            </a:xfrm>
            <a:prstGeom prst="rect">
              <a:avLst/>
            </a:prstGeom>
            <a:solidFill>
              <a:srgbClr val="ED7D31"/>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2</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1" name="Bullet2"/>
            <p:cNvSpPr txBox="1"/>
            <p:nvPr/>
          </p:nvSpPr>
          <p:spPr>
            <a:xfrm>
              <a:off x="2702593" y="2809150"/>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异构数据预处理</a:t>
              </a:r>
              <a:endParaRPr kumimoji="0" lang="en-US" altLang="zh-CN"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2" name="Text2"/>
            <p:cNvSpPr txBox="1"/>
            <p:nvPr/>
          </p:nvSpPr>
          <p:spPr>
            <a:xfrm>
              <a:off x="2695391" y="3526589"/>
              <a:ext cx="2082800" cy="1090188"/>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rtl="0" eaLnBrk="1" fontAlgn="auto" latinLnBrk="0" hangingPunct="1">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完成</a:t>
              </a: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PDF</a:t>
              </a: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解析与</a:t>
              </a: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OCR</a:t>
              </a: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识别，以及</a:t>
              </a: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GIS</a:t>
              </a: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数据解析与提取。</a:t>
              </a:r>
              <a:endPar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grpSp>
        <p:nvGrpSpPr>
          <p:cNvPr id="68" name="组合 67"/>
          <p:cNvGrpSpPr/>
          <p:nvPr/>
        </p:nvGrpSpPr>
        <p:grpSpPr>
          <a:xfrm>
            <a:off x="6248358" y="1768639"/>
            <a:ext cx="2096771" cy="1113806"/>
            <a:chOff x="7083241" y="1752025"/>
            <a:chExt cx="2096771" cy="2750420"/>
          </a:xfrm>
        </p:grpSpPr>
        <p:sp>
          <p:nvSpPr>
            <p:cNvPr id="69" name="Number4"/>
            <p:cNvSpPr/>
            <p:nvPr/>
          </p:nvSpPr>
          <p:spPr>
            <a:xfrm>
              <a:off x="7590590" y="1752025"/>
              <a:ext cx="1068102" cy="1001797"/>
            </a:xfrm>
            <a:prstGeom prst="rect">
              <a:avLst/>
            </a:prstGeom>
            <a:solidFill>
              <a:srgbClr val="FFC000"/>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3</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70" name="Bullet4"/>
            <p:cNvSpPr txBox="1"/>
            <p:nvPr/>
          </p:nvSpPr>
          <p:spPr>
            <a:xfrm>
              <a:off x="7097212" y="2798431"/>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多源信息抽取</a:t>
              </a:r>
              <a:endParaRPr kumimoji="0" lang="en-US" altLang="zh-CN"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71" name="Text4"/>
            <p:cNvSpPr txBox="1"/>
            <p:nvPr/>
          </p:nvSpPr>
          <p:spPr>
            <a:xfrm>
              <a:off x="7083241" y="3412257"/>
              <a:ext cx="2082800" cy="1090188"/>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rtl="0" eaLnBrk="1" fontAlgn="auto" latinLnBrk="0" hangingPunct="1">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从文本中提取项目关键信息，从</a:t>
              </a: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GIS</a:t>
              </a: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中提取电力设施及空间关系。</a:t>
              </a:r>
              <a:endPar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grpSp>
        <p:nvGrpSpPr>
          <p:cNvPr id="72" name="组合 71"/>
          <p:cNvGrpSpPr/>
          <p:nvPr/>
        </p:nvGrpSpPr>
        <p:grpSpPr>
          <a:xfrm>
            <a:off x="8480784" y="1768639"/>
            <a:ext cx="2082800" cy="1032783"/>
            <a:chOff x="9277166" y="1752025"/>
            <a:chExt cx="2082800" cy="2550342"/>
          </a:xfrm>
        </p:grpSpPr>
        <p:sp>
          <p:nvSpPr>
            <p:cNvPr id="73" name="Number5"/>
            <p:cNvSpPr/>
            <p:nvPr/>
          </p:nvSpPr>
          <p:spPr>
            <a:xfrm>
              <a:off x="9784515" y="1752025"/>
              <a:ext cx="1068102" cy="1001797"/>
            </a:xfrm>
            <a:prstGeom prst="rect">
              <a:avLst/>
            </a:prstGeom>
            <a:solidFill>
              <a:srgbClr val="4472C4"/>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4</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74" name="Bullet5"/>
            <p:cNvSpPr txBox="1"/>
            <p:nvPr/>
          </p:nvSpPr>
          <p:spPr>
            <a:xfrm>
              <a:off x="9277166" y="2815709"/>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信息融合与拓扑构建</a:t>
              </a:r>
              <a:endParaRPr kumimoji="0" lang="en-US" altLang="zh-CN"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75" name="Text5"/>
            <p:cNvSpPr txBox="1"/>
            <p:nvPr/>
          </p:nvSpPr>
          <p:spPr>
            <a:xfrm>
              <a:off x="9277166" y="3212179"/>
              <a:ext cx="2082800" cy="1090188"/>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rtl="0" eaLnBrk="1" fontAlgn="auto" latinLnBrk="0" hangingPunct="1">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对结果进行清洗、去重和结构化整合，形成标准化的数据集，支持查询、统计等后续应用</a:t>
              </a:r>
              <a:endPar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pic>
        <p:nvPicPr>
          <p:cNvPr id="76" name="图片 7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044" y="4050762"/>
            <a:ext cx="1056200" cy="1056200"/>
          </a:xfrm>
          <a:prstGeom prst="rect">
            <a:avLst/>
          </a:prstGeom>
        </p:spPr>
      </p:pic>
      <p:grpSp>
        <p:nvGrpSpPr>
          <p:cNvPr id="77" name="组合 76"/>
          <p:cNvGrpSpPr/>
          <p:nvPr/>
        </p:nvGrpSpPr>
        <p:grpSpPr>
          <a:xfrm>
            <a:off x="5712576" y="3454257"/>
            <a:ext cx="966029" cy="1033094"/>
            <a:chOff x="7016343" y="4446577"/>
            <a:chExt cx="1423144" cy="1521944"/>
          </a:xfrm>
        </p:grpSpPr>
        <p:pic>
          <p:nvPicPr>
            <p:cNvPr id="78" name="图片 77"/>
            <p:cNvPicPr>
              <a:picLocks noChangeAspect="1"/>
            </p:cNvPicPr>
            <p:nvPr/>
          </p:nvPicPr>
          <p:blipFill>
            <a:blip r:embed="rId5"/>
            <a:stretch>
              <a:fillRect/>
            </a:stretch>
          </p:blipFill>
          <p:spPr>
            <a:xfrm>
              <a:off x="7020131" y="4446577"/>
              <a:ext cx="1393619" cy="823192"/>
            </a:xfrm>
            <a:prstGeom prst="rect">
              <a:avLst/>
            </a:prstGeom>
            <a:ln>
              <a:solidFill>
                <a:sysClr val="window" lastClr="FFFFFF">
                  <a:lumMod val="75000"/>
                </a:sysClr>
              </a:solidFill>
            </a:ln>
          </p:spPr>
        </p:pic>
        <p:pic>
          <p:nvPicPr>
            <p:cNvPr id="79" name="图片 78"/>
            <p:cNvPicPr>
              <a:picLocks noChangeAspect="1"/>
            </p:cNvPicPr>
            <p:nvPr/>
          </p:nvPicPr>
          <p:blipFill>
            <a:blip r:embed="rId6"/>
            <a:stretch>
              <a:fillRect/>
            </a:stretch>
          </p:blipFill>
          <p:spPr>
            <a:xfrm>
              <a:off x="7016343" y="5325342"/>
              <a:ext cx="1423144" cy="643179"/>
            </a:xfrm>
            <a:prstGeom prst="rect">
              <a:avLst/>
            </a:prstGeom>
            <a:ln>
              <a:solidFill>
                <a:sysClr val="window" lastClr="FFFFFF">
                  <a:lumMod val="75000"/>
                </a:sysClr>
              </a:solidFill>
            </a:ln>
          </p:spPr>
        </p:pic>
      </p:grpSp>
      <p:pic>
        <p:nvPicPr>
          <p:cNvPr id="80" name="图片 7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969381" y="3506571"/>
            <a:ext cx="945987" cy="945987"/>
          </a:xfrm>
          <a:prstGeom prst="rect">
            <a:avLst/>
          </a:prstGeom>
        </p:spPr>
      </p:pic>
      <p:pic>
        <p:nvPicPr>
          <p:cNvPr id="81" name="图片 8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39054" y="3524252"/>
            <a:ext cx="893104" cy="893104"/>
          </a:xfrm>
          <a:prstGeom prst="rect">
            <a:avLst/>
          </a:prstGeom>
        </p:spPr>
      </p:pic>
      <p:sp>
        <p:nvSpPr>
          <p:cNvPr id="82" name="文本框 81"/>
          <p:cNvSpPr txBox="1"/>
          <p:nvPr/>
        </p:nvSpPr>
        <p:spPr>
          <a:xfrm>
            <a:off x="946444" y="3795125"/>
            <a:ext cx="83111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文本类</a:t>
            </a:r>
            <a:endParaRPr kumimoji="0" lang="zh-CN" altLang="en-US" sz="14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83" name="矩形: 圆角 82"/>
          <p:cNvSpPr/>
          <p:nvPr/>
        </p:nvSpPr>
        <p:spPr>
          <a:xfrm>
            <a:off x="1640037" y="1615503"/>
            <a:ext cx="2246065" cy="1727493"/>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84" name="矩形: 圆角 83"/>
          <p:cNvSpPr/>
          <p:nvPr/>
        </p:nvSpPr>
        <p:spPr>
          <a:xfrm>
            <a:off x="4017247" y="1624490"/>
            <a:ext cx="2097275" cy="1718507"/>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86" name="矩形: 圆角 85"/>
          <p:cNvSpPr/>
          <p:nvPr/>
        </p:nvSpPr>
        <p:spPr>
          <a:xfrm>
            <a:off x="6245667" y="1632114"/>
            <a:ext cx="2096771" cy="1727494"/>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87" name="矩形: 圆角 86"/>
          <p:cNvSpPr/>
          <p:nvPr/>
        </p:nvSpPr>
        <p:spPr>
          <a:xfrm>
            <a:off x="8473582" y="1630211"/>
            <a:ext cx="2096771" cy="1729398"/>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88" name="文本框 87"/>
          <p:cNvSpPr txBox="1"/>
          <p:nvPr/>
        </p:nvSpPr>
        <p:spPr>
          <a:xfrm>
            <a:off x="437206" y="1108529"/>
            <a:ext cx="3084927"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研究方法框架</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131701" y="5359959"/>
            <a:ext cx="10562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公开网站</a:t>
            </a:r>
            <a:endParaRPr kumimoji="0" lang="zh-CN" altLang="en-US" sz="14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4" name="文本框 3"/>
          <p:cNvSpPr txBox="1"/>
          <p:nvPr/>
        </p:nvSpPr>
        <p:spPr>
          <a:xfrm>
            <a:off x="765164" y="5767491"/>
            <a:ext cx="1085636"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开源地图类</a:t>
            </a:r>
            <a:endParaRPr kumimoji="0" lang="zh-CN" altLang="en-US" sz="1400" b="1"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5" name="箭头: 右 4"/>
          <p:cNvSpPr/>
          <p:nvPr/>
        </p:nvSpPr>
        <p:spPr>
          <a:xfrm>
            <a:off x="1843106" y="5761401"/>
            <a:ext cx="955738" cy="369332"/>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37" name="文本框 36"/>
          <p:cNvSpPr txBox="1"/>
          <p:nvPr/>
        </p:nvSpPr>
        <p:spPr>
          <a:xfrm>
            <a:off x="1967575" y="6166819"/>
            <a:ext cx="66809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爬取</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p:cNvSpPr txBox="1"/>
          <p:nvPr/>
        </p:nvSpPr>
        <p:spPr>
          <a:xfrm>
            <a:off x="5493791" y="6365888"/>
            <a:ext cx="135469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电力</a:t>
            </a:r>
            <a:r>
              <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GIS</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数据</a:t>
            </a:r>
            <a:endPar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3" name="箭头: 右 9"/>
          <p:cNvSpPr/>
          <p:nvPr/>
        </p:nvSpPr>
        <p:spPr>
          <a:xfrm>
            <a:off x="6811889" y="5751568"/>
            <a:ext cx="2782422" cy="369332"/>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64" name="文本框 63"/>
          <p:cNvSpPr txBox="1"/>
          <p:nvPr/>
        </p:nvSpPr>
        <p:spPr>
          <a:xfrm>
            <a:off x="7964068" y="6166819"/>
            <a:ext cx="66809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融合</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65" name="图片 64"/>
          <p:cNvPicPr>
            <a:picLocks noChangeAspect="1"/>
          </p:cNvPicPr>
          <p:nvPr/>
        </p:nvPicPr>
        <p:blipFill>
          <a:blip r:embed="rId3"/>
          <a:stretch>
            <a:fillRect/>
          </a:stretch>
        </p:blipFill>
        <p:spPr>
          <a:xfrm>
            <a:off x="1974547" y="5431964"/>
            <a:ext cx="505604" cy="380466"/>
          </a:xfrm>
          <a:prstGeom prst="rect">
            <a:avLst/>
          </a:prstGeom>
        </p:spPr>
      </p:pic>
      <p:sp>
        <p:nvSpPr>
          <p:cNvPr id="66" name="箭头: 右 14"/>
          <p:cNvSpPr/>
          <p:nvPr/>
        </p:nvSpPr>
        <p:spPr>
          <a:xfrm>
            <a:off x="4538053" y="5736714"/>
            <a:ext cx="955738" cy="369332"/>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67" name="文本框 66"/>
          <p:cNvSpPr txBox="1"/>
          <p:nvPr/>
        </p:nvSpPr>
        <p:spPr>
          <a:xfrm>
            <a:off x="4641463" y="6152143"/>
            <a:ext cx="66809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提取</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85" name="Picture 1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1869" t="2228" r="19500" b="22982"/>
          <a:stretch>
            <a:fillRect/>
          </a:stretch>
        </p:blipFill>
        <p:spPr bwMode="auto">
          <a:xfrm>
            <a:off x="4765818" y="5353766"/>
            <a:ext cx="398269" cy="372454"/>
          </a:xfrm>
          <a:prstGeom prst="rect">
            <a:avLst/>
          </a:prstGeom>
          <a:noFill/>
          <a:extLst>
            <a:ext uri="{909E8E84-426E-40DD-AFC4-6F175D3DCCD1}">
              <a14:hiddenFill xmlns:a14="http://schemas.microsoft.com/office/drawing/2010/main">
                <a:solidFill>
                  <a:srgbClr val="FFFFFF"/>
                </a:solidFill>
              </a14:hiddenFill>
            </a:ext>
          </a:extLst>
        </p:spPr>
      </p:pic>
      <p:pic>
        <p:nvPicPr>
          <p:cNvPr id="89" name="图片 88"/>
          <p:cNvPicPr>
            <a:picLocks noChangeAspect="1"/>
          </p:cNvPicPr>
          <p:nvPr/>
        </p:nvPicPr>
        <p:blipFill>
          <a:blip r:embed="rId9"/>
          <a:stretch>
            <a:fillRect/>
          </a:stretch>
        </p:blipFill>
        <p:spPr>
          <a:xfrm>
            <a:off x="3233591" y="5248197"/>
            <a:ext cx="822319" cy="1123627"/>
          </a:xfrm>
          <a:prstGeom prst="rect">
            <a:avLst/>
          </a:prstGeom>
        </p:spPr>
      </p:pic>
      <p:sp>
        <p:nvSpPr>
          <p:cNvPr id="90" name="文本框 89"/>
          <p:cNvSpPr txBox="1"/>
          <p:nvPr/>
        </p:nvSpPr>
        <p:spPr>
          <a:xfrm>
            <a:off x="2947558" y="6264678"/>
            <a:ext cx="149861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GIS</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数据压缩包</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1400" b="0" i="0" u="none" strike="noStrike" kern="1200" cap="none" spc="0" normalizeH="0" baseline="0" noProof="0" dirty="0" err="1">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pbf</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格式）</a:t>
            </a:r>
            <a:endParaRPr kumimoji="0" lang="zh-CN" altLang="en-US" sz="14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pic>
        <p:nvPicPr>
          <p:cNvPr id="91" name="图片 90"/>
          <p:cNvPicPr>
            <a:picLocks noChangeAspect="1"/>
          </p:cNvPicPr>
          <p:nvPr/>
        </p:nvPicPr>
        <p:blipFill>
          <a:blip r:embed="rId10"/>
          <a:stretch>
            <a:fillRect/>
          </a:stretch>
        </p:blipFill>
        <p:spPr>
          <a:xfrm>
            <a:off x="5689082" y="5436491"/>
            <a:ext cx="935978" cy="854860"/>
          </a:xfrm>
          <a:prstGeom prst="rect">
            <a:avLst/>
          </a:prstGeom>
        </p:spPr>
      </p:pic>
      <p:sp>
        <p:nvSpPr>
          <p:cNvPr id="92" name="箭头: 右 26"/>
          <p:cNvSpPr/>
          <p:nvPr/>
        </p:nvSpPr>
        <p:spPr>
          <a:xfrm rot="5400000">
            <a:off x="10146011" y="5287221"/>
            <a:ext cx="559363" cy="369332"/>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93" name="文本框 92"/>
          <p:cNvSpPr txBox="1"/>
          <p:nvPr/>
        </p:nvSpPr>
        <p:spPr>
          <a:xfrm>
            <a:off x="10482982" y="5248197"/>
            <a:ext cx="66809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融合</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4" name="文本框 93"/>
          <p:cNvSpPr txBox="1"/>
          <p:nvPr/>
        </p:nvSpPr>
        <p:spPr>
          <a:xfrm>
            <a:off x="9805637" y="6575795"/>
            <a:ext cx="135469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电网拓扑数据</a:t>
            </a:r>
            <a:endPar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95" name="图片 94"/>
          <p:cNvPicPr>
            <a:picLocks noChangeAspect="1"/>
          </p:cNvPicPr>
          <p:nvPr/>
        </p:nvPicPr>
        <p:blipFill>
          <a:blip r:embed="rId11"/>
          <a:stretch>
            <a:fillRect/>
          </a:stretch>
        </p:blipFill>
        <p:spPr>
          <a:xfrm>
            <a:off x="9962163" y="5759370"/>
            <a:ext cx="1084469" cy="7669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7206" y="1080198"/>
            <a:ext cx="5157144"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文本类：</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、环评报告爬取</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365760" y="1565713"/>
            <a:ext cx="10932160" cy="1555829"/>
          </a:xfrm>
          <a:prstGeom prst="rect">
            <a:avLst/>
          </a:prstGeom>
          <a:noFill/>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撰写爬虫脚本，从指定网站自动爬取对应的环评报告文件</a:t>
            </a: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数据来源</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广东电网有限责任公司官网、广东省生态环境厅官网</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数据详情：</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近</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年，共</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87</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份环评报告</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7607302" y="6512000"/>
            <a:ext cx="3323799"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广东省生态环境厅官网</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a:xfrm>
            <a:off x="2391929" y="6512000"/>
            <a:ext cx="3074514"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广东电网有限责任公司官网</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7" name="图片 6"/>
          <p:cNvPicPr>
            <a:picLocks noChangeAspect="1"/>
          </p:cNvPicPr>
          <p:nvPr/>
        </p:nvPicPr>
        <p:blipFill>
          <a:blip r:embed="rId1"/>
          <a:stretch>
            <a:fillRect/>
          </a:stretch>
        </p:blipFill>
        <p:spPr>
          <a:xfrm>
            <a:off x="616131" y="3344581"/>
            <a:ext cx="5965483" cy="2966152"/>
          </a:xfrm>
          <a:prstGeom prst="rect">
            <a:avLst/>
          </a:prstGeom>
          <a:ln>
            <a:solidFill>
              <a:schemeClr val="bg1">
                <a:lumMod val="75000"/>
              </a:schemeClr>
            </a:solidFill>
          </a:ln>
        </p:spPr>
      </p:pic>
      <p:pic>
        <p:nvPicPr>
          <p:cNvPr id="8" name="图片 7"/>
          <p:cNvPicPr>
            <a:picLocks noChangeAspect="1"/>
          </p:cNvPicPr>
          <p:nvPr/>
        </p:nvPicPr>
        <p:blipFill>
          <a:blip r:embed="rId2"/>
          <a:stretch>
            <a:fillRect/>
          </a:stretch>
        </p:blipFill>
        <p:spPr>
          <a:xfrm>
            <a:off x="7000154" y="2876586"/>
            <a:ext cx="4650740" cy="3635414"/>
          </a:xfrm>
          <a:prstGeom prst="rect">
            <a:avLst/>
          </a:prstGeom>
          <a:ln>
            <a:solidFill>
              <a:schemeClr val="bg1">
                <a:lumMod val="75000"/>
              </a:schemeClr>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7206" y="1158124"/>
            <a:ext cx="8274633"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文本类：</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PDF</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预处理</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365760" y="1656080"/>
            <a:ext cx="10932160" cy="2758386"/>
          </a:xfrm>
          <a:prstGeom prst="rect">
            <a:avLst/>
          </a:prstGeom>
          <a:noFill/>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撰写脚本，对</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pdf</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文档进行解析，并保存为</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txt</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格式</a:t>
            </a: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关键词过滤</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：移除包含“建设项目竣工环境保护验收调查报告”、“页码”、“第 页”、“环境影响报告书”等固定页眉关键词的文本块</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截取前</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60</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页：</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由于大模型输入字数限制，每个环评报告仅保留前</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页内容（包含工程概况等重要信息）</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箭头: 右 4"/>
          <p:cNvSpPr/>
          <p:nvPr/>
        </p:nvSpPr>
        <p:spPr>
          <a:xfrm>
            <a:off x="5069542" y="5701663"/>
            <a:ext cx="1554785" cy="26079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sp>
        <p:nvSpPr>
          <p:cNvPr id="6" name="文本框 5"/>
          <p:cNvSpPr txBox="1"/>
          <p:nvPr/>
        </p:nvSpPr>
        <p:spPr>
          <a:xfrm>
            <a:off x="2581915" y="6428078"/>
            <a:ext cx="29540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环境影响报告书（</a:t>
            </a: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pdf</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格式）</a:t>
            </a:r>
            <a:endParaRPr kumimoji="0" lang="zh-CN" altLang="en-US" sz="18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5535944" y="5984488"/>
            <a:ext cx="6680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生成</a:t>
            </a:r>
            <a:endParaRPr kumimoji="0" lang="zh-CN" altLang="en-US" sz="18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8" name="文本框 7"/>
          <p:cNvSpPr txBox="1"/>
          <p:nvPr/>
        </p:nvSpPr>
        <p:spPr>
          <a:xfrm>
            <a:off x="7089397" y="6428078"/>
            <a:ext cx="265957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处理后的文本（</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txt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格式）</a:t>
            </a: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9" name="Picture 1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1869" t="2228" r="19500" b="22982"/>
          <a:stretch>
            <a:fillRect/>
          </a:stretch>
        </p:blipFill>
        <p:spPr bwMode="auto">
          <a:xfrm>
            <a:off x="5585246" y="5046606"/>
            <a:ext cx="617521" cy="577494"/>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p:cNvPicPr>
            <a:picLocks noChangeAspect="1"/>
          </p:cNvPicPr>
          <p:nvPr/>
        </p:nvPicPr>
        <p:blipFill>
          <a:blip r:embed="rId2"/>
          <a:stretch>
            <a:fillRect/>
          </a:stretch>
        </p:blipFill>
        <p:spPr>
          <a:xfrm>
            <a:off x="3057182" y="4567829"/>
            <a:ext cx="1626376" cy="1817265"/>
          </a:xfrm>
          <a:prstGeom prst="rect">
            <a:avLst/>
          </a:prstGeom>
          <a:ln>
            <a:solidFill>
              <a:schemeClr val="bg2"/>
            </a:solidFill>
          </a:ln>
        </p:spPr>
      </p:pic>
      <p:pic>
        <p:nvPicPr>
          <p:cNvPr id="11" name="图片 10"/>
          <p:cNvPicPr>
            <a:picLocks noChangeAspect="1"/>
          </p:cNvPicPr>
          <p:nvPr/>
        </p:nvPicPr>
        <p:blipFill>
          <a:blip r:embed="rId3"/>
          <a:stretch>
            <a:fillRect/>
          </a:stretch>
        </p:blipFill>
        <p:spPr>
          <a:xfrm>
            <a:off x="6825944" y="4036926"/>
            <a:ext cx="3186486" cy="2316894"/>
          </a:xfrm>
          <a:prstGeom prst="rect">
            <a:avLst/>
          </a:prstGeom>
          <a:ln>
            <a:solidFill>
              <a:schemeClr val="bg2"/>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7206" y="1121294"/>
            <a:ext cx="8274633"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文本类：</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、大模型信息抽取</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365760" y="1619249"/>
            <a:ext cx="11826240" cy="1684007"/>
          </a:xfrm>
          <a:prstGeom prst="rect">
            <a:avLst/>
          </a:prstGeom>
          <a:noFill/>
        </p:spPr>
        <p:txBody>
          <a:bodyPr wrap="square">
            <a:no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借助大语言模型的专业术语理解和上下文语义关联能力，有效提取涉电关键信息</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Prompt + RAG</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技术：以</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DeepSeek-R1-32B</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模型为基础，使用</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bge-m3</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嵌入模型与检索增强生成技术（</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RAG</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），解决大语言模型的知识局限性问题</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5" name="Picture 6" descr="deepseek简笔画 的图像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03289" y="4040243"/>
            <a:ext cx="955737" cy="955737"/>
          </a:xfrm>
          <a:prstGeom prst="rect">
            <a:avLst/>
          </a:prstGeom>
          <a:noFill/>
          <a:extLst>
            <a:ext uri="{909E8E84-426E-40DD-AFC4-6F175D3DCCD1}">
              <a14:hiddenFill xmlns:a14="http://schemas.microsoft.com/office/drawing/2010/main">
                <a:solidFill>
                  <a:srgbClr val="FFFFFF"/>
                </a:solidFill>
              </a14:hiddenFill>
            </a:ext>
          </a:extLst>
        </p:spPr>
      </p:pic>
      <p:sp>
        <p:nvSpPr>
          <p:cNvPr id="6" name="箭头: 右 5"/>
          <p:cNvSpPr/>
          <p:nvPr/>
        </p:nvSpPr>
        <p:spPr>
          <a:xfrm>
            <a:off x="7102353" y="4343444"/>
            <a:ext cx="669107" cy="36933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5380839" y="5099735"/>
            <a:ext cx="23109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DeepSeek-R1-32B</a:t>
            </a:r>
            <a:endParaRPr kumimoji="0" lang="zh-CN" altLang="en-US" sz="1800" b="1"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8" name="文本框 7"/>
          <p:cNvSpPr txBox="1"/>
          <p:nvPr/>
        </p:nvSpPr>
        <p:spPr>
          <a:xfrm>
            <a:off x="9153180" y="5682944"/>
            <a:ext cx="20190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提取得到关键信息</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9" name="文本框 8"/>
          <p:cNvSpPr txBox="1"/>
          <p:nvPr/>
        </p:nvSpPr>
        <p:spPr>
          <a:xfrm>
            <a:off x="7113961" y="3946793"/>
            <a:ext cx="70441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生成</a:t>
            </a:r>
            <a:endParaRPr kumimoji="0" lang="zh-CN" altLang="en-US" sz="18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pic>
        <p:nvPicPr>
          <p:cNvPr id="10" name="图片 9"/>
          <p:cNvPicPr>
            <a:picLocks noChangeAspect="1"/>
          </p:cNvPicPr>
          <p:nvPr/>
        </p:nvPicPr>
        <p:blipFill>
          <a:blip r:embed="rId2"/>
          <a:stretch>
            <a:fillRect/>
          </a:stretch>
        </p:blipFill>
        <p:spPr>
          <a:xfrm>
            <a:off x="7961706" y="3372646"/>
            <a:ext cx="3979641" cy="2050255"/>
          </a:xfrm>
          <a:prstGeom prst="rect">
            <a:avLst/>
          </a:prstGeom>
          <a:ln>
            <a:solidFill>
              <a:schemeClr val="bg1">
                <a:lumMod val="75000"/>
              </a:schemeClr>
            </a:solidFill>
          </a:ln>
        </p:spPr>
      </p:pic>
      <p:pic>
        <p:nvPicPr>
          <p:cNvPr id="11" name="图片 10"/>
          <p:cNvPicPr>
            <a:picLocks noChangeAspect="1"/>
          </p:cNvPicPr>
          <p:nvPr/>
        </p:nvPicPr>
        <p:blipFill>
          <a:blip r:embed="rId3"/>
          <a:stretch>
            <a:fillRect/>
          </a:stretch>
        </p:blipFill>
        <p:spPr>
          <a:xfrm>
            <a:off x="243652" y="3372646"/>
            <a:ext cx="4937882" cy="2231636"/>
          </a:xfrm>
          <a:prstGeom prst="rect">
            <a:avLst/>
          </a:prstGeom>
          <a:ln>
            <a:solidFill>
              <a:schemeClr val="bg1">
                <a:lumMod val="75000"/>
              </a:schemeClr>
            </a:solidFill>
          </a:ln>
        </p:spPr>
      </p:pic>
      <p:sp>
        <p:nvSpPr>
          <p:cNvPr id="12" name="文本框 11"/>
          <p:cNvSpPr txBox="1"/>
          <p:nvPr/>
        </p:nvSpPr>
        <p:spPr>
          <a:xfrm>
            <a:off x="1456468" y="5682944"/>
            <a:ext cx="20190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大模型提示词</a:t>
            </a:r>
            <a:endPar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3" name="箭头: 右 12"/>
          <p:cNvSpPr/>
          <p:nvPr/>
        </p:nvSpPr>
        <p:spPr>
          <a:xfrm>
            <a:off x="5266686" y="4333446"/>
            <a:ext cx="669107" cy="36933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sp>
        <p:nvSpPr>
          <p:cNvPr id="14" name="文本框 13"/>
          <p:cNvSpPr txBox="1"/>
          <p:nvPr/>
        </p:nvSpPr>
        <p:spPr>
          <a:xfrm>
            <a:off x="5249030" y="3947679"/>
            <a:ext cx="70441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输入</a:t>
            </a:r>
            <a:endParaRPr kumimoji="0" lang="zh-CN" altLang="en-US" sz="18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15" name="文本框 14"/>
          <p:cNvSpPr txBox="1"/>
          <p:nvPr/>
        </p:nvSpPr>
        <p:spPr>
          <a:xfrm>
            <a:off x="6571197" y="5571841"/>
            <a:ext cx="200253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bge-m3</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嵌入模型</a:t>
            </a:r>
            <a:endParaRPr kumimoji="0" lang="zh-CN" altLang="en-US" sz="18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16" name="箭头: 右 15"/>
          <p:cNvSpPr/>
          <p:nvPr/>
        </p:nvSpPr>
        <p:spPr>
          <a:xfrm rot="16200000">
            <a:off x="6051977" y="5608336"/>
            <a:ext cx="669107" cy="36933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sp>
        <p:nvSpPr>
          <p:cNvPr id="17" name="文本框 16"/>
          <p:cNvSpPr txBox="1"/>
          <p:nvPr/>
        </p:nvSpPr>
        <p:spPr>
          <a:xfrm>
            <a:off x="5475330" y="5627286"/>
            <a:ext cx="105591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RAG</a:t>
            </a:r>
            <a:endParaRPr kumimoji="0" lang="zh-CN" altLang="en-US" sz="1800" b="1"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pic>
        <p:nvPicPr>
          <p:cNvPr id="18" name="Picture 4" descr="文档简笔画 的图像结果"/>
          <p:cNvPicPr>
            <a:picLocks noChangeAspect="1" noChangeArrowheads="1"/>
          </p:cNvPicPr>
          <p:nvPr/>
        </p:nvPicPr>
        <p:blipFill rotWithShape="1">
          <a:blip r:embed="rId4" cstate="print">
            <a:extLst>
              <a:ext uri="{BEBA8EAE-BF5A-486C-A8C5-ECC9F3942E4B}">
                <a14:imgProps xmlns:a14="http://schemas.microsoft.com/office/drawing/2010/main">
                  <a14:imgLayer r:embed="rId5">
                    <a14:imgEffect>
                      <a14:backgroundRemoval t="8599" b="89809" l="9916" r="89873">
                        <a14:foregroundMark x1="35443" y1="21656" x2="35443" y2="21656"/>
                        <a14:foregroundMark x1="56540" y1="8599" x2="56540" y2="8599"/>
                        <a14:foregroundMark x1="69620" y1="8599" x2="69620" y2="8599"/>
                        <a14:foregroundMark x1="69198" y1="29936" x2="69198" y2="29936"/>
                        <a14:foregroundMark x1="70042" y1="63057" x2="70042" y2="63057"/>
                        <a14:foregroundMark x1="50633" y1="31529" x2="50633" y2="31529"/>
                        <a14:foregroundMark x1="54219" y1="62420" x2="54219" y2="62420"/>
                        <a14:foregroundMark x1="37553" y1="63694" x2="37553" y2="63694"/>
                        <a14:foregroundMark x1="43249" y1="31529" x2="43249" y2="31529"/>
                      </a14:backgroundRemoval>
                    </a14:imgEffect>
                  </a14:imgLayer>
                </a14:imgProps>
              </a:ext>
              <a:ext uri="{28A0092B-C50C-407E-A947-70E740481C1C}">
                <a14:useLocalDpi xmlns:a14="http://schemas.microsoft.com/office/drawing/2010/main" val="0"/>
              </a:ext>
            </a:extLst>
          </a:blip>
          <a:srcRect l="27300" t="5716" r="15952" b="13379"/>
          <a:stretch>
            <a:fillRect/>
          </a:stretch>
        </p:blipFill>
        <p:spPr bwMode="auto">
          <a:xfrm>
            <a:off x="6003288" y="6168190"/>
            <a:ext cx="801059" cy="756556"/>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p:cNvSpPr txBox="1"/>
          <p:nvPr/>
        </p:nvSpPr>
        <p:spPr>
          <a:xfrm>
            <a:off x="6770194" y="6333066"/>
            <a:ext cx="136725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RAG</a:t>
            </a: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知识库</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7206" y="1084464"/>
            <a:ext cx="8274633"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文本类：</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、大模型信息抽取</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983430" y="1451793"/>
            <a:ext cx="8823509" cy="1810214"/>
          </a:xfrm>
          <a:prstGeom prst="rect">
            <a:avLst/>
          </a:prstGeom>
          <a:noFill/>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RAG</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知识库中包含两类文本：</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优质结构化数据示例文档</a:t>
            </a:r>
            <a:endParaRPr kumimoji="0" lang="en-US" altLang="zh-CN" sz="2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环评报告结构化模板，定义标准字段与易混淆字段对照表</a:t>
            </a:r>
            <a:endParaRPr kumimoji="0" lang="zh-CN" altLang="en-US" sz="2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5" name="矩形 4"/>
          <p:cNvSpPr/>
          <p:nvPr/>
        </p:nvSpPr>
        <p:spPr>
          <a:xfrm>
            <a:off x="7686092" y="6473198"/>
            <a:ext cx="2880320"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环评报告结构化模板</a:t>
            </a:r>
            <a:endPar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nvSpPr>
        <p:spPr>
          <a:xfrm>
            <a:off x="2442466" y="6476980"/>
            <a:ext cx="266429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结构化数据示例文档</a:t>
            </a:r>
            <a:endPar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84020" y="3127609"/>
            <a:ext cx="4373730" cy="3349371"/>
          </a:xfrm>
          <a:prstGeom prst="rect">
            <a:avLst/>
          </a:prstGeom>
          <a:noFill/>
          <a:ln>
            <a:solidFill>
              <a:schemeClr val="bg1">
                <a:lumMod val="75000"/>
              </a:schemeClr>
            </a:solidFill>
          </a:ln>
        </p:spPr>
      </p:pic>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94070" y="3123827"/>
            <a:ext cx="4353768" cy="3349371"/>
          </a:xfrm>
          <a:prstGeom prst="rect">
            <a:avLst/>
          </a:prstGeom>
          <a:noFill/>
          <a:ln>
            <a:solidFill>
              <a:schemeClr val="bg1">
                <a:lumMod val="75000"/>
              </a:schemeClr>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7206" y="1139709"/>
            <a:ext cx="8274633"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文本类：</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、信息整理归档</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365760" y="1681208"/>
            <a:ext cx="11230283" cy="1684007"/>
          </a:xfrm>
          <a:prstGeom prst="rect">
            <a:avLst/>
          </a:prstGeom>
          <a:noFill/>
        </p:spPr>
        <p:txBody>
          <a:bodyPr wrap="square">
            <a:no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将生成的多个关键信息整合为一个</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JSON</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文件</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对于变电站等设施的地理位置采用语言描述的，使用</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GIS</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工具和人工校对将其转变为经纬度格式</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5" name="Picture 2" descr="logo"/>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14359" y="4350994"/>
            <a:ext cx="1210478" cy="1210478"/>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p:cNvPicPr>
          <p:nvPr/>
        </p:nvPicPr>
        <p:blipFill>
          <a:blip r:embed="rId2"/>
          <a:stretch>
            <a:fillRect/>
          </a:stretch>
        </p:blipFill>
        <p:spPr>
          <a:xfrm>
            <a:off x="3000081" y="3403483"/>
            <a:ext cx="7005978" cy="488597"/>
          </a:xfrm>
          <a:prstGeom prst="rect">
            <a:avLst/>
          </a:prstGeom>
        </p:spPr>
      </p:pic>
      <p:sp>
        <p:nvSpPr>
          <p:cNvPr id="7" name="箭头: 右 6"/>
          <p:cNvSpPr/>
          <p:nvPr/>
        </p:nvSpPr>
        <p:spPr>
          <a:xfrm rot="5400000">
            <a:off x="5445313" y="3828455"/>
            <a:ext cx="459627" cy="511413"/>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pic>
        <p:nvPicPr>
          <p:cNvPr id="8" name="图片 7"/>
          <p:cNvPicPr>
            <a:picLocks noChangeAspect="1"/>
          </p:cNvPicPr>
          <p:nvPr/>
        </p:nvPicPr>
        <p:blipFill>
          <a:blip r:embed="rId3"/>
          <a:stretch>
            <a:fillRect/>
          </a:stretch>
        </p:blipFill>
        <p:spPr>
          <a:xfrm>
            <a:off x="3090688" y="5946898"/>
            <a:ext cx="6824764" cy="467095"/>
          </a:xfrm>
          <a:prstGeom prst="rect">
            <a:avLst/>
          </a:prstGeom>
        </p:spPr>
      </p:pic>
      <p:sp>
        <p:nvSpPr>
          <p:cNvPr id="9" name="箭头: 右 8"/>
          <p:cNvSpPr/>
          <p:nvPr/>
        </p:nvSpPr>
        <p:spPr>
          <a:xfrm rot="5400000">
            <a:off x="5445312" y="5498479"/>
            <a:ext cx="459627" cy="511413"/>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sp>
        <p:nvSpPr>
          <p:cNvPr id="10" name="文本框 9"/>
          <p:cNvSpPr txBox="1"/>
          <p:nvPr/>
        </p:nvSpPr>
        <p:spPr>
          <a:xfrm>
            <a:off x="1333499" y="3489010"/>
            <a:ext cx="1666581" cy="40011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变电站位置</a:t>
            </a:r>
            <a:endParaRPr kumimoji="0" lang="zh-CN" altLang="en-US" sz="2000" b="1"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11" name="文本框 10"/>
          <p:cNvSpPr txBox="1"/>
          <p:nvPr/>
        </p:nvSpPr>
        <p:spPr>
          <a:xfrm>
            <a:off x="4082315" y="4646385"/>
            <a:ext cx="108453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GIS</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工具</a:t>
            </a:r>
            <a:endParaRPr kumimoji="0" lang="zh-CN" altLang="en-US" sz="1800" b="1"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12" name="文本框 11"/>
          <p:cNvSpPr txBox="1"/>
          <p:nvPr/>
        </p:nvSpPr>
        <p:spPr>
          <a:xfrm>
            <a:off x="1333500" y="5995779"/>
            <a:ext cx="1666581" cy="40011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具体经纬度</a:t>
            </a:r>
            <a:endParaRPr kumimoji="0" lang="zh-CN" altLang="en-US" sz="2000" b="1"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13" name="文本框 12"/>
          <p:cNvSpPr txBox="1"/>
          <p:nvPr/>
        </p:nvSpPr>
        <p:spPr>
          <a:xfrm>
            <a:off x="4460865" y="3891627"/>
            <a:ext cx="6534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输入</a:t>
            </a:r>
            <a:endParaRPr kumimoji="0" lang="zh-CN" altLang="en-US" sz="18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14" name="文本框 13"/>
          <p:cNvSpPr txBox="1"/>
          <p:nvPr/>
        </p:nvSpPr>
        <p:spPr>
          <a:xfrm>
            <a:off x="4460865" y="5558720"/>
            <a:ext cx="6534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生成</a:t>
            </a:r>
            <a:endParaRPr kumimoji="0" lang="zh-CN" altLang="en-US" sz="1800" b="0" i="0" u="none" strike="noStrike" kern="120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582880" y="1514719"/>
            <a:ext cx="11355120" cy="2243107"/>
          </a:xfrm>
          <a:prstGeom prst="rect">
            <a:avLst/>
          </a:prstGeom>
          <a:noFill/>
        </p:spPr>
        <p:txBody>
          <a:bodyPr wrap="square">
            <a:no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开源地理信息平台</a:t>
            </a: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OpenStreetMap</a:t>
            </a: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全球性的众包地理数据库，由社区志愿者贡献和维护，提供了包括道路、建筑、自然要素等基础地理信息，所有数据以开放授权共享，允许自由使用和修改</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从</a:t>
            </a:r>
            <a:r>
              <a:rPr kumimoji="0" lang="en-US" altLang="zh-CN" sz="2400" b="0" i="0" u="none" strike="noStrike" kern="1200" cap="none" spc="0" normalizeH="0" baseline="0" noProof="0" dirty="0" err="1">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Geofabrik</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获取获取广东省开源地图数据</a:t>
            </a: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16" name="图片 15"/>
          <p:cNvPicPr>
            <a:picLocks noChangeAspect="1"/>
          </p:cNvPicPr>
          <p:nvPr/>
        </p:nvPicPr>
        <p:blipFill>
          <a:blip r:embed="rId1"/>
          <a:stretch>
            <a:fillRect/>
          </a:stretch>
        </p:blipFill>
        <p:spPr>
          <a:xfrm>
            <a:off x="1111250" y="3755179"/>
            <a:ext cx="2851902" cy="2403230"/>
          </a:xfrm>
          <a:prstGeom prst="rect">
            <a:avLst/>
          </a:prstGeom>
          <a:ln>
            <a:solidFill>
              <a:schemeClr val="bg1">
                <a:lumMod val="75000"/>
              </a:schemeClr>
            </a:solidFill>
          </a:ln>
        </p:spPr>
      </p:pic>
      <p:sp>
        <p:nvSpPr>
          <p:cNvPr id="17" name="矩形 16"/>
          <p:cNvSpPr/>
          <p:nvPr/>
        </p:nvSpPr>
        <p:spPr>
          <a:xfrm>
            <a:off x="532080" y="6314039"/>
            <a:ext cx="4103420"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OpenStreetMap</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中部分广东电网拓扑</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8" name="图片 17"/>
          <p:cNvPicPr>
            <a:picLocks noChangeAspect="1"/>
          </p:cNvPicPr>
          <p:nvPr/>
        </p:nvPicPr>
        <p:blipFill>
          <a:blip r:embed="rId2"/>
          <a:srcRect b="27321"/>
          <a:stretch>
            <a:fillRect/>
          </a:stretch>
        </p:blipFill>
        <p:spPr>
          <a:xfrm>
            <a:off x="5346700" y="3835641"/>
            <a:ext cx="6288636" cy="2243107"/>
          </a:xfrm>
          <a:prstGeom prst="rect">
            <a:avLst/>
          </a:prstGeom>
          <a:ln>
            <a:solidFill>
              <a:schemeClr val="bg1">
                <a:lumMod val="75000"/>
              </a:schemeClr>
            </a:solidFill>
          </a:ln>
        </p:spPr>
      </p:pic>
      <p:sp>
        <p:nvSpPr>
          <p:cNvPr id="19" name="矩形 18"/>
          <p:cNvSpPr/>
          <p:nvPr/>
        </p:nvSpPr>
        <p:spPr>
          <a:xfrm>
            <a:off x="6125617" y="6314039"/>
            <a:ext cx="4103420"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Geofabrik</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广东省地图下载界面</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437206" y="1121294"/>
            <a:ext cx="8274633"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开源地图类：</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、开源</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GIS</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数据获取</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268257" y="1668982"/>
            <a:ext cx="11874500" cy="1974492"/>
          </a:xfrm>
          <a:prstGeom prst="rect">
            <a:avLst/>
          </a:prstGeom>
          <a:noFill/>
        </p:spPr>
        <p:txBody>
          <a:bodyPr wrap="square">
            <a:no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通过</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Python</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程序完成开源数据文件解析</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以从国能粤电台山发电有限公司至广东粤电新会发电有限公司的一条</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500kV</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线路为例，</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OpenStreetMap</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记录了其线路走向、经纬度、</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cables</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circuits</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等信息</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 name="矩形 3"/>
          <p:cNvSpPr/>
          <p:nvPr/>
        </p:nvSpPr>
        <p:spPr>
          <a:xfrm>
            <a:off x="1730113" y="6255714"/>
            <a:ext cx="3809287"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OpenStreetMap</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中线路标签</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 name="矩形 4"/>
          <p:cNvSpPr/>
          <p:nvPr/>
        </p:nvSpPr>
        <p:spPr>
          <a:xfrm>
            <a:off x="7586520" y="6255714"/>
            <a:ext cx="3809287"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线路走向</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a:picLocks noChangeAspect="1"/>
          </p:cNvPicPr>
          <p:nvPr/>
        </p:nvPicPr>
        <p:blipFill>
          <a:blip r:embed="rId1"/>
          <a:srcRect t="18012"/>
          <a:stretch>
            <a:fillRect/>
          </a:stretch>
        </p:blipFill>
        <p:spPr>
          <a:xfrm>
            <a:off x="1064004" y="3785388"/>
            <a:ext cx="5141503" cy="2424286"/>
          </a:xfrm>
          <a:prstGeom prst="rect">
            <a:avLst/>
          </a:prstGeom>
        </p:spPr>
      </p:pic>
      <p:pic>
        <p:nvPicPr>
          <p:cNvPr id="7" name="图片 6"/>
          <p:cNvPicPr>
            <a:picLocks noChangeAspect="1"/>
          </p:cNvPicPr>
          <p:nvPr/>
        </p:nvPicPr>
        <p:blipFill>
          <a:blip r:embed="rId2"/>
          <a:srcRect l="6948" t="-3389" r="-1098" b="24660"/>
          <a:stretch>
            <a:fillRect/>
          </a:stretch>
        </p:blipFill>
        <p:spPr>
          <a:xfrm>
            <a:off x="8258329" y="3533777"/>
            <a:ext cx="2797021" cy="2675897"/>
          </a:xfrm>
          <a:prstGeom prst="rect">
            <a:avLst/>
          </a:prstGeom>
        </p:spPr>
      </p:pic>
      <p:sp>
        <p:nvSpPr>
          <p:cNvPr id="9" name="文本框 8"/>
          <p:cNvSpPr txBox="1"/>
          <p:nvPr/>
        </p:nvSpPr>
        <p:spPr>
          <a:xfrm>
            <a:off x="437206" y="1176539"/>
            <a:ext cx="8274633"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开源地图类：</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、提取电力</a:t>
            </a:r>
            <a:r>
              <a:rPr kumimoji="0" lang="en-US" altLang="zh-CN"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GIS</a:t>
            </a: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数据</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rPr>
              <a:t>研</a:t>
            </a: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1666953" y="4378427"/>
            <a:ext cx="4451199"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融合得到广东电网部分重要变电站信息</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4" name="表格 3"/>
          <p:cNvGraphicFramePr>
            <a:graphicFrameLocks noGrp="1"/>
          </p:cNvGraphicFramePr>
          <p:nvPr/>
        </p:nvGraphicFramePr>
        <p:xfrm>
          <a:off x="1902588" y="4747759"/>
          <a:ext cx="4170428" cy="2072640"/>
        </p:xfrm>
        <a:graphic>
          <a:graphicData uri="http://schemas.openxmlformats.org/drawingml/2006/table">
            <a:tbl>
              <a:tblPr firstRow="1" bandRow="1">
                <a:tableStyleId>{073A0DAA-6AF3-43AB-8588-CEC1D06C72B9}</a:tableStyleId>
              </a:tblPr>
              <a:tblGrid>
                <a:gridCol w="1404000"/>
                <a:gridCol w="1383214"/>
                <a:gridCol w="1383214"/>
              </a:tblGrid>
              <a:tr h="208869">
                <a:tc>
                  <a:txBody>
                    <a:bodyPr/>
                    <a:lstStyle/>
                    <a:p>
                      <a:pPr algn="ct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变电站名称</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电压等级</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经纬度</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r h="360773">
                <a:tc>
                  <a:txBody>
                    <a:bodyPr/>
                    <a:lstStyle/>
                    <a:p>
                      <a:pPr algn="ct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韶关北变电站</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500kV</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24.955, 113.526</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r h="360773">
                <a:tc>
                  <a:txBody>
                    <a:bodyPr/>
                    <a:lstStyle/>
                    <a:p>
                      <a:pPr algn="ct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博罗变电站</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500kV</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23.250, 114.181</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r h="360773">
                <a:tc>
                  <a:txBody>
                    <a:bodyPr/>
                    <a:lstStyle/>
                    <a:p>
                      <a:pPr algn="ct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贤令山变电站</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500kV</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24.434, 112.636</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bl>
          </a:graphicData>
        </a:graphic>
      </p:graphicFrame>
      <p:sp>
        <p:nvSpPr>
          <p:cNvPr id="7" name="文本框 6"/>
          <p:cNvSpPr txBox="1"/>
          <p:nvPr/>
        </p:nvSpPr>
        <p:spPr>
          <a:xfrm>
            <a:off x="471769" y="1331731"/>
            <a:ext cx="11473304" cy="1187122"/>
          </a:xfrm>
          <a:prstGeom prst="rect">
            <a:avLst/>
          </a:prstGeom>
          <a:noFill/>
        </p:spPr>
        <p:txBody>
          <a:bodyPr wrap="square">
            <a:no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将环评报告中的数据进行坐标转换（将文字描述转换为经纬度）</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对两类数据进行融合并去重，得到利用公开数据还原出的广东电网变电站与输电线路信息</a:t>
            </a: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8" name="矩形 7"/>
          <p:cNvSpPr/>
          <p:nvPr/>
        </p:nvSpPr>
        <p:spPr>
          <a:xfrm>
            <a:off x="6625387" y="4351092"/>
            <a:ext cx="4623483"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融合得到广东电网部分重要输电线路信息</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9" name="表格 8"/>
          <p:cNvGraphicFramePr>
            <a:graphicFrameLocks noGrp="1"/>
          </p:cNvGraphicFramePr>
          <p:nvPr/>
        </p:nvGraphicFramePr>
        <p:xfrm>
          <a:off x="7107725" y="4747759"/>
          <a:ext cx="3658809" cy="2072640"/>
        </p:xfrm>
        <a:graphic>
          <a:graphicData uri="http://schemas.openxmlformats.org/drawingml/2006/table">
            <a:tbl>
              <a:tblPr firstRow="1" bandRow="1">
                <a:tableStyleId>{7E9639D4-E3E2-4D34-9284-5A2195B3D0D7}</a:tableStyleId>
              </a:tblPr>
              <a:tblGrid>
                <a:gridCol w="1219603"/>
                <a:gridCol w="1219603"/>
                <a:gridCol w="1219603"/>
              </a:tblGrid>
              <a:tr h="298980">
                <a:tc>
                  <a:txBody>
                    <a:bodyPr/>
                    <a:lstStyle/>
                    <a:p>
                      <a:pPr marL="0" algn="ctr" defTabSz="914400" rtl="0" eaLnBrk="1" latinLnBrk="0" hangingPunct="1"/>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线路起点</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线路终点</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电压等级</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r h="516047">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24.492, 111.500</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23.270, 113.043</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500kV</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r>
              <a:tr h="516047">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22.809, 111.756</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23.339, 111.296</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500kV</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r>
              <a:tr h="516047">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21.856, 111.625</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BFBFBF"/>
                    </a:solidFill>
                  </a:tcPr>
                </a:tc>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22.807, 111.755</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BFBFBF"/>
                    </a:solidFill>
                  </a:tcPr>
                </a:tc>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500kV</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BFBFBF"/>
                    </a:solidFill>
                  </a:tcPr>
                </a:tc>
              </a:tr>
            </a:tbl>
          </a:graphicData>
        </a:graphic>
      </p:graphicFrame>
      <p:pic>
        <p:nvPicPr>
          <p:cNvPr id="12" name="图片 11"/>
          <p:cNvPicPr>
            <a:picLocks noChangeAspect="1"/>
          </p:cNvPicPr>
          <p:nvPr/>
        </p:nvPicPr>
        <p:blipFill>
          <a:blip r:embed="rId1"/>
          <a:stretch>
            <a:fillRect/>
          </a:stretch>
        </p:blipFill>
        <p:spPr>
          <a:xfrm>
            <a:off x="2896182" y="2659963"/>
            <a:ext cx="2183240" cy="1411033"/>
          </a:xfrm>
          <a:prstGeom prst="rect">
            <a:avLst/>
          </a:prstGeom>
        </p:spPr>
      </p:pic>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480" y="2592122"/>
            <a:ext cx="1916267" cy="1442985"/>
          </a:xfrm>
          <a:prstGeom prst="rect">
            <a:avLst/>
          </a:prstGeom>
        </p:spPr>
      </p:pic>
      <p:sp>
        <p:nvSpPr>
          <p:cNvPr id="15" name="矩形 14"/>
          <p:cNvSpPr/>
          <p:nvPr/>
        </p:nvSpPr>
        <p:spPr>
          <a:xfrm>
            <a:off x="7565531" y="3999874"/>
            <a:ext cx="2743199"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220kV</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广东电网输电线路</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p:nvSpPr>
        <p:spPr>
          <a:xfrm>
            <a:off x="2343811" y="4035763"/>
            <a:ext cx="293161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广东电网变电站</a:t>
            </a:r>
            <a:r>
              <a:rPr kumimoji="1"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发电设施</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471769" y="1006849"/>
            <a:ext cx="8274633" cy="49244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信息融合与拓扑构建</a:t>
            </a:r>
            <a:endParaRPr kumimoji="0" lang="zh-CN" altLang="en-US" sz="2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85775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研究内容1：基于数据驱动的电网拓扑反向逆推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427806" y="937962"/>
            <a:ext cx="10932160" cy="1187122"/>
          </a:xfrm>
          <a:prstGeom prst="rect">
            <a:avLst/>
          </a:prstGeom>
          <a:noFill/>
        </p:spPr>
        <p:txBody>
          <a:bodyPr wrap="square">
            <a:no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基于广东电网变电站与输电线路信息融合，生成广东电网拓扑结构化字段</a:t>
            </a:r>
            <a:endPar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charset="0"/>
              <a:buChar char="l"/>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推断结果覆盖设施对象、连接关系和空间坐标</a:t>
            </a: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graphicFrame>
        <p:nvGraphicFramePr>
          <p:cNvPr id="10" name="表格 9"/>
          <p:cNvGraphicFramePr>
            <a:graphicFrameLocks noGrp="1"/>
          </p:cNvGraphicFramePr>
          <p:nvPr/>
        </p:nvGraphicFramePr>
        <p:xfrm>
          <a:off x="565190" y="2601876"/>
          <a:ext cx="5530810" cy="1351743"/>
        </p:xfrm>
        <a:graphic>
          <a:graphicData uri="http://schemas.openxmlformats.org/drawingml/2006/table">
            <a:tbl>
              <a:tblPr firstRow="1" bandRow="1">
                <a:tableStyleId>{7E9639D4-E3E2-4D34-9284-5A2195B3D0D7}</a:tableStyleId>
              </a:tblPr>
              <a:tblGrid>
                <a:gridCol w="1843603"/>
                <a:gridCol w="1109204"/>
                <a:gridCol w="2578003"/>
              </a:tblGrid>
              <a:tr h="253381">
                <a:tc>
                  <a:txBody>
                    <a:bodyPr/>
                    <a:lstStyle/>
                    <a:p>
                      <a:pPr marL="0" algn="ctr" defTabSz="914400" rtl="0" eaLnBrk="1" latinLnBrk="0" hangingPunct="1"/>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还原的设施</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数量</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包含的重要参数</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r h="437343">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变电站</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109</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经纬度、电压等级</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r>
              <a:tr h="437343">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输电线路</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c>
                  <a:txBody>
                    <a:bodyPr/>
                    <a:lstStyle/>
                    <a:p>
                      <a:pPr marL="0" algn="ctr" defTabSz="914400" rtl="0" eaLnBrk="1" latinLnBrk="0" hangingPunct="1"/>
                      <a:r>
                        <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875</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c>
                  <a:txBody>
                    <a:bodyPr/>
                    <a:lstStyle/>
                    <a:p>
                      <a:pPr marL="0" algn="ctr" defTabSz="914400" rtl="0" eaLnBrk="1" latinLnBrk="0" hangingPunct="1"/>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起点经纬度、终点经纬度、电压等级</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r>
            </a:tbl>
          </a:graphicData>
        </a:graphic>
      </p:graphicFrame>
      <p:sp>
        <p:nvSpPr>
          <p:cNvPr id="11" name="矩形 10"/>
          <p:cNvSpPr/>
          <p:nvPr/>
        </p:nvSpPr>
        <p:spPr>
          <a:xfrm>
            <a:off x="1389885" y="2177577"/>
            <a:ext cx="3881420"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还原出的广东省电网重要设施信息</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p:nvSpPr>
        <p:spPr>
          <a:xfrm>
            <a:off x="8705850" y="4055236"/>
            <a:ext cx="293161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广东电网电网拓扑</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5"/>
          <p:cNvGraphicFramePr>
            <a:graphicFrameLocks noGrp="1"/>
          </p:cNvGraphicFramePr>
          <p:nvPr/>
        </p:nvGraphicFramePr>
        <p:xfrm>
          <a:off x="565190" y="4514203"/>
          <a:ext cx="7327858" cy="2064954"/>
        </p:xfrm>
        <a:graphic>
          <a:graphicData uri="http://schemas.openxmlformats.org/drawingml/2006/table">
            <a:tbl>
              <a:tblPr firstRow="1" bandRow="1">
                <a:tableStyleId>{7E9639D4-E3E2-4D34-9284-5A2195B3D0D7}</a:tableStyleId>
              </a:tblPr>
              <a:tblGrid>
                <a:gridCol w="1666047"/>
                <a:gridCol w="1275892"/>
                <a:gridCol w="2056202"/>
                <a:gridCol w="2329717"/>
              </a:tblGrid>
              <a:tr h="688318">
                <a:tc>
                  <a:txBody>
                    <a:bodyPr/>
                    <a:lstStyle/>
                    <a:p>
                      <a:pPr marL="0" algn="ctr" defTabSz="914400" rtl="0" eaLnBrk="1" latinLnBrk="0" hangingPunct="1">
                        <a:buNone/>
                      </a:pPr>
                      <a:r>
                        <a:rPr lang="zh-CN" altLang="en-US" sz="1600" b="1" kern="120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数据对象</a:t>
                      </a:r>
                      <a:endParaRPr lang="zh-CN" altLang="en-US" sz="1600" b="1" kern="120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buNone/>
                      </a:pPr>
                      <a:r>
                        <a:rPr lang="zh-CN" altLang="en-US" sz="1600" b="1" kern="120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对象标识／拓扑关系</a:t>
                      </a:r>
                      <a:endParaRPr lang="zh-CN" altLang="en-US" sz="1600" b="1" kern="120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buNone/>
                      </a:pPr>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电压属性</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algn="ctr" defTabSz="914400" rtl="0" eaLnBrk="1" latinLnBrk="0" hangingPunct="1">
                        <a:buNone/>
                      </a:pPr>
                      <a:r>
                        <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rPr>
                        <a:t>空间坐标</a:t>
                      </a:r>
                      <a:endParaRPr lang="zh-CN" altLang="en-US" sz="1600" b="1" kern="1200" dirty="0">
                        <a:solidFill>
                          <a:schemeClr val="lt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r h="688318">
                <a:tc>
                  <a:txBody>
                    <a:bodyPr/>
                    <a:lstStyle/>
                    <a:p>
                      <a:pPr marL="0" algn="ctr" defTabSz="914400" rtl="0" eaLnBrk="1" latinLnBrk="0" hangingPunct="1">
                        <a:buNone/>
                      </a:pPr>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变电站</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c>
                  <a:txBody>
                    <a:bodyPr/>
                    <a:lstStyle/>
                    <a:p>
                      <a:pPr marL="0" algn="ctr" defTabSz="914400" rtl="0" eaLnBrk="1" latinLnBrk="0" hangingPunct="1">
                        <a:buNone/>
                      </a:pPr>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变电站名称</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c>
                  <a:txBody>
                    <a:bodyPr/>
                    <a:lstStyle/>
                    <a:p>
                      <a:pPr marL="0" algn="ctr" defTabSz="914400" rtl="0" eaLnBrk="1" latinLnBrk="0" hangingPunct="1">
                        <a:buNone/>
                      </a:pPr>
                      <a:r>
                        <a:rPr lang="zh-CN"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电压等级</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c>
                  <a:txBody>
                    <a:bodyPr/>
                    <a:lstStyle/>
                    <a:p>
                      <a:pPr marL="0" algn="ctr" defTabSz="914400" rtl="0" eaLnBrk="1" latinLnBrk="0" hangingPunct="1">
                        <a:buNone/>
                      </a:pPr>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经度、纬度</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lumMod val="75000"/>
                      </a:schemeClr>
                    </a:solidFill>
                  </a:tcPr>
                </a:tc>
              </a:tr>
              <a:tr h="688318">
                <a:tc>
                  <a:txBody>
                    <a:bodyPr/>
                    <a:lstStyle/>
                    <a:p>
                      <a:pPr marL="0" algn="ctr" defTabSz="914400" rtl="0" eaLnBrk="1" latinLnBrk="0" hangingPunct="1">
                        <a:buNone/>
                      </a:pPr>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输电线路</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c>
                  <a:txBody>
                    <a:bodyPr/>
                    <a:lstStyle/>
                    <a:p>
                      <a:pPr marL="0" algn="ctr" defTabSz="914400" rtl="0" eaLnBrk="1" latinLnBrk="0" hangingPunct="1">
                        <a:buNone/>
                      </a:pPr>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线路起点</a:t>
                      </a:r>
                      <a:endPar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buNone/>
                      </a:pPr>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线路终点</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c>
                  <a:txBody>
                    <a:bodyPr/>
                    <a:lstStyle/>
                    <a:p>
                      <a:pPr marL="0" algn="ctr" defTabSz="914400" rtl="0" eaLnBrk="1" latinLnBrk="0" hangingPunct="1">
                        <a:buNone/>
                      </a:pPr>
                      <a:r>
                        <a:rPr lang="zh-CN"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电压等级</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c>
                  <a:txBody>
                    <a:bodyPr/>
                    <a:lstStyle/>
                    <a:p>
                      <a:pPr marL="0" algn="ctr" defTabSz="914400" rtl="0" eaLnBrk="1" latinLnBrk="0" hangingPunct="1">
                        <a:buNone/>
                      </a:pPr>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起点经度、纬度</a:t>
                      </a:r>
                      <a:endParaRPr lang="en-US" altLang="zh-CN"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buNone/>
                      </a:pPr>
                      <a:r>
                        <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终点经度、纬度</a:t>
                      </a:r>
                      <a:endParaRPr lang="zh-CN" altLang="en-US" sz="1600"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E7E7E7"/>
                    </a:solidFill>
                  </a:tcPr>
                </a:tc>
              </a:tr>
            </a:tbl>
          </a:graphicData>
        </a:graphic>
      </p:graphicFrame>
      <p:sp>
        <p:nvSpPr>
          <p:cNvPr id="9" name="矩形 8"/>
          <p:cNvSpPr/>
          <p:nvPr/>
        </p:nvSpPr>
        <p:spPr>
          <a:xfrm>
            <a:off x="2288409" y="4099459"/>
            <a:ext cx="3881420"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电网拓扑数据字段清单</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7" name="图片 16"/>
          <p:cNvPicPr>
            <a:picLocks noChangeAspect="1"/>
          </p:cNvPicPr>
          <p:nvPr/>
        </p:nvPicPr>
        <p:blipFill>
          <a:blip r:embed="rId1"/>
          <a:stretch>
            <a:fillRect/>
          </a:stretch>
        </p:blipFill>
        <p:spPr>
          <a:xfrm>
            <a:off x="8585200" y="2034505"/>
            <a:ext cx="2879816" cy="2064954"/>
          </a:xfrm>
          <a:prstGeom prst="rect">
            <a:avLst/>
          </a:prstGeom>
        </p:spPr>
      </p:pic>
      <p:pic>
        <p:nvPicPr>
          <p:cNvPr id="4" name="图片 3"/>
          <p:cNvPicPr>
            <a:picLocks noChangeAspect="1"/>
          </p:cNvPicPr>
          <p:nvPr/>
        </p:nvPicPr>
        <p:blipFill>
          <a:blip r:embed="rId2"/>
          <a:stretch>
            <a:fillRect/>
          </a:stretch>
        </p:blipFill>
        <p:spPr>
          <a:xfrm>
            <a:off x="9226550" y="4424568"/>
            <a:ext cx="1947760" cy="2017950"/>
          </a:xfrm>
          <a:prstGeom prst="rect">
            <a:avLst/>
          </a:prstGeom>
        </p:spPr>
      </p:pic>
      <p:sp>
        <p:nvSpPr>
          <p:cNvPr id="8" name="矩形 7"/>
          <p:cNvSpPr/>
          <p:nvPr/>
        </p:nvSpPr>
        <p:spPr>
          <a:xfrm>
            <a:off x="8695198" y="6442518"/>
            <a:ext cx="2931612"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部分线路经纬度坐标</a:t>
            </a:r>
            <a:endPar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91383" y="328398"/>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611866" y="1117027"/>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研究方法框架</a:t>
            </a:r>
            <a:endParaRPr lang="zh-CN" altLang="en-US" sz="26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1119856" y="1758016"/>
            <a:ext cx="9744575" cy="830997"/>
          </a:xfrm>
          <a:prstGeom prst="rect">
            <a:avLst/>
          </a:prstGeom>
          <a:solidFill>
            <a:sysClr val="window" lastClr="FFFFFF">
              <a:lumMod val="95000"/>
            </a:sysClr>
          </a:solidFill>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正演问题：</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电力市场中利用</a:t>
            </a:r>
            <a:r>
              <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电网核心参数</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计算节点边际电价</a:t>
            </a:r>
            <a:endParaRPr kumimoji="0" lang="en-US"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反演问题</a:t>
            </a:r>
            <a:r>
              <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根据节点边际电价推断</a:t>
            </a:r>
            <a:r>
              <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电网核心参数</a:t>
            </a:r>
            <a:endPar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aphicFrame>
        <p:nvGraphicFramePr>
          <p:cNvPr id="9" name="对象 8"/>
          <p:cNvGraphicFramePr>
            <a:graphicFrameLocks noChangeAspect="1"/>
          </p:cNvGraphicFramePr>
          <p:nvPr/>
        </p:nvGraphicFramePr>
        <p:xfrm>
          <a:off x="3013038" y="2833542"/>
          <a:ext cx="5749518" cy="3763097"/>
        </p:xfrm>
        <a:graphic>
          <a:graphicData uri="http://schemas.openxmlformats.org/presentationml/2006/ole">
            <mc:AlternateContent xmlns:mc="http://schemas.openxmlformats.org/markup-compatibility/2006">
              <mc:Choice xmlns:v="urn:schemas-microsoft-com:vml" Requires="v">
                <p:oleObj spid="_x0000_s3" name="Visio" r:id="rId1" imgW="2485390" imgH="1629410" progId="Visio.Drawing.15">
                  <p:embed/>
                </p:oleObj>
              </mc:Choice>
              <mc:Fallback>
                <p:oleObj name="Visio" r:id="rId1" imgW="2485390" imgH="1629410" progId="Visio.Drawing.15">
                  <p:embed/>
                  <p:pic>
                    <p:nvPicPr>
                      <p:cNvPr id="0" name="对象 89"/>
                      <p:cNvPicPr/>
                      <p:nvPr/>
                    </p:nvPicPr>
                    <p:blipFill>
                      <a:blip r:embed="rId2"/>
                      <a:stretch>
                        <a:fillRect/>
                      </a:stretch>
                    </p:blipFill>
                    <p:spPr>
                      <a:xfrm>
                        <a:off x="3013038" y="2833542"/>
                        <a:ext cx="5749518" cy="3763097"/>
                      </a:xfrm>
                      <a:prstGeom prst="rect">
                        <a:avLst/>
                      </a:prstGeom>
                    </p:spPr>
                  </p:pic>
                </p:oleObj>
              </mc:Fallback>
            </mc:AlternateContent>
          </a:graphicData>
        </a:graphic>
      </p:graphicFrame>
      <p:grpSp>
        <p:nvGrpSpPr>
          <p:cNvPr id="4" name="组合 3"/>
          <p:cNvGrpSpPr/>
          <p:nvPr/>
        </p:nvGrpSpPr>
        <p:grpSpPr>
          <a:xfrm>
            <a:off x="771368" y="2953455"/>
            <a:ext cx="2041770" cy="1607367"/>
            <a:chOff x="380709" y="1752025"/>
            <a:chExt cx="2203557" cy="3969213"/>
          </a:xfrm>
        </p:grpSpPr>
        <p:sp>
          <p:nvSpPr>
            <p:cNvPr id="5" name="Number1"/>
            <p:cNvSpPr/>
            <p:nvPr/>
          </p:nvSpPr>
          <p:spPr>
            <a:xfrm>
              <a:off x="948436" y="1752025"/>
              <a:ext cx="1068102" cy="1001797"/>
            </a:xfrm>
            <a:prstGeom prst="rect">
              <a:avLst/>
            </a:prstGeom>
            <a:solidFill>
              <a:srgbClr val="5B9BD5"/>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1</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 name="Bullet1"/>
            <p:cNvSpPr txBox="1"/>
            <p:nvPr/>
          </p:nvSpPr>
          <p:spPr>
            <a:xfrm>
              <a:off x="441087" y="2912763"/>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直流潮流模型</a:t>
              </a:r>
              <a:endParaRPr kumimoji="0" lang="en-US" altLang="zh-CN"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0" name="Text1"/>
            <p:cNvSpPr txBox="1"/>
            <p:nvPr/>
          </p:nvSpPr>
          <p:spPr>
            <a:xfrm>
              <a:off x="380709" y="3583760"/>
              <a:ext cx="2203557" cy="2137478"/>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rtl="0" eaLnBrk="1" fontAlgn="auto" latinLnBrk="0" hangingPunct="1">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根据线路参数与电网拓扑，计算得到功率传输分布因子矩阵</a:t>
              </a:r>
              <a:endPar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grpSp>
        <p:nvGrpSpPr>
          <p:cNvPr id="11" name="组合 10"/>
          <p:cNvGrpSpPr/>
          <p:nvPr/>
        </p:nvGrpSpPr>
        <p:grpSpPr>
          <a:xfrm>
            <a:off x="769724" y="4912647"/>
            <a:ext cx="2090002" cy="1102231"/>
            <a:chOff x="2695391" y="1752025"/>
            <a:chExt cx="2090002" cy="2721837"/>
          </a:xfrm>
        </p:grpSpPr>
        <p:sp>
          <p:nvSpPr>
            <p:cNvPr id="12" name="Number2"/>
            <p:cNvSpPr/>
            <p:nvPr/>
          </p:nvSpPr>
          <p:spPr>
            <a:xfrm>
              <a:off x="3202740" y="1752025"/>
              <a:ext cx="1068102" cy="1001797"/>
            </a:xfrm>
            <a:prstGeom prst="rect">
              <a:avLst/>
            </a:prstGeom>
            <a:solidFill>
              <a:srgbClr val="ED7D31"/>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2</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3" name="Bullet2"/>
            <p:cNvSpPr txBox="1"/>
            <p:nvPr/>
          </p:nvSpPr>
          <p:spPr>
            <a:xfrm>
              <a:off x="2702593" y="2923483"/>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电力市场模型</a:t>
              </a:r>
              <a:endParaRPr kumimoji="0" lang="en-US" altLang="zh-CN"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4" name="Text2"/>
            <p:cNvSpPr txBox="1"/>
            <p:nvPr/>
          </p:nvSpPr>
          <p:spPr>
            <a:xfrm>
              <a:off x="2695391" y="3383674"/>
              <a:ext cx="2082800" cy="1090188"/>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rtl="0" eaLnBrk="1" fontAlgn="auto" latinLnBrk="0" hangingPunct="1">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根据发电机出力限制、报价、负荷等计算得到节点边际电价与线路影子价格</a:t>
              </a:r>
              <a:endPar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sp>
        <p:nvSpPr>
          <p:cNvPr id="15" name="矩形: 圆角 14"/>
          <p:cNvSpPr/>
          <p:nvPr/>
        </p:nvSpPr>
        <p:spPr>
          <a:xfrm>
            <a:off x="771367" y="2842529"/>
            <a:ext cx="2081157" cy="1727493"/>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16" name="矩形: 圆角 15"/>
          <p:cNvSpPr/>
          <p:nvPr/>
        </p:nvSpPr>
        <p:spPr>
          <a:xfrm>
            <a:off x="755249" y="4810708"/>
            <a:ext cx="2097275" cy="1718507"/>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grpSp>
        <p:nvGrpSpPr>
          <p:cNvPr id="27" name="组合 26"/>
          <p:cNvGrpSpPr/>
          <p:nvPr/>
        </p:nvGrpSpPr>
        <p:grpSpPr>
          <a:xfrm>
            <a:off x="8886499" y="2753968"/>
            <a:ext cx="2203557" cy="1146837"/>
            <a:chOff x="380709" y="1752025"/>
            <a:chExt cx="2203557" cy="2831985"/>
          </a:xfrm>
        </p:grpSpPr>
        <p:sp>
          <p:nvSpPr>
            <p:cNvPr id="28" name="Number1"/>
            <p:cNvSpPr/>
            <p:nvPr/>
          </p:nvSpPr>
          <p:spPr>
            <a:xfrm>
              <a:off x="948436" y="1752025"/>
              <a:ext cx="1068102" cy="1001797"/>
            </a:xfrm>
            <a:prstGeom prst="rect">
              <a:avLst/>
            </a:prstGeom>
            <a:solidFill>
              <a:srgbClr val="5B9BD5"/>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1</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29" name="Bullet1"/>
            <p:cNvSpPr txBox="1"/>
            <p:nvPr/>
          </p:nvSpPr>
          <p:spPr>
            <a:xfrm>
              <a:off x="441087" y="2798431"/>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导纳推断模型</a:t>
              </a:r>
              <a:endParaRPr kumimoji="0" lang="en-US" altLang="zh-CN"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30" name="Text1"/>
            <p:cNvSpPr txBox="1"/>
            <p:nvPr/>
          </p:nvSpPr>
          <p:spPr>
            <a:xfrm>
              <a:off x="380709" y="3207425"/>
              <a:ext cx="2203557" cy="1376585"/>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rtl="0" eaLnBrk="1" fontAlgn="auto" latinLnBrk="0" hangingPunct="1">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建立利用电价、拓扑反向逆推导纳的推断模型</a:t>
              </a:r>
              <a:endPar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sp>
        <p:nvSpPr>
          <p:cNvPr id="43" name="矩形: 圆角 42"/>
          <p:cNvSpPr/>
          <p:nvPr/>
        </p:nvSpPr>
        <p:spPr>
          <a:xfrm>
            <a:off x="8886499" y="2643042"/>
            <a:ext cx="2246065" cy="1278083"/>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grpSp>
        <p:nvGrpSpPr>
          <p:cNvPr id="47" name="组合 46"/>
          <p:cNvGrpSpPr/>
          <p:nvPr/>
        </p:nvGrpSpPr>
        <p:grpSpPr>
          <a:xfrm>
            <a:off x="8886499" y="4151176"/>
            <a:ext cx="2203557" cy="1158412"/>
            <a:chOff x="380709" y="1752025"/>
            <a:chExt cx="2203557" cy="2860568"/>
          </a:xfrm>
        </p:grpSpPr>
        <p:sp>
          <p:nvSpPr>
            <p:cNvPr id="48" name="Number1"/>
            <p:cNvSpPr/>
            <p:nvPr/>
          </p:nvSpPr>
          <p:spPr>
            <a:xfrm>
              <a:off x="948436" y="1752025"/>
              <a:ext cx="1068102" cy="1001797"/>
            </a:xfrm>
            <a:prstGeom prst="rect">
              <a:avLst/>
            </a:prstGeom>
            <a:solidFill>
              <a:srgbClr val="ED7D31"/>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b="1" kern="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sym typeface="+mn-lt"/>
                </a:rPr>
                <a:t>2</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49" name="Bullet1"/>
            <p:cNvSpPr txBox="1"/>
            <p:nvPr/>
          </p:nvSpPr>
          <p:spPr>
            <a:xfrm>
              <a:off x="441087" y="2855597"/>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最小逆推数据集</a:t>
              </a:r>
              <a:endParaRPr kumimoji="0" lang="en-US" altLang="zh-CN"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0" name="Text1"/>
            <p:cNvSpPr txBox="1"/>
            <p:nvPr/>
          </p:nvSpPr>
          <p:spPr>
            <a:xfrm>
              <a:off x="380709" y="3236008"/>
              <a:ext cx="2203557" cy="1376585"/>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rtl="0" eaLnBrk="1" fontAlgn="auto" latinLnBrk="0" hangingPunct="1">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分析能够推断出导纳的最小所需电价数据集</a:t>
              </a:r>
              <a:endPar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sp>
        <p:nvSpPr>
          <p:cNvPr id="51" name="矩形: 圆角 50"/>
          <p:cNvSpPr/>
          <p:nvPr/>
        </p:nvSpPr>
        <p:spPr>
          <a:xfrm>
            <a:off x="8886499" y="4040250"/>
            <a:ext cx="2246065" cy="1278083"/>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grpSp>
        <p:nvGrpSpPr>
          <p:cNvPr id="52" name="组合 51"/>
          <p:cNvGrpSpPr/>
          <p:nvPr/>
        </p:nvGrpSpPr>
        <p:grpSpPr>
          <a:xfrm>
            <a:off x="8886499" y="5552775"/>
            <a:ext cx="2203557" cy="1158412"/>
            <a:chOff x="380709" y="1752025"/>
            <a:chExt cx="2203557" cy="2860568"/>
          </a:xfrm>
        </p:grpSpPr>
        <p:sp>
          <p:nvSpPr>
            <p:cNvPr id="53" name="Number1"/>
            <p:cNvSpPr/>
            <p:nvPr/>
          </p:nvSpPr>
          <p:spPr>
            <a:xfrm>
              <a:off x="948436" y="1752025"/>
              <a:ext cx="1068102" cy="1001797"/>
            </a:xfrm>
            <a:prstGeom prst="rect">
              <a:avLst/>
            </a:prstGeom>
            <a:solidFill>
              <a:srgbClr val="FFC000"/>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b="1" kern="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sym typeface="+mn-lt"/>
                </a:rPr>
                <a:t>3</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4" name="Bullet1"/>
            <p:cNvSpPr txBox="1"/>
            <p:nvPr/>
          </p:nvSpPr>
          <p:spPr>
            <a:xfrm>
              <a:off x="441087" y="2855597"/>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最短推断路径</a:t>
              </a:r>
              <a:endParaRPr kumimoji="0" lang="en-US" altLang="zh-CN" sz="1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5" name="Text1"/>
            <p:cNvSpPr txBox="1"/>
            <p:nvPr/>
          </p:nvSpPr>
          <p:spPr>
            <a:xfrm>
              <a:off x="380709" y="3236008"/>
              <a:ext cx="2203557" cy="1376585"/>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rtl="0" eaLnBrk="1" fontAlgn="auto" latinLnBrk="0" hangingPunct="1">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分析如何用最快的方式找到最小逆推数据集</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sp>
        <p:nvSpPr>
          <p:cNvPr id="56" name="矩形: 圆角 55"/>
          <p:cNvSpPr/>
          <p:nvPr/>
        </p:nvSpPr>
        <p:spPr>
          <a:xfrm>
            <a:off x="8886499" y="5441849"/>
            <a:ext cx="2246065" cy="1278083"/>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91383" y="383643"/>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7206" y="113970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正向计算过程：</a:t>
            </a:r>
            <a:r>
              <a:rPr lang="en-US" altLang="zh-CN" sz="2600" b="1" dirty="0">
                <a:latin typeface="微软雅黑" panose="020B0503020204020204" pitchFamily="34" charset="-122"/>
                <a:ea typeface="微软雅黑" panose="020B0503020204020204" pitchFamily="34" charset="-122"/>
              </a:rPr>
              <a:t>1</a:t>
            </a:r>
            <a:r>
              <a:rPr lang="zh-CN" altLang="en-US" sz="2600" b="1" dirty="0">
                <a:latin typeface="微软雅黑" panose="020B0503020204020204" pitchFamily="34" charset="-122"/>
                <a:ea typeface="微软雅黑" panose="020B0503020204020204" pitchFamily="34" charset="-122"/>
              </a:rPr>
              <a:t>、直流潮流模型</a:t>
            </a:r>
            <a:endParaRPr lang="zh-CN" altLang="en-US" sz="2600" b="1"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 name="矩形 3"/>
              <p:cNvSpPr/>
              <p:nvPr/>
            </p:nvSpPr>
            <p:spPr>
              <a:xfrm>
                <a:off x="1544750" y="1738011"/>
                <a:ext cx="7304142" cy="499624"/>
              </a:xfrm>
              <a:prstGeom prst="rect">
                <a:avLst/>
              </a:prstGeom>
            </p:spPr>
            <p:txBody>
              <a:bodyPr wrap="square">
                <a:spAutoFit/>
              </a:bodyPr>
              <a:lstStyle/>
              <a:p>
                <a:pPr defTabSz="1219200">
                  <a:lnSpc>
                    <a:spcPct val="150000"/>
                  </a:lnSpc>
                  <a:defRPr/>
                </a:pPr>
                <a:r>
                  <a:rPr lang="zh-CN" altLang="en-US" sz="2000" kern="0" dirty="0">
                    <a:solidFill>
                      <a:prstClr val="black"/>
                    </a:solidFill>
                    <a:latin typeface="微软雅黑" panose="020B0503020204020204" pitchFamily="34" charset="-122"/>
                    <a:ea typeface="微软雅黑" panose="020B0503020204020204" pitchFamily="34" charset="-122"/>
                  </a:rPr>
                  <a:t>假设电力系统有</a:t>
                </a:r>
                <a14:m>
                  <m:oMath xmlns:m="http://schemas.openxmlformats.org/officeDocument/2006/math">
                    <m:r>
                      <a:rPr lang="en-US" altLang="zh-CN" sz="2000" i="1" kern="0">
                        <a:solidFill>
                          <a:prstClr val="black"/>
                        </a:solidFill>
                        <a:latin typeface="Cambria Math" panose="02040503050406030204" pitchFamily="18" charset="0"/>
                        <a:ea typeface="微软雅黑" panose="020B0503020204020204" pitchFamily="34" charset="-122"/>
                      </a:rPr>
                      <m:t>𝑁</m:t>
                    </m:r>
                  </m:oMath>
                </a14:m>
                <a:r>
                  <a:rPr lang="zh-CN" altLang="en-US" sz="2000" kern="0" dirty="0">
                    <a:solidFill>
                      <a:prstClr val="black"/>
                    </a:solidFill>
                    <a:latin typeface="微软雅黑" panose="020B0503020204020204" pitchFamily="34" charset="-122"/>
                    <a:ea typeface="微软雅黑" panose="020B0503020204020204" pitchFamily="34" charset="-122"/>
                  </a:rPr>
                  <a:t>个总线和</a:t>
                </a:r>
                <a14:m>
                  <m:oMath xmlns:m="http://schemas.openxmlformats.org/officeDocument/2006/math">
                    <m:r>
                      <a:rPr lang="en-US" altLang="zh-CN" sz="2000" b="0" i="1" kern="0" smtClean="0">
                        <a:solidFill>
                          <a:prstClr val="black"/>
                        </a:solidFill>
                        <a:latin typeface="Cambria Math" panose="02040503050406030204" pitchFamily="18" charset="0"/>
                        <a:ea typeface="微软雅黑" panose="020B0503020204020204" pitchFamily="34" charset="-122"/>
                      </a:rPr>
                      <m:t>𝐿</m:t>
                    </m:r>
                  </m:oMath>
                </a14:m>
                <a:r>
                  <a:rPr lang="zh-CN" altLang="en-US" sz="2000" kern="0" dirty="0">
                    <a:solidFill>
                      <a:prstClr val="black"/>
                    </a:solidFill>
                    <a:latin typeface="微软雅黑" panose="020B0503020204020204" pitchFamily="34" charset="-122"/>
                    <a:ea typeface="微软雅黑" panose="020B0503020204020204" pitchFamily="34" charset="-122"/>
                  </a:rPr>
                  <a:t>条线路，直流潮流公式为</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mc:Choice>
        <mc:Fallback>
          <p:sp>
            <p:nvSpPr>
              <p:cNvPr id="4" name="矩形 3"/>
              <p:cNvSpPr>
                <a:spLocks noRot="1" noChangeAspect="1" noMove="1" noResize="1" noEditPoints="1" noAdjustHandles="1" noChangeArrowheads="1" noChangeShapeType="1" noTextEdit="1"/>
              </p:cNvSpPr>
              <p:nvPr/>
            </p:nvSpPr>
            <p:spPr>
              <a:xfrm>
                <a:off x="1544750" y="1738011"/>
                <a:ext cx="7304142" cy="499624"/>
              </a:xfrm>
              <a:prstGeom prst="rect">
                <a:avLst/>
              </a:prstGeom>
              <a:blipFill rotWithShape="1">
                <a:blip r:embed="rId1"/>
                <a:stretch>
                  <a:fillRect l="-6" t="-3" r="2" b="-656"/>
                </a:stretch>
              </a:blipFill>
            </p:spPr>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4730528" y="2356799"/>
            <a:ext cx="1069589" cy="288000"/>
          </a:xfrm>
          <a:prstGeom prst="rect">
            <a:avLst/>
          </a:prstGeom>
        </p:spPr>
      </p:pic>
      <p:pic>
        <p:nvPicPr>
          <p:cNvPr id="6" name="图片 5"/>
          <p:cNvPicPr>
            <a:picLocks noChangeAspect="1"/>
          </p:cNvPicPr>
          <p:nvPr/>
        </p:nvPicPr>
        <p:blipFill>
          <a:blip r:embed="rId3"/>
          <a:stretch>
            <a:fillRect/>
          </a:stretch>
        </p:blipFill>
        <p:spPr>
          <a:xfrm>
            <a:off x="4708756" y="2683844"/>
            <a:ext cx="1595261" cy="360000"/>
          </a:xfrm>
          <a:prstGeom prst="rect">
            <a:avLst/>
          </a:prstGeom>
        </p:spPr>
      </p:pic>
      <p:pic>
        <p:nvPicPr>
          <p:cNvPr id="7" name="图片 6"/>
          <p:cNvPicPr>
            <a:picLocks noChangeAspect="1"/>
          </p:cNvPicPr>
          <p:nvPr/>
        </p:nvPicPr>
        <p:blipFill>
          <a:blip r:embed="rId4"/>
          <a:stretch>
            <a:fillRect/>
          </a:stretch>
        </p:blipFill>
        <p:spPr>
          <a:xfrm>
            <a:off x="4730528" y="4349429"/>
            <a:ext cx="1123252" cy="288000"/>
          </a:xfrm>
          <a:prstGeom prst="rect">
            <a:avLst/>
          </a:prstGeom>
        </p:spPr>
      </p:pic>
      <p:pic>
        <p:nvPicPr>
          <p:cNvPr id="8" name="图片 7"/>
          <p:cNvPicPr>
            <a:picLocks noChangeAspect="1"/>
          </p:cNvPicPr>
          <p:nvPr/>
        </p:nvPicPr>
        <p:blipFill rotWithShape="1">
          <a:blip r:embed="rId5"/>
          <a:srcRect t="3624"/>
          <a:stretch>
            <a:fillRect/>
          </a:stretch>
        </p:blipFill>
        <p:spPr>
          <a:xfrm>
            <a:off x="4730528" y="4800822"/>
            <a:ext cx="2454042" cy="451042"/>
          </a:xfrm>
          <a:prstGeom prst="rect">
            <a:avLst/>
          </a:prstGeom>
        </p:spPr>
      </p:pic>
      <mc:AlternateContent xmlns:mc="http://schemas.openxmlformats.org/markup-compatibility/2006">
        <mc:Choice xmlns:a14="http://schemas.microsoft.com/office/drawing/2010/main" Requires="a14">
          <p:sp>
            <p:nvSpPr>
              <p:cNvPr id="9" name="矩形 8"/>
              <p:cNvSpPr/>
              <p:nvPr/>
            </p:nvSpPr>
            <p:spPr>
              <a:xfrm>
                <a:off x="1568196" y="3131546"/>
                <a:ext cx="9807375" cy="975011"/>
              </a:xfrm>
              <a:prstGeom prst="rect">
                <a:avLst/>
              </a:prstGeom>
            </p:spPr>
            <p:txBody>
              <a:bodyPr wrap="square">
                <a:spAutoFit/>
              </a:bodyPr>
              <a:lstStyle/>
              <a:p>
                <a:pPr defTabSz="1219200">
                  <a:lnSpc>
                    <a:spcPct val="150000"/>
                  </a:lnSpc>
                  <a:defRPr/>
                </a:pP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𝑷</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𝑵</m:t>
                        </m:r>
                      </m:sup>
                    </m:sSup>
                  </m:oMath>
                </a14:m>
                <a:r>
                  <a:rPr lang="zh-CN" altLang="zh-CN" sz="2000" kern="0" dirty="0">
                    <a:solidFill>
                      <a:prstClr val="black"/>
                    </a:solidFill>
                    <a:latin typeface="微软雅黑" panose="020B0503020204020204" pitchFamily="34" charset="-122"/>
                    <a:ea typeface="微软雅黑" panose="020B0503020204020204" pitchFamily="34" charset="-122"/>
                  </a:rPr>
                  <a:t>为节点注入有功功率</a:t>
                </a:r>
                <a:r>
                  <a:rPr lang="zh-CN" altLang="en-US" sz="2000" kern="0" dirty="0">
                    <a:solidFill>
                      <a:prstClr val="black"/>
                    </a:solidFill>
                    <a:latin typeface="微软雅黑" panose="020B0503020204020204" pitchFamily="34" charset="-122"/>
                    <a:ea typeface="微软雅黑" panose="020B0503020204020204" pitchFamily="34" charset="-122"/>
                  </a:rPr>
                  <a:t>，</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𝑩</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𝑁</m:t>
                        </m:r>
                        <m:r>
                          <a:rPr lang="en-US" altLang="zh-CN" sz="2000" kern="0">
                            <a:solidFill>
                              <a:prstClr val="black"/>
                            </a:solidFill>
                            <a:latin typeface="Cambria Math" panose="02040503050406030204" pitchFamily="18" charset="0"/>
                            <a:ea typeface="微软雅黑" panose="020B0503020204020204" pitchFamily="34" charset="-122"/>
                          </a:rPr>
                          <m:t>×</m:t>
                        </m:r>
                        <m:r>
                          <a:rPr lang="en-US" altLang="zh-CN" sz="2000" kern="0">
                            <a:solidFill>
                              <a:prstClr val="black"/>
                            </a:solidFill>
                            <a:latin typeface="Cambria Math" panose="02040503050406030204" pitchFamily="18" charset="0"/>
                            <a:ea typeface="微软雅黑" panose="020B0503020204020204" pitchFamily="34" charset="-122"/>
                          </a:rPr>
                          <m:t>𝑁</m:t>
                        </m:r>
                      </m:sup>
                    </m:sSup>
                  </m:oMath>
                </a14:m>
                <a:r>
                  <a:rPr lang="zh-CN" altLang="en-US" sz="2000" kern="0" dirty="0">
                    <a:solidFill>
                      <a:prstClr val="black"/>
                    </a:solidFill>
                    <a:latin typeface="微软雅黑" panose="020B0503020204020204" pitchFamily="34" charset="-122"/>
                    <a:ea typeface="微软雅黑" panose="020B0503020204020204" pitchFamily="34" charset="-122"/>
                  </a:rPr>
                  <a:t>为导纳矩阵，</a:t>
                </a:r>
                <a:r>
                  <a:rPr lang="en-US" altLang="zh-CN" sz="2000" kern="0" dirty="0">
                    <a:solidFill>
                      <a:prstClr val="black"/>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𝜽</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𝑵</m:t>
                        </m:r>
                      </m:sup>
                    </m:sSup>
                  </m:oMath>
                </a14:m>
                <a:r>
                  <a:rPr lang="zh-CN" altLang="zh-CN" sz="2000" kern="0" dirty="0">
                    <a:solidFill>
                      <a:prstClr val="black"/>
                    </a:solidFill>
                    <a:latin typeface="微软雅黑" panose="020B0503020204020204" pitchFamily="34" charset="-122"/>
                    <a:ea typeface="微软雅黑" panose="020B0503020204020204" pitchFamily="34" charset="-122"/>
                  </a:rPr>
                  <a:t>为节点电压相角</a:t>
                </a:r>
                <a:r>
                  <a:rPr lang="zh-CN" altLang="en-US" sz="2000" kern="0" dirty="0">
                    <a:solidFill>
                      <a:prstClr val="black"/>
                    </a:solidFill>
                    <a:latin typeface="微软雅黑" panose="020B0503020204020204" pitchFamily="34" charset="-122"/>
                    <a:ea typeface="微软雅黑" panose="020B0503020204020204" pitchFamily="34" charset="-122"/>
                  </a:rPr>
                  <a:t>，</a:t>
                </a:r>
                <a:r>
                  <a:rPr lang="en-US" altLang="zh-CN" sz="2000" kern="0" dirty="0">
                    <a:solidFill>
                      <a:prstClr val="black"/>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𝑨</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𝑳</m:t>
                        </m:r>
                        <m:r>
                          <a:rPr lang="en-US" altLang="zh-CN" sz="2000" kern="0">
                            <a:solidFill>
                              <a:prstClr val="black"/>
                            </a:solidFill>
                            <a:latin typeface="Cambria Math" panose="02040503050406030204" pitchFamily="18" charset="0"/>
                            <a:ea typeface="微软雅黑" panose="020B0503020204020204" pitchFamily="34" charset="-122"/>
                          </a:rPr>
                          <m:t>×</m:t>
                        </m:r>
                        <m:r>
                          <a:rPr lang="en-US" altLang="zh-CN" sz="2000" kern="0">
                            <a:solidFill>
                              <a:prstClr val="black"/>
                            </a:solidFill>
                            <a:latin typeface="Cambria Math" panose="02040503050406030204" pitchFamily="18" charset="0"/>
                            <a:ea typeface="微软雅黑" panose="020B0503020204020204" pitchFamily="34" charset="-122"/>
                          </a:rPr>
                          <m:t>𝑵</m:t>
                        </m:r>
                      </m:sup>
                    </m:sSup>
                  </m:oMath>
                </a14:m>
                <a:r>
                  <a:rPr lang="zh-CN" altLang="zh-CN" sz="2000" kern="0" dirty="0">
                    <a:solidFill>
                      <a:prstClr val="black"/>
                    </a:solidFill>
                    <a:latin typeface="微软雅黑" panose="020B0503020204020204" pitchFamily="34" charset="-122"/>
                    <a:ea typeface="微软雅黑" panose="020B0503020204020204" pitchFamily="34" charset="-122"/>
                  </a:rPr>
                  <a:t>为线路</a:t>
                </a:r>
                <a:r>
                  <a:rPr lang="en-US" altLang="zh-CN" sz="2000" kern="0" dirty="0">
                    <a:solidFill>
                      <a:prstClr val="black"/>
                    </a:solidFill>
                    <a:latin typeface="微软雅黑" panose="020B0503020204020204" pitchFamily="34" charset="-122"/>
                    <a:ea typeface="微软雅黑" panose="020B0503020204020204" pitchFamily="34" charset="-122"/>
                  </a:rPr>
                  <a:t>-</a:t>
                </a:r>
                <a:r>
                  <a:rPr lang="zh-CN" altLang="zh-CN" sz="2000" kern="0" dirty="0">
                    <a:solidFill>
                      <a:prstClr val="black"/>
                    </a:solidFill>
                    <a:latin typeface="微软雅黑" panose="020B0503020204020204" pitchFamily="34" charset="-122"/>
                    <a:ea typeface="微软雅黑" panose="020B0503020204020204" pitchFamily="34" charset="-122"/>
                  </a:rPr>
                  <a:t>节点关联矩阵</a:t>
                </a:r>
                <a:r>
                  <a:rPr lang="zh-CN" altLang="en-US" sz="2000" kern="0" dirty="0">
                    <a:solidFill>
                      <a:prstClr val="black"/>
                    </a:solidFill>
                    <a:latin typeface="微软雅黑" panose="020B0503020204020204" pitchFamily="34" charset="-122"/>
                    <a:ea typeface="微软雅黑" panose="020B0503020204020204" pitchFamily="34" charset="-122"/>
                  </a:rPr>
                  <a:t>，</a:t>
                </a:r>
                <a:r>
                  <a:rPr lang="en-US" altLang="zh-CN" sz="2000" kern="0" dirty="0">
                    <a:solidFill>
                      <a:prstClr val="black"/>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𝑫</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𝑳</m:t>
                        </m:r>
                        <m:r>
                          <a:rPr lang="en-US" altLang="zh-CN" sz="2000" kern="0">
                            <a:solidFill>
                              <a:prstClr val="black"/>
                            </a:solidFill>
                            <a:latin typeface="Cambria Math" panose="02040503050406030204" pitchFamily="18" charset="0"/>
                            <a:ea typeface="微软雅黑" panose="020B0503020204020204" pitchFamily="34" charset="-122"/>
                          </a:rPr>
                          <m:t>×</m:t>
                        </m:r>
                        <m:r>
                          <a:rPr lang="en-US" altLang="zh-CN" sz="2000" kern="0">
                            <a:solidFill>
                              <a:prstClr val="black"/>
                            </a:solidFill>
                            <a:latin typeface="Cambria Math" panose="02040503050406030204" pitchFamily="18" charset="0"/>
                            <a:ea typeface="微软雅黑" panose="020B0503020204020204" pitchFamily="34" charset="-122"/>
                          </a:rPr>
                          <m:t>𝑳</m:t>
                        </m:r>
                      </m:sup>
                    </m:sSup>
                  </m:oMath>
                </a14:m>
                <a:r>
                  <a:rPr lang="zh-CN" altLang="zh-CN" sz="2000" kern="0" dirty="0">
                    <a:solidFill>
                      <a:prstClr val="black"/>
                    </a:solidFill>
                    <a:latin typeface="微软雅黑" panose="020B0503020204020204" pitchFamily="34" charset="-122"/>
                    <a:ea typeface="微软雅黑" panose="020B0503020204020204" pitchFamily="34" charset="-122"/>
                  </a:rPr>
                  <a:t>为</a:t>
                </a:r>
                <a:r>
                  <a:rPr lang="zh-CN" altLang="en-US" sz="2000" kern="0" dirty="0">
                    <a:solidFill>
                      <a:prstClr val="black"/>
                    </a:solidFill>
                    <a:latin typeface="微软雅黑" panose="020B0503020204020204" pitchFamily="34" charset="-122"/>
                    <a:ea typeface="微软雅黑" panose="020B0503020204020204" pitchFamily="34" charset="-122"/>
                  </a:rPr>
                  <a:t>导纳</a:t>
                </a:r>
                <a:r>
                  <a:rPr lang="zh-CN" altLang="zh-CN" sz="2000" kern="0" dirty="0">
                    <a:solidFill>
                      <a:prstClr val="black"/>
                    </a:solidFill>
                    <a:latin typeface="微软雅黑" panose="020B0503020204020204" pitchFamily="34" charset="-122"/>
                    <a:ea typeface="微软雅黑" panose="020B0503020204020204" pitchFamily="34" charset="-122"/>
                  </a:rPr>
                  <a:t>对角矩阵</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mc:Choice>
        <mc:Fallback>
          <p:sp>
            <p:nvSpPr>
              <p:cNvPr id="9" name="矩形 8"/>
              <p:cNvSpPr>
                <a:spLocks noRot="1" noChangeAspect="1" noMove="1" noResize="1" noEditPoints="1" noAdjustHandles="1" noChangeArrowheads="1" noChangeShapeType="1" noTextEdit="1"/>
              </p:cNvSpPr>
              <p:nvPr/>
            </p:nvSpPr>
            <p:spPr>
              <a:xfrm>
                <a:off x="1568196" y="3131546"/>
                <a:ext cx="9807375" cy="975011"/>
              </a:xfrm>
              <a:prstGeom prst="rect">
                <a:avLst/>
              </a:prstGeom>
              <a:blipFill rotWithShape="1">
                <a:blip r:embed="rId6"/>
                <a:stretch>
                  <a:fillRect l="-4" t="-37" r="2" b="-49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1568195" y="5422090"/>
                <a:ext cx="9807376" cy="969048"/>
              </a:xfrm>
              <a:prstGeom prst="rect">
                <a:avLst/>
              </a:prstGeom>
            </p:spPr>
            <p:txBody>
              <a:bodyPr wrap="square">
                <a:spAutoFit/>
              </a:bodyPr>
              <a:lstStyle/>
              <a:p>
                <a:pPr defTabSz="1219200">
                  <a:lnSpc>
                    <a:spcPct val="150000"/>
                  </a:lnSpc>
                </a:pPr>
                <a14:m>
                  <m:oMath xmlns:m="http://schemas.openxmlformats.org/officeDocument/2006/math">
                    <m:r>
                      <a:rPr lang="en-US" altLang="zh-CN" sz="2000" kern="0" smtClean="0">
                        <a:solidFill>
                          <a:prstClr val="black"/>
                        </a:solidFill>
                        <a:latin typeface="Cambria Math" panose="02040503050406030204" pitchFamily="18" charset="0"/>
                      </a:rPr>
                      <m:t>𝒇</m:t>
                    </m:r>
                    <m:r>
                      <a:rPr lang="en-US" altLang="zh-CN" sz="2000" kern="0">
                        <a:solidFill>
                          <a:prstClr val="black"/>
                        </a:solidFill>
                        <a:latin typeface="Cambria Math" panose="02040503050406030204" pitchFamily="18" charset="0"/>
                      </a:rPr>
                      <m:t>∈</m:t>
                    </m:r>
                    <m:sSup>
                      <m:sSupPr>
                        <m:ctrlPr>
                          <a:rPr lang="zh-CN" altLang="zh-CN" sz="2000" i="1" kern="0">
                            <a:solidFill>
                              <a:prstClr val="black"/>
                            </a:solidFill>
                            <a:latin typeface="Cambria Math" panose="02040503050406030204" pitchFamily="18" charset="0"/>
                          </a:rPr>
                        </m:ctrlPr>
                      </m:sSupPr>
                      <m:e>
                        <m:r>
                          <a:rPr lang="en-US" altLang="zh-CN" sz="2000" kern="0">
                            <a:solidFill>
                              <a:prstClr val="black"/>
                            </a:solidFill>
                            <a:latin typeface="Cambria Math" panose="02040503050406030204" pitchFamily="18" charset="0"/>
                          </a:rPr>
                          <m:t>ℝ</m:t>
                        </m:r>
                      </m:e>
                      <m:sup>
                        <m:r>
                          <a:rPr lang="en-US" altLang="zh-CN" sz="2000" kern="0">
                            <a:solidFill>
                              <a:prstClr val="black"/>
                            </a:solidFill>
                            <a:latin typeface="Cambria Math" panose="02040503050406030204" pitchFamily="18" charset="0"/>
                          </a:rPr>
                          <m:t>𝑳</m:t>
                        </m:r>
                      </m:sup>
                    </m:sSup>
                  </m:oMath>
                </a14:m>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为线路潮流，</a:t>
                </a:r>
                <a14:m>
                  <m:oMath xmlns:m="http://schemas.openxmlformats.org/officeDocument/2006/math">
                    <m:r>
                      <a:rPr lang="en-US" altLang="zh-CN" sz="2000" kern="0">
                        <a:solidFill>
                          <a:prstClr val="black"/>
                        </a:solidFill>
                        <a:latin typeface="Cambria Math" panose="02040503050406030204" pitchFamily="18" charset="0"/>
                      </a:rPr>
                      <m:t>𝜞</m:t>
                    </m:r>
                    <m:r>
                      <a:rPr lang="en-US" altLang="zh-CN" sz="2000" kern="0">
                        <a:solidFill>
                          <a:prstClr val="black"/>
                        </a:solidFill>
                        <a:latin typeface="Cambria Math" panose="02040503050406030204" pitchFamily="18" charset="0"/>
                      </a:rPr>
                      <m:t>∈</m:t>
                    </m:r>
                    <m:sSup>
                      <m:sSupPr>
                        <m:ctrlPr>
                          <a:rPr lang="zh-CN" altLang="zh-CN" sz="2000" i="1" kern="0">
                            <a:solidFill>
                              <a:prstClr val="black"/>
                            </a:solidFill>
                            <a:latin typeface="Cambria Math" panose="02040503050406030204" pitchFamily="18" charset="0"/>
                          </a:rPr>
                        </m:ctrlPr>
                      </m:sSupPr>
                      <m:e>
                        <m:r>
                          <a:rPr lang="en-US" altLang="zh-CN" sz="2000" kern="0">
                            <a:solidFill>
                              <a:prstClr val="black"/>
                            </a:solidFill>
                            <a:latin typeface="Cambria Math" panose="02040503050406030204" pitchFamily="18" charset="0"/>
                          </a:rPr>
                          <m:t>ℝ</m:t>
                        </m:r>
                      </m:e>
                      <m:sup>
                        <m:r>
                          <a:rPr lang="en-US" altLang="zh-CN" sz="2000" kern="0">
                            <a:solidFill>
                              <a:prstClr val="black"/>
                            </a:solidFill>
                            <a:latin typeface="Cambria Math" panose="02040503050406030204" pitchFamily="18" charset="0"/>
                          </a:rPr>
                          <m:t>𝑳</m:t>
                        </m:r>
                        <m:r>
                          <a:rPr lang="en-US" altLang="zh-CN" sz="2000" kern="0">
                            <a:solidFill>
                              <a:prstClr val="black"/>
                            </a:solidFill>
                            <a:latin typeface="Cambria Math" panose="02040503050406030204" pitchFamily="18" charset="0"/>
                          </a:rPr>
                          <m:t>×</m:t>
                        </m:r>
                        <m:r>
                          <a:rPr lang="en-US" altLang="zh-CN" sz="2000" kern="0">
                            <a:solidFill>
                              <a:prstClr val="black"/>
                            </a:solidFill>
                            <a:latin typeface="Cambria Math" panose="02040503050406030204" pitchFamily="18" charset="0"/>
                          </a:rPr>
                          <m:t>𝑵</m:t>
                        </m:r>
                      </m:sup>
                    </m:sSup>
                  </m:oMath>
                </a14:m>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为功率传输分布因子矩阵（</a:t>
                </a:r>
                <a:r>
                  <a:rPr lang="en-US"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PTDF</a:t>
                </a:r>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），用于描述节点注入功率变化对线路潮流的影响</a:t>
                </a:r>
                <a:r>
                  <a:rPr lang="zh-CN" altLang="en-US"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b>
                      <m:sSubPr>
                        <m:ctrlPr>
                          <a:rPr lang="zh-CN" altLang="zh-CN" sz="2000" i="1" kern="0">
                            <a:solidFill>
                              <a:prstClr val="black"/>
                            </a:solidFill>
                            <a:latin typeface="Cambria Math" panose="02040503050406030204" pitchFamily="18" charset="0"/>
                          </a:rPr>
                        </m:ctrlPr>
                      </m:sSubPr>
                      <m:e>
                        <m:r>
                          <a:rPr lang="en-US" altLang="zh-CN" sz="2000" kern="0">
                            <a:solidFill>
                              <a:prstClr val="black"/>
                            </a:solidFill>
                            <a:latin typeface="Cambria Math" panose="02040503050406030204" pitchFamily="18" charset="0"/>
                          </a:rPr>
                          <m:t>𝑩</m:t>
                        </m:r>
                      </m:e>
                      <m:sub>
                        <m:r>
                          <a:rPr lang="en-US" altLang="zh-CN" sz="2000" kern="0">
                            <a:solidFill>
                              <a:prstClr val="black"/>
                            </a:solidFill>
                            <a:latin typeface="Cambria Math" panose="02040503050406030204" pitchFamily="18" charset="0"/>
                          </a:rPr>
                          <m:t>𝟎</m:t>
                        </m:r>
                      </m:sub>
                    </m:sSub>
                    <m:r>
                      <a:rPr lang="en-US" altLang="zh-CN" sz="2000" kern="0">
                        <a:solidFill>
                          <a:prstClr val="black"/>
                        </a:solidFill>
                        <a:latin typeface="Cambria Math" panose="02040503050406030204" pitchFamily="18" charset="0"/>
                      </a:rPr>
                      <m:t>, </m:t>
                    </m:r>
                    <m:sSub>
                      <m:sSubPr>
                        <m:ctrlPr>
                          <a:rPr lang="zh-CN" altLang="zh-CN" sz="2000" i="1" kern="0">
                            <a:solidFill>
                              <a:prstClr val="black"/>
                            </a:solidFill>
                            <a:latin typeface="Cambria Math" panose="02040503050406030204" pitchFamily="18" charset="0"/>
                          </a:rPr>
                        </m:ctrlPr>
                      </m:sSubPr>
                      <m:e>
                        <m:r>
                          <a:rPr lang="en-US" altLang="zh-CN" sz="2000" kern="0">
                            <a:solidFill>
                              <a:prstClr val="black"/>
                            </a:solidFill>
                            <a:latin typeface="Cambria Math" panose="02040503050406030204" pitchFamily="18" charset="0"/>
                          </a:rPr>
                          <m:t>𝑨</m:t>
                        </m:r>
                      </m:e>
                      <m:sub>
                        <m:r>
                          <a:rPr lang="en-US" altLang="zh-CN" sz="2000" kern="0">
                            <a:solidFill>
                              <a:prstClr val="black"/>
                            </a:solidFill>
                            <a:latin typeface="Cambria Math" panose="02040503050406030204" pitchFamily="18" charset="0"/>
                          </a:rPr>
                          <m:t>𝟎</m:t>
                        </m:r>
                      </m:sub>
                    </m:sSub>
                  </m:oMath>
                </a14:m>
                <a:r>
                  <a:rPr lang="zh-CN" altLang="en-US"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为</a:t>
                </a:r>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去除参考节点后的</a:t>
                </a:r>
                <a14:m>
                  <m:oMath xmlns:m="http://schemas.openxmlformats.org/officeDocument/2006/math">
                    <m:r>
                      <a:rPr lang="en-US" altLang="zh-CN" sz="2000" kern="0">
                        <a:solidFill>
                          <a:prstClr val="black"/>
                        </a:solidFill>
                        <a:latin typeface="Cambria Math" panose="02040503050406030204" pitchFamily="18" charset="0"/>
                      </a:rPr>
                      <m:t>𝑩</m:t>
                    </m:r>
                    <m:r>
                      <a:rPr lang="en-US" altLang="zh-CN" sz="2000" kern="0">
                        <a:solidFill>
                          <a:prstClr val="black"/>
                        </a:solidFill>
                        <a:latin typeface="Cambria Math" panose="02040503050406030204" pitchFamily="18" charset="0"/>
                      </a:rPr>
                      <m:t>, </m:t>
                    </m:r>
                    <m:r>
                      <a:rPr lang="en-US" altLang="zh-CN" sz="2000" kern="0">
                        <a:solidFill>
                          <a:prstClr val="black"/>
                        </a:solidFill>
                        <a:latin typeface="Cambria Math" panose="02040503050406030204" pitchFamily="18" charset="0"/>
                      </a:rPr>
                      <m:t>𝑨</m:t>
                    </m:r>
                  </m:oMath>
                </a14:m>
                <a:endParaRPr lang="en-US"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10" name="矩形 9"/>
              <p:cNvSpPr>
                <a:spLocks noRot="1" noChangeAspect="1" noMove="1" noResize="1" noEditPoints="1" noAdjustHandles="1" noChangeArrowheads="1" noChangeShapeType="1" noTextEdit="1"/>
              </p:cNvSpPr>
              <p:nvPr/>
            </p:nvSpPr>
            <p:spPr>
              <a:xfrm>
                <a:off x="1568195" y="5422090"/>
                <a:ext cx="9807376" cy="969048"/>
              </a:xfrm>
              <a:prstGeom prst="rect">
                <a:avLst/>
              </a:prstGeom>
              <a:blipFill rotWithShape="1">
                <a:blip r:embed="rId7"/>
                <a:stretch>
                  <a:fillRect l="-4" t="-47" r="2" b="-2308"/>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939165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18791" y="113970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正向计算过程：</a:t>
            </a:r>
            <a:r>
              <a:rPr lang="en-US" altLang="zh-CN" sz="2600" b="1" dirty="0">
                <a:latin typeface="微软雅黑" panose="020B0503020204020204" pitchFamily="34" charset="-122"/>
                <a:ea typeface="微软雅黑" panose="020B0503020204020204" pitchFamily="34" charset="-122"/>
              </a:rPr>
              <a:t>2</a:t>
            </a:r>
            <a:r>
              <a:rPr lang="zh-CN" altLang="en-US" sz="2600" b="1" dirty="0">
                <a:latin typeface="微软雅黑" panose="020B0503020204020204" pitchFamily="34" charset="-122"/>
                <a:ea typeface="微软雅黑" panose="020B0503020204020204" pitchFamily="34" charset="-122"/>
              </a:rPr>
              <a:t>、安全约束经济调度电价计算模型</a:t>
            </a:r>
            <a:endParaRPr lang="zh-CN" altLang="en-US" sz="2600" b="1" dirty="0">
              <a:latin typeface="微软雅黑" panose="020B0503020204020204" pitchFamily="34" charset="-122"/>
              <a:ea typeface="微软雅黑" panose="020B0503020204020204" pitchFamily="34" charset="-122"/>
            </a:endParaRPr>
          </a:p>
        </p:txBody>
      </p:sp>
      <p:sp>
        <p:nvSpPr>
          <p:cNvPr id="4" name="矩形 3"/>
          <p:cNvSpPr/>
          <p:nvPr/>
        </p:nvSpPr>
        <p:spPr>
          <a:xfrm>
            <a:off x="1269263" y="1738894"/>
            <a:ext cx="8411494" cy="499624"/>
          </a:xfrm>
          <a:prstGeom prst="rect">
            <a:avLst/>
          </a:prstGeom>
        </p:spPr>
        <p:txBody>
          <a:bodyPr wrap="square">
            <a:spAutoFit/>
          </a:bodyPr>
          <a:lstStyle/>
          <a:p>
            <a:pPr defTabSz="1219200">
              <a:lnSpc>
                <a:spcPct val="150000"/>
              </a:lnSpc>
              <a:defRPr/>
            </a:pPr>
            <a:r>
              <a:rPr lang="zh-CN" altLang="en-US" sz="2000" kern="0" dirty="0">
                <a:solidFill>
                  <a:prstClr val="black"/>
                </a:solidFill>
                <a:latin typeface="微软雅黑" panose="020B0503020204020204" pitchFamily="34" charset="-122"/>
                <a:ea typeface="微软雅黑" panose="020B0503020204020204" pitchFamily="34" charset="-122"/>
              </a:rPr>
              <a:t>目前国外大部分以及广东电力市场采用直流最优潮流模型计算节点电价</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3799122" y="2386249"/>
            <a:ext cx="3289861" cy="1636581"/>
          </a:xfrm>
          <a:prstGeom prst="rect">
            <a:avLst/>
          </a:prstGeom>
        </p:spPr>
      </p:pic>
      <p:sp>
        <p:nvSpPr>
          <p:cNvPr id="6" name="文本框 5"/>
          <p:cNvSpPr txBox="1"/>
          <p:nvPr/>
        </p:nvSpPr>
        <p:spPr>
          <a:xfrm>
            <a:off x="7304323" y="2282686"/>
            <a:ext cx="497252" cy="1881990"/>
          </a:xfrm>
          <a:prstGeom prst="rect">
            <a:avLst/>
          </a:prstGeom>
          <a:noFill/>
        </p:spPr>
        <p:txBody>
          <a:bodyPr wrap="none" rtlCol="0">
            <a:spAutoFit/>
          </a:bodyPr>
          <a:lstStyle/>
          <a:p>
            <a:pPr>
              <a:lnSpc>
                <a:spcPct val="150000"/>
              </a:lnSpc>
            </a:pPr>
            <a:r>
              <a:rPr lang="en-US" altLang="zh-CN" sz="2000" dirty="0">
                <a:latin typeface="Arial" panose="020B0604020202020204" pitchFamily="34" charset="0"/>
                <a:cs typeface="Arial" panose="020B0604020202020204" pitchFamily="34" charset="0"/>
              </a:rPr>
              <a:t>(a)</a:t>
            </a:r>
            <a:endParaRPr lang="en-US" altLang="zh-CN" sz="2000" dirty="0">
              <a:latin typeface="Arial" panose="020B0604020202020204" pitchFamily="34" charset="0"/>
              <a:cs typeface="Arial" panose="020B0604020202020204" pitchFamily="34" charset="0"/>
            </a:endParaRPr>
          </a:p>
          <a:p>
            <a:pPr>
              <a:lnSpc>
                <a:spcPct val="150000"/>
              </a:lnSpc>
            </a:pPr>
            <a:r>
              <a:rPr lang="en-US" altLang="zh-CN" sz="2000" dirty="0">
                <a:latin typeface="Arial" panose="020B0604020202020204" pitchFamily="34" charset="0"/>
                <a:cs typeface="Arial" panose="020B0604020202020204" pitchFamily="34" charset="0"/>
              </a:rPr>
              <a:t>(b)</a:t>
            </a:r>
            <a:endParaRPr lang="en-US" altLang="zh-CN" sz="2000" dirty="0">
              <a:latin typeface="Arial" panose="020B0604020202020204" pitchFamily="34" charset="0"/>
              <a:cs typeface="Arial" panose="020B0604020202020204" pitchFamily="34" charset="0"/>
            </a:endParaRPr>
          </a:p>
          <a:p>
            <a:pPr>
              <a:lnSpc>
                <a:spcPct val="150000"/>
              </a:lnSpc>
            </a:pPr>
            <a:r>
              <a:rPr lang="en-US" altLang="zh-CN" sz="2000" dirty="0">
                <a:latin typeface="Arial" panose="020B0604020202020204" pitchFamily="34" charset="0"/>
                <a:cs typeface="Arial" panose="020B0604020202020204" pitchFamily="34" charset="0"/>
              </a:rPr>
              <a:t>(c)</a:t>
            </a:r>
            <a:endParaRPr lang="en-US" altLang="zh-CN" sz="2000" dirty="0">
              <a:latin typeface="Arial" panose="020B0604020202020204" pitchFamily="34" charset="0"/>
              <a:cs typeface="Arial" panose="020B0604020202020204" pitchFamily="34" charset="0"/>
            </a:endParaRPr>
          </a:p>
          <a:p>
            <a:pPr>
              <a:lnSpc>
                <a:spcPct val="150000"/>
              </a:lnSpc>
            </a:pPr>
            <a:r>
              <a:rPr lang="en-US" altLang="zh-CN" sz="2000" dirty="0">
                <a:latin typeface="Arial" panose="020B0604020202020204" pitchFamily="34" charset="0"/>
                <a:cs typeface="Arial" panose="020B0604020202020204" pitchFamily="34" charset="0"/>
              </a:rPr>
              <a:t>(d)</a:t>
            </a:r>
            <a:endParaRPr lang="zh-CN" altLang="en-US" sz="20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7" name="矩形 6"/>
              <p:cNvSpPr/>
              <p:nvPr/>
            </p:nvSpPr>
            <p:spPr>
              <a:xfrm>
                <a:off x="1287359" y="4098796"/>
                <a:ext cx="9645255" cy="961289"/>
              </a:xfrm>
              <a:prstGeom prst="rect">
                <a:avLst/>
              </a:prstGeom>
            </p:spPr>
            <p:txBody>
              <a:bodyPr wrap="square">
                <a:spAutoFit/>
              </a:bodyPr>
              <a:lstStyle/>
              <a:p>
                <a:pPr defTabSz="1219200">
                  <a:lnSpc>
                    <a:spcPct val="150000"/>
                  </a:lnSpc>
                  <a:defRPr/>
                </a:pPr>
                <a:r>
                  <a:rPr lang="zh-CN" altLang="zh-CN" sz="2000" kern="0" dirty="0">
                    <a:solidFill>
                      <a:prstClr val="black"/>
                    </a:solidFill>
                    <a:latin typeface="微软雅黑" panose="020B0503020204020204" pitchFamily="34" charset="-122"/>
                    <a:ea typeface="微软雅黑" panose="020B0503020204020204" pitchFamily="34" charset="-122"/>
                  </a:rPr>
                  <a:t>最优发电机出力</a:t>
                </a:r>
                <a14:m>
                  <m:oMath xmlns:m="http://schemas.openxmlformats.org/officeDocument/2006/math">
                    <m:sSubSup>
                      <m:sSubSupPr>
                        <m:ctrlPr>
                          <a:rPr lang="zh-CN" altLang="zh-CN" sz="2000" i="1" kern="0">
                            <a:solidFill>
                              <a:prstClr val="black"/>
                            </a:solidFill>
                            <a:latin typeface="Cambria Math" panose="02040503050406030204" pitchFamily="18" charset="0"/>
                            <a:ea typeface="微软雅黑" panose="020B0503020204020204" pitchFamily="34" charset="-122"/>
                          </a:rPr>
                        </m:ctrlPr>
                      </m:sSubSupPr>
                      <m:e>
                        <m:r>
                          <a:rPr lang="en-US" altLang="zh-CN" sz="2000" kern="0">
                            <a:solidFill>
                              <a:prstClr val="black"/>
                            </a:solidFill>
                            <a:latin typeface="Cambria Math" panose="02040503050406030204" pitchFamily="18" charset="0"/>
                            <a:ea typeface="微软雅黑" panose="020B0503020204020204" pitchFamily="34" charset="-122"/>
                          </a:rPr>
                          <m:t>𝑷</m:t>
                        </m:r>
                      </m:e>
                      <m:sub>
                        <m:r>
                          <a:rPr lang="en-US" altLang="zh-CN" sz="2000" kern="0">
                            <a:solidFill>
                              <a:prstClr val="black"/>
                            </a:solidFill>
                            <a:latin typeface="Cambria Math" panose="02040503050406030204" pitchFamily="18" charset="0"/>
                            <a:ea typeface="微软雅黑" panose="020B0503020204020204" pitchFamily="34" charset="-122"/>
                          </a:rPr>
                          <m:t>𝐺</m:t>
                        </m:r>
                      </m:sub>
                      <m:sup>
                        <m:r>
                          <a:rPr lang="en-US" altLang="zh-CN" sz="2000" kern="0">
                            <a:solidFill>
                              <a:prstClr val="black"/>
                            </a:solidFill>
                            <a:latin typeface="Cambria Math" panose="02040503050406030204" pitchFamily="18" charset="0"/>
                            <a:ea typeface="微软雅黑" panose="020B0503020204020204" pitchFamily="34" charset="-122"/>
                          </a:rPr>
                          <m:t>∗</m:t>
                        </m:r>
                      </m:sup>
                    </m:sSubSup>
                  </m:oMath>
                </a14:m>
                <a:r>
                  <a:rPr lang="zh-CN" altLang="zh-CN" sz="2000" kern="0" dirty="0">
                    <a:solidFill>
                      <a:prstClr val="black"/>
                    </a:solidFill>
                    <a:latin typeface="微软雅黑" panose="020B0503020204020204" pitchFamily="34" charset="-122"/>
                    <a:ea typeface="微软雅黑" panose="020B0503020204020204" pitchFamily="34" charset="-122"/>
                  </a:rPr>
                  <a:t>通过式</a:t>
                </a:r>
                <a14:m>
                  <m:oMath xmlns:m="http://schemas.openxmlformats.org/officeDocument/2006/math">
                    <m:d>
                      <m:dPr>
                        <m:begChr m:val="（"/>
                        <m:endChr m:val="）"/>
                        <m:ctrlPr>
                          <a:rPr lang="zh-CN" altLang="zh-CN" sz="2000" i="1" kern="0">
                            <a:solidFill>
                              <a:prstClr val="black"/>
                            </a:solidFill>
                            <a:latin typeface="Cambria Math" panose="02040503050406030204" pitchFamily="18" charset="0"/>
                            <a:ea typeface="微软雅黑" panose="020B0503020204020204" pitchFamily="34" charset="-122"/>
                          </a:rPr>
                        </m:ctrlPr>
                      </m:dPr>
                      <m:e>
                        <m:r>
                          <m:rPr>
                            <m:sty m:val="p"/>
                          </m:rPr>
                          <a:rPr lang="en-US" altLang="zh-CN" sz="2000" kern="0">
                            <a:solidFill>
                              <a:prstClr val="black"/>
                            </a:solidFill>
                            <a:latin typeface="Cambria Math" panose="02040503050406030204" pitchFamily="18" charset="0"/>
                            <a:ea typeface="微软雅黑" panose="020B0503020204020204" pitchFamily="34" charset="-122"/>
                          </a:rPr>
                          <m:t>a</m:t>
                        </m:r>
                      </m:e>
                    </m:d>
                  </m:oMath>
                </a14:m>
                <a:r>
                  <a:rPr lang="zh-CN" altLang="zh-CN" sz="2000" kern="0" dirty="0">
                    <a:solidFill>
                      <a:prstClr val="black"/>
                    </a:solidFill>
                    <a:latin typeface="微软雅黑" panose="020B0503020204020204" pitchFamily="34" charset="-122"/>
                    <a:ea typeface="微软雅黑" panose="020B0503020204020204" pitchFamily="34" charset="-122"/>
                  </a:rPr>
                  <a:t>最小化发电成本计算得到，约束条件</a:t>
                </a:r>
                <a14:m>
                  <m:oMath xmlns:m="http://schemas.openxmlformats.org/officeDocument/2006/math">
                    <m:d>
                      <m:dPr>
                        <m:ctrlPr>
                          <a:rPr lang="zh-CN" altLang="zh-CN" sz="2000" i="1" kern="0">
                            <a:solidFill>
                              <a:prstClr val="black"/>
                            </a:solidFill>
                            <a:latin typeface="Cambria Math" panose="02040503050406030204" pitchFamily="18" charset="0"/>
                            <a:ea typeface="微软雅黑" panose="020B0503020204020204" pitchFamily="34" charset="-122"/>
                          </a:rPr>
                        </m:ctrlPr>
                      </m:dPr>
                      <m:e>
                        <m:r>
                          <m:rPr>
                            <m:sty m:val="p"/>
                          </m:rPr>
                          <a:rPr lang="en-US" altLang="zh-CN" sz="2000" kern="0">
                            <a:solidFill>
                              <a:prstClr val="black"/>
                            </a:solidFill>
                            <a:latin typeface="Cambria Math" panose="02040503050406030204" pitchFamily="18" charset="0"/>
                            <a:ea typeface="微软雅黑" panose="020B0503020204020204" pitchFamily="34" charset="-122"/>
                          </a:rPr>
                          <m:t>b</m:t>
                        </m:r>
                      </m:e>
                    </m:d>
                  </m:oMath>
                </a14:m>
                <a:r>
                  <a:rPr lang="zh-CN" altLang="zh-CN" sz="2000" kern="0" dirty="0">
                    <a:solidFill>
                      <a:prstClr val="black"/>
                    </a:solidFill>
                    <a:latin typeface="微软雅黑" panose="020B0503020204020204" pitchFamily="34" charset="-122"/>
                    <a:ea typeface="微软雅黑" panose="020B0503020204020204" pitchFamily="34" charset="-122"/>
                  </a:rPr>
                  <a:t>为功率平衡约束，</a:t>
                </a:r>
                <a14:m>
                  <m:oMath xmlns:m="http://schemas.openxmlformats.org/officeDocument/2006/math">
                    <m:d>
                      <m:dPr>
                        <m:ctrlPr>
                          <a:rPr lang="zh-CN" altLang="zh-CN" sz="2000" i="1" kern="0">
                            <a:solidFill>
                              <a:prstClr val="black"/>
                            </a:solidFill>
                            <a:latin typeface="Cambria Math" panose="02040503050406030204" pitchFamily="18" charset="0"/>
                            <a:ea typeface="微软雅黑" panose="020B0503020204020204" pitchFamily="34" charset="-122"/>
                          </a:rPr>
                        </m:ctrlPr>
                      </m:dPr>
                      <m:e>
                        <m:r>
                          <m:rPr>
                            <m:sty m:val="p"/>
                          </m:rPr>
                          <a:rPr lang="en-US" altLang="zh-CN" sz="2000" kern="0">
                            <a:solidFill>
                              <a:prstClr val="black"/>
                            </a:solidFill>
                            <a:latin typeface="Cambria Math" panose="02040503050406030204" pitchFamily="18" charset="0"/>
                            <a:ea typeface="微软雅黑" panose="020B0503020204020204" pitchFamily="34" charset="-122"/>
                          </a:rPr>
                          <m:t>c</m:t>
                        </m:r>
                      </m:e>
                    </m:d>
                  </m:oMath>
                </a14:m>
                <a:r>
                  <a:rPr lang="zh-CN" altLang="zh-CN" sz="2000" kern="0" dirty="0">
                    <a:solidFill>
                      <a:prstClr val="black"/>
                    </a:solidFill>
                    <a:latin typeface="微软雅黑" panose="020B0503020204020204" pitchFamily="34" charset="-122"/>
                    <a:ea typeface="微软雅黑" panose="020B0503020204020204" pitchFamily="34" charset="-122"/>
                  </a:rPr>
                  <a:t>为发电机出力约束，</a:t>
                </a:r>
                <a14:m>
                  <m:oMath xmlns:m="http://schemas.openxmlformats.org/officeDocument/2006/math">
                    <m:d>
                      <m:dPr>
                        <m:ctrlPr>
                          <a:rPr lang="zh-CN" altLang="zh-CN" sz="2000" i="1" kern="0">
                            <a:solidFill>
                              <a:prstClr val="black"/>
                            </a:solidFill>
                            <a:latin typeface="Cambria Math" panose="02040503050406030204" pitchFamily="18" charset="0"/>
                            <a:ea typeface="微软雅黑" panose="020B0503020204020204" pitchFamily="34" charset="-122"/>
                          </a:rPr>
                        </m:ctrlPr>
                      </m:dPr>
                      <m:e>
                        <m:r>
                          <m:rPr>
                            <m:sty m:val="p"/>
                          </m:rPr>
                          <a:rPr lang="en-US" altLang="zh-CN" sz="2000" kern="0">
                            <a:solidFill>
                              <a:prstClr val="black"/>
                            </a:solidFill>
                            <a:latin typeface="Cambria Math" panose="02040503050406030204" pitchFamily="18" charset="0"/>
                            <a:ea typeface="微软雅黑" panose="020B0503020204020204" pitchFamily="34" charset="-122"/>
                          </a:rPr>
                          <m:t>d</m:t>
                        </m:r>
                      </m:e>
                    </m:d>
                  </m:oMath>
                </a14:m>
                <a:r>
                  <a:rPr lang="zh-CN" altLang="zh-CN" sz="2000" kern="0" dirty="0">
                    <a:solidFill>
                      <a:prstClr val="black"/>
                    </a:solidFill>
                    <a:latin typeface="微软雅黑" panose="020B0503020204020204" pitchFamily="34" charset="-122"/>
                    <a:ea typeface="微软雅黑" panose="020B0503020204020204" pitchFamily="34" charset="-122"/>
                  </a:rPr>
                  <a:t>为线路潮流约束</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mc:Choice>
        <mc:Fallback>
          <p:sp>
            <p:nvSpPr>
              <p:cNvPr id="7" name="矩形 6"/>
              <p:cNvSpPr>
                <a:spLocks noRot="1" noChangeAspect="1" noMove="1" noResize="1" noEditPoints="1" noAdjustHandles="1" noChangeArrowheads="1" noChangeShapeType="1" noTextEdit="1"/>
              </p:cNvSpPr>
              <p:nvPr/>
            </p:nvSpPr>
            <p:spPr>
              <a:xfrm>
                <a:off x="1287359" y="4098796"/>
                <a:ext cx="9645255" cy="961289"/>
              </a:xfrm>
              <a:prstGeom prst="rect">
                <a:avLst/>
              </a:prstGeom>
              <a:blipFill rotWithShape="1">
                <a:blip r:embed="rId2"/>
                <a:stretch>
                  <a:fillRect l="-2" t="-53" r="-739" b="-288"/>
                </a:stretch>
              </a:blipFill>
            </p:spPr>
            <p:txBody>
              <a:bodyPr/>
              <a:lstStyle/>
              <a:p>
                <a:r>
                  <a:rPr lang="zh-CN" altLang="en-US">
                    <a:noFill/>
                  </a:rPr>
                  <a:t> </a:t>
                </a:r>
              </a:p>
            </p:txBody>
          </p:sp>
        </mc:Fallback>
      </mc:AlternateContent>
      <p:sp>
        <p:nvSpPr>
          <p:cNvPr id="8" name="矩形 7"/>
          <p:cNvSpPr/>
          <p:nvPr/>
        </p:nvSpPr>
        <p:spPr>
          <a:xfrm>
            <a:off x="1269262" y="5079922"/>
            <a:ext cx="7574131" cy="499624"/>
          </a:xfrm>
          <a:prstGeom prst="rect">
            <a:avLst/>
          </a:prstGeom>
        </p:spPr>
        <p:txBody>
          <a:bodyPr wrap="square">
            <a:spAutoFit/>
          </a:bodyPr>
          <a:lstStyle/>
          <a:p>
            <a:pPr defTabSz="1219200">
              <a:lnSpc>
                <a:spcPct val="150000"/>
              </a:lnSpc>
              <a:defRPr/>
            </a:pPr>
            <a:r>
              <a:rPr lang="zh-CN" altLang="en-US" sz="2000" kern="0" dirty="0">
                <a:solidFill>
                  <a:prstClr val="black"/>
                </a:solidFill>
                <a:latin typeface="微软雅黑" panose="020B0503020204020204" pitchFamily="34" charset="-122"/>
                <a:ea typeface="微软雅黑" panose="020B0503020204020204" pitchFamily="34" charset="-122"/>
              </a:rPr>
              <a:t>节点边际电价由电能价格、网损价格、阻塞价格三部分组成</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3"/>
          <a:stretch>
            <a:fillRect/>
          </a:stretch>
        </p:blipFill>
        <p:spPr>
          <a:xfrm>
            <a:off x="5527976" y="5693586"/>
            <a:ext cx="1561007" cy="400259"/>
          </a:xfrm>
          <a:prstGeom prst="rect">
            <a:avLst/>
          </a:prstGeom>
        </p:spPr>
      </p:pic>
      <p:sp>
        <p:nvSpPr>
          <p:cNvPr id="10" name="矩形 9"/>
          <p:cNvSpPr/>
          <p:nvPr/>
        </p:nvSpPr>
        <p:spPr>
          <a:xfrm>
            <a:off x="4143946" y="5724513"/>
            <a:ext cx="1210588" cy="400110"/>
          </a:xfrm>
          <a:prstGeom prst="rect">
            <a:avLst/>
          </a:prstGeom>
        </p:spPr>
        <p:txBody>
          <a:bodyPr wrap="none">
            <a:spAutoFit/>
          </a:bodyPr>
          <a:lstStyle/>
          <a:p>
            <a:r>
              <a:rPr lang="zh-CN" altLang="en-US" sz="2000" kern="0" dirty="0">
                <a:solidFill>
                  <a:prstClr val="black"/>
                </a:solidFill>
                <a:latin typeface="微软雅黑" panose="020B0503020204020204" pitchFamily="34" charset="-122"/>
                <a:ea typeface="微软雅黑" panose="020B0503020204020204" pitchFamily="34" charset="-122"/>
              </a:rPr>
              <a:t>阻塞价格</a:t>
            </a:r>
            <a:endParaRPr lang="zh-CN" altLang="en-US" sz="2000" dirty="0"/>
          </a:p>
        </p:txBody>
      </p:sp>
      <p:pic>
        <p:nvPicPr>
          <p:cNvPr id="11" name="图片 10"/>
          <p:cNvPicPr>
            <a:picLocks noChangeAspect="1"/>
          </p:cNvPicPr>
          <p:nvPr/>
        </p:nvPicPr>
        <p:blipFill>
          <a:blip r:embed="rId3"/>
          <a:srcRect r="77489" b="36"/>
          <a:stretch>
            <a:fillRect/>
          </a:stretch>
        </p:blipFill>
        <p:spPr>
          <a:xfrm>
            <a:off x="2083714" y="6211788"/>
            <a:ext cx="351396" cy="400110"/>
          </a:xfrm>
          <a:prstGeom prst="rect">
            <a:avLst/>
          </a:prstGeom>
        </p:spPr>
      </p:pic>
      <p:pic>
        <p:nvPicPr>
          <p:cNvPr id="12" name="图片 11"/>
          <p:cNvPicPr>
            <a:picLocks noChangeAspect="1"/>
          </p:cNvPicPr>
          <p:nvPr/>
        </p:nvPicPr>
        <p:blipFill>
          <a:blip r:embed="rId3"/>
          <a:srcRect l="77489" b="36"/>
          <a:stretch>
            <a:fillRect/>
          </a:stretch>
        </p:blipFill>
        <p:spPr>
          <a:xfrm>
            <a:off x="5260760" y="6195191"/>
            <a:ext cx="351396" cy="400110"/>
          </a:xfrm>
          <a:prstGeom prst="rect">
            <a:avLst/>
          </a:prstGeom>
        </p:spPr>
      </p:pic>
      <mc:AlternateContent xmlns:mc="http://schemas.openxmlformats.org/markup-compatibility/2006">
        <mc:Choice xmlns:a14="http://schemas.microsoft.com/office/drawing/2010/main" Requires="a14">
          <p:sp>
            <p:nvSpPr>
              <p:cNvPr id="13" name="矩形 12"/>
              <p:cNvSpPr/>
              <p:nvPr/>
            </p:nvSpPr>
            <p:spPr>
              <a:xfrm>
                <a:off x="1287359" y="6128535"/>
                <a:ext cx="7574131" cy="499624"/>
              </a:xfrm>
              <a:prstGeom prst="rect">
                <a:avLst/>
              </a:prstGeom>
            </p:spPr>
            <p:txBody>
              <a:bodyPr wrap="square">
                <a:spAutoFit/>
              </a:bodyPr>
              <a:lstStyle/>
              <a:p>
                <a:pPr defTabSz="1219200">
                  <a:lnSpc>
                    <a:spcPct val="150000"/>
                  </a:lnSpc>
                  <a:defRPr/>
                </a:pPr>
                <a:r>
                  <a:rPr lang="zh-CN" altLang="en-US" sz="2000" kern="0" dirty="0">
                    <a:solidFill>
                      <a:prstClr val="black"/>
                    </a:solidFill>
                    <a:latin typeface="微软雅黑" panose="020B0503020204020204" pitchFamily="34" charset="-122"/>
                    <a:ea typeface="微软雅黑" panose="020B0503020204020204" pitchFamily="34" charset="-122"/>
                  </a:rPr>
                  <a:t>其中，    为</a:t>
                </a:r>
                <a14:m>
                  <m:oMath xmlns:m="http://schemas.openxmlformats.org/officeDocument/2006/math">
                    <m:r>
                      <a:rPr lang="en-US" altLang="zh-CN" sz="2000" i="1" kern="0" dirty="0" smtClean="0">
                        <a:solidFill>
                          <a:prstClr val="black"/>
                        </a:solidFill>
                        <a:latin typeface="Cambria Math" panose="02040503050406030204" pitchFamily="18" charset="0"/>
                        <a:ea typeface="微软雅黑" panose="020B0503020204020204" pitchFamily="34" charset="-122"/>
                      </a:rPr>
                      <m:t>𝑡</m:t>
                    </m:r>
                  </m:oMath>
                </a14:m>
                <a:r>
                  <a:rPr lang="zh-CN" altLang="en-US" sz="2000" kern="0" dirty="0">
                    <a:solidFill>
                      <a:prstClr val="black"/>
                    </a:solidFill>
                    <a:latin typeface="微软雅黑" panose="020B0503020204020204" pitchFamily="34" charset="-122"/>
                    <a:ea typeface="微软雅黑" panose="020B0503020204020204" pitchFamily="34" charset="-122"/>
                  </a:rPr>
                  <a:t>时刻的阻塞价格分量，    为</a:t>
                </a:r>
                <a14:m>
                  <m:oMath xmlns:m="http://schemas.openxmlformats.org/officeDocument/2006/math">
                    <m:r>
                      <a:rPr lang="en-US" altLang="zh-CN" sz="2000" i="1" kern="0" dirty="0">
                        <a:solidFill>
                          <a:prstClr val="black"/>
                        </a:solidFill>
                        <a:latin typeface="Cambria Math" panose="02040503050406030204" pitchFamily="18" charset="0"/>
                        <a:ea typeface="微软雅黑" panose="020B0503020204020204" pitchFamily="34" charset="-122"/>
                      </a:rPr>
                      <m:t>𝑡</m:t>
                    </m:r>
                  </m:oMath>
                </a14:m>
                <a:r>
                  <a:rPr lang="zh-CN" altLang="en-US" sz="2000" kern="0" dirty="0">
                    <a:solidFill>
                      <a:prstClr val="black"/>
                    </a:solidFill>
                    <a:latin typeface="微软雅黑" panose="020B0503020204020204" pitchFamily="34" charset="-122"/>
                    <a:ea typeface="微软雅黑" panose="020B0503020204020204" pitchFamily="34" charset="-122"/>
                  </a:rPr>
                  <a:t>时刻的线路影子价格</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mc:Choice>
        <mc:Fallback>
          <p:sp>
            <p:nvSpPr>
              <p:cNvPr id="13" name="矩形 12"/>
              <p:cNvSpPr>
                <a:spLocks noRot="1" noChangeAspect="1" noMove="1" noResize="1" noEditPoints="1" noAdjustHandles="1" noChangeArrowheads="1" noChangeShapeType="1" noTextEdit="1"/>
              </p:cNvSpPr>
              <p:nvPr/>
            </p:nvSpPr>
            <p:spPr>
              <a:xfrm>
                <a:off x="1287359" y="6128535"/>
                <a:ext cx="7574131" cy="499624"/>
              </a:xfrm>
              <a:prstGeom prst="rect">
                <a:avLst/>
              </a:prstGeom>
              <a:blipFill rotWithShape="1">
                <a:blip r:embed="rId4"/>
                <a:stretch>
                  <a:fillRect l="-3" t="-30" r="1" b="-630"/>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54553" y="402058"/>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7206" y="1088636"/>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反向逆推过程：</a:t>
            </a:r>
            <a:r>
              <a:rPr lang="en-US" altLang="zh-CN" sz="2600" b="1" dirty="0">
                <a:latin typeface="微软雅黑" panose="020B0503020204020204" pitchFamily="34" charset="-122"/>
                <a:ea typeface="微软雅黑" panose="020B0503020204020204" pitchFamily="34" charset="-122"/>
              </a:rPr>
              <a:t>1</a:t>
            </a:r>
            <a:r>
              <a:rPr lang="zh-CN" altLang="en-US" sz="2600" b="1" dirty="0">
                <a:latin typeface="微软雅黑" panose="020B0503020204020204" pitchFamily="34" charset="-122"/>
                <a:ea typeface="微软雅黑" panose="020B0503020204020204" pitchFamily="34" charset="-122"/>
              </a:rPr>
              <a:t>、导纳推断模型</a:t>
            </a:r>
            <a:endParaRPr lang="zh-CN" altLang="en-US" sz="2600" b="1" dirty="0">
              <a:latin typeface="微软雅黑" panose="020B0503020204020204" pitchFamily="34" charset="-122"/>
              <a:ea typeface="微软雅黑" panose="020B0503020204020204" pitchFamily="34" charset="-122"/>
            </a:endParaRPr>
          </a:p>
        </p:txBody>
      </p:sp>
      <p:sp>
        <p:nvSpPr>
          <p:cNvPr id="4" name="右大括号 10"/>
          <p:cNvSpPr/>
          <p:nvPr/>
        </p:nvSpPr>
        <p:spPr>
          <a:xfrm>
            <a:off x="4131448" y="2101068"/>
            <a:ext cx="231494" cy="167033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5" name="矩形 64"/>
          <p:cNvSpPr/>
          <p:nvPr/>
        </p:nvSpPr>
        <p:spPr>
          <a:xfrm>
            <a:off x="1970271" y="4024782"/>
            <a:ext cx="1467068" cy="400110"/>
          </a:xfrm>
          <a:prstGeom prst="rect">
            <a:avLst/>
          </a:prstGeom>
        </p:spPr>
        <p:txBody>
          <a:bodyPr wrap="none">
            <a:spAutoFit/>
          </a:bodyPr>
          <a:lstStyle/>
          <a:p>
            <a:r>
              <a:rPr lang="zh-CN" altLang="en-US" sz="2000" kern="100" dirty="0">
                <a:latin typeface="Arial" panose="020B0604020202020204" pitchFamily="34" charset="0"/>
                <a:ea typeface="微软雅黑" panose="020B0503020204020204" pitchFamily="34" charset="-122"/>
                <a:cs typeface="Arial" panose="020B0604020202020204" pitchFamily="34" charset="0"/>
              </a:rPr>
              <a:t>令系数矩阵</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6" name="矩形 5"/>
              <p:cNvSpPr/>
              <p:nvPr/>
            </p:nvSpPr>
            <p:spPr>
              <a:xfrm>
                <a:off x="2271362" y="2152285"/>
                <a:ext cx="1687770" cy="4682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400" b="1" i="1">
                          <a:latin typeface="Cambria Math" panose="02040503050406030204" pitchFamily="18" charset="0"/>
                        </a:rPr>
                        <m:t>𝑩</m:t>
                      </m:r>
                      <m:r>
                        <a:rPr lang="zh-CN" altLang="en-US" sz="2400" b="0" i="0">
                          <a:latin typeface="Cambria Math" panose="02040503050406030204" pitchFamily="18" charset="0"/>
                        </a:rPr>
                        <m:t>=</m:t>
                      </m:r>
                      <m:sSup>
                        <m:sSupPr>
                          <m:ctrlPr>
                            <a:rPr lang="zh-CN" altLang="en-US" sz="2400" b="0"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1" i="1">
                          <a:latin typeface="Cambria Math" panose="02040503050406030204" pitchFamily="18" charset="0"/>
                        </a:rPr>
                        <m:t>𝑫𝑨</m:t>
                      </m:r>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6" name="矩形 5"/>
              <p:cNvSpPr>
                <a:spLocks noRot="1" noChangeAspect="1" noMove="1" noResize="1" noEditPoints="1" noAdjustHandles="1" noChangeArrowheads="1" noChangeShapeType="1" noTextEdit="1"/>
              </p:cNvSpPr>
              <p:nvPr/>
            </p:nvSpPr>
            <p:spPr>
              <a:xfrm>
                <a:off x="2271362" y="2152285"/>
                <a:ext cx="1687770" cy="468205"/>
              </a:xfrm>
              <a:prstGeom prst="rect">
                <a:avLst/>
              </a:prstGeom>
              <a:blipFill rotWithShape="1">
                <a:blip r:embed="rId1"/>
                <a:stretch>
                  <a:fillRect l="-36" t="-58" r="32" b="1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2271362" y="3258178"/>
                <a:ext cx="1650260"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p>
                        <m:sSupPr>
                          <m:ctrlPr>
                            <a:rPr lang="zh-CN" altLang="en-US" sz="2400" b="0" i="1">
                              <a:latin typeface="Cambria Math" panose="02040503050406030204" pitchFamily="18" charset="0"/>
                            </a:rPr>
                          </m:ctrlPr>
                        </m:sSupPr>
                        <m:e>
                          <m:r>
                            <a:rPr lang="zh-CN" altLang="en-US" sz="2400" b="1" i="1">
                              <a:latin typeface="Cambria Math" panose="02040503050406030204" pitchFamily="18" charset="0"/>
                            </a:rPr>
                            <m:t>𝜞</m:t>
                          </m:r>
                        </m:e>
                        <m:sup>
                          <m:r>
                            <a:rPr lang="zh-CN" altLang="en-US" sz="2400" b="0" i="1">
                              <a:latin typeface="Cambria Math" panose="02040503050406030204" pitchFamily="18" charset="0"/>
                            </a:rPr>
                            <m:t>𝑇</m:t>
                          </m:r>
                        </m:sup>
                      </m:sSup>
                      <m:sSub>
                        <m:sSubPr>
                          <m:ctrlPr>
                            <a:rPr lang="zh-CN" altLang="en-US" sz="2400" b="0"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7" name="矩形 6"/>
              <p:cNvSpPr>
                <a:spLocks noRot="1" noChangeAspect="1" noMove="1" noResize="1" noEditPoints="1" noAdjustHandles="1" noChangeArrowheads="1" noChangeShapeType="1" noTextEdit="1"/>
              </p:cNvSpPr>
              <p:nvPr/>
            </p:nvSpPr>
            <p:spPr>
              <a:xfrm>
                <a:off x="2271362" y="3258178"/>
                <a:ext cx="1650260" cy="461665"/>
              </a:xfrm>
              <a:prstGeom prst="rect">
                <a:avLst/>
              </a:prstGeom>
              <a:blipFill rotWithShape="1">
                <a:blip r:embed="rId2"/>
                <a:stretch>
                  <a:fillRect l="-36" t="-136" r="30"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2271362" y="2729772"/>
                <a:ext cx="1522596"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400" b="1" i="1">
                          <a:latin typeface="Cambria Math" panose="02040503050406030204" pitchFamily="18" charset="0"/>
                        </a:rPr>
                        <m:t>𝜞</m:t>
                      </m:r>
                      <m:r>
                        <a:rPr lang="zh-CN" altLang="en-US" sz="2400" b="1" i="1">
                          <a:latin typeface="Cambria Math" panose="02040503050406030204" pitchFamily="18" charset="0"/>
                        </a:rPr>
                        <m:t>𝑩</m:t>
                      </m:r>
                      <m:r>
                        <a:rPr lang="zh-CN" altLang="en-US" sz="2400" b="0" i="0">
                          <a:latin typeface="Cambria Math" panose="02040503050406030204" pitchFamily="18" charset="0"/>
                        </a:rPr>
                        <m:t>=</m:t>
                      </m:r>
                      <m:r>
                        <a:rPr lang="zh-CN" altLang="en-US" sz="2400" b="1" i="1">
                          <a:latin typeface="Cambria Math" panose="02040503050406030204" pitchFamily="18" charset="0"/>
                        </a:rPr>
                        <m:t>𝑫𝑨</m:t>
                      </m:r>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8" name="矩形 7"/>
              <p:cNvSpPr>
                <a:spLocks noRot="1" noChangeAspect="1" noMove="1" noResize="1" noEditPoints="1" noAdjustHandles="1" noChangeArrowheads="1" noChangeShapeType="1" noTextEdit="1"/>
              </p:cNvSpPr>
              <p:nvPr/>
            </p:nvSpPr>
            <p:spPr>
              <a:xfrm>
                <a:off x="2271362" y="2729772"/>
                <a:ext cx="1522596" cy="461665"/>
              </a:xfrm>
              <a:prstGeom prst="rect">
                <a:avLst/>
              </a:prstGeom>
              <a:blipFill rotWithShape="1">
                <a:blip r:embed="rId3"/>
                <a:stretch>
                  <a:fillRect l="-40" t="-117" r="31" b="1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5206668" y="2152284"/>
                <a:ext cx="4904548"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zh-CN" sz="2400" b="1" i="1" smtClean="0">
                              <a:latin typeface="Cambria Math" panose="02040503050406030204" pitchFamily="18" charset="0"/>
                              <a:cs typeface="Times New Roman" panose="02020603050405020304" pitchFamily="18" charset="0"/>
                            </a:rPr>
                          </m:ctrlPr>
                        </m:sSupPr>
                        <m:e>
                          <m:r>
                            <a:rPr lang="en-US" altLang="zh-CN" sz="2400" b="1" i="1">
                              <a:latin typeface="Cambria Math" panose="02040503050406030204" pitchFamily="18" charset="0"/>
                              <a:cs typeface="Times New Roman" panose="02020603050405020304" pitchFamily="18" charset="0"/>
                            </a:rPr>
                            <m:t>𝑨</m:t>
                          </m:r>
                        </m:e>
                        <m:sup>
                          <m:r>
                            <a:rPr lang="en-US" altLang="zh-CN" sz="2400" i="1">
                              <a:latin typeface="Cambria Math" panose="02040503050406030204" pitchFamily="18" charset="0"/>
                              <a:cs typeface="Times New Roman" panose="02020603050405020304" pitchFamily="18" charset="0"/>
                            </a:rPr>
                            <m:t>𝑇</m:t>
                          </m:r>
                        </m:sup>
                      </m:sSup>
                      <m:r>
                        <a:rPr lang="en-US" altLang="zh-CN" sz="2400" b="1" i="1">
                          <a:latin typeface="Cambria Math" panose="02040503050406030204" pitchFamily="18" charset="0"/>
                          <a:cs typeface="Times New Roman" panose="02020603050405020304" pitchFamily="18" charset="0"/>
                        </a:rPr>
                        <m:t>𝑫𝑨</m:t>
                      </m:r>
                      <m:sSub>
                        <m:sSubPr>
                          <m:ctrlPr>
                            <a:rPr lang="zh-CN" altLang="zh-CN" sz="2400" b="1" i="1">
                              <a:latin typeface="Cambria Math" panose="02040503050406030204" pitchFamily="18" charset="0"/>
                              <a:cs typeface="Times New Roman" panose="02020603050405020304" pitchFamily="18" charset="0"/>
                            </a:rPr>
                          </m:ctrlPr>
                        </m:sSubPr>
                        <m:e>
                          <m:r>
                            <a:rPr lang="en-US" altLang="zh-CN" sz="2400" b="1" i="1">
                              <a:latin typeface="Cambria Math" panose="02040503050406030204" pitchFamily="18" charset="0"/>
                              <a:cs typeface="Times New Roman" panose="02020603050405020304" pitchFamily="18" charset="0"/>
                            </a:rPr>
                            <m:t>𝝀</m:t>
                          </m:r>
                        </m:e>
                        <m:sub>
                          <m:r>
                            <a:rPr lang="en-US" altLang="zh-CN" sz="2400" i="1">
                              <a:latin typeface="Cambria Math" panose="02040503050406030204" pitchFamily="18" charset="0"/>
                              <a:cs typeface="Times New Roman" panose="02020603050405020304" pitchFamily="18" charset="0"/>
                            </a:rPr>
                            <m:t>𝑡</m:t>
                          </m:r>
                        </m:sub>
                      </m:sSub>
                      <m:r>
                        <a:rPr lang="en-US" altLang="zh-CN" sz="2400" b="1" i="1" smtClean="0">
                          <a:latin typeface="Cambria Math" panose="02040503050406030204" pitchFamily="18" charset="0"/>
                          <a:cs typeface="Times New Roman" panose="02020603050405020304" pitchFamily="18" charset="0"/>
                        </a:rPr>
                        <m:t>=</m:t>
                      </m:r>
                      <m:r>
                        <a:rPr lang="zh-CN" altLang="en-US" sz="2400" b="1" i="1">
                          <a:latin typeface="Cambria Math" panose="02040503050406030204" pitchFamily="18" charset="0"/>
                        </a:rPr>
                        <m:t>𝑩</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r>
                        <a:rPr lang="zh-CN" altLang="en-US" sz="2400" b="1" i="1">
                          <a:latin typeface="Cambria Math" panose="02040503050406030204" pitchFamily="18" charset="0"/>
                        </a:rPr>
                        <m:t>𝑩</m:t>
                      </m:r>
                      <m:sSup>
                        <m:sSupPr>
                          <m:ctrlPr>
                            <a:rPr lang="zh-CN" altLang="en-US" sz="2400" b="1" i="1">
                              <a:latin typeface="Cambria Math" panose="02040503050406030204" pitchFamily="18" charset="0"/>
                            </a:rPr>
                          </m:ctrlPr>
                        </m:sSupPr>
                        <m:e>
                          <m:r>
                            <a:rPr lang="zh-CN" altLang="en-US" sz="2400" b="1" i="1">
                              <a:latin typeface="Cambria Math" panose="02040503050406030204" pitchFamily="18" charset="0"/>
                            </a:rPr>
                            <m:t>𝜞</m:t>
                          </m:r>
                        </m:e>
                        <m:sup>
                          <m:r>
                            <a:rPr lang="zh-CN" altLang="en-US" sz="2400" b="0" i="1">
                              <a:latin typeface="Cambria Math" panose="02040503050406030204" pitchFamily="18" charset="0"/>
                            </a:rPr>
                            <m:t>𝑇</m:t>
                          </m:r>
                        </m:sup>
                      </m:sSup>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p>
                        <m:sSupPr>
                          <m:ctrlPr>
                            <a:rPr lang="zh-CN" altLang="en-US" sz="2400" b="0"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1" i="1">
                          <a:latin typeface="Cambria Math" panose="02040503050406030204" pitchFamily="18" charset="0"/>
                        </a:rPr>
                        <m:t>𝑫</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9" name="矩形 8"/>
              <p:cNvSpPr>
                <a:spLocks noRot="1" noChangeAspect="1" noMove="1" noResize="1" noEditPoints="1" noAdjustHandles="1" noChangeArrowheads="1" noChangeShapeType="1" noTextEdit="1"/>
              </p:cNvSpPr>
              <p:nvPr/>
            </p:nvSpPr>
            <p:spPr>
              <a:xfrm>
                <a:off x="5206668" y="2152284"/>
                <a:ext cx="4904548" cy="461665"/>
              </a:xfrm>
              <a:prstGeom prst="rect">
                <a:avLst/>
              </a:prstGeom>
              <a:blipFill rotWithShape="1">
                <a:blip r:embed="rId4"/>
                <a:stretch>
                  <a:fillRect l="-6" t="-58" r="2" b="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5206668" y="2714386"/>
                <a:ext cx="2885149"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en-US" sz="2400" b="1"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1" i="1">
                          <a:latin typeface="Cambria Math" panose="02040503050406030204" pitchFamily="18" charset="0"/>
                        </a:rPr>
                        <m:t>𝑫</m:t>
                      </m:r>
                      <m:r>
                        <a:rPr lang="zh-CN" altLang="en-US" sz="2400" b="0" i="0">
                          <a:latin typeface="Cambria Math" panose="02040503050406030204" pitchFamily="18" charset="0"/>
                        </a:rPr>
                        <m:t>(</m:t>
                      </m:r>
                      <m:r>
                        <a:rPr lang="zh-CN" altLang="en-US" sz="2400" b="1" i="1">
                          <a:latin typeface="Cambria Math" panose="02040503050406030204" pitchFamily="18" charset="0"/>
                        </a:rPr>
                        <m:t>𝑨</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b>
                        <m:sSubPr>
                          <m:ctrlPr>
                            <a:rPr lang="zh-CN" altLang="en-US" sz="2400" b="0"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r>
                        <a:rPr lang="zh-CN" altLang="en-US" sz="2400" b="0" i="0">
                          <a:latin typeface="Cambria Math" panose="02040503050406030204" pitchFamily="18" charset="0"/>
                        </a:rPr>
                        <m:t>0</m:t>
                      </m:r>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10" name="矩形 9"/>
              <p:cNvSpPr>
                <a:spLocks noRot="1" noChangeAspect="1" noMove="1" noResize="1" noEditPoints="1" noAdjustHandles="1" noChangeArrowheads="1" noChangeShapeType="1" noTextEdit="1"/>
              </p:cNvSpPr>
              <p:nvPr/>
            </p:nvSpPr>
            <p:spPr>
              <a:xfrm>
                <a:off x="5206668" y="2714386"/>
                <a:ext cx="2885149" cy="461665"/>
              </a:xfrm>
              <a:prstGeom prst="rect">
                <a:avLst/>
              </a:prstGeom>
              <a:blipFill rotWithShape="1">
                <a:blip r:embed="rId5"/>
                <a:stretch>
                  <a:fillRect l="-11" t="-86" b="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5206668" y="3258177"/>
                <a:ext cx="3476272" cy="4682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en-US" sz="2400" b="1"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0" i="1">
                          <a:latin typeface="Cambria Math" panose="02040503050406030204" pitchFamily="18" charset="0"/>
                        </a:rPr>
                        <m:t>𝑑𝑖𝑎𝑔</m:t>
                      </m:r>
                      <m:d>
                        <m:dPr>
                          <m:ctrlPr>
                            <a:rPr lang="zh-CN" altLang="en-US" sz="2400" b="0" i="1">
                              <a:latin typeface="Cambria Math" panose="02040503050406030204" pitchFamily="18" charset="0"/>
                            </a:rPr>
                          </m:ctrlPr>
                        </m:dPr>
                        <m:e>
                          <m:r>
                            <a:rPr lang="zh-CN" altLang="en-US" sz="2400" b="1" i="1">
                              <a:latin typeface="Cambria Math" panose="02040503050406030204" pitchFamily="18" charset="0"/>
                            </a:rPr>
                            <m:t>𝑨</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b>
                            <m:sSubPr>
                              <m:ctrlPr>
                                <a:rPr lang="zh-CN" altLang="en-US" sz="2400" b="0"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e>
                      </m:d>
                      <m:r>
                        <a:rPr lang="zh-CN" altLang="en-US" sz="2400" b="1" i="1">
                          <a:latin typeface="Cambria Math" panose="02040503050406030204" pitchFamily="18" charset="0"/>
                        </a:rPr>
                        <m:t>𝑿</m:t>
                      </m:r>
                      <m:r>
                        <a:rPr lang="zh-CN" altLang="en-US" sz="2400" b="0" i="0">
                          <a:latin typeface="Cambria Math" panose="02040503050406030204" pitchFamily="18" charset="0"/>
                        </a:rPr>
                        <m:t>=</m:t>
                      </m:r>
                      <m:r>
                        <a:rPr lang="zh-CN" altLang="en-US" sz="2400" b="0" i="0">
                          <a:latin typeface="Cambria Math" panose="02040503050406030204" pitchFamily="18" charset="0"/>
                        </a:rPr>
                        <m:t>0</m:t>
                      </m:r>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11" name="矩形 10"/>
              <p:cNvSpPr>
                <a:spLocks noRot="1" noChangeAspect="1" noMove="1" noResize="1" noEditPoints="1" noAdjustHandles="1" noChangeArrowheads="1" noChangeShapeType="1" noTextEdit="1"/>
              </p:cNvSpPr>
              <p:nvPr/>
            </p:nvSpPr>
            <p:spPr>
              <a:xfrm>
                <a:off x="5206668" y="3258177"/>
                <a:ext cx="3476272" cy="468205"/>
              </a:xfrm>
              <a:prstGeom prst="rect">
                <a:avLst/>
              </a:prstGeom>
              <a:blipFill rotWithShape="1">
                <a:blip r:embed="rId6"/>
                <a:stretch>
                  <a:fillRect l="-9" t="-134" r="17" b="43"/>
                </a:stretch>
              </a:blipFill>
            </p:spPr>
            <p:txBody>
              <a:bodyPr/>
              <a:lstStyle/>
              <a:p>
                <a:r>
                  <a:rPr lang="zh-CN" altLang="en-US">
                    <a:noFill/>
                  </a:rPr>
                  <a:t> </a:t>
                </a:r>
              </a:p>
            </p:txBody>
          </p:sp>
        </mc:Fallback>
      </mc:AlternateContent>
      <p:sp>
        <p:nvSpPr>
          <p:cNvPr id="12" name="箭头: 右 11"/>
          <p:cNvSpPr/>
          <p:nvPr/>
        </p:nvSpPr>
        <p:spPr>
          <a:xfrm>
            <a:off x="4552951" y="2769430"/>
            <a:ext cx="576995" cy="351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13" name="矩形 12"/>
              <p:cNvSpPr/>
              <p:nvPr/>
            </p:nvSpPr>
            <p:spPr>
              <a:xfrm>
                <a:off x="3858075" y="3958737"/>
                <a:ext cx="3443570"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𝑬</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p>
                        <m:sSupPr>
                          <m:ctrlPr>
                            <a:rPr lang="zh-CN" altLang="en-US" sz="2400" b="0"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0" i="1">
                          <a:latin typeface="Cambria Math" panose="02040503050406030204" pitchFamily="18" charset="0"/>
                        </a:rPr>
                        <m:t>𝑑𝑖𝑎𝑔</m:t>
                      </m:r>
                      <m:d>
                        <m:dPr>
                          <m:ctrlPr>
                            <a:rPr lang="zh-CN" altLang="en-US" sz="2400" b="0" i="1">
                              <a:latin typeface="Cambria Math" panose="02040503050406030204" pitchFamily="18" charset="0"/>
                            </a:rPr>
                          </m:ctrlPr>
                        </m:dPr>
                        <m:e>
                          <m:r>
                            <a:rPr lang="zh-CN" altLang="en-US" sz="2400" b="1" i="1">
                              <a:latin typeface="Cambria Math" panose="02040503050406030204" pitchFamily="18" charset="0"/>
                            </a:rPr>
                            <m:t>𝑨</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b>
                            <m:sSubPr>
                              <m:ctrlPr>
                                <a:rPr lang="zh-CN" altLang="en-US" sz="2400" b="0"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e>
                      </m:d>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13" name="矩形 12"/>
              <p:cNvSpPr>
                <a:spLocks noRot="1" noChangeAspect="1" noMove="1" noResize="1" noEditPoints="1" noAdjustHandles="1" noChangeArrowheads="1" noChangeShapeType="1" noTextEdit="1"/>
              </p:cNvSpPr>
              <p:nvPr/>
            </p:nvSpPr>
            <p:spPr>
              <a:xfrm>
                <a:off x="3858075" y="3958737"/>
                <a:ext cx="3443570" cy="461665"/>
              </a:xfrm>
              <a:prstGeom prst="rect">
                <a:avLst/>
              </a:prstGeom>
              <a:blipFill rotWithShape="1">
                <a:blip r:embed="rId7"/>
                <a:stretch>
                  <a:fillRect l="-13" t="-32" r="12"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p:cNvSpPr/>
              <p:nvPr/>
            </p:nvSpPr>
            <p:spPr>
              <a:xfrm>
                <a:off x="1988914" y="4837675"/>
                <a:ext cx="2730684" cy="401200"/>
              </a:xfrm>
              <a:prstGeom prst="rect">
                <a:avLst/>
              </a:prstGeom>
            </p:spPr>
            <p:txBody>
              <a:bodyPr wrap="none">
                <a:spAutoFit/>
              </a:bodyPr>
              <a:lstStyle/>
              <a:p>
                <a14:m>
                  <m:oMath xmlns:m="http://schemas.openxmlformats.org/officeDocument/2006/math">
                    <m:r>
                      <m:rPr>
                        <m:nor/>
                      </m:rPr>
                      <a:rPr lang="zh-CN" altLang="en-US" sz="2000" dirty="0">
                        <a:latin typeface="Arial" panose="020B0604020202020204" pitchFamily="34" charset="0"/>
                        <a:ea typeface="微软雅黑" panose="020B0503020204020204" pitchFamily="34" charset="-122"/>
                        <a:cs typeface="Arial" panose="020B0604020202020204" pitchFamily="34" charset="0"/>
                      </a:rPr>
                      <m:t>将</m:t>
                    </m:r>
                    <m:r>
                      <a:rPr lang="en-US" altLang="zh-CN" sz="2000" i="1" smtClean="0">
                        <a:latin typeface="Cambria Math" panose="02040503050406030204" pitchFamily="18" charset="0"/>
                        <a:cs typeface="Times New Roman" panose="02020603050405020304" pitchFamily="18" charset="0"/>
                      </a:rPr>
                      <m:t>𝑇</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时刻的</a:t>
                </a:r>
                <a14:m>
                  <m:oMath xmlns:m="http://schemas.openxmlformats.org/officeDocument/2006/math">
                    <m:sSub>
                      <m:sSubPr>
                        <m:ctrlPr>
                          <a:rPr lang="zh-CN" altLang="zh-CN" sz="2000" b="1" i="1">
                            <a:latin typeface="Cambria Math" panose="02040503050406030204" pitchFamily="18" charset="0"/>
                            <a:cs typeface="Times New Roman" panose="02020603050405020304" pitchFamily="18" charset="0"/>
                          </a:rPr>
                        </m:ctrlPr>
                      </m:sSubPr>
                      <m:e>
                        <m:r>
                          <a:rPr lang="en-US" altLang="zh-CN" sz="2000" b="1" i="1">
                            <a:latin typeface="Cambria Math" panose="02040503050406030204" pitchFamily="18" charset="0"/>
                            <a:cs typeface="Times New Roman" panose="02020603050405020304" pitchFamily="18" charset="0"/>
                          </a:rPr>
                          <m:t>𝑬</m:t>
                        </m:r>
                      </m:e>
                      <m:sub>
                        <m:r>
                          <a:rPr lang="en-US" altLang="zh-CN" sz="2000" i="1">
                            <a:latin typeface="Cambria Math" panose="02040503050406030204" pitchFamily="18" charset="0"/>
                            <a:cs typeface="Times New Roman" panose="02020603050405020304" pitchFamily="18" charset="0"/>
                          </a:rPr>
                          <m:t>𝑡</m:t>
                        </m:r>
                      </m:sub>
                    </m:sSub>
                  </m:oMath>
                </a14:m>
                <a:r>
                  <a:rPr lang="en-US" altLang="zh-CN" sz="2000" dirty="0">
                    <a:latin typeface="Arial" panose="020B0604020202020204" pitchFamily="34" charset="0"/>
                    <a:ea typeface="微软雅黑" panose="020B0503020204020204" pitchFamily="34" charset="-122"/>
                    <a:cs typeface="Arial" panose="020B0604020202020204" pitchFamily="34" charset="0"/>
                  </a:rPr>
                  <a:t> </a:t>
                </a:r>
                <a:r>
                  <a:rPr lang="zh-CN" altLang="en-US" sz="2000" dirty="0">
                    <a:latin typeface="Arial" panose="020B0604020202020204" pitchFamily="34" charset="0"/>
                    <a:ea typeface="微软雅黑" panose="020B0503020204020204" pitchFamily="34" charset="-122"/>
                    <a:cs typeface="Arial" panose="020B0604020202020204" pitchFamily="34" charset="0"/>
                  </a:rPr>
                  <a:t>拼接可得</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14" name="矩形 13"/>
              <p:cNvSpPr>
                <a:spLocks noRot="1" noChangeAspect="1" noMove="1" noResize="1" noEditPoints="1" noAdjustHandles="1" noChangeArrowheads="1" noChangeShapeType="1" noTextEdit="1"/>
              </p:cNvSpPr>
              <p:nvPr/>
            </p:nvSpPr>
            <p:spPr>
              <a:xfrm>
                <a:off x="1988914" y="4837675"/>
                <a:ext cx="2730684" cy="401200"/>
              </a:xfrm>
              <a:prstGeom prst="rect">
                <a:avLst/>
              </a:prstGeom>
              <a:blipFill rotWithShape="1">
                <a:blip r:embed="rId8"/>
                <a:stretch>
                  <a:fillRect l="-3" t="-61" r="10" b="-15163"/>
                </a:stretch>
              </a:blipFill>
            </p:spPr>
            <p:txBody>
              <a:bodyPr/>
              <a:lstStyle/>
              <a:p>
                <a:r>
                  <a:rPr lang="zh-CN" altLang="en-US">
                    <a:noFill/>
                  </a:rPr>
                  <a:t> </a:t>
                </a:r>
              </a:p>
            </p:txBody>
          </p:sp>
        </mc:Fallback>
      </mc:AlternateContent>
      <p:sp>
        <p:nvSpPr>
          <p:cNvPr id="15" name="Rectangle 3"/>
          <p:cNvSpPr>
            <a:spLocks noChangeArrowheads="1"/>
          </p:cNvSpPr>
          <p:nvPr/>
        </p:nvSpPr>
        <p:spPr bwMode="auto">
          <a:xfrm>
            <a:off x="1999798" y="5652079"/>
            <a:ext cx="45513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eaLnBrk="0" fontAlgn="base" hangingPunct="0">
              <a:spcBef>
                <a:spcPct val="0"/>
              </a:spcBef>
              <a:spcAft>
                <a:spcPct val="0"/>
              </a:spcAft>
            </a:pPr>
            <a:r>
              <a:rPr kumimoji="0" lang="zh-CN" altLang="en-US" sz="20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使用最小二乘法与</a:t>
            </a:r>
            <a:r>
              <a:rPr kumimoji="1" lang="en-US" altLang="zh-CN"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Tikhonov</a:t>
            </a:r>
            <a:r>
              <a:rPr kumimoji="1" lang="zh-CN" altLang="en-US"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正则化求解</a:t>
            </a:r>
            <a:endParaRPr kumimoji="0" lang="en-US" altLang="zh-CN" sz="20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16" name="矩形 15"/>
              <p:cNvSpPr/>
              <p:nvPr/>
            </p:nvSpPr>
            <p:spPr>
              <a:xfrm>
                <a:off x="4322404" y="6059534"/>
                <a:ext cx="3634280" cy="707758"/>
              </a:xfrm>
              <a:prstGeom prst="rect">
                <a:avLst/>
              </a:prstGeom>
            </p:spPr>
            <p:txBody>
              <a:bodyPr wrap="square">
                <a:spAutoFit/>
              </a:bodyPr>
              <a:lstStyle/>
              <a:p>
                <a14:m>
                  <m:oMathPara xmlns:m="http://schemas.openxmlformats.org/officeDocument/2006/math">
                    <m:oMathParaPr>
                      <m:jc m:val="center"/>
                    </m:oMathParaPr>
                    <m:oMath xmlns:m="http://schemas.openxmlformats.org/officeDocument/2006/math">
                      <m:eqArr>
                        <m:eqArrPr>
                          <m:ctrlPr>
                            <a:rPr lang="zh-CN" altLang="en-US" sz="2400" i="1" smtClean="0">
                              <a:latin typeface="Cambria Math" panose="02040503050406030204" pitchFamily="18" charset="0"/>
                            </a:rPr>
                          </m:ctrlPr>
                        </m:eqArrPr>
                        <m:e>
                          <m:func>
                            <m:funcPr>
                              <m:ctrlPr>
                                <a:rPr lang="zh-CN" altLang="en-US" sz="2400" i="1">
                                  <a:latin typeface="Cambria Math" panose="02040503050406030204" pitchFamily="18" charset="0"/>
                                </a:rPr>
                              </m:ctrlPr>
                            </m:funcPr>
                            <m:fName>
                              <m:limLow>
                                <m:limLowPr>
                                  <m:ctrlPr>
                                    <a:rPr lang="zh-CN" altLang="en-US" sz="2400" i="1">
                                      <a:latin typeface="Cambria Math" panose="02040503050406030204" pitchFamily="18" charset="0"/>
                                    </a:rPr>
                                  </m:ctrlPr>
                                </m:limLowPr>
                                <m:e>
                                  <m:r>
                                    <m:rPr>
                                      <m:sty m:val="p"/>
                                    </m:rPr>
                                    <a:rPr lang="zh-CN" altLang="en-US" sz="2400" i="0">
                                      <a:latin typeface="Cambria Math" panose="02040503050406030204" pitchFamily="18" charset="0"/>
                                    </a:rPr>
                                    <m:t>min</m:t>
                                  </m:r>
                                </m:e>
                                <m:lim>
                                  <m:acc>
                                    <m:accPr>
                                      <m:ctrlPr>
                                        <a:rPr lang="zh-CN" altLang="en-US" sz="2400" i="1">
                                          <a:latin typeface="Cambria Math" panose="02040503050406030204" pitchFamily="18" charset="0"/>
                                        </a:rPr>
                                      </m:ctrlPr>
                                    </m:accPr>
                                    <m:e>
                                      <m:r>
                                        <a:rPr lang="zh-CN" altLang="en-US" sz="2400" b="1" i="1">
                                          <a:latin typeface="Cambria Math" panose="02040503050406030204" pitchFamily="18" charset="0"/>
                                        </a:rPr>
                                        <m:t>𝑿</m:t>
                                      </m:r>
                                    </m:e>
                                  </m:acc>
                                </m:lim>
                              </m:limLow>
                            </m:fName>
                            <m:e>
                              <m:r>
                                <a:rPr lang="zh-CN" altLang="en-US" sz="2400" b="0" i="0">
                                  <a:latin typeface="Cambria Math" panose="02040503050406030204" pitchFamily="18" charset="0"/>
                                </a:rPr>
                                <m:t>∥</m:t>
                              </m:r>
                              <m:r>
                                <a:rPr lang="en-US" altLang="zh-CN" sz="2400" b="1" i="1">
                                  <a:latin typeface="Cambria Math" panose="02040503050406030204" pitchFamily="18" charset="0"/>
                                </a:rPr>
                                <m:t>𝑬</m:t>
                              </m:r>
                              <m:acc>
                                <m:accPr>
                                  <m:ctrlPr>
                                    <a:rPr lang="zh-CN" altLang="en-US" sz="2400" b="0" i="1">
                                      <a:latin typeface="Cambria Math" panose="02040503050406030204" pitchFamily="18" charset="0"/>
                                    </a:rPr>
                                  </m:ctrlPr>
                                </m:accPr>
                                <m:e>
                                  <m:r>
                                    <a:rPr lang="zh-CN" altLang="en-US" sz="2400" b="1" i="1">
                                      <a:latin typeface="Cambria Math" panose="02040503050406030204" pitchFamily="18" charset="0"/>
                                    </a:rPr>
                                    <m:t>𝑿</m:t>
                                  </m:r>
                                </m:e>
                              </m:acc>
                              <m:sSubSup>
                                <m:sSubSupPr>
                                  <m:ctrlPr>
                                    <a:rPr lang="zh-CN" altLang="en-US" sz="2400" b="0" i="1">
                                      <a:latin typeface="Cambria Math" panose="02040503050406030204" pitchFamily="18" charset="0"/>
                                    </a:rPr>
                                  </m:ctrlPr>
                                </m:sSubSupPr>
                                <m:e>
                                  <m:r>
                                    <a:rPr lang="zh-CN" altLang="en-US" sz="2400" b="0" i="0">
                                      <a:latin typeface="Cambria Math" panose="02040503050406030204" pitchFamily="18" charset="0"/>
                                    </a:rPr>
                                    <m:t>∥</m:t>
                                  </m:r>
                                </m:e>
                                <m:sub>
                                  <m:r>
                                    <a:rPr lang="zh-CN" altLang="en-US" sz="2400" b="0" i="0">
                                      <a:latin typeface="Cambria Math" panose="02040503050406030204" pitchFamily="18" charset="0"/>
                                    </a:rPr>
                                    <m:t>2</m:t>
                                  </m:r>
                                </m:sub>
                                <m:sup>
                                  <m:r>
                                    <a:rPr lang="zh-CN" altLang="en-US" sz="2400" b="0" i="0">
                                      <a:latin typeface="Cambria Math" panose="02040503050406030204" pitchFamily="18" charset="0"/>
                                    </a:rPr>
                                    <m:t>2</m:t>
                                  </m:r>
                                </m:sup>
                              </m:sSubSup>
                              <m:r>
                                <a:rPr lang="zh-CN" altLang="en-US" sz="2400" b="0" i="0">
                                  <a:latin typeface="Cambria Math" panose="02040503050406030204" pitchFamily="18" charset="0"/>
                                </a:rPr>
                                <m:t> +</m:t>
                              </m:r>
                              <m:r>
                                <a:rPr lang="zh-CN" altLang="en-US" sz="2400" b="0" i="1">
                                  <a:latin typeface="Cambria Math" panose="02040503050406030204" pitchFamily="18" charset="0"/>
                                </a:rPr>
                                <m:t>𝜇</m:t>
                              </m:r>
                              <m:sSubSup>
                                <m:sSubSupPr>
                                  <m:ctrlPr>
                                    <a:rPr lang="zh-CN" altLang="en-US" sz="2400" b="0" i="1">
                                      <a:latin typeface="Cambria Math" panose="02040503050406030204" pitchFamily="18" charset="0"/>
                                    </a:rPr>
                                  </m:ctrlPr>
                                </m:sSubSupPr>
                                <m:e>
                                  <m:d>
                                    <m:dPr>
                                      <m:begChr m:val="‖"/>
                                      <m:endChr m:val="‖"/>
                                      <m:ctrlPr>
                                        <a:rPr lang="zh-CN" altLang="en-US" sz="2400" b="0" i="1">
                                          <a:latin typeface="Cambria Math" panose="02040503050406030204" pitchFamily="18" charset="0"/>
                                        </a:rPr>
                                      </m:ctrlPr>
                                    </m:dPr>
                                    <m:e>
                                      <m:acc>
                                        <m:accPr>
                                          <m:ctrlPr>
                                            <a:rPr lang="zh-CN" altLang="en-US" sz="2400" b="0" i="1">
                                              <a:latin typeface="Cambria Math" panose="02040503050406030204" pitchFamily="18" charset="0"/>
                                            </a:rPr>
                                          </m:ctrlPr>
                                        </m:accPr>
                                        <m:e>
                                          <m:r>
                                            <a:rPr lang="zh-CN" altLang="en-US" sz="2400" b="1" i="1">
                                              <a:latin typeface="Cambria Math" panose="02040503050406030204" pitchFamily="18" charset="0"/>
                                            </a:rPr>
                                            <m:t>𝑿</m:t>
                                          </m:r>
                                        </m:e>
                                      </m:acc>
                                    </m:e>
                                  </m:d>
                                </m:e>
                                <m:sub>
                                  <m:r>
                                    <a:rPr lang="zh-CN" altLang="en-US" sz="2400" b="0" i="0">
                                      <a:latin typeface="Cambria Math" panose="02040503050406030204" pitchFamily="18" charset="0"/>
                                    </a:rPr>
                                    <m:t>2</m:t>
                                  </m:r>
                                </m:sub>
                                <m:sup>
                                  <m:r>
                                    <a:rPr lang="zh-CN" altLang="en-US" sz="2400" b="0" i="0">
                                      <a:latin typeface="Cambria Math" panose="02040503050406030204" pitchFamily="18" charset="0"/>
                                    </a:rPr>
                                    <m:t>2</m:t>
                                  </m:r>
                                </m:sup>
                              </m:sSubSup>
                              <m:r>
                                <a:rPr lang="zh-CN" altLang="en-US" sz="2400" b="0" i="0">
                                  <a:latin typeface="Cambria Math" panose="02040503050406030204" pitchFamily="18" charset="0"/>
                                </a:rPr>
                                <m:t> </m:t>
                              </m:r>
                            </m:e>
                          </m:func>
                        </m:e>
                      </m:eqArr>
                    </m:oMath>
                  </m:oMathPara>
                </a14:m>
                <a:endParaRPr lang="zh-CN" altLang="en-US" sz="2400" dirty="0">
                  <a:latin typeface="Arial" panose="020B0604020202020204" pitchFamily="34" charset="0"/>
                  <a:cs typeface="Arial" panose="020B0604020202020204" pitchFamily="34" charset="0"/>
                </a:endParaRPr>
              </a:p>
            </p:txBody>
          </p:sp>
        </mc:Choice>
        <mc:Fallback>
          <p:sp>
            <p:nvSpPr>
              <p:cNvPr id="16" name="矩形 15"/>
              <p:cNvSpPr>
                <a:spLocks noRot="1" noChangeAspect="1" noMove="1" noResize="1" noEditPoints="1" noAdjustHandles="1" noChangeArrowheads="1" noChangeShapeType="1" noTextEdit="1"/>
              </p:cNvSpPr>
              <p:nvPr/>
            </p:nvSpPr>
            <p:spPr>
              <a:xfrm>
                <a:off x="4322404" y="6059534"/>
                <a:ext cx="3634280" cy="707758"/>
              </a:xfrm>
              <a:prstGeom prst="rect">
                <a:avLst/>
              </a:prstGeom>
              <a:blipFill rotWithShape="1">
                <a:blip r:embed="rId9"/>
                <a:stretch>
                  <a:fillRect l="-16" t="-51" r="4"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p:cNvSpPr txBox="1"/>
              <p:nvPr/>
            </p:nvSpPr>
            <p:spPr>
              <a:xfrm>
                <a:off x="4814089" y="4597264"/>
                <a:ext cx="2004972" cy="86215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𝑬𝑿</m:t>
                      </m:r>
                      <m:r>
                        <a:rPr lang="en-US" altLang="zh-CN" sz="2000" b="1" i="1" smtClean="0">
                          <a:latin typeface="Cambria Math" panose="02040503050406030204" pitchFamily="18" charset="0"/>
                        </a:rPr>
                        <m:t>=</m:t>
                      </m:r>
                      <m:d>
                        <m:dPr>
                          <m:begChr m:val="["/>
                          <m:endChr m:val="]"/>
                          <m:ctrlPr>
                            <a:rPr lang="en-US" altLang="zh-CN" sz="2000" b="1" i="1" smtClean="0">
                              <a:latin typeface="Cambria Math" panose="02040503050406030204" pitchFamily="18" charset="0"/>
                            </a:rPr>
                          </m:ctrlPr>
                        </m:dPr>
                        <m:e>
                          <m:m>
                            <m:mPr>
                              <m:mcs>
                                <m:mc>
                                  <m:mcPr>
                                    <m:count m:val="1"/>
                                    <m:mcJc m:val="center"/>
                                  </m:mcPr>
                                </m:mc>
                              </m:mcs>
                              <m:ctrlPr>
                                <a:rPr lang="en-US" altLang="zh-CN" sz="2000" b="1" i="1" smtClean="0">
                                  <a:latin typeface="Cambria Math" panose="02040503050406030204" pitchFamily="18" charset="0"/>
                                </a:rPr>
                              </m:ctrlPr>
                            </m:mPr>
                            <m:mr>
                              <m:e>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𝑬</m:t>
                                    </m:r>
                                  </m:e>
                                  <m:sub>
                                    <m:r>
                                      <a:rPr lang="en-US" altLang="zh-CN" sz="2000" b="1" i="1" smtClean="0">
                                        <a:latin typeface="Cambria Math" panose="02040503050406030204" pitchFamily="18" charset="0"/>
                                      </a:rPr>
                                      <m:t>𝟏</m:t>
                                    </m:r>
                                  </m:sub>
                                </m:sSub>
                              </m:e>
                            </m:mr>
                            <m:mr>
                              <m:e>
                                <m:r>
                                  <a:rPr lang="en-US" altLang="zh-CN" sz="2000" b="1" i="1" smtClean="0">
                                    <a:latin typeface="Cambria Math" panose="02040503050406030204" pitchFamily="18" charset="0"/>
                                  </a:rPr>
                                  <m:t>⋯</m:t>
                                </m:r>
                              </m:e>
                            </m:mr>
                            <m:mr>
                              <m:e>
                                <m:sSub>
                                  <m:sSubPr>
                                    <m:ctrlPr>
                                      <a:rPr lang="zh-CN" altLang="en-US" sz="2000" b="1" i="1" smtClean="0">
                                        <a:latin typeface="Cambria Math" panose="02040503050406030204" pitchFamily="18" charset="0"/>
                                      </a:rPr>
                                    </m:ctrlPr>
                                  </m:sSubPr>
                                  <m:e>
                                    <m:r>
                                      <a:rPr lang="zh-CN" altLang="en-US" sz="2000" b="1" i="1">
                                        <a:latin typeface="Cambria Math" panose="02040503050406030204" pitchFamily="18" charset="0"/>
                                      </a:rPr>
                                      <m:t>𝑬</m:t>
                                    </m:r>
                                  </m:e>
                                  <m:sub>
                                    <m:r>
                                      <a:rPr lang="en-US" altLang="zh-CN" sz="2000" b="1" i="1" smtClean="0">
                                        <a:latin typeface="Cambria Math" panose="02040503050406030204" pitchFamily="18" charset="0"/>
                                      </a:rPr>
                                      <m:t>𝑻</m:t>
                                    </m:r>
                                  </m:sub>
                                </m:sSub>
                              </m:e>
                            </m:mr>
                          </m:m>
                        </m:e>
                      </m:d>
                      <m:r>
                        <a:rPr lang="en-US" altLang="zh-CN" sz="2000" b="1" i="1" smtClean="0">
                          <a:latin typeface="Cambria Math" panose="02040503050406030204" pitchFamily="18" charset="0"/>
                        </a:rPr>
                        <m:t>𝑿</m:t>
                      </m:r>
                      <m:r>
                        <a:rPr lang="en-US" altLang="zh-CN" sz="2000" b="1" i="1" smtClean="0">
                          <a:latin typeface="Cambria Math" panose="02040503050406030204" pitchFamily="18" charset="0"/>
                        </a:rPr>
                        <m:t>=</m:t>
                      </m:r>
                      <m:r>
                        <a:rPr lang="en-US" altLang="zh-CN" sz="2000" b="0" i="1" smtClean="0">
                          <a:latin typeface="Cambria Math" panose="02040503050406030204" pitchFamily="18" charset="0"/>
                        </a:rPr>
                        <m:t>0</m:t>
                      </m:r>
                    </m:oMath>
                  </m:oMathPara>
                </a14:m>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17" name="文本框 16"/>
              <p:cNvSpPr txBox="1">
                <a:spLocks noRot="1" noChangeAspect="1" noMove="1" noResize="1" noEditPoints="1" noAdjustHandles="1" noChangeArrowheads="1" noChangeShapeType="1" noTextEdit="1"/>
              </p:cNvSpPr>
              <p:nvPr/>
            </p:nvSpPr>
            <p:spPr>
              <a:xfrm>
                <a:off x="4814089" y="4597264"/>
                <a:ext cx="2004972" cy="862159"/>
              </a:xfrm>
              <a:prstGeom prst="rect">
                <a:avLst/>
              </a:prstGeom>
              <a:blipFill rotWithShape="1">
                <a:blip r:embed="rId10"/>
                <a:stretch>
                  <a:fillRect l="-8" t="-58" r="21" b="38"/>
                </a:stretch>
              </a:blipFill>
            </p:spPr>
            <p:txBody>
              <a:bodyPr/>
              <a:lstStyle/>
              <a:p>
                <a:r>
                  <a:rPr lang="zh-CN" altLang="en-US">
                    <a:noFill/>
                  </a:rPr>
                  <a:t> </a:t>
                </a:r>
              </a:p>
            </p:txBody>
          </p:sp>
        </mc:Fallback>
      </mc:AlternateContent>
      <p:sp>
        <p:nvSpPr>
          <p:cNvPr id="18" name="矩形 17"/>
          <p:cNvSpPr/>
          <p:nvPr/>
        </p:nvSpPr>
        <p:spPr>
          <a:xfrm>
            <a:off x="2543360" y="1646396"/>
            <a:ext cx="1415772" cy="461665"/>
          </a:xfrm>
          <a:prstGeom prst="rect">
            <a:avLst/>
          </a:prstGeom>
        </p:spPr>
        <p:txBody>
          <a:bodyPr wrap="none">
            <a:spAutoFit/>
          </a:bodyPr>
          <a:lstStyle/>
          <a:p>
            <a:r>
              <a:rPr kumimoji="1" lang="zh-CN" altLang="en-US" sz="24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正向计算</a:t>
            </a:r>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矩形 18"/>
          <p:cNvSpPr/>
          <p:nvPr/>
        </p:nvSpPr>
        <p:spPr>
          <a:xfrm>
            <a:off x="6908452" y="1646396"/>
            <a:ext cx="1415772" cy="461665"/>
          </a:xfrm>
          <a:prstGeom prst="rect">
            <a:avLst/>
          </a:prstGeom>
        </p:spPr>
        <p:txBody>
          <a:bodyPr wrap="none">
            <a:spAutoFit/>
          </a:bodyPr>
          <a:lstStyle/>
          <a:p>
            <a:r>
              <a:rPr kumimoji="1" lang="zh-CN" altLang="en-US" sz="24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逆向推断</a:t>
            </a:r>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54553" y="402058"/>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9367" y="1096094"/>
            <a:ext cx="7803203" cy="492443"/>
          </a:xfrm>
          <a:prstGeom prst="rect">
            <a:avLst/>
          </a:prstGeom>
          <a:noFill/>
        </p:spPr>
        <p:txBody>
          <a:bodyPr wrap="square">
            <a:spAutoFit/>
          </a:bodyPr>
          <a:lstStyle>
            <a:defPPr>
              <a:defRPr lang="zh-CN"/>
            </a:defPPr>
            <a:lvl1pPr marL="457200" indent="-457200">
              <a:buFont typeface="Wingdings" panose="05000000000000000000" pitchFamily="2" charset="2"/>
              <a:buChar char="Ø"/>
              <a:defRPr sz="2600" b="1">
                <a:latin typeface="微软雅黑" panose="020B0503020204020204" pitchFamily="34" charset="-122"/>
                <a:ea typeface="微软雅黑" panose="020B0503020204020204" pitchFamily="34" charset="-122"/>
              </a:defRPr>
            </a:lvl1pPr>
          </a:lstStyle>
          <a:p>
            <a:r>
              <a:rPr lang="zh-CN" altLang="en-US" sz="2600" b="1" dirty="0">
                <a:latin typeface="微软雅黑" panose="020B0503020204020204" pitchFamily="34" charset="-122"/>
                <a:ea typeface="微软雅黑" panose="020B0503020204020204" pitchFamily="34" charset="-122"/>
              </a:rPr>
              <a:t>反向逆推过程：</a:t>
            </a:r>
            <a:r>
              <a:rPr lang="en-US" altLang="zh-CN" sz="2600" b="1" dirty="0">
                <a:latin typeface="微软雅黑" panose="020B0503020204020204" pitchFamily="34" charset="-122"/>
                <a:ea typeface="微软雅黑" panose="020B0503020204020204" pitchFamily="34" charset="-122"/>
              </a:rPr>
              <a:t>2</a:t>
            </a:r>
            <a:r>
              <a:rPr lang="zh-CN" altLang="en-US" sz="2600" b="1" dirty="0">
                <a:latin typeface="微软雅黑" panose="020B0503020204020204" pitchFamily="34" charset="-122"/>
                <a:ea typeface="微软雅黑" panose="020B0503020204020204" pitchFamily="34" charset="-122"/>
              </a:rPr>
              <a:t>、最小逆推数据集</a:t>
            </a:r>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2313043" y="1680740"/>
                <a:ext cx="1955084" cy="86215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𝑬𝑿</m:t>
                      </m:r>
                      <m:r>
                        <a:rPr lang="en-US" altLang="zh-CN" sz="2000" b="1" i="1" smtClean="0">
                          <a:latin typeface="Cambria Math" panose="02040503050406030204" pitchFamily="18" charset="0"/>
                        </a:rPr>
                        <m:t>=</m:t>
                      </m:r>
                      <m:d>
                        <m:dPr>
                          <m:begChr m:val="["/>
                          <m:endChr m:val="]"/>
                          <m:ctrlPr>
                            <a:rPr lang="en-US" altLang="zh-CN" sz="2000" b="1" i="1" smtClean="0">
                              <a:latin typeface="Cambria Math" panose="02040503050406030204" pitchFamily="18" charset="0"/>
                            </a:rPr>
                          </m:ctrlPr>
                        </m:dPr>
                        <m:e>
                          <m:m>
                            <m:mPr>
                              <m:mcs>
                                <m:mc>
                                  <m:mcPr>
                                    <m:count m:val="1"/>
                                    <m:mcJc m:val="center"/>
                                  </m:mcPr>
                                </m:mc>
                              </m:mcs>
                              <m:ctrlPr>
                                <a:rPr lang="en-US" altLang="zh-CN" sz="2000" b="1" i="1" smtClean="0">
                                  <a:latin typeface="Cambria Math" panose="02040503050406030204" pitchFamily="18" charset="0"/>
                                </a:rPr>
                              </m:ctrlPr>
                            </m:mPr>
                            <m:mr>
                              <m:e>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𝑬</m:t>
                                    </m:r>
                                  </m:e>
                                  <m:sub>
                                    <m:r>
                                      <a:rPr lang="en-US" altLang="zh-CN" sz="2000" b="1" i="1" smtClean="0">
                                        <a:latin typeface="Cambria Math" panose="02040503050406030204" pitchFamily="18" charset="0"/>
                                      </a:rPr>
                                      <m:t>𝟏</m:t>
                                    </m:r>
                                  </m:sub>
                                </m:sSub>
                              </m:e>
                            </m:mr>
                            <m:mr>
                              <m:e>
                                <m:r>
                                  <a:rPr lang="en-US" altLang="zh-CN" sz="2000" b="1" i="1" smtClean="0">
                                    <a:latin typeface="Cambria Math" panose="02040503050406030204" pitchFamily="18" charset="0"/>
                                    <a:ea typeface="Cambria Math" panose="02040503050406030204" pitchFamily="18" charset="0"/>
                                  </a:rPr>
                                  <m:t>⋯</m:t>
                                </m:r>
                              </m:e>
                            </m:mr>
                            <m:mr>
                              <m:e>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𝑬</m:t>
                                    </m:r>
                                  </m:e>
                                  <m:sub>
                                    <m:r>
                                      <a:rPr lang="en-US" altLang="zh-CN" sz="2000" b="1" i="1" smtClean="0">
                                        <a:latin typeface="Cambria Math" panose="02040503050406030204" pitchFamily="18" charset="0"/>
                                      </a:rPr>
                                      <m:t>𝑻</m:t>
                                    </m:r>
                                  </m:sub>
                                </m:sSub>
                              </m:e>
                            </m:mr>
                          </m:m>
                        </m:e>
                      </m:d>
                      <m:r>
                        <a:rPr lang="en-US" altLang="zh-CN" sz="2000" b="1" i="1" smtClean="0">
                          <a:latin typeface="Cambria Math" panose="02040503050406030204" pitchFamily="18" charset="0"/>
                        </a:rPr>
                        <m:t>𝑿</m:t>
                      </m:r>
                      <m:r>
                        <a:rPr lang="en-US" altLang="zh-CN" sz="2000" b="1" i="1" smtClean="0">
                          <a:latin typeface="Cambria Math" panose="02040503050406030204" pitchFamily="18" charset="0"/>
                        </a:rPr>
                        <m:t>=</m:t>
                      </m:r>
                      <m:r>
                        <a:rPr lang="en-US" altLang="zh-CN" sz="2000" b="0" i="1" smtClean="0">
                          <a:latin typeface="Cambria Math" panose="02040503050406030204" pitchFamily="18" charset="0"/>
                        </a:rPr>
                        <m:t>0</m:t>
                      </m:r>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2313043" y="1680740"/>
                <a:ext cx="1955084" cy="862159"/>
              </a:xfrm>
              <a:prstGeom prst="rect">
                <a:avLst/>
              </a:prstGeom>
              <a:blipFill rotWithShape="1">
                <a:blip r:embed="rId1"/>
                <a:stretch>
                  <a:fillRect l="-19" t="-61" r="15"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4715653" y="1910199"/>
                <a:ext cx="4908364" cy="369332"/>
              </a:xfrm>
              <a:prstGeom prst="rect">
                <a:avLst/>
              </a:prstGeom>
            </p:spPr>
            <p:txBody>
              <a:bodyPr wrap="square">
                <a:spAutoFit/>
              </a:bodyPr>
              <a:lstStyle/>
              <a:p>
                <a:pPr defTabSz="1219200">
                  <a:defRPr/>
                </a:pPr>
                <a:r>
                  <a:rPr lang="zh-CN" altLang="en-US" kern="0" dirty="0">
                    <a:solidFill>
                      <a:prstClr val="black"/>
                    </a:solidFill>
                    <a:latin typeface="微软雅黑" panose="020B0503020204020204" pitchFamily="34" charset="-122"/>
                    <a:ea typeface="微软雅黑" panose="020B0503020204020204" pitchFamily="34" charset="-122"/>
                  </a:rPr>
                  <a:t>时刻</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𝑻</m:t>
                    </m:r>
                  </m:oMath>
                </a14:m>
                <a:r>
                  <a:rPr lang="zh-CN" altLang="en-US" kern="0" dirty="0">
                    <a:solidFill>
                      <a:prstClr val="black"/>
                    </a:solidFill>
                    <a:latin typeface="微软雅黑" panose="020B0503020204020204" pitchFamily="34" charset="-122"/>
                    <a:ea typeface="微软雅黑" panose="020B0503020204020204" pitchFamily="34" charset="-122"/>
                  </a:rPr>
                  <a:t>越多，数据量越大，方程数越多</a:t>
                </a:r>
                <a:endParaRPr lang="zh-CN" altLang="en-US" kern="0" dirty="0">
                  <a:solidFill>
                    <a:prstClr val="black"/>
                  </a:solidFill>
                  <a:latin typeface="微软雅黑" panose="020B0503020204020204" pitchFamily="34" charset="-122"/>
                  <a:ea typeface="微软雅黑" panose="020B0503020204020204" pitchFamily="34" charset="-122"/>
                </a:endParaRPr>
              </a:p>
            </p:txBody>
          </p:sp>
        </mc:Choice>
        <mc:Fallback>
          <p:sp>
            <p:nvSpPr>
              <p:cNvPr id="5" name="矩形 4"/>
              <p:cNvSpPr>
                <a:spLocks noRot="1" noChangeAspect="1" noMove="1" noResize="1" noEditPoints="1" noAdjustHandles="1" noChangeArrowheads="1" noChangeShapeType="1" noTextEdit="1"/>
              </p:cNvSpPr>
              <p:nvPr/>
            </p:nvSpPr>
            <p:spPr>
              <a:xfrm>
                <a:off x="4715653" y="1910199"/>
                <a:ext cx="4908364" cy="369332"/>
              </a:xfrm>
              <a:prstGeom prst="rect">
                <a:avLst/>
              </a:prstGeom>
              <a:blipFill rotWithShape="1">
                <a:blip r:embed="rId2"/>
                <a:stretch>
                  <a:fillRect l="-3" t="-32" r="12" b="1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2313043" y="2655032"/>
                <a:ext cx="7803203" cy="369332"/>
              </a:xfrm>
              <a:prstGeom prst="rect">
                <a:avLst/>
              </a:prstGeom>
            </p:spPr>
            <p:txBody>
              <a:bodyPr wrap="square">
                <a:spAutoFit/>
              </a:bodyPr>
              <a:lstStyle/>
              <a:p>
                <a:pPr defTabSz="1219200">
                  <a:defRPr/>
                </a:pPr>
                <a:r>
                  <a:rPr lang="zh-CN" altLang="en-US" kern="0" dirty="0">
                    <a:solidFill>
                      <a:prstClr val="black"/>
                    </a:solidFill>
                    <a:latin typeface="微软雅黑" panose="020B0503020204020204" pitchFamily="34" charset="-122"/>
                    <a:ea typeface="微软雅黑" panose="020B0503020204020204" pitchFamily="34" charset="-122"/>
                  </a:rPr>
                  <a:t>然而推断准确率由</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r>
                  <a:rPr lang="zh-CN" altLang="en-US" kern="0" dirty="0">
                    <a:solidFill>
                      <a:prstClr val="black"/>
                    </a:solidFill>
                    <a:latin typeface="微软雅黑" panose="020B0503020204020204" pitchFamily="34" charset="-122"/>
                    <a:ea typeface="微软雅黑" panose="020B0503020204020204" pitchFamily="34" charset="-122"/>
                  </a:rPr>
                  <a:t>决定，不是所有数据都能增加</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endParaRPr lang="zh-CN" altLang="en-US" kern="0" dirty="0">
                  <a:solidFill>
                    <a:prstClr val="black"/>
                  </a:solidFill>
                  <a:latin typeface="微软雅黑" panose="020B0503020204020204" pitchFamily="34" charset="-122"/>
                  <a:ea typeface="微软雅黑" panose="020B0503020204020204" pitchFamily="34" charset="-122"/>
                </a:endParaRPr>
              </a:p>
            </p:txBody>
          </p:sp>
        </mc:Choice>
        <mc:Fallback>
          <p:sp>
            <p:nvSpPr>
              <p:cNvPr id="6" name="矩形 5"/>
              <p:cNvSpPr>
                <a:spLocks noRot="1" noChangeAspect="1" noMove="1" noResize="1" noEditPoints="1" noAdjustHandles="1" noChangeArrowheads="1" noChangeShapeType="1" noTextEdit="1"/>
              </p:cNvSpPr>
              <p:nvPr/>
            </p:nvSpPr>
            <p:spPr>
              <a:xfrm>
                <a:off x="2313043" y="2655032"/>
                <a:ext cx="7803203" cy="369332"/>
              </a:xfrm>
              <a:prstGeom prst="rect">
                <a:avLst/>
              </a:prstGeom>
              <a:blipFill rotWithShape="1">
                <a:blip r:embed="rId3"/>
                <a:stretch>
                  <a:fillRect l="-5" t="-26" r="1" b="134"/>
                </a:stretch>
              </a:blipFill>
            </p:spPr>
            <p:txBody>
              <a:bodyPr/>
              <a:lstStyle/>
              <a:p>
                <a:r>
                  <a:rPr lang="zh-CN" altLang="en-US">
                    <a:noFill/>
                  </a:rPr>
                  <a:t> </a:t>
                </a:r>
              </a:p>
            </p:txBody>
          </p:sp>
        </mc:Fallback>
      </mc:AlternateContent>
      <p:sp>
        <p:nvSpPr>
          <p:cNvPr id="7" name="矩形 6"/>
          <p:cNvSpPr/>
          <p:nvPr/>
        </p:nvSpPr>
        <p:spPr>
          <a:xfrm>
            <a:off x="2044957" y="5622350"/>
            <a:ext cx="2673251" cy="707886"/>
          </a:xfrm>
          <a:prstGeom prst="rect">
            <a:avLst/>
          </a:prstGeom>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多条线路在多个时刻同时阻塞</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箭头: 右 7"/>
          <p:cNvSpPr/>
          <p:nvPr/>
        </p:nvSpPr>
        <p:spPr>
          <a:xfrm>
            <a:off x="5419855" y="5821550"/>
            <a:ext cx="828000" cy="3094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矩形 8"/>
          <p:cNvSpPr/>
          <p:nvPr/>
        </p:nvSpPr>
        <p:spPr>
          <a:xfrm>
            <a:off x="6963311" y="5622350"/>
            <a:ext cx="2560499" cy="707886"/>
          </a:xfrm>
          <a:prstGeom prst="rect">
            <a:avLst/>
          </a:prstGeom>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单条线路在单个时刻分别阻塞</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矩形 9"/>
          <p:cNvSpPr/>
          <p:nvPr/>
        </p:nvSpPr>
        <p:spPr>
          <a:xfrm>
            <a:off x="2979870" y="6306482"/>
            <a:ext cx="80342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无限</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10"/>
          <p:cNvSpPr/>
          <p:nvPr/>
        </p:nvSpPr>
        <p:spPr>
          <a:xfrm>
            <a:off x="7841848" y="6301742"/>
            <a:ext cx="80342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有限</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p:cNvSpPr/>
          <p:nvPr/>
        </p:nvSpPr>
        <p:spPr>
          <a:xfrm>
            <a:off x="5456827" y="6106427"/>
            <a:ext cx="70083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简化</a:t>
            </a:r>
            <a:endParaRPr lang="zh-CN" altLang="en-US" sz="2000" b="1"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3" name="矩形 12"/>
              <p:cNvSpPr/>
              <p:nvPr/>
            </p:nvSpPr>
            <p:spPr>
              <a:xfrm>
                <a:off x="1241535" y="3153809"/>
                <a:ext cx="9509760" cy="2274790"/>
              </a:xfrm>
              <a:prstGeom prst="rect">
                <a:avLst/>
              </a:prstGeom>
            </p:spPr>
            <p:txBody>
              <a:bodyPr wrap="square">
                <a:spAutoFit/>
              </a:bodyPr>
              <a:lstStyle/>
              <a:p>
                <a:pPr defTabSz="1219200">
                  <a:lnSpc>
                    <a:spcPct val="150000"/>
                  </a:lnSpc>
                  <a:spcAft>
                    <a:spcPts val="600"/>
                  </a:spcAft>
                </a:pPr>
                <a:r>
                  <a:rPr lang="zh-CN" altLang="en-US" b="1" kern="0" dirty="0">
                    <a:solidFill>
                      <a:prstClr val="black"/>
                    </a:solidFill>
                    <a:latin typeface="微软雅黑" panose="020B0503020204020204" pitchFamily="34" charset="-122"/>
                    <a:ea typeface="微软雅黑" panose="020B0503020204020204" pitchFamily="34" charset="-122"/>
                  </a:rPr>
                  <a:t>定理</a:t>
                </a:r>
                <a:r>
                  <a:rPr lang="en-US" altLang="zh-CN" b="1" kern="0" dirty="0">
                    <a:solidFill>
                      <a:prstClr val="black"/>
                    </a:solidFill>
                    <a:latin typeface="微软雅黑" panose="020B0503020204020204" pitchFamily="34" charset="-122"/>
                    <a:ea typeface="微软雅黑" panose="020B0503020204020204" pitchFamily="34" charset="-122"/>
                  </a:rPr>
                  <a:t>1</a:t>
                </a:r>
                <a:r>
                  <a:rPr lang="zh-CN" altLang="zh-CN" kern="0" dirty="0">
                    <a:solidFill>
                      <a:prstClr val="black"/>
                    </a:solidFill>
                    <a:latin typeface="微软雅黑" panose="020B0503020204020204" pitchFamily="34" charset="-122"/>
                    <a:ea typeface="微软雅黑" panose="020B0503020204020204" pitchFamily="34" charset="-122"/>
                  </a:rPr>
                  <a:t>：</a:t>
                </a:r>
                <a:r>
                  <a:rPr lang="zh-CN" altLang="en-US" kern="0" dirty="0">
                    <a:solidFill>
                      <a:prstClr val="black"/>
                    </a:solidFill>
                    <a:latin typeface="微软雅黑" panose="020B0503020204020204" pitchFamily="34" charset="-122"/>
                    <a:ea typeface="微软雅黑" panose="020B0503020204020204" pitchFamily="34" charset="-122"/>
                  </a:rPr>
                  <a:t>若某时刻没有线路发生阻塞，那么已知该时刻的电价不会增加</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endParaRPr lang="en-US" altLang="zh-CN" kern="0" dirty="0">
                  <a:solidFill>
                    <a:prstClr val="black"/>
                  </a:solidFill>
                  <a:latin typeface="微软雅黑" panose="020B0503020204020204" pitchFamily="34" charset="-122"/>
                  <a:ea typeface="微软雅黑" panose="020B0503020204020204" pitchFamily="34" charset="-122"/>
                </a:endParaRPr>
              </a:p>
              <a:p>
                <a:pPr defTabSz="1219200">
                  <a:lnSpc>
                    <a:spcPct val="150000"/>
                  </a:lnSpc>
                  <a:spcAft>
                    <a:spcPts val="600"/>
                  </a:spcAft>
                </a:pPr>
                <a:r>
                  <a:rPr lang="zh-CN" altLang="en-US" b="1" kern="0" dirty="0">
                    <a:solidFill>
                      <a:prstClr val="black"/>
                    </a:solidFill>
                    <a:latin typeface="微软雅黑" panose="020B0503020204020204" pitchFamily="34" charset="-122"/>
                    <a:ea typeface="微软雅黑" panose="020B0503020204020204" pitchFamily="34" charset="-122"/>
                  </a:rPr>
                  <a:t>定理</a:t>
                </a:r>
                <a:r>
                  <a:rPr lang="en-US" altLang="zh-CN" b="1" kern="0" dirty="0">
                    <a:solidFill>
                      <a:prstClr val="black"/>
                    </a:solidFill>
                    <a:latin typeface="微软雅黑" panose="020B0503020204020204" pitchFamily="34" charset="-122"/>
                    <a:ea typeface="微软雅黑" panose="020B0503020204020204" pitchFamily="34" charset="-122"/>
                  </a:rPr>
                  <a:t>2</a:t>
                </a:r>
                <a:r>
                  <a:rPr lang="zh-CN" altLang="zh-CN" kern="0" dirty="0">
                    <a:solidFill>
                      <a:prstClr val="black"/>
                    </a:solidFill>
                    <a:latin typeface="微软雅黑" panose="020B0503020204020204" pitchFamily="34" charset="-122"/>
                    <a:ea typeface="微软雅黑" panose="020B0503020204020204" pitchFamily="34" charset="-122"/>
                  </a:rPr>
                  <a:t>：</a:t>
                </a:r>
                <a:r>
                  <a:rPr lang="zh-CN" altLang="en-US" kern="0" dirty="0">
                    <a:solidFill>
                      <a:prstClr val="black"/>
                    </a:solidFill>
                    <a:latin typeface="微软雅黑" panose="020B0503020204020204" pitchFamily="34" charset="-122"/>
                    <a:ea typeface="微软雅黑" panose="020B0503020204020204" pitchFamily="34" charset="-122"/>
                  </a:rPr>
                  <a:t>若多个不同时刻均仅有同一条线路发生阻塞，那么已知这些时刻的电价与已知其中单一时刻的电价相比，不会额外增加</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endParaRPr lang="zh-CN" altLang="en-US" kern="0" dirty="0">
                  <a:solidFill>
                    <a:prstClr val="black"/>
                  </a:solidFill>
                  <a:latin typeface="微软雅黑" panose="020B0503020204020204" pitchFamily="34" charset="-122"/>
                  <a:ea typeface="微软雅黑" panose="020B0503020204020204" pitchFamily="34" charset="-122"/>
                </a:endParaRPr>
              </a:p>
              <a:p>
                <a:pPr defTabSz="1219200">
                  <a:lnSpc>
                    <a:spcPct val="150000"/>
                  </a:lnSpc>
                </a:pPr>
                <a:r>
                  <a:rPr lang="zh-CN" altLang="en-US" b="1" kern="0" dirty="0">
                    <a:solidFill>
                      <a:prstClr val="black"/>
                    </a:solidFill>
                    <a:latin typeface="微软雅黑" panose="020B0503020204020204" pitchFamily="34" charset="-122"/>
                    <a:ea typeface="微软雅黑" panose="020B0503020204020204" pitchFamily="34" charset="-122"/>
                  </a:rPr>
                  <a:t>定理</a:t>
                </a:r>
                <a:r>
                  <a:rPr lang="en-US" altLang="zh-CN" b="1" kern="0" dirty="0">
                    <a:solidFill>
                      <a:prstClr val="black"/>
                    </a:solidFill>
                    <a:latin typeface="微软雅黑" panose="020B0503020204020204" pitchFamily="34" charset="-122"/>
                    <a:ea typeface="微软雅黑" panose="020B0503020204020204" pitchFamily="34" charset="-122"/>
                  </a:rPr>
                  <a:t>3</a:t>
                </a:r>
                <a:r>
                  <a:rPr lang="zh-CN" altLang="zh-CN" kern="0" dirty="0">
                    <a:solidFill>
                      <a:prstClr val="black"/>
                    </a:solidFill>
                    <a:latin typeface="微软雅黑" panose="020B0503020204020204" pitchFamily="34" charset="-122"/>
                    <a:ea typeface="微软雅黑" panose="020B0503020204020204" pitchFamily="34" charset="-122"/>
                  </a:rPr>
                  <a:t>：</a:t>
                </a:r>
                <a:r>
                  <a:rPr lang="zh-CN" altLang="en-US" kern="0" dirty="0">
                    <a:solidFill>
                      <a:prstClr val="black"/>
                    </a:solidFill>
                    <a:latin typeface="微软雅黑" panose="020B0503020204020204" pitchFamily="34" charset="-122"/>
                    <a:ea typeface="微软雅黑" panose="020B0503020204020204" pitchFamily="34" charset="-122"/>
                  </a:rPr>
                  <a:t>多个时刻多条线路同时发生阻塞的电价对于</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r>
                  <a:rPr lang="zh-CN" altLang="en-US" kern="0" dirty="0">
                    <a:solidFill>
                      <a:prstClr val="black"/>
                    </a:solidFill>
                    <a:latin typeface="微软雅黑" panose="020B0503020204020204" pitchFamily="34" charset="-122"/>
                    <a:ea typeface="微软雅黑" panose="020B0503020204020204" pitchFamily="34" charset="-122"/>
                  </a:rPr>
                  <a:t>的增益，小于等于这些线路在多个时刻分别发生阻塞的电价对于</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r>
                  <a:rPr lang="zh-CN" altLang="en-US" kern="0" dirty="0">
                    <a:solidFill>
                      <a:prstClr val="black"/>
                    </a:solidFill>
                    <a:latin typeface="微软雅黑" panose="020B0503020204020204" pitchFamily="34" charset="-122"/>
                    <a:ea typeface="微软雅黑" panose="020B0503020204020204" pitchFamily="34" charset="-122"/>
                  </a:rPr>
                  <a:t>的增益</a:t>
                </a:r>
                <a:endParaRPr lang="zh-CN" altLang="en-US" kern="0" dirty="0">
                  <a:solidFill>
                    <a:prstClr val="black"/>
                  </a:solidFill>
                  <a:latin typeface="微软雅黑" panose="020B0503020204020204" pitchFamily="34" charset="-122"/>
                  <a:ea typeface="微软雅黑" panose="020B0503020204020204" pitchFamily="34" charset="-122"/>
                </a:endParaRPr>
              </a:p>
            </p:txBody>
          </p:sp>
        </mc:Choice>
        <mc:Fallback>
          <p:sp>
            <p:nvSpPr>
              <p:cNvPr id="13" name="矩形 12"/>
              <p:cNvSpPr>
                <a:spLocks noRot="1" noChangeAspect="1" noMove="1" noResize="1" noEditPoints="1" noAdjustHandles="1" noChangeArrowheads="1" noChangeShapeType="1" noTextEdit="1"/>
              </p:cNvSpPr>
              <p:nvPr/>
            </p:nvSpPr>
            <p:spPr>
              <a:xfrm>
                <a:off x="1241535" y="3153809"/>
                <a:ext cx="9509760" cy="2274790"/>
              </a:xfrm>
              <a:prstGeom prst="rect">
                <a:avLst/>
              </a:prstGeom>
              <a:blipFill rotWithShape="1">
                <a:blip r:embed="rId4"/>
                <a:stretch>
                  <a:fillRect l="-1" t="-18" r="1" b="27"/>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72968" y="383643"/>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632408" y="1139355"/>
            <a:ext cx="7053182" cy="492443"/>
          </a:xfrm>
          <a:prstGeom prst="rect">
            <a:avLst/>
          </a:prstGeom>
          <a:noFill/>
        </p:spPr>
        <p:txBody>
          <a:bodyPr wrap="square">
            <a:spAutoFit/>
          </a:bodyPr>
          <a:lstStyle>
            <a:defPPr>
              <a:defRPr lang="zh-CN"/>
            </a:defPPr>
            <a:lvl1pPr marL="457200" indent="-457200">
              <a:buFont typeface="Wingdings" panose="05000000000000000000" pitchFamily="2" charset="2"/>
              <a:buChar char="Ø"/>
              <a:defRPr sz="2600" b="1">
                <a:latin typeface="微软雅黑" panose="020B0503020204020204" pitchFamily="34" charset="-122"/>
                <a:ea typeface="微软雅黑" panose="020B0503020204020204" pitchFamily="34" charset="-122"/>
              </a:defRPr>
            </a:lvl1pPr>
          </a:lstStyle>
          <a:p>
            <a:r>
              <a:rPr lang="zh-CN" altLang="en-US" sz="2600" b="1" dirty="0">
                <a:latin typeface="微软雅黑" panose="020B0503020204020204" pitchFamily="34" charset="-122"/>
                <a:ea typeface="微软雅黑" panose="020B0503020204020204" pitchFamily="34" charset="-122"/>
              </a:rPr>
              <a:t>反向逆推过程：</a:t>
            </a:r>
            <a:r>
              <a:rPr lang="en-US" altLang="zh-CN" sz="2600" b="1" dirty="0">
                <a:latin typeface="微软雅黑" panose="020B0503020204020204" pitchFamily="34" charset="-122"/>
                <a:ea typeface="微软雅黑" panose="020B0503020204020204" pitchFamily="34" charset="-122"/>
              </a:rPr>
              <a:t>2</a:t>
            </a:r>
            <a:r>
              <a:rPr lang="zh-CN" altLang="en-US" sz="2600" b="1" dirty="0">
                <a:latin typeface="微软雅黑" panose="020B0503020204020204" pitchFamily="34" charset="-122"/>
                <a:ea typeface="微软雅黑" panose="020B0503020204020204" pitchFamily="34" charset="-122"/>
              </a:rPr>
              <a:t>、</a:t>
            </a:r>
            <a:r>
              <a:rPr lang="zh-CN" altLang="en-US" dirty="0"/>
              <a:t>最小逆推数据集</a:t>
            </a:r>
            <a:endParaRPr lang="zh-CN" altLang="en-US" dirty="0"/>
          </a:p>
        </p:txBody>
      </p:sp>
      <p:sp>
        <p:nvSpPr>
          <p:cNvPr id="4" name="矩形 3"/>
          <p:cNvSpPr/>
          <p:nvPr/>
        </p:nvSpPr>
        <p:spPr>
          <a:xfrm>
            <a:off x="7257435" y="3042844"/>
            <a:ext cx="2751866" cy="400110"/>
          </a:xfrm>
          <a:prstGeom prst="rect">
            <a:avLst/>
          </a:prstGeom>
        </p:spPr>
        <p:txBody>
          <a:bodyPr wrap="squar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生成树的补图称为余树</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矩形 4"/>
              <p:cNvSpPr/>
              <p:nvPr/>
            </p:nvSpPr>
            <p:spPr>
              <a:xfrm>
                <a:off x="7257435" y="3600961"/>
                <a:ext cx="3109197" cy="400110"/>
              </a:xfrm>
              <a:prstGeom prst="rect">
                <a:avLst/>
              </a:prstGeom>
            </p:spPr>
            <p:txBody>
              <a:bodyPr wrap="squar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余树的线路数为</a:t>
                </a:r>
                <a14:m>
                  <m:oMath xmlns:m="http://schemas.openxmlformats.org/officeDocument/2006/math">
                    <m:r>
                      <a:rPr lang="en-US" altLang="zh-CN" sz="2000" i="1" kern="0">
                        <a:solidFill>
                          <a:prstClr val="black"/>
                        </a:solidFill>
                        <a:latin typeface="Cambria Math" panose="02040503050406030204" pitchFamily="18" charset="0"/>
                        <a:ea typeface="微软雅黑" panose="020B0503020204020204" pitchFamily="34" charset="-122"/>
                      </a:rPr>
                      <m:t>𝐿</m:t>
                    </m:r>
                    <m:r>
                      <a:rPr lang="en-US" altLang="zh-CN" sz="2000" b="0" i="1" kern="0" smtClean="0">
                        <a:solidFill>
                          <a:prstClr val="black"/>
                        </a:solidFill>
                        <a:latin typeface="Cambria Math" panose="02040503050406030204" pitchFamily="18" charset="0"/>
                        <a:ea typeface="微软雅黑" panose="020B0503020204020204" pitchFamily="34" charset="-122"/>
                      </a:rPr>
                      <m:t>−</m:t>
                    </m:r>
                    <m:r>
                      <a:rPr lang="en-US" altLang="zh-CN" sz="2000" i="1" kern="0">
                        <a:solidFill>
                          <a:prstClr val="black"/>
                        </a:solidFill>
                        <a:latin typeface="Cambria Math" panose="02040503050406030204" pitchFamily="18" charset="0"/>
                        <a:ea typeface="微软雅黑" panose="020B0503020204020204" pitchFamily="34" charset="-122"/>
                      </a:rPr>
                      <m:t>𝑁</m:t>
                    </m:r>
                    <m:r>
                      <a:rPr lang="en-US" altLang="zh-CN" sz="2000" b="0" i="1" kern="0" smtClean="0">
                        <a:solidFill>
                          <a:prstClr val="black"/>
                        </a:solidFill>
                        <a:latin typeface="Cambria Math" panose="02040503050406030204" pitchFamily="18" charset="0"/>
                        <a:ea typeface="微软雅黑" panose="020B0503020204020204" pitchFamily="34" charset="-122"/>
                      </a:rPr>
                      <m:t>+</m:t>
                    </m:r>
                    <m:r>
                      <a:rPr lang="en-US" altLang="zh-CN" sz="2000" b="0" i="1" kern="0" smtClean="0">
                        <a:solidFill>
                          <a:prstClr val="black"/>
                        </a:solidFill>
                        <a:latin typeface="Cambria Math" panose="02040503050406030204" pitchFamily="18" charset="0"/>
                        <a:ea typeface="微软雅黑" panose="020B0503020204020204" pitchFamily="34" charset="-122"/>
                      </a:rPr>
                      <m:t>1</m:t>
                    </m:r>
                  </m:oMath>
                </a14:m>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7257435" y="3600961"/>
                <a:ext cx="3109197" cy="400110"/>
              </a:xfrm>
              <a:prstGeom prst="rect">
                <a:avLst/>
              </a:prstGeom>
              <a:blipFill rotWithShape="1">
                <a:blip r:embed="rId1"/>
                <a:stretch>
                  <a:fillRect l="-1" t="-128" r="8" b="1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941816" y="5343826"/>
                <a:ext cx="8308367" cy="960776"/>
              </a:xfrm>
              <a:prstGeom prst="rect">
                <a:avLst/>
              </a:prstGeom>
            </p:spPr>
            <p:txBody>
              <a:bodyPr wrap="square">
                <a:spAutoFit/>
              </a:bodyPr>
              <a:lstStyle/>
              <a:p>
                <a:pPr>
                  <a:lnSpc>
                    <a:spcPct val="150000"/>
                  </a:lnSpc>
                </a:pPr>
                <a:r>
                  <a:rPr lang="zh-CN" altLang="en-US" sz="2000" b="1" kern="0" dirty="0">
                    <a:solidFill>
                      <a:prstClr val="black"/>
                    </a:solidFill>
                    <a:latin typeface="Arial" panose="020B0604020202020204" pitchFamily="34" charset="0"/>
                    <a:ea typeface="微软雅黑" panose="020B0503020204020204" pitchFamily="34" charset="-122"/>
                    <a:cs typeface="Arial" panose="020B0604020202020204" pitchFamily="34" charset="0"/>
                  </a:rPr>
                  <a:t>定理</a:t>
                </a:r>
                <a:r>
                  <a:rPr lang="en-US" altLang="zh-CN" sz="2000" b="1" kern="0" dirty="0">
                    <a:solidFill>
                      <a:prstClr val="black"/>
                    </a:solidFill>
                    <a:latin typeface="Arial" panose="020B0604020202020204" pitchFamily="34" charset="0"/>
                    <a:ea typeface="微软雅黑" panose="020B0503020204020204" pitchFamily="34" charset="-122"/>
                    <a:cs typeface="Arial" panose="020B0604020202020204" pitchFamily="34" charset="0"/>
                  </a:rPr>
                  <a:t>4</a:t>
                </a:r>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a:t>
                </a:r>
                <a:r>
                  <a:rPr lang="zh-CN" altLang="en-US"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攻击者仅需要获取电网拓扑中任意一个余树中</a:t>
                </a:r>
                <a14:m>
                  <m:oMath xmlns:m="http://schemas.openxmlformats.org/officeDocument/2006/math">
                    <m:r>
                      <a:rPr lang="en-US" altLang="zh-CN" sz="2000" i="1" kern="0">
                        <a:solidFill>
                          <a:prstClr val="black"/>
                        </a:solidFill>
                        <a:latin typeface="Cambria Math" panose="02040503050406030204" pitchFamily="18" charset="0"/>
                        <a:ea typeface="微软雅黑" panose="020B0503020204020204" pitchFamily="34" charset="-122"/>
                      </a:rPr>
                      <m:t>𝐿</m:t>
                    </m:r>
                    <m:r>
                      <a:rPr lang="en-US" altLang="zh-CN" sz="2000" i="1" kern="0">
                        <a:solidFill>
                          <a:prstClr val="black"/>
                        </a:solidFill>
                        <a:latin typeface="Cambria Math" panose="02040503050406030204" pitchFamily="18" charset="0"/>
                        <a:ea typeface="微软雅黑" panose="020B0503020204020204" pitchFamily="34" charset="-122"/>
                      </a:rPr>
                      <m:t>−</m:t>
                    </m:r>
                    <m:r>
                      <a:rPr lang="en-US" altLang="zh-CN" sz="2000" i="1" kern="0">
                        <a:solidFill>
                          <a:prstClr val="black"/>
                        </a:solidFill>
                        <a:latin typeface="Cambria Math" panose="02040503050406030204" pitchFamily="18" charset="0"/>
                        <a:ea typeface="微软雅黑" panose="020B0503020204020204" pitchFamily="34" charset="-122"/>
                      </a:rPr>
                      <m:t>𝑁</m:t>
                    </m:r>
                    <m:r>
                      <a:rPr lang="en-US" altLang="zh-CN" sz="2000" i="1" kern="0">
                        <a:solidFill>
                          <a:prstClr val="black"/>
                        </a:solidFill>
                        <a:latin typeface="Cambria Math" panose="02040503050406030204" pitchFamily="18" charset="0"/>
                        <a:ea typeface="微软雅黑" panose="020B0503020204020204" pitchFamily="34" charset="-122"/>
                      </a:rPr>
                      <m:t>+</m:t>
                    </m:r>
                    <m:r>
                      <a:rPr lang="en-US" altLang="zh-CN" sz="2000" i="1" kern="0">
                        <a:solidFill>
                          <a:prstClr val="black"/>
                        </a:solidFill>
                        <a:latin typeface="Cambria Math" panose="02040503050406030204" pitchFamily="18" charset="0"/>
                        <a:ea typeface="微软雅黑" panose="020B0503020204020204" pitchFamily="34" charset="-122"/>
                      </a:rPr>
                      <m:t>1</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条线路在</a:t>
                </a:r>
                <a14:m>
                  <m:oMath xmlns:m="http://schemas.openxmlformats.org/officeDocument/2006/math">
                    <m:r>
                      <a:rPr lang="en-US" altLang="zh-CN" sz="2000" i="1" kern="0">
                        <a:solidFill>
                          <a:prstClr val="black"/>
                        </a:solidFill>
                        <a:latin typeface="Cambria Math" panose="02040503050406030204" pitchFamily="18" charset="0"/>
                        <a:ea typeface="微软雅黑" panose="020B0503020204020204" pitchFamily="34" charset="-122"/>
                      </a:rPr>
                      <m:t>𝐿</m:t>
                    </m:r>
                    <m:r>
                      <a:rPr lang="en-US" altLang="zh-CN" sz="2000" i="1" kern="0">
                        <a:solidFill>
                          <a:prstClr val="black"/>
                        </a:solidFill>
                        <a:latin typeface="Cambria Math" panose="02040503050406030204" pitchFamily="18" charset="0"/>
                        <a:ea typeface="微软雅黑" panose="020B0503020204020204" pitchFamily="34" charset="-122"/>
                      </a:rPr>
                      <m:t>−</m:t>
                    </m:r>
                    <m:r>
                      <a:rPr lang="en-US" altLang="zh-CN" sz="2000" i="1" kern="0">
                        <a:solidFill>
                          <a:prstClr val="black"/>
                        </a:solidFill>
                        <a:latin typeface="Cambria Math" panose="02040503050406030204" pitchFamily="18" charset="0"/>
                        <a:ea typeface="微软雅黑" panose="020B0503020204020204" pitchFamily="34" charset="-122"/>
                      </a:rPr>
                      <m:t>𝑁</m:t>
                    </m:r>
                    <m:r>
                      <a:rPr lang="en-US" altLang="zh-CN" sz="2000" i="1" kern="0">
                        <a:solidFill>
                          <a:prstClr val="black"/>
                        </a:solidFill>
                        <a:latin typeface="Cambria Math" panose="02040503050406030204" pitchFamily="18" charset="0"/>
                        <a:ea typeface="微软雅黑" panose="020B0503020204020204" pitchFamily="34" charset="-122"/>
                      </a:rPr>
                      <m:t>+</m:t>
                    </m:r>
                    <m:r>
                      <a:rPr lang="en-US" altLang="zh-CN" sz="2000" i="1" kern="0">
                        <a:solidFill>
                          <a:prstClr val="black"/>
                        </a:solidFill>
                        <a:latin typeface="Cambria Math" panose="02040503050406030204" pitchFamily="18" charset="0"/>
                        <a:ea typeface="微软雅黑" panose="020B0503020204020204" pitchFamily="34" charset="-122"/>
                      </a:rPr>
                      <m:t>1</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个时刻阻塞对应的电价数据，便能够使</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sz="2000" i="1" kern="0">
                            <a:solidFill>
                              <a:prstClr val="black"/>
                            </a:solidFill>
                            <a:latin typeface="Cambria Math" panose="02040503050406030204" pitchFamily="18" charset="0"/>
                            <a:ea typeface="微软雅黑" panose="020B0503020204020204" pitchFamily="34" charset="-122"/>
                          </a:rPr>
                        </m:ctrlPr>
                      </m:dPr>
                      <m:e>
                        <m:r>
                          <a:rPr lang="en-US" altLang="zh-CN" sz="2000" kern="0">
                            <a:solidFill>
                              <a:prstClr val="black"/>
                            </a:solidFill>
                            <a:latin typeface="Cambria Math" panose="02040503050406030204" pitchFamily="18" charset="0"/>
                            <a:ea typeface="微软雅黑" panose="020B0503020204020204" pitchFamily="34" charset="-122"/>
                          </a:rPr>
                          <m:t>𝑬</m:t>
                        </m:r>
                      </m:e>
                    </m:d>
                  </m:oMath>
                </a14:m>
                <a:r>
                  <a:rPr lang="zh-CN" altLang="en-US" sz="2000" dirty="0">
                    <a:latin typeface="Arial" panose="020B0604020202020204" pitchFamily="34" charset="0"/>
                    <a:ea typeface="微软雅黑" panose="020B0503020204020204" pitchFamily="34" charset="-122"/>
                    <a:cs typeface="Arial" panose="020B0604020202020204" pitchFamily="34" charset="0"/>
                  </a:rPr>
                  <a:t>达到上界</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6" name="矩形 5"/>
              <p:cNvSpPr>
                <a:spLocks noRot="1" noChangeAspect="1" noMove="1" noResize="1" noEditPoints="1" noAdjustHandles="1" noChangeArrowheads="1" noChangeShapeType="1" noTextEdit="1"/>
              </p:cNvSpPr>
              <p:nvPr/>
            </p:nvSpPr>
            <p:spPr>
              <a:xfrm>
                <a:off x="1941816" y="5343826"/>
                <a:ext cx="8308367" cy="960776"/>
              </a:xfrm>
              <a:prstGeom prst="rect">
                <a:avLst/>
              </a:prstGeom>
              <a:blipFill rotWithShape="1">
                <a:blip r:embed="rId2"/>
                <a:stretch>
                  <a:fillRect l="-7" t="-31" b="34"/>
                </a:stretch>
              </a:blipFill>
            </p:spPr>
            <p:txBody>
              <a:bodyPr/>
              <a:lstStyle/>
              <a:p>
                <a:r>
                  <a:rPr lang="zh-CN" altLang="en-US">
                    <a:noFill/>
                  </a:rPr>
                  <a:t> </a:t>
                </a:r>
              </a:p>
            </p:txBody>
          </p:sp>
        </mc:Fallback>
      </mc:AlternateContent>
      <p:pic>
        <p:nvPicPr>
          <p:cNvPr id="7" name="图片 6"/>
          <p:cNvPicPr>
            <a:picLocks noChangeAspect="1"/>
          </p:cNvPicPr>
          <p:nvPr/>
        </p:nvPicPr>
        <p:blipFill>
          <a:blip r:embed="rId3"/>
          <a:stretch>
            <a:fillRect/>
          </a:stretch>
        </p:blipFill>
        <p:spPr>
          <a:xfrm>
            <a:off x="1486319" y="1949462"/>
            <a:ext cx="5326034" cy="294426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36138" y="383643"/>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835608" y="1141558"/>
            <a:ext cx="6140925" cy="492443"/>
          </a:xfrm>
          <a:prstGeom prst="rect">
            <a:avLst/>
          </a:prstGeom>
          <a:noFill/>
        </p:spPr>
        <p:txBody>
          <a:bodyPr wrap="square">
            <a:spAutoFit/>
          </a:bodyPr>
          <a:lstStyle>
            <a:defPPr>
              <a:defRPr lang="zh-CN"/>
            </a:defPPr>
            <a:lvl1pPr marL="457200" indent="-457200">
              <a:buFont typeface="Wingdings" panose="05000000000000000000" pitchFamily="2" charset="2"/>
              <a:buChar char="Ø"/>
              <a:defRPr sz="2600" b="1">
                <a:latin typeface="微软雅黑" panose="020B0503020204020204" pitchFamily="34" charset="-122"/>
                <a:ea typeface="微软雅黑" panose="020B0503020204020204" pitchFamily="34" charset="-122"/>
              </a:defRPr>
            </a:lvl1pPr>
          </a:lstStyle>
          <a:p>
            <a:r>
              <a:rPr lang="zh-CN" altLang="en-US" sz="2600" b="1" dirty="0">
                <a:latin typeface="微软雅黑" panose="020B0503020204020204" pitchFamily="34" charset="-122"/>
                <a:ea typeface="微软雅黑" panose="020B0503020204020204" pitchFamily="34" charset="-122"/>
              </a:rPr>
              <a:t>反向逆推过程：</a:t>
            </a:r>
            <a:r>
              <a:rPr lang="en-US" altLang="zh-CN" sz="2600" b="1" dirty="0">
                <a:latin typeface="微软雅黑" panose="020B0503020204020204" pitchFamily="34" charset="-122"/>
                <a:ea typeface="微软雅黑" panose="020B0503020204020204" pitchFamily="34" charset="-122"/>
              </a:rPr>
              <a:t>3</a:t>
            </a:r>
            <a:r>
              <a:rPr lang="zh-CN" altLang="en-US" sz="2600" b="1" dirty="0">
                <a:latin typeface="微软雅黑" panose="020B0503020204020204" pitchFamily="34" charset="-122"/>
                <a:ea typeface="微软雅黑" panose="020B0503020204020204" pitchFamily="34" charset="-122"/>
              </a:rPr>
              <a:t>、</a:t>
            </a:r>
            <a:r>
              <a:rPr lang="zh-CN" altLang="en-US" dirty="0"/>
              <a:t>最短推断路径</a:t>
            </a:r>
            <a:endParaRPr lang="zh-CN" altLang="en-US" dirty="0"/>
          </a:p>
        </p:txBody>
      </p:sp>
      <mc:AlternateContent xmlns:mc="http://schemas.openxmlformats.org/markup-compatibility/2006">
        <mc:Choice xmlns:a14="http://schemas.microsoft.com/office/drawing/2010/main" Requires="a14">
          <p:sp>
            <p:nvSpPr>
              <p:cNvPr id="4" name="矩形 3"/>
              <p:cNvSpPr/>
              <p:nvPr/>
            </p:nvSpPr>
            <p:spPr>
              <a:xfrm>
                <a:off x="1201219" y="1850017"/>
                <a:ext cx="3692101" cy="400110"/>
              </a:xfrm>
              <a:prstGeom prst="rect">
                <a:avLst/>
              </a:prstGeom>
            </p:spPr>
            <p:txBody>
              <a:bodyPr wrap="none">
                <a:spAutoFit/>
              </a:bodyPr>
              <a:lstStyle/>
              <a:p>
                <a:r>
                  <a:rPr lang="zh-CN" altLang="en-US" sz="2000" dirty="0">
                    <a:latin typeface="Arial" panose="020B0604020202020204" pitchFamily="34" charset="0"/>
                    <a:ea typeface="微软雅黑" panose="020B0503020204020204" pitchFamily="34" charset="-122"/>
                    <a:cs typeface="Arial" panose="020B0604020202020204" pitchFamily="34" charset="0"/>
                  </a:rPr>
                  <a:t>推断能力上界与电网拓扑</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𝐺</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相关</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4" name="矩形 3"/>
              <p:cNvSpPr>
                <a:spLocks noRot="1" noChangeAspect="1" noMove="1" noResize="1" noEditPoints="1" noAdjustHandles="1" noChangeArrowheads="1" noChangeShapeType="1" noTextEdit="1"/>
              </p:cNvSpPr>
              <p:nvPr/>
            </p:nvSpPr>
            <p:spPr>
              <a:xfrm>
                <a:off x="1201219" y="1850017"/>
                <a:ext cx="3692101" cy="400110"/>
              </a:xfrm>
              <a:prstGeom prst="rect">
                <a:avLst/>
              </a:prstGeom>
              <a:blipFill rotWithShape="1">
                <a:blip r:embed="rId1"/>
                <a:stretch>
                  <a:fillRect l="-12" t="-65" b="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1201218" y="2486313"/>
                <a:ext cx="7102973" cy="707886"/>
              </a:xfrm>
              <a:prstGeom prst="rect">
                <a:avLst/>
              </a:prstGeom>
            </p:spPr>
            <p:txBody>
              <a:bodyPr wrap="square">
                <a:spAutoFit/>
              </a:bodyPr>
              <a:lstStyle/>
              <a:p>
                <a:pPr lvl="0"/>
                <a14:m>
                  <m:oMath xmlns:m="http://schemas.openxmlformats.org/officeDocument/2006/math">
                    <m:sSub>
                      <m:sSubPr>
                        <m:ctrlPr>
                          <a:rPr lang="zh-CN" altLang="en-US" sz="2000" b="1" i="1" smtClean="0">
                            <a:solidFill>
                              <a:prstClr val="black"/>
                            </a:solidFill>
                            <a:latin typeface="Cambria Math" panose="02040503050406030204" pitchFamily="18" charset="0"/>
                          </a:rPr>
                        </m:ctrlPr>
                      </m:sSubPr>
                      <m:e>
                        <m:r>
                          <a:rPr lang="en-US" altLang="zh-CN" sz="2000" i="1">
                            <a:latin typeface="Cambria Math" panose="02040503050406030204" pitchFamily="18" charset="0"/>
                            <a:cs typeface="Times New Roman" panose="02020603050405020304" pitchFamily="18" charset="0"/>
                          </a:rPr>
                          <m:t>𝐺</m:t>
                        </m:r>
                      </m:e>
                      <m:sub>
                        <m:r>
                          <a:rPr lang="en-US" altLang="zh-CN" sz="2000" b="0" i="1" smtClean="0">
                            <a:solidFill>
                              <a:prstClr val="black"/>
                            </a:solidFill>
                            <a:latin typeface="Cambria Math" panose="02040503050406030204" pitchFamily="18" charset="0"/>
                          </a:rPr>
                          <m:t>𝑛</m:t>
                        </m:r>
                      </m:sub>
                    </m:sSub>
                  </m:oMath>
                </a14:m>
                <a:r>
                  <a:rPr lang="zh-CN" altLang="en-US" sz="2000" dirty="0">
                    <a:latin typeface="Arial" panose="020B0604020202020204" pitchFamily="34" charset="0"/>
                    <a:ea typeface="微软雅黑" panose="020B0503020204020204" pitchFamily="34" charset="-122"/>
                    <a:cs typeface="Arial" panose="020B0604020202020204" pitchFamily="34" charset="0"/>
                  </a:rPr>
                  <a:t>是拓扑中割边和不属于割边的割点的集合，定义</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𝐺</m:t>
                    </m:r>
                    <m:r>
                      <a:rPr lang="en-US" altLang="zh-CN" sz="2000" i="1">
                        <a:latin typeface="Cambria Math" panose="02040503050406030204" pitchFamily="18" charset="0"/>
                        <a:cs typeface="Times New Roman" panose="02020603050405020304" pitchFamily="18" charset="0"/>
                      </a:rPr>
                      <m:t>−</m:t>
                    </m:r>
                    <m:sSub>
                      <m:sSubPr>
                        <m:ctrlPr>
                          <a:rPr lang="zh-CN" altLang="en-US" sz="2000" b="1" i="1">
                            <a:solidFill>
                              <a:prstClr val="black"/>
                            </a:solidFill>
                            <a:latin typeface="Cambria Math" panose="02040503050406030204" pitchFamily="18" charset="0"/>
                          </a:rPr>
                        </m:ctrlPr>
                      </m:sSubPr>
                      <m:e>
                        <m:r>
                          <a:rPr lang="en-US" altLang="zh-CN" sz="2000" i="1">
                            <a:latin typeface="Cambria Math" panose="02040503050406030204" pitchFamily="18" charset="0"/>
                            <a:cs typeface="Times New Roman" panose="02020603050405020304" pitchFamily="18" charset="0"/>
                          </a:rPr>
                          <m:t>𝐺</m:t>
                        </m:r>
                      </m:e>
                      <m:sub>
                        <m:r>
                          <a:rPr lang="en-US" altLang="zh-CN" sz="2000" i="1">
                            <a:solidFill>
                              <a:prstClr val="black"/>
                            </a:solidFill>
                            <a:latin typeface="Cambria Math" panose="02040503050406030204" pitchFamily="18" charset="0"/>
                          </a:rPr>
                          <m:t>𝑛</m:t>
                        </m:r>
                      </m:sub>
                    </m:sSub>
                  </m:oMath>
                </a14:m>
                <a:r>
                  <a:rPr lang="zh-CN" altLang="en-US" sz="2000" dirty="0">
                    <a:latin typeface="Arial" panose="020B0604020202020204" pitchFamily="34" charset="0"/>
                    <a:ea typeface="微软雅黑" panose="020B0503020204020204" pitchFamily="34" charset="-122"/>
                    <a:cs typeface="Arial" panose="020B0604020202020204" pitchFamily="34" charset="0"/>
                  </a:rPr>
                  <a:t>为</a:t>
                </a:r>
                <a14:m>
                  <m:oMath xmlns:m="http://schemas.openxmlformats.org/officeDocument/2006/math">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oMath>
                </a14:m>
                <a:r>
                  <a:rPr lang="zh-CN" altLang="en-US" sz="2000" dirty="0">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的连通分量个数为</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𝑛</m:t>
                    </m:r>
                    <m:r>
                      <a:rPr lang="en-US" altLang="zh-CN" sz="2000">
                        <a:latin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r>
                      <a:rPr lang="en-US" altLang="zh-CN" sz="2000" i="1">
                        <a:latin typeface="Cambria Math" panose="02040503050406030204" pitchFamily="18" charset="0"/>
                        <a:cs typeface="Times New Roman" panose="02020603050405020304" pitchFamily="18" charset="0"/>
                      </a:rPr>
                      <m:t>)</m:t>
                    </m:r>
                  </m:oMath>
                </a14:m>
                <a:r>
                  <a:rPr lang="en-US" altLang="zh-CN" sz="2000" dirty="0">
                    <a:latin typeface="Arial" panose="020B0604020202020204" pitchFamily="34" charset="0"/>
                    <a:ea typeface="微软雅黑" panose="020B0503020204020204" pitchFamily="34" charset="-122"/>
                    <a:cs typeface="Arial" panose="020B0604020202020204" pitchFamily="34" charset="0"/>
                  </a:rPr>
                  <a:t> </a:t>
                </a:r>
                <a:r>
                  <a:rPr lang="zh-CN" altLang="en-US" sz="2000" dirty="0">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的单点连通分量个数为</a:t>
                </a:r>
                <a14:m>
                  <m:oMath xmlns:m="http://schemas.openxmlformats.org/officeDocument/2006/math">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𝑛</m:t>
                        </m:r>
                      </m:e>
                      <m:sub>
                        <m:r>
                          <a:rPr lang="en-US" altLang="zh-CN" sz="2000" i="1">
                            <a:latin typeface="Cambria Math" panose="02040503050406030204" pitchFamily="18" charset="0"/>
                            <a:cs typeface="Times New Roman" panose="02020603050405020304" pitchFamily="18" charset="0"/>
                          </a:rPr>
                          <m:t>𝑣</m:t>
                        </m:r>
                      </m:sub>
                    </m:sSub>
                    <m:r>
                      <a:rPr lang="en-US" altLang="zh-CN" sz="2000">
                        <a:latin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r>
                      <a:rPr lang="en-US" altLang="zh-CN" sz="2000" i="1">
                        <a:latin typeface="Cambria Math" panose="02040503050406030204" pitchFamily="18" charset="0"/>
                        <a:cs typeface="Times New Roman" panose="02020603050405020304" pitchFamily="18" charset="0"/>
                      </a:rPr>
                      <m:t>)</m:t>
                    </m:r>
                  </m:oMath>
                </a14:m>
                <a:endParaRPr lang="zh-CN" altLang="en-US" sz="2000" dirty="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5" name="矩形 4"/>
              <p:cNvSpPr>
                <a:spLocks noRot="1" noChangeAspect="1" noMove="1" noResize="1" noEditPoints="1" noAdjustHandles="1" noChangeArrowheads="1" noChangeShapeType="1" noTextEdit="1"/>
              </p:cNvSpPr>
              <p:nvPr/>
            </p:nvSpPr>
            <p:spPr>
              <a:xfrm>
                <a:off x="1201218" y="2486313"/>
                <a:ext cx="7102973" cy="707886"/>
              </a:xfrm>
              <a:prstGeom prst="rect">
                <a:avLst/>
              </a:prstGeom>
              <a:blipFill rotWithShape="1">
                <a:blip r:embed="rId2"/>
                <a:stretch>
                  <a:fillRect l="-6" t="-41" r="-1507" b="21"/>
                </a:stretch>
              </a:blipFill>
            </p:spPr>
            <p:txBody>
              <a:bodyPr/>
              <a:lstStyle/>
              <a:p>
                <a:r>
                  <a:rPr lang="zh-CN" altLang="en-US">
                    <a:noFill/>
                  </a:rPr>
                  <a:t> </a:t>
                </a:r>
              </a:p>
            </p:txBody>
          </p:sp>
        </mc:Fallback>
      </mc:AlternateContent>
      <p:sp>
        <p:nvSpPr>
          <p:cNvPr id="6" name="矩形 5"/>
          <p:cNvSpPr/>
          <p:nvPr/>
        </p:nvSpPr>
        <p:spPr>
          <a:xfrm>
            <a:off x="1201218" y="6102515"/>
            <a:ext cx="7593797" cy="400110"/>
          </a:xfrm>
          <a:prstGeom prst="rect">
            <a:avLst/>
          </a:prstGeom>
        </p:spPr>
        <p:txBody>
          <a:bodyPr wrap="square">
            <a:spAutoFit/>
          </a:bodyPr>
          <a:lstStyle/>
          <a:p>
            <a:r>
              <a:rPr lang="zh-CN" altLang="en-US" sz="2000" dirty="0">
                <a:latin typeface="Arial" panose="020B0604020202020204" pitchFamily="34" charset="0"/>
                <a:ea typeface="微软雅黑" panose="020B0503020204020204" pitchFamily="34" charset="-122"/>
                <a:cs typeface="Arial" panose="020B0604020202020204" pitchFamily="34" charset="0"/>
              </a:rPr>
              <a:t>此时割边电抗无法推断，但连通分量中的线路电抗能够准确推断</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7" name="矩形 6"/>
              <p:cNvSpPr/>
              <p:nvPr/>
            </p:nvSpPr>
            <p:spPr>
              <a:xfrm>
                <a:off x="1133970" y="3642800"/>
                <a:ext cx="7593797" cy="400110"/>
              </a:xfrm>
              <a:prstGeom prst="rect">
                <a:avLst/>
              </a:prstGeom>
            </p:spPr>
            <p:txBody>
              <a:bodyPr wrap="square">
                <a:spAutoFit/>
              </a:bodyPr>
              <a:lstStyle/>
              <a:p>
                <a:r>
                  <a:rPr lang="zh-CN" altLang="en-US" sz="2000" dirty="0">
                    <a:latin typeface="Arial" panose="020B0604020202020204" pitchFamily="34" charset="0"/>
                    <a:ea typeface="微软雅黑" panose="020B0503020204020204" pitchFamily="34" charset="-122"/>
                    <a:cs typeface="Arial" panose="020B0604020202020204" pitchFamily="34" charset="0"/>
                  </a:rPr>
                  <a:t>在右图的</a:t>
                </a:r>
                <a:r>
                  <a:rPr lang="en-US" altLang="zh-CN" sz="2000" dirty="0">
                    <a:latin typeface="Arial" panose="020B0604020202020204" pitchFamily="34" charset="0"/>
                    <a:ea typeface="微软雅黑" panose="020B0503020204020204" pitchFamily="34" charset="-122"/>
                    <a:cs typeface="Arial" panose="020B0604020202020204" pitchFamily="34" charset="0"/>
                  </a:rPr>
                  <a:t>8</a:t>
                </a:r>
                <a:r>
                  <a:rPr lang="zh-CN" altLang="en-US" sz="2000" dirty="0">
                    <a:latin typeface="Arial" panose="020B0604020202020204" pitchFamily="34" charset="0"/>
                    <a:ea typeface="微软雅黑" panose="020B0503020204020204" pitchFamily="34" charset="-122"/>
                    <a:cs typeface="Arial" panose="020B0604020202020204" pitchFamily="34" charset="0"/>
                  </a:rPr>
                  <a:t>节点系统中，</a:t>
                </a:r>
                <a:r>
                  <a:rPr lang="en-US" altLang="zh-CN" sz="2000" dirty="0">
                    <a:solidFill>
                      <a:prstClr val="black"/>
                    </a:solidFill>
                    <a:latin typeface="Arial" panose="020B0604020202020204" pitchFamily="34" charset="0"/>
                    <a:ea typeface="微软雅黑" panose="020B0503020204020204" pitchFamily="34" charset="-122"/>
                    <a:cs typeface="Arial" panose="020B0604020202020204" pitchFamily="34" charset="0"/>
                  </a:rPr>
                  <a:t> </a:t>
                </a:r>
                <a14:m>
                  <m:oMath xmlns:m="http://schemas.openxmlformats.org/officeDocument/2006/math">
                    <m:sSub>
                      <m:sSubPr>
                        <m:ctrlPr>
                          <a:rPr lang="zh-CN" altLang="en-US" sz="2000" b="1"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cs typeface="Times New Roman" panose="02020603050405020304" pitchFamily="18" charset="0"/>
                          </a:rPr>
                          <m:t>𝐺</m:t>
                        </m:r>
                      </m:e>
                      <m:sub>
                        <m:r>
                          <a:rPr lang="en-US" altLang="zh-CN" sz="2000" i="1">
                            <a:solidFill>
                              <a:prstClr val="black"/>
                            </a:solidFill>
                            <a:latin typeface="Cambria Math" panose="02040503050406030204" pitchFamily="18" charset="0"/>
                          </a:rPr>
                          <m:t>𝑛</m:t>
                        </m:r>
                      </m:sub>
                    </m:sSub>
                    <m:r>
                      <a:rPr lang="en-US" altLang="zh-CN" sz="2000" i="1">
                        <a:solidFill>
                          <a:prstClr val="black"/>
                        </a:solidFill>
                        <a:latin typeface="Cambria Math" panose="02040503050406030204" pitchFamily="18" charset="0"/>
                      </a:rPr>
                      <m:t>={</m:t>
                    </m:r>
                    <m:r>
                      <a:rPr lang="en-US" altLang="zh-CN" sz="2000" i="1">
                        <a:solidFill>
                          <a:prstClr val="black"/>
                        </a:solidFill>
                        <a:latin typeface="Cambria Math" panose="02040503050406030204" pitchFamily="18" charset="0"/>
                      </a:rPr>
                      <m:t>1</m:t>
                    </m:r>
                    <m:r>
                      <a:rPr lang="en-US" altLang="zh-CN" sz="2000" i="1">
                        <a:solidFill>
                          <a:prstClr val="black"/>
                        </a:solidFill>
                        <a:latin typeface="Cambria Math" panose="02040503050406030204" pitchFamily="18" charset="0"/>
                      </a:rPr>
                      <m:t>−</m:t>
                    </m:r>
                    <m:r>
                      <a:rPr lang="en-US" altLang="zh-CN" sz="2000" i="1">
                        <a:solidFill>
                          <a:prstClr val="black"/>
                        </a:solidFill>
                        <a:latin typeface="Cambria Math" panose="02040503050406030204" pitchFamily="18" charset="0"/>
                      </a:rPr>
                      <m:t>8</m:t>
                    </m:r>
                    <m:r>
                      <a:rPr lang="en-US" altLang="zh-CN" sz="2000" i="1">
                        <a:solidFill>
                          <a:prstClr val="black"/>
                        </a:solidFill>
                        <a:latin typeface="Cambria Math" panose="02040503050406030204" pitchFamily="18" charset="0"/>
                      </a:rPr>
                      <m:t>, </m:t>
                    </m:r>
                    <m:r>
                      <a:rPr lang="en-US" altLang="zh-CN" sz="2000" i="1">
                        <a:solidFill>
                          <a:prstClr val="black"/>
                        </a:solidFill>
                        <a:latin typeface="Cambria Math" panose="02040503050406030204" pitchFamily="18" charset="0"/>
                      </a:rPr>
                      <m:t>2</m:t>
                    </m:r>
                    <m:r>
                      <a:rPr lang="en-US" altLang="zh-CN" sz="2000" b="1" i="1">
                        <a:solidFill>
                          <a:prstClr val="black"/>
                        </a:solidFill>
                        <a:latin typeface="Cambria Math" panose="02040503050406030204" pitchFamily="18" charset="0"/>
                      </a:rPr>
                      <m:t>} </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𝑛</m:t>
                    </m:r>
                    <m:d>
                      <m:dPr>
                        <m:ctrlPr>
                          <a:rPr lang="en-US" altLang="zh-CN" sz="2000" i="1">
                            <a:latin typeface="Cambria Math" panose="02040503050406030204" pitchFamily="18" charset="0"/>
                            <a:cs typeface="Times New Roman" panose="02020603050405020304" pitchFamily="18" charset="0"/>
                          </a:rPr>
                        </m:ctrlPr>
                      </m:dPr>
                      <m:e>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e>
                    </m:d>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3</m:t>
                    </m:r>
                    <m:r>
                      <a:rPr lang="zh-CN" altLang="en-US" sz="2000" i="1" smtClean="0">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𝑛</m:t>
                        </m:r>
                      </m:e>
                      <m:sub>
                        <m:r>
                          <a:rPr lang="en-US" altLang="zh-CN" sz="2000" i="1">
                            <a:latin typeface="Cambria Math" panose="02040503050406030204" pitchFamily="18" charset="0"/>
                            <a:cs typeface="Times New Roman" panose="02020603050405020304" pitchFamily="18" charset="0"/>
                          </a:rPr>
                          <m:t>𝑣</m:t>
                        </m:r>
                      </m:sub>
                    </m:sSub>
                    <m:d>
                      <m:dPr>
                        <m:ctrlPr>
                          <a:rPr lang="en-US" altLang="zh-CN" sz="2000" i="1">
                            <a:latin typeface="Cambria Math" panose="02040503050406030204" pitchFamily="18" charset="0"/>
                            <a:cs typeface="Times New Roman" panose="02020603050405020304" pitchFamily="18" charset="0"/>
                          </a:rPr>
                        </m:ctrlPr>
                      </m:dPr>
                      <m:e>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e>
                    </m:d>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1</m:t>
                    </m:r>
                  </m:oMath>
                </a14:m>
                <a:r>
                  <a:rPr lang="en-US" altLang="zh-CN" sz="2000" dirty="0">
                    <a:latin typeface="Arial" panose="020B0604020202020204" pitchFamily="34" charset="0"/>
                    <a:ea typeface="微软雅黑" panose="020B0503020204020204" pitchFamily="34" charset="-122"/>
                    <a:cs typeface="Arial" panose="020B0604020202020204" pitchFamily="34" charset="0"/>
                  </a:rPr>
                  <a:t> </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7" name="矩形 6"/>
              <p:cNvSpPr>
                <a:spLocks noRot="1" noChangeAspect="1" noMove="1" noResize="1" noEditPoints="1" noAdjustHandles="1" noChangeArrowheads="1" noChangeShapeType="1" noTextEdit="1"/>
              </p:cNvSpPr>
              <p:nvPr/>
            </p:nvSpPr>
            <p:spPr>
              <a:xfrm>
                <a:off x="1133970" y="3642800"/>
                <a:ext cx="7593797" cy="400110"/>
              </a:xfrm>
              <a:prstGeom prst="rect">
                <a:avLst/>
              </a:prstGeom>
              <a:blipFill rotWithShape="1">
                <a:blip r:embed="rId3"/>
                <a:stretch>
                  <a:fillRect l="-7" t="-110" r="4" b="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201218" y="4554337"/>
                <a:ext cx="9161981" cy="429861"/>
              </a:xfrm>
              <a:prstGeom prst="rect">
                <a:avLst/>
              </a:prstGeom>
            </p:spPr>
            <p:txBody>
              <a:bodyPr wrap="square">
                <a:spAutoFit/>
              </a:bodyPr>
              <a:lstStyle/>
              <a:p>
                <a:pPr>
                  <a:lnSpc>
                    <a:spcPct val="120000"/>
                  </a:lnSpc>
                </a:pPr>
                <a:r>
                  <a:rPr lang="zh-CN" altLang="en-US" sz="2000" b="1" kern="0" dirty="0">
                    <a:solidFill>
                      <a:prstClr val="black"/>
                    </a:solidFill>
                    <a:latin typeface="Arial" panose="020B0604020202020204" pitchFamily="34" charset="0"/>
                    <a:ea typeface="微软雅黑" panose="020B0503020204020204" pitchFamily="34" charset="-122"/>
                    <a:cs typeface="Arial" panose="020B0604020202020204" pitchFamily="34" charset="0"/>
                  </a:rPr>
                  <a:t>定理</a:t>
                </a:r>
                <a:r>
                  <a:rPr lang="en-US" altLang="zh-CN" sz="2000" b="1" kern="0" dirty="0">
                    <a:solidFill>
                      <a:prstClr val="black"/>
                    </a:solidFill>
                    <a:latin typeface="Arial" panose="020B0604020202020204" pitchFamily="34" charset="0"/>
                    <a:ea typeface="微软雅黑" panose="020B0503020204020204" pitchFamily="34" charset="-122"/>
                    <a:cs typeface="Arial" panose="020B0604020202020204" pitchFamily="34" charset="0"/>
                  </a:rPr>
                  <a:t>5</a:t>
                </a:r>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sz="2000" i="1" kern="0">
                            <a:solidFill>
                              <a:prstClr val="black"/>
                            </a:solidFill>
                            <a:latin typeface="Cambria Math" panose="02040503050406030204" pitchFamily="18" charset="0"/>
                            <a:ea typeface="微软雅黑" panose="020B0503020204020204" pitchFamily="34" charset="-122"/>
                          </a:rPr>
                        </m:ctrlPr>
                      </m:dPr>
                      <m:e>
                        <m:r>
                          <a:rPr lang="en-US" altLang="zh-CN" sz="2000" kern="0">
                            <a:solidFill>
                              <a:prstClr val="black"/>
                            </a:solidFill>
                            <a:latin typeface="Cambria Math" panose="02040503050406030204" pitchFamily="18" charset="0"/>
                            <a:ea typeface="微软雅黑" panose="020B0503020204020204" pitchFamily="34" charset="-122"/>
                          </a:rPr>
                          <m:t>𝑬</m:t>
                        </m:r>
                      </m:e>
                    </m:d>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的最大值为</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𝐿</m:t>
                    </m:r>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𝐿</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𝑒</m:t>
                        </m:r>
                      </m:sub>
                    </m:sSub>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𝑛</m:t>
                    </m:r>
                    <m:d>
                      <m:dPr>
                        <m:ctrlPr>
                          <a:rPr lang="en-US" altLang="zh-CN" sz="2000" i="1">
                            <a:latin typeface="Cambria Math" panose="02040503050406030204" pitchFamily="18" charset="0"/>
                            <a:cs typeface="Times New Roman" panose="02020603050405020304" pitchFamily="18" charset="0"/>
                          </a:rPr>
                        </m:ctrlPr>
                      </m:dPr>
                      <m:e>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e>
                    </m:d>
                  </m:oMath>
                </a14:m>
                <a:r>
                  <a:rPr lang="en-US" altLang="zh-CN" sz="2000" dirty="0">
                    <a:latin typeface="Arial" panose="020B0604020202020204" pitchFamily="34" charset="0"/>
                    <a:ea typeface="微软雅黑" panose="020B0503020204020204" pitchFamily="34" charset="-122"/>
                    <a:cs typeface="Arial" panose="020B0604020202020204" pitchFamily="34" charset="0"/>
                  </a:rPr>
                  <a:t>+ </a:t>
                </a:r>
                <a14:m>
                  <m:oMath xmlns:m="http://schemas.openxmlformats.org/officeDocument/2006/math">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𝑛</m:t>
                        </m:r>
                      </m:e>
                      <m:sub>
                        <m:r>
                          <a:rPr lang="en-US" altLang="zh-CN" sz="2000" i="1">
                            <a:latin typeface="Cambria Math" panose="02040503050406030204" pitchFamily="18" charset="0"/>
                            <a:cs typeface="Times New Roman" panose="02020603050405020304" pitchFamily="18" charset="0"/>
                          </a:rPr>
                          <m:t>𝑣</m:t>
                        </m:r>
                      </m:sub>
                    </m:sSub>
                    <m:d>
                      <m:dPr>
                        <m:ctrlPr>
                          <a:rPr lang="en-US" altLang="zh-CN" sz="2000" i="1">
                            <a:latin typeface="Cambria Math" panose="02040503050406030204" pitchFamily="18" charset="0"/>
                            <a:cs typeface="Times New Roman" panose="02020603050405020304" pitchFamily="18" charset="0"/>
                          </a:rPr>
                        </m:ctrlPr>
                      </m:dPr>
                      <m:e>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e>
                    </m:d>
                  </m:oMath>
                </a14:m>
                <a:r>
                  <a:rPr lang="zh-CN" altLang="en-US" sz="2000" dirty="0">
                    <a:latin typeface="Arial" panose="020B0604020202020204" pitchFamily="34" charset="0"/>
                    <a:ea typeface="微软雅黑" panose="020B0503020204020204" pitchFamily="34" charset="-122"/>
                    <a:cs typeface="Arial" panose="020B0604020202020204" pitchFamily="34" charset="0"/>
                  </a:rPr>
                  <a:t>，其中</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𝐿</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𝑒</m:t>
                        </m:r>
                      </m:sub>
                    </m:sSub>
                  </m:oMath>
                </a14:m>
                <a:r>
                  <a:rPr lang="zh-CN" altLang="en-US" sz="2000" dirty="0">
                    <a:latin typeface="Arial" panose="020B0604020202020204" pitchFamily="34" charset="0"/>
                    <a:ea typeface="微软雅黑" panose="020B0503020204020204" pitchFamily="34" charset="-122"/>
                    <a:cs typeface="Arial" panose="020B0604020202020204" pitchFamily="34" charset="0"/>
                  </a:rPr>
                  <a:t>是</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𝐺</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中割边的数量</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8" name="矩形 7"/>
              <p:cNvSpPr>
                <a:spLocks noRot="1" noChangeAspect="1" noMove="1" noResize="1" noEditPoints="1" noAdjustHandles="1" noChangeArrowheads="1" noChangeShapeType="1" noTextEdit="1"/>
              </p:cNvSpPr>
              <p:nvPr/>
            </p:nvSpPr>
            <p:spPr>
              <a:xfrm>
                <a:off x="1201218" y="4554337"/>
                <a:ext cx="9161981" cy="429861"/>
              </a:xfrm>
              <a:prstGeom prst="rect">
                <a:avLst/>
              </a:prstGeom>
              <a:blipFill rotWithShape="1">
                <a:blip r:embed="rId4"/>
                <a:stretch>
                  <a:fillRect l="-5" t="-27" r="7"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1201218" y="5395658"/>
                <a:ext cx="6640738" cy="400110"/>
              </a:xfrm>
              <a:prstGeom prst="rect">
                <a:avLst/>
              </a:prstGeom>
            </p:spPr>
            <p:txBody>
              <a:bodyPr wrap="square">
                <a:spAutoFit/>
              </a:bodyPr>
              <a:lstStyle/>
              <a:p>
                <a:r>
                  <a:rPr lang="zh-CN" altLang="en-US" sz="2000" dirty="0">
                    <a:latin typeface="Arial" panose="020B0604020202020204" pitchFamily="34" charset="0"/>
                    <a:ea typeface="微软雅黑" panose="020B0503020204020204" pitchFamily="34" charset="-122"/>
                    <a:cs typeface="Arial" panose="020B0604020202020204" pitchFamily="34" charset="0"/>
                  </a:rPr>
                  <a:t>在</a:t>
                </a:r>
                <a:r>
                  <a:rPr lang="en-US" altLang="zh-CN" sz="2000" dirty="0">
                    <a:latin typeface="Arial" panose="020B0604020202020204" pitchFamily="34" charset="0"/>
                    <a:ea typeface="微软雅黑" panose="020B0503020204020204" pitchFamily="34" charset="-122"/>
                    <a:cs typeface="Arial" panose="020B0604020202020204" pitchFamily="34" charset="0"/>
                  </a:rPr>
                  <a:t>8</a:t>
                </a:r>
                <a:r>
                  <a:rPr lang="zh-CN" altLang="en-US" sz="2000" dirty="0">
                    <a:latin typeface="Arial" panose="020B0604020202020204" pitchFamily="34" charset="0"/>
                    <a:ea typeface="微软雅黑" panose="020B0503020204020204" pitchFamily="34" charset="-122"/>
                    <a:cs typeface="Arial" panose="020B0604020202020204" pitchFamily="34" charset="0"/>
                  </a:rPr>
                  <a:t>节点系统中， </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sz="2000" i="1" kern="0">
                            <a:solidFill>
                              <a:prstClr val="black"/>
                            </a:solidFill>
                            <a:latin typeface="Cambria Math" panose="02040503050406030204" pitchFamily="18" charset="0"/>
                            <a:ea typeface="微软雅黑" panose="020B0503020204020204" pitchFamily="34" charset="-122"/>
                          </a:rPr>
                        </m:ctrlPr>
                      </m:dPr>
                      <m:e>
                        <m:r>
                          <a:rPr lang="en-US" altLang="zh-CN" sz="2000" kern="0">
                            <a:solidFill>
                              <a:prstClr val="black"/>
                            </a:solidFill>
                            <a:latin typeface="Cambria Math" panose="02040503050406030204" pitchFamily="18" charset="0"/>
                            <a:ea typeface="微软雅黑" panose="020B0503020204020204" pitchFamily="34" charset="-122"/>
                          </a:rPr>
                          <m:t>𝑬</m:t>
                        </m:r>
                      </m:e>
                    </m:d>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的最大值为</a:t>
                </a:r>
                <a:r>
                  <a:rPr lang="en-US" altLang="zh-CN" sz="2000" dirty="0">
                    <a:latin typeface="Arial" panose="020B0604020202020204" pitchFamily="34" charset="0"/>
                    <a:ea typeface="微软雅黑" panose="020B0503020204020204" pitchFamily="34" charset="-122"/>
                    <a:cs typeface="Arial" panose="020B0604020202020204" pitchFamily="34" charset="0"/>
                  </a:rPr>
                  <a:t>10-1-3+1=7</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9" name="矩形 8"/>
              <p:cNvSpPr>
                <a:spLocks noRot="1" noChangeAspect="1" noMove="1" noResize="1" noEditPoints="1" noAdjustHandles="1" noChangeArrowheads="1" noChangeShapeType="1" noTextEdit="1"/>
              </p:cNvSpPr>
              <p:nvPr/>
            </p:nvSpPr>
            <p:spPr>
              <a:xfrm>
                <a:off x="1201218" y="5395658"/>
                <a:ext cx="6640738" cy="400110"/>
              </a:xfrm>
              <a:prstGeom prst="rect">
                <a:avLst/>
              </a:prstGeom>
              <a:blipFill rotWithShape="1">
                <a:blip r:embed="rId5"/>
                <a:stretch>
                  <a:fillRect l="-7" t="-16" r="5" b="31"/>
                </a:stretch>
              </a:blipFill>
            </p:spPr>
            <p:txBody>
              <a:bodyPr/>
              <a:lstStyle/>
              <a:p>
                <a:r>
                  <a:rPr lang="zh-CN" altLang="en-US">
                    <a:noFill/>
                  </a:rPr>
                  <a:t> </a:t>
                </a:r>
              </a:p>
            </p:txBody>
          </p:sp>
        </mc:Fallback>
      </mc:AlternateContent>
      <p:pic>
        <p:nvPicPr>
          <p:cNvPr id="10" name="图片 9"/>
          <p:cNvPicPr>
            <a:picLocks noChangeAspect="1"/>
          </p:cNvPicPr>
          <p:nvPr/>
        </p:nvPicPr>
        <p:blipFill>
          <a:blip r:embed="rId6"/>
          <a:stretch>
            <a:fillRect/>
          </a:stretch>
        </p:blipFill>
        <p:spPr>
          <a:xfrm>
            <a:off x="8562449" y="1470718"/>
            <a:ext cx="2428332" cy="198276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54553" y="402058"/>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4" name="矩形 3"/>
          <p:cNvSpPr/>
          <p:nvPr/>
        </p:nvSpPr>
        <p:spPr>
          <a:xfrm>
            <a:off x="2121580" y="5568277"/>
            <a:ext cx="7206569" cy="960776"/>
          </a:xfrm>
          <a:prstGeom prst="rect">
            <a:avLst/>
          </a:prstGeom>
        </p:spPr>
        <p:txBody>
          <a:bodyPr wrap="square">
            <a:spAutoFit/>
          </a:bodyPr>
          <a:lstStyle/>
          <a:p>
            <a:pPr>
              <a:lnSpc>
                <a:spcPct val="150000"/>
              </a:lnSpc>
            </a:pPr>
            <a:r>
              <a:rPr lang="zh-CN" altLang="en-US" sz="2000" dirty="0">
                <a:latin typeface="Arial" panose="020B0604020202020204" pitchFamily="34" charset="0"/>
                <a:ea typeface="微软雅黑" panose="020B0503020204020204" pitchFamily="34" charset="-122"/>
                <a:cs typeface="Arial" panose="020B0604020202020204" pitchFamily="34" charset="0"/>
              </a:rPr>
              <a:t>仅需要线路</a:t>
            </a:r>
            <a:r>
              <a:rPr lang="en-US" altLang="zh-CN" sz="2000" dirty="0">
                <a:latin typeface="Arial" panose="020B0604020202020204" pitchFamily="34" charset="0"/>
                <a:ea typeface="微软雅黑" panose="020B0503020204020204" pitchFamily="34" charset="-122"/>
                <a:cs typeface="Arial" panose="020B0604020202020204" pitchFamily="34" charset="0"/>
              </a:rPr>
              <a:t>1</a:t>
            </a:r>
            <a:r>
              <a:rPr lang="zh-CN" altLang="en-US" sz="2000" dirty="0">
                <a:latin typeface="Arial" panose="020B0604020202020204" pitchFamily="34" charset="0"/>
                <a:ea typeface="微软雅黑" panose="020B0503020204020204" pitchFamily="34" charset="-122"/>
                <a:cs typeface="Arial" panose="020B0604020202020204" pitchFamily="34" charset="0"/>
              </a:rPr>
              <a:t>与线路</a:t>
            </a:r>
            <a:r>
              <a:rPr lang="en-US" altLang="zh-CN" sz="2000" dirty="0">
                <a:latin typeface="Arial" panose="020B0604020202020204" pitchFamily="34" charset="0"/>
                <a:ea typeface="微软雅黑" panose="020B0503020204020204" pitchFamily="34" charset="-122"/>
                <a:cs typeface="Arial" panose="020B0604020202020204" pitchFamily="34" charset="0"/>
              </a:rPr>
              <a:t>6</a:t>
            </a:r>
            <a:r>
              <a:rPr lang="zh-CN" altLang="en-US" sz="2000" dirty="0">
                <a:latin typeface="Arial" panose="020B0604020202020204" pitchFamily="34" charset="0"/>
                <a:ea typeface="微软雅黑" panose="020B0503020204020204" pitchFamily="34" charset="-122"/>
                <a:cs typeface="Arial" panose="020B0604020202020204" pitchFamily="34" charset="0"/>
              </a:rPr>
              <a:t>阻塞时的电价与影子价格被公开，就能够计算出</a:t>
            </a:r>
            <a:r>
              <a:rPr lang="en-US" altLang="zh-CN" sz="2000" dirty="0">
                <a:latin typeface="Arial" panose="020B0604020202020204" pitchFamily="34" charset="0"/>
                <a:ea typeface="微软雅黑" panose="020B0503020204020204" pitchFamily="34" charset="-122"/>
                <a:cs typeface="Arial" panose="020B0604020202020204" pitchFamily="34" charset="0"/>
              </a:rPr>
              <a:t>              </a:t>
            </a:r>
            <a:r>
              <a:rPr lang="zh-CN" altLang="en-US" sz="2000" dirty="0">
                <a:latin typeface="Arial" panose="020B0604020202020204" pitchFamily="34" charset="0"/>
                <a:ea typeface="微软雅黑" panose="020B0503020204020204" pitchFamily="34" charset="-122"/>
                <a:cs typeface="Arial" panose="020B0604020202020204" pitchFamily="34" charset="0"/>
              </a:rPr>
              <a:t>的完整形式，达到最大推断能力</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p:pic>
        <p:nvPicPr>
          <p:cNvPr id="5" name="图片 4"/>
          <p:cNvPicPr>
            <a:picLocks noChangeAspect="1"/>
          </p:cNvPicPr>
          <p:nvPr/>
        </p:nvPicPr>
        <p:blipFill>
          <a:blip r:embed="rId1"/>
          <a:stretch>
            <a:fillRect/>
          </a:stretch>
        </p:blipFill>
        <p:spPr>
          <a:xfrm>
            <a:off x="2045978" y="1812575"/>
            <a:ext cx="4089105" cy="1436712"/>
          </a:xfrm>
          <a:prstGeom prst="rect">
            <a:avLst/>
          </a:prstGeom>
        </p:spPr>
      </p:pic>
      <p:pic>
        <p:nvPicPr>
          <p:cNvPr id="6" name="图片 5"/>
          <p:cNvPicPr>
            <a:picLocks noChangeAspect="1"/>
          </p:cNvPicPr>
          <p:nvPr/>
        </p:nvPicPr>
        <p:blipFill>
          <a:blip r:embed="rId2"/>
          <a:stretch>
            <a:fillRect/>
          </a:stretch>
        </p:blipFill>
        <p:spPr>
          <a:xfrm>
            <a:off x="6323585" y="3825162"/>
            <a:ext cx="3490527" cy="1136132"/>
          </a:xfrm>
          <a:prstGeom prst="rect">
            <a:avLst/>
          </a:prstGeom>
        </p:spPr>
      </p:pic>
      <p:pic>
        <p:nvPicPr>
          <p:cNvPr id="7" name="图片 6"/>
          <p:cNvPicPr>
            <a:picLocks noChangeAspect="1"/>
          </p:cNvPicPr>
          <p:nvPr/>
        </p:nvPicPr>
        <p:blipFill>
          <a:blip r:embed="rId3"/>
          <a:stretch>
            <a:fillRect/>
          </a:stretch>
        </p:blipFill>
        <p:spPr>
          <a:xfrm>
            <a:off x="6852205" y="1282991"/>
            <a:ext cx="2373790" cy="2230258"/>
          </a:xfrm>
          <a:prstGeom prst="rect">
            <a:avLst/>
          </a:prstGeom>
        </p:spPr>
      </p:pic>
      <p:pic>
        <p:nvPicPr>
          <p:cNvPr id="8" name="图片 7"/>
          <p:cNvPicPr>
            <a:picLocks noChangeAspect="1"/>
          </p:cNvPicPr>
          <p:nvPr/>
        </p:nvPicPr>
        <p:blipFill>
          <a:blip r:embed="rId4"/>
          <a:stretch>
            <a:fillRect/>
          </a:stretch>
        </p:blipFill>
        <p:spPr>
          <a:xfrm>
            <a:off x="2783954" y="3654757"/>
            <a:ext cx="3460153" cy="1508075"/>
          </a:xfrm>
          <a:prstGeom prst="rect">
            <a:avLst/>
          </a:prstGeom>
        </p:spPr>
      </p:pic>
      <p:pic>
        <p:nvPicPr>
          <p:cNvPr id="9" name="图片 8"/>
          <p:cNvPicPr>
            <a:picLocks noChangeAspect="1"/>
          </p:cNvPicPr>
          <p:nvPr/>
        </p:nvPicPr>
        <p:blipFill>
          <a:blip r:embed="rId5"/>
          <a:stretch>
            <a:fillRect/>
          </a:stretch>
        </p:blipFill>
        <p:spPr>
          <a:xfrm>
            <a:off x="1666285" y="4270591"/>
            <a:ext cx="802895" cy="276406"/>
          </a:xfrm>
          <a:prstGeom prst="rect">
            <a:avLst/>
          </a:prstGeom>
        </p:spPr>
      </p:pic>
      <p:pic>
        <p:nvPicPr>
          <p:cNvPr id="10" name="图片 9"/>
          <p:cNvPicPr>
            <a:picLocks noChangeAspect="1"/>
          </p:cNvPicPr>
          <p:nvPr/>
        </p:nvPicPr>
        <p:blipFill>
          <a:blip r:embed="rId6"/>
          <a:stretch>
            <a:fillRect/>
          </a:stretch>
        </p:blipFill>
        <p:spPr>
          <a:xfrm flipV="1">
            <a:off x="2527626" y="4396240"/>
            <a:ext cx="197881" cy="72000"/>
          </a:xfrm>
          <a:prstGeom prst="rect">
            <a:avLst/>
          </a:prstGeom>
        </p:spPr>
      </p:pic>
      <p:pic>
        <p:nvPicPr>
          <p:cNvPr id="11" name="图片 10"/>
          <p:cNvPicPr>
            <a:picLocks noChangeAspect="1"/>
          </p:cNvPicPr>
          <p:nvPr/>
        </p:nvPicPr>
        <p:blipFill>
          <a:blip r:embed="rId5"/>
          <a:stretch>
            <a:fillRect/>
          </a:stretch>
        </p:blipFill>
        <p:spPr>
          <a:xfrm>
            <a:off x="3040885" y="6173384"/>
            <a:ext cx="836573" cy="288000"/>
          </a:xfrm>
          <a:prstGeom prst="rect">
            <a:avLst/>
          </a:prstGeom>
        </p:spPr>
      </p:pic>
      <p:sp>
        <p:nvSpPr>
          <p:cNvPr id="12" name="文本框 11"/>
          <p:cNvSpPr txBox="1"/>
          <p:nvPr/>
        </p:nvSpPr>
        <p:spPr>
          <a:xfrm>
            <a:off x="798778" y="1086313"/>
            <a:ext cx="6140925" cy="492443"/>
          </a:xfrm>
          <a:prstGeom prst="rect">
            <a:avLst/>
          </a:prstGeom>
          <a:noFill/>
        </p:spPr>
        <p:txBody>
          <a:bodyPr wrap="square">
            <a:spAutoFit/>
          </a:bodyPr>
          <a:lstStyle>
            <a:defPPr>
              <a:defRPr lang="zh-CN"/>
            </a:defPPr>
            <a:lvl1pPr marL="457200" indent="-457200">
              <a:buFont typeface="Wingdings" panose="05000000000000000000" pitchFamily="2" charset="2"/>
              <a:buChar char="Ø"/>
              <a:defRPr sz="2600" b="1">
                <a:latin typeface="微软雅黑" panose="020B0503020204020204" pitchFamily="34" charset="-122"/>
                <a:ea typeface="微软雅黑" panose="020B0503020204020204" pitchFamily="34" charset="-122"/>
              </a:defRPr>
            </a:lvl1pPr>
          </a:lstStyle>
          <a:p>
            <a:r>
              <a:rPr lang="zh-CN" altLang="en-US" sz="2600" b="1" dirty="0">
                <a:latin typeface="微软雅黑" panose="020B0503020204020204" pitchFamily="34" charset="-122"/>
                <a:ea typeface="微软雅黑" panose="020B0503020204020204" pitchFamily="34" charset="-122"/>
              </a:rPr>
              <a:t>反向逆推过程：</a:t>
            </a:r>
            <a:r>
              <a:rPr lang="en-US" altLang="zh-CN" sz="2600" b="1" dirty="0">
                <a:latin typeface="微软雅黑" panose="020B0503020204020204" pitchFamily="34" charset="-122"/>
                <a:ea typeface="微软雅黑" panose="020B0503020204020204" pitchFamily="34" charset="-122"/>
              </a:rPr>
              <a:t>3</a:t>
            </a:r>
            <a:r>
              <a:rPr lang="zh-CN" altLang="en-US" sz="2600" b="1" dirty="0">
                <a:latin typeface="微软雅黑" panose="020B0503020204020204" pitchFamily="34" charset="-122"/>
                <a:ea typeface="微软雅黑" panose="020B0503020204020204" pitchFamily="34" charset="-122"/>
              </a:rPr>
              <a:t>、</a:t>
            </a:r>
            <a:r>
              <a:rPr lang="zh-CN" altLang="en-US" dirty="0"/>
              <a:t>最短推断路径</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54553" y="402058"/>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pic>
        <p:nvPicPr>
          <p:cNvPr id="3" name="图片 2"/>
          <p:cNvPicPr>
            <a:picLocks noChangeAspect="1"/>
          </p:cNvPicPr>
          <p:nvPr/>
        </p:nvPicPr>
        <p:blipFill>
          <a:blip r:embed="rId1"/>
          <a:stretch>
            <a:fillRect/>
          </a:stretch>
        </p:blipFill>
        <p:spPr>
          <a:xfrm>
            <a:off x="1056881" y="3485032"/>
            <a:ext cx="3762266" cy="595077"/>
          </a:xfrm>
          <a:prstGeom prst="rect">
            <a:avLst/>
          </a:prstGeom>
        </p:spPr>
      </p:pic>
      <p:pic>
        <p:nvPicPr>
          <p:cNvPr id="4" name="图片 3"/>
          <p:cNvPicPr>
            <a:picLocks noChangeAspect="1"/>
          </p:cNvPicPr>
          <p:nvPr/>
        </p:nvPicPr>
        <p:blipFill>
          <a:blip r:embed="rId2"/>
          <a:stretch>
            <a:fillRect/>
          </a:stretch>
        </p:blipFill>
        <p:spPr>
          <a:xfrm>
            <a:off x="1737685" y="2955323"/>
            <a:ext cx="2400661" cy="400110"/>
          </a:xfrm>
          <a:prstGeom prst="rect">
            <a:avLst/>
          </a:prstGeom>
        </p:spPr>
      </p:pic>
      <p:pic>
        <p:nvPicPr>
          <p:cNvPr id="5" name="图片 4"/>
          <p:cNvPicPr>
            <a:picLocks noChangeAspect="1"/>
          </p:cNvPicPr>
          <p:nvPr/>
        </p:nvPicPr>
        <p:blipFill>
          <a:blip r:embed="rId3"/>
          <a:stretch>
            <a:fillRect/>
          </a:stretch>
        </p:blipFill>
        <p:spPr>
          <a:xfrm>
            <a:off x="2661150" y="4590483"/>
            <a:ext cx="2157997" cy="363594"/>
          </a:xfrm>
          <a:prstGeom prst="rect">
            <a:avLst/>
          </a:prstGeom>
        </p:spPr>
      </p:pic>
      <p:sp>
        <p:nvSpPr>
          <p:cNvPr id="6" name="矩形 5"/>
          <p:cNvSpPr/>
          <p:nvPr/>
        </p:nvSpPr>
        <p:spPr>
          <a:xfrm>
            <a:off x="391893" y="2670979"/>
            <a:ext cx="5586591" cy="369332"/>
          </a:xfrm>
          <a:prstGeom prst="rect">
            <a:avLst/>
          </a:prstGeom>
        </p:spPr>
        <p:txBody>
          <a:bodyPr wrap="square">
            <a:spAutoFit/>
          </a:bodyPr>
          <a:lstStyle/>
          <a:p>
            <a:pPr marL="285750" indent="-285750">
              <a:buFont typeface="Wingdings" panose="05000000000000000000" pitchFamily="2" charset="2"/>
              <a:buChar char="Ø"/>
            </a:pP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目前广东实时电力市场采用</a:t>
            </a:r>
            <a:r>
              <a:rPr kumimoji="1" lang="zh-CN" altLang="en-US" b="1" dirty="0">
                <a:solidFill>
                  <a:srgbClr val="C00000"/>
                </a:solidFill>
                <a:latin typeface="微软雅黑" panose="020B0503020204020204" pitchFamily="34" charset="-122"/>
                <a:ea typeface="微软雅黑" panose="020B0503020204020204" pitchFamily="34" charset="-122"/>
              </a:rPr>
              <a:t>基于</a:t>
            </a:r>
            <a:r>
              <a:rPr kumimoji="1" lang="en-US" altLang="zh-CN" b="1" dirty="0">
                <a:solidFill>
                  <a:srgbClr val="C00000"/>
                </a:solidFill>
                <a:latin typeface="微软雅黑" panose="020B0503020204020204" pitchFamily="34" charset="-122"/>
                <a:ea typeface="微软雅黑" panose="020B0503020204020204" pitchFamily="34" charset="-122"/>
              </a:rPr>
              <a:t>SCED</a:t>
            </a:r>
            <a:r>
              <a:rPr kumimoji="1" lang="zh-CN" altLang="en-US" b="1" dirty="0">
                <a:solidFill>
                  <a:srgbClr val="C00000"/>
                </a:solidFill>
                <a:latin typeface="微软雅黑" panose="020B0503020204020204" pitchFamily="34" charset="-122"/>
                <a:ea typeface="微软雅黑" panose="020B0503020204020204" pitchFamily="34" charset="-122"/>
              </a:rPr>
              <a:t>的</a:t>
            </a:r>
            <a:r>
              <a:rPr kumimoji="1" lang="en-US" altLang="zh-CN" b="1" dirty="0">
                <a:solidFill>
                  <a:srgbClr val="C00000"/>
                </a:solidFill>
                <a:latin typeface="微软雅黑" panose="020B0503020204020204" pitchFamily="34" charset="-122"/>
                <a:ea typeface="微软雅黑" panose="020B0503020204020204" pitchFamily="34" charset="-122"/>
              </a:rPr>
              <a:t>LMP</a:t>
            </a:r>
            <a:r>
              <a:rPr kumimoji="1" lang="zh-CN" altLang="en-US" b="1" dirty="0">
                <a:solidFill>
                  <a:srgbClr val="C00000"/>
                </a:solidFill>
                <a:latin typeface="微软雅黑" panose="020B0503020204020204" pitchFamily="34" charset="-122"/>
                <a:ea typeface="微软雅黑" panose="020B0503020204020204" pitchFamily="34" charset="-122"/>
              </a:rPr>
              <a:t>模型</a:t>
            </a:r>
            <a:endParaRPr kumimoji="1" lang="zh-CN" altLang="en-US" b="1" dirty="0">
              <a:solidFill>
                <a:srgbClr val="C00000"/>
              </a:solidFill>
              <a:latin typeface="微软雅黑" panose="020B0503020204020204" pitchFamily="34" charset="-122"/>
              <a:ea typeface="微软雅黑" panose="020B0503020204020204" pitchFamily="34" charset="-122"/>
            </a:endParaRPr>
          </a:p>
        </p:txBody>
      </p:sp>
      <p:sp>
        <p:nvSpPr>
          <p:cNvPr id="7" name="矩形 6"/>
          <p:cNvSpPr/>
          <p:nvPr/>
        </p:nvSpPr>
        <p:spPr>
          <a:xfrm>
            <a:off x="437206" y="4213166"/>
            <a:ext cx="5424643" cy="646331"/>
          </a:xfrm>
          <a:prstGeom prst="rect">
            <a:avLst/>
          </a:prstGeom>
        </p:spPr>
        <p:txBody>
          <a:bodyPr wrap="square">
            <a:spAutoFit/>
          </a:bodyPr>
          <a:lstStyle/>
          <a:p>
            <a:pPr marL="285750" indent="-285750">
              <a:buFont typeface="Wingdings" panose="05000000000000000000" pitchFamily="2" charset="2"/>
              <a:buChar char="Ø"/>
            </a:pP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信息披露规则要求披露</a:t>
            </a:r>
            <a:r>
              <a:rPr kumimoji="1" lang="zh-CN" altLang="en-US" b="1" dirty="0">
                <a:solidFill>
                  <a:srgbClr val="C00000"/>
                </a:solidFill>
                <a:latin typeface="微软雅黑" panose="020B0503020204020204" pitchFamily="34" charset="-122"/>
                <a:ea typeface="微软雅黑" panose="020B0503020204020204" pitchFamily="34" charset="-122"/>
              </a:rPr>
              <a:t>电网拓扑、节点边际电价、阻塞情况</a:t>
            </a: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等信息</a:t>
            </a:r>
            <a:endParaRPr kumimoji="1" lang="zh-CN" altLang="en-US"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4"/>
          <a:stretch>
            <a:fillRect/>
          </a:stretch>
        </p:blipFill>
        <p:spPr>
          <a:xfrm>
            <a:off x="1201026" y="4966093"/>
            <a:ext cx="4125670" cy="1897709"/>
          </a:xfrm>
          <a:prstGeom prst="rect">
            <a:avLst/>
          </a:prstGeom>
        </p:spPr>
      </p:pic>
      <p:sp>
        <p:nvSpPr>
          <p:cNvPr id="9" name="矩形 8"/>
          <p:cNvSpPr/>
          <p:nvPr/>
        </p:nvSpPr>
        <p:spPr>
          <a:xfrm>
            <a:off x="1854590" y="2281067"/>
            <a:ext cx="2498215" cy="400110"/>
          </a:xfrm>
          <a:prstGeom prst="rect">
            <a:avLst/>
          </a:prstGeom>
        </p:spPr>
        <p:txBody>
          <a:bodyPr wrap="square">
            <a:spAutoFit/>
          </a:bodyPr>
          <a:lstStyle/>
          <a:p>
            <a:pPr algn="ctr"/>
            <a:r>
              <a:rPr kumimoji="1"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广东电力市场</a:t>
            </a:r>
            <a:endParaRPr kumimoji="1"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 name="矩形 9"/>
          <p:cNvSpPr/>
          <p:nvPr/>
        </p:nvSpPr>
        <p:spPr>
          <a:xfrm>
            <a:off x="7711030" y="2270557"/>
            <a:ext cx="2498215" cy="400110"/>
          </a:xfrm>
          <a:prstGeom prst="rect">
            <a:avLst/>
          </a:prstGeom>
        </p:spPr>
        <p:txBody>
          <a:bodyPr wrap="square">
            <a:spAutoFit/>
          </a:bodyPr>
          <a:lstStyle/>
          <a:p>
            <a:pPr algn="ctr"/>
            <a:r>
              <a:rPr kumimoji="1"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反向逆推方法假设</a:t>
            </a:r>
            <a:endParaRPr kumimoji="1"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5"/>
          <a:stretch>
            <a:fillRect/>
          </a:stretch>
        </p:blipFill>
        <p:spPr>
          <a:xfrm>
            <a:off x="7389237" y="2973885"/>
            <a:ext cx="2550145" cy="1271173"/>
          </a:xfrm>
          <a:prstGeom prst="rect">
            <a:avLst/>
          </a:prstGeom>
        </p:spPr>
      </p:pic>
      <p:sp>
        <p:nvSpPr>
          <p:cNvPr id="12" name="矩形 11"/>
          <p:cNvSpPr/>
          <p:nvPr/>
        </p:nvSpPr>
        <p:spPr>
          <a:xfrm>
            <a:off x="6757012" y="2670979"/>
            <a:ext cx="2802224" cy="369332"/>
          </a:xfrm>
          <a:prstGeom prst="rect">
            <a:avLst/>
          </a:prstGeom>
        </p:spPr>
        <p:txBody>
          <a:bodyPr wrap="square">
            <a:spAutoFit/>
          </a:bodyPr>
          <a:lstStyle/>
          <a:p>
            <a:pPr marL="285750" indent="-285750">
              <a:buFont typeface="Wingdings" panose="05000000000000000000" pitchFamily="2" charset="2"/>
              <a:buChar char="Ø"/>
            </a:pP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基于</a:t>
            </a:r>
            <a:r>
              <a:rPr kumimoji="1" lang="en-US" altLang="zh-CN" b="1" dirty="0">
                <a:solidFill>
                  <a:schemeClr val="accent1">
                    <a:lumMod val="10000"/>
                  </a:schemeClr>
                </a:solidFill>
                <a:latin typeface="微软雅黑" panose="020B0503020204020204" pitchFamily="34" charset="-122"/>
                <a:ea typeface="微软雅黑" panose="020B0503020204020204" pitchFamily="34" charset="-122"/>
              </a:rPr>
              <a:t>SCED</a:t>
            </a: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的</a:t>
            </a:r>
            <a:r>
              <a:rPr kumimoji="1" lang="en-US" altLang="zh-CN" b="1" dirty="0">
                <a:solidFill>
                  <a:schemeClr val="accent1">
                    <a:lumMod val="10000"/>
                  </a:schemeClr>
                </a:solidFill>
                <a:latin typeface="微软雅黑" panose="020B0503020204020204" pitchFamily="34" charset="-122"/>
                <a:ea typeface="微软雅黑" panose="020B0503020204020204" pitchFamily="34" charset="-122"/>
              </a:rPr>
              <a:t>LMP</a:t>
            </a: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模型</a:t>
            </a:r>
            <a:endParaRPr kumimoji="1" lang="zh-CN" altLang="en-US"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矩形 12"/>
          <p:cNvSpPr/>
          <p:nvPr/>
        </p:nvSpPr>
        <p:spPr>
          <a:xfrm>
            <a:off x="10212336" y="2953337"/>
            <a:ext cx="1178874" cy="369332"/>
          </a:xfrm>
          <a:prstGeom prst="rect">
            <a:avLst/>
          </a:prstGeom>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成本最低</a:t>
            </a:r>
            <a:endPar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4" name="矩形 13"/>
          <p:cNvSpPr/>
          <p:nvPr/>
        </p:nvSpPr>
        <p:spPr>
          <a:xfrm>
            <a:off x="10212336" y="3280079"/>
            <a:ext cx="1178874" cy="369332"/>
          </a:xfrm>
          <a:prstGeom prst="rect">
            <a:avLst/>
          </a:prstGeom>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功率平衡</a:t>
            </a:r>
            <a:endPar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 name="矩形 14"/>
          <p:cNvSpPr/>
          <p:nvPr/>
        </p:nvSpPr>
        <p:spPr>
          <a:xfrm>
            <a:off x="10212336" y="3606821"/>
            <a:ext cx="1178874" cy="369332"/>
          </a:xfrm>
          <a:prstGeom prst="rect">
            <a:avLst/>
          </a:prstGeom>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发电约束</a:t>
            </a:r>
            <a:endPar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10212336" y="3933562"/>
            <a:ext cx="1178874" cy="369332"/>
          </a:xfrm>
          <a:prstGeom prst="rect">
            <a:avLst/>
          </a:prstGeom>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输电约束</a:t>
            </a:r>
            <a:endPar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9964679" y="3129470"/>
            <a:ext cx="318499"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9964679" y="3449356"/>
            <a:ext cx="318499"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964679" y="3776098"/>
            <a:ext cx="318499"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9964679" y="4160096"/>
            <a:ext cx="318499"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6792051" y="4333705"/>
            <a:ext cx="2802224" cy="369332"/>
          </a:xfrm>
          <a:prstGeom prst="rect">
            <a:avLst/>
          </a:prstGeom>
        </p:spPr>
        <p:txBody>
          <a:bodyPr wrap="square">
            <a:spAutoFit/>
          </a:bodyPr>
          <a:lstStyle/>
          <a:p>
            <a:pPr marL="285750" indent="-285750">
              <a:buFont typeface="Wingdings" panose="05000000000000000000" pitchFamily="2" charset="2"/>
              <a:buChar char="Ø"/>
            </a:pP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反向逆推框架</a:t>
            </a:r>
            <a:endParaRPr kumimoji="1" lang="zh-CN" altLang="en-US"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2" name="组合 21"/>
          <p:cNvGrpSpPr/>
          <p:nvPr/>
        </p:nvGrpSpPr>
        <p:grpSpPr>
          <a:xfrm>
            <a:off x="7004747" y="4685936"/>
            <a:ext cx="3528216" cy="2177866"/>
            <a:chOff x="7036179" y="3964924"/>
            <a:chExt cx="4457867" cy="2751712"/>
          </a:xfrm>
        </p:grpSpPr>
        <p:pic>
          <p:nvPicPr>
            <p:cNvPr id="23" name="图片 22"/>
            <p:cNvPicPr>
              <a:picLocks noChangeAspect="1"/>
            </p:cNvPicPr>
            <p:nvPr/>
          </p:nvPicPr>
          <p:blipFill>
            <a:blip r:embed="rId6"/>
            <a:stretch>
              <a:fillRect/>
            </a:stretch>
          </p:blipFill>
          <p:spPr>
            <a:xfrm>
              <a:off x="7036179" y="3964924"/>
              <a:ext cx="4457867" cy="2733681"/>
            </a:xfrm>
            <a:prstGeom prst="rect">
              <a:avLst/>
            </a:prstGeom>
          </p:spPr>
        </p:pic>
        <p:sp>
          <p:nvSpPr>
            <p:cNvPr id="24" name="矩形 23"/>
            <p:cNvSpPr/>
            <p:nvPr/>
          </p:nvSpPr>
          <p:spPr>
            <a:xfrm>
              <a:off x="7649182" y="6121160"/>
              <a:ext cx="2789362" cy="5954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24"/>
          <p:cNvSpPr/>
          <p:nvPr/>
        </p:nvSpPr>
        <p:spPr>
          <a:xfrm>
            <a:off x="10306355" y="6414562"/>
            <a:ext cx="1600905" cy="369332"/>
          </a:xfrm>
          <a:prstGeom prst="rect">
            <a:avLst/>
          </a:prstGeom>
          <a:solidFill>
            <a:schemeClr val="bg1"/>
          </a:solidFill>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逆推所需数据</a:t>
            </a:r>
            <a:endPar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箭头: 左右 25"/>
          <p:cNvSpPr/>
          <p:nvPr/>
        </p:nvSpPr>
        <p:spPr>
          <a:xfrm>
            <a:off x="5738008" y="3746938"/>
            <a:ext cx="1080000" cy="32674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左右 26"/>
          <p:cNvSpPr/>
          <p:nvPr/>
        </p:nvSpPr>
        <p:spPr>
          <a:xfrm>
            <a:off x="5793917" y="5843184"/>
            <a:ext cx="1080000" cy="32674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5752415" y="3108982"/>
            <a:ext cx="1178874" cy="646331"/>
          </a:xfrm>
          <a:prstGeom prst="rect">
            <a:avLst/>
          </a:prstGeom>
        </p:spPr>
        <p:txBody>
          <a:bodyPr wrap="square">
            <a:spAutoFit/>
          </a:bodyPr>
          <a:lstStyle/>
          <a:p>
            <a:pPr algn="ctr"/>
            <a:r>
              <a:rPr kumimoji="1" lang="zh-CN" altLang="en-US" b="1" dirty="0">
                <a:solidFill>
                  <a:srgbClr val="C00000"/>
                </a:solidFill>
                <a:latin typeface="微软雅黑" panose="020B0503020204020204" pitchFamily="34" charset="-122"/>
                <a:ea typeface="微软雅黑" panose="020B0503020204020204" pitchFamily="34" charset="-122"/>
              </a:rPr>
              <a:t>电价计算模型相同</a:t>
            </a:r>
            <a:endParaRPr kumimoji="1" lang="zh-CN" altLang="en-US" b="1" dirty="0">
              <a:solidFill>
                <a:srgbClr val="C00000"/>
              </a:solidFill>
              <a:latin typeface="微软雅黑" panose="020B0503020204020204" pitchFamily="34" charset="-122"/>
              <a:ea typeface="微软雅黑" panose="020B0503020204020204" pitchFamily="34" charset="-122"/>
            </a:endParaRPr>
          </a:p>
        </p:txBody>
      </p:sp>
      <p:sp>
        <p:nvSpPr>
          <p:cNvPr id="29" name="矩形 28"/>
          <p:cNvSpPr/>
          <p:nvPr/>
        </p:nvSpPr>
        <p:spPr>
          <a:xfrm>
            <a:off x="5754754" y="5152833"/>
            <a:ext cx="1178874" cy="646331"/>
          </a:xfrm>
          <a:prstGeom prst="rect">
            <a:avLst/>
          </a:prstGeom>
        </p:spPr>
        <p:txBody>
          <a:bodyPr wrap="square">
            <a:spAutoFit/>
          </a:bodyPr>
          <a:lstStyle/>
          <a:p>
            <a:pPr algn="ctr"/>
            <a:r>
              <a:rPr kumimoji="1" lang="zh-CN" altLang="en-US" b="1" dirty="0">
                <a:solidFill>
                  <a:srgbClr val="C00000"/>
                </a:solidFill>
                <a:latin typeface="微软雅黑" panose="020B0503020204020204" pitchFamily="34" charset="-122"/>
                <a:ea typeface="微软雅黑" panose="020B0503020204020204" pitchFamily="34" charset="-122"/>
              </a:rPr>
              <a:t>逆推所需数据满足</a:t>
            </a:r>
            <a:endParaRPr kumimoji="1" lang="zh-CN" altLang="en-US" b="1" dirty="0">
              <a:solidFill>
                <a:srgbClr val="C00000"/>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437206" y="995237"/>
            <a:ext cx="3630297"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仿真结果</a:t>
            </a:r>
            <a:endParaRPr lang="zh-CN" altLang="en-US" sz="2600" b="1"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666320" y="1342520"/>
            <a:ext cx="11240940" cy="939801"/>
          </a:xfrm>
          <a:prstGeom prst="rect">
            <a:avLst/>
          </a:prstGeom>
          <a:noFill/>
        </p:spPr>
        <p:txBody>
          <a:bodyPr wrap="square">
            <a:noAutofit/>
          </a:bodyPr>
          <a:lstStyle/>
          <a:p>
            <a:pPr marR="0" lvl="0" algn="l" defTabSz="914400" rtl="0" eaLnBrk="1" fontAlgn="auto" latinLnBrk="0" hangingPunct="1">
              <a:lnSpc>
                <a:spcPct val="120000"/>
              </a:lnSpc>
              <a:spcBef>
                <a:spcPts val="0"/>
              </a:spcBef>
              <a:spcAft>
                <a:spcPts val="0"/>
              </a:spcAft>
              <a:buClrTx/>
              <a:buSzTx/>
              <a:defRPr/>
            </a:pP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由于广东电网真实运行数据暂时难以获取，但其电价形成机制与基于</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SCED</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的</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LMP</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模型基本一致，因此选用</a:t>
            </a: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IEEE</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标准系统开展反向逆推方法的仿真验证</a:t>
            </a: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72968" y="402058"/>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437206" y="1063507"/>
            <a:ext cx="8274633" cy="492443"/>
          </a:xfrm>
          <a:prstGeom prst="rect">
            <a:avLst/>
          </a:prstGeom>
          <a:noFill/>
        </p:spPr>
        <p:txBody>
          <a:bodyPr wrap="square">
            <a:spAutoFit/>
          </a:bodyPr>
          <a:lstStyle/>
          <a:p>
            <a:pPr marL="457200" indent="-457200">
              <a:buFont typeface="Wingdings" panose="05000000000000000000" pitchFamily="2" charset="2"/>
              <a:buChar char="Ø"/>
            </a:pPr>
            <a:r>
              <a:rPr lang="en-US" altLang="zh-CN" sz="2600" b="1" dirty="0">
                <a:latin typeface="微软雅黑" panose="020B0503020204020204" pitchFamily="34" charset="-122"/>
                <a:ea typeface="微软雅黑" panose="020B0503020204020204" pitchFamily="34" charset="-122"/>
              </a:rPr>
              <a:t>IEEE</a:t>
            </a:r>
            <a:r>
              <a:rPr lang="zh-CN" altLang="en-US" sz="2600" b="1" dirty="0">
                <a:latin typeface="微软雅黑" panose="020B0503020204020204" pitchFamily="34" charset="-122"/>
                <a:ea typeface="微软雅黑" panose="020B0503020204020204" pitchFamily="34" charset="-122"/>
              </a:rPr>
              <a:t>算例仿真结果</a:t>
            </a:r>
            <a:endParaRPr lang="zh-CN" altLang="en-US" sz="2600" b="1" dirty="0">
              <a:latin typeface="微软雅黑" panose="020B0503020204020204" pitchFamily="34" charset="-122"/>
              <a:ea typeface="微软雅黑" panose="020B0503020204020204" pitchFamily="34" charset="-122"/>
            </a:endParaRPr>
          </a:p>
        </p:txBody>
      </p:sp>
      <p:sp>
        <p:nvSpPr>
          <p:cNvPr id="4" name="矩形: 圆角 5"/>
          <p:cNvSpPr/>
          <p:nvPr/>
        </p:nvSpPr>
        <p:spPr bwMode="auto">
          <a:xfrm>
            <a:off x="2344422" y="1737022"/>
            <a:ext cx="1685483" cy="316235"/>
          </a:xfrm>
          <a:prstGeom prst="roundRect">
            <a:avLst/>
          </a:prstGeom>
          <a:solidFill>
            <a:srgbClr val="0070C0"/>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拓扑数据</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矩形: 圆角 6"/>
          <p:cNvSpPr/>
          <p:nvPr/>
        </p:nvSpPr>
        <p:spPr bwMode="auto">
          <a:xfrm>
            <a:off x="2344422" y="2273892"/>
            <a:ext cx="1685483" cy="316235"/>
          </a:xfrm>
          <a:prstGeom prst="roundRect">
            <a:avLst/>
          </a:prstGeom>
          <a:solidFill>
            <a:srgbClr val="0070C0"/>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电价数据</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箭头: 右 7"/>
          <p:cNvSpPr/>
          <p:nvPr/>
        </p:nvSpPr>
        <p:spPr bwMode="auto">
          <a:xfrm>
            <a:off x="4454422" y="2071672"/>
            <a:ext cx="1007744" cy="184995"/>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右大括号 6"/>
          <p:cNvSpPr/>
          <p:nvPr/>
        </p:nvSpPr>
        <p:spPr bwMode="auto">
          <a:xfrm>
            <a:off x="4222419" y="1856719"/>
            <a:ext cx="268704" cy="616020"/>
          </a:xfrm>
          <a:prstGeom prst="rightBrace">
            <a:avLst/>
          </a:prstGeom>
          <a:noFill/>
          <a:ln w="28575" cap="flat" cmpd="sng" algn="ctr">
            <a:solidFill>
              <a:srgbClr val="4472C4"/>
            </a:solid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圆角 9"/>
          <p:cNvSpPr/>
          <p:nvPr/>
        </p:nvSpPr>
        <p:spPr bwMode="auto">
          <a:xfrm>
            <a:off x="5583908" y="1906040"/>
            <a:ext cx="1622851"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线路电抗</a:t>
            </a:r>
            <a:r>
              <a:rPr kumimoji="0" lang="en-US" altLang="zh-CN"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导纳矩阵</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4440470" y="1816622"/>
            <a:ext cx="1088612"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0" name="矩形: 圆角 35"/>
          <p:cNvSpPr/>
          <p:nvPr/>
        </p:nvSpPr>
        <p:spPr bwMode="auto">
          <a:xfrm>
            <a:off x="8933291" y="1548896"/>
            <a:ext cx="1127639"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潮流计算验证</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箭头: 右 36"/>
          <p:cNvSpPr/>
          <p:nvPr/>
        </p:nvSpPr>
        <p:spPr bwMode="auto">
          <a:xfrm>
            <a:off x="7644172" y="1754714"/>
            <a:ext cx="1127639" cy="224759"/>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黑体" panose="02010609060101010101" charset="-122"/>
              <a:ea typeface="微软雅黑" panose="020B0503020204020204" pitchFamily="34" charset="-122"/>
              <a:cs typeface="+mn-cs"/>
            </a:endParaRPr>
          </a:p>
        </p:txBody>
      </p:sp>
      <p:sp>
        <p:nvSpPr>
          <p:cNvPr id="12" name="矩形 11"/>
          <p:cNvSpPr/>
          <p:nvPr/>
        </p:nvSpPr>
        <p:spPr>
          <a:xfrm>
            <a:off x="7680493" y="1522904"/>
            <a:ext cx="104969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2</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3" name="箭头: 右 12"/>
          <p:cNvSpPr/>
          <p:nvPr/>
        </p:nvSpPr>
        <p:spPr bwMode="auto">
          <a:xfrm>
            <a:off x="7639850" y="2363223"/>
            <a:ext cx="1133926" cy="232869"/>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黑体" panose="02010609060101010101" charset="-122"/>
              <a:ea typeface="微软雅黑" panose="020B0503020204020204" pitchFamily="34" charset="-122"/>
              <a:cs typeface="+mn-cs"/>
            </a:endParaRPr>
          </a:p>
        </p:txBody>
      </p:sp>
      <p:sp>
        <p:nvSpPr>
          <p:cNvPr id="14" name="矩形: 圆角 13"/>
          <p:cNvSpPr/>
          <p:nvPr/>
        </p:nvSpPr>
        <p:spPr bwMode="auto">
          <a:xfrm>
            <a:off x="8933291" y="2189126"/>
            <a:ext cx="1127639"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实时电价计算</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矩形 14"/>
          <p:cNvSpPr/>
          <p:nvPr/>
        </p:nvSpPr>
        <p:spPr>
          <a:xfrm>
            <a:off x="7693994" y="2136910"/>
            <a:ext cx="104969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3</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p:nvSpPr>
        <p:spPr>
          <a:xfrm>
            <a:off x="1280378" y="2887827"/>
            <a:ext cx="9675341" cy="707886"/>
          </a:xfrm>
          <a:prstGeom prst="rect">
            <a:avLst/>
          </a:prstGeom>
          <a:solidFill>
            <a:srgbClr val="E7E6E6">
              <a:lumMod val="20000"/>
              <a:lumOff val="80000"/>
            </a:srgbClr>
          </a:solid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1</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实验中电网数据采用</a:t>
            </a:r>
            <a:r>
              <a:rPr kumimoji="1" lang="en-GB" altLang="zh-CN"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IEEE 30 bus</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系统。根据节点边际电价、拓扑、阻塞信息推断电网线路参数，分析</a:t>
            </a:r>
            <a:r>
              <a:rPr kumimoji="1" lang="en-US" altLang="zh-CN"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41</a:t>
            </a:r>
            <a:r>
              <a:rPr kumimoji="1" lang="zh-CN" altLang="en-US"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条线路参数的平均误差</a:t>
            </a:r>
            <a:endParaRPr kumimoji="1" lang="en-US" altLang="zh-CN"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17" name="右大括号 16"/>
          <p:cNvSpPr/>
          <p:nvPr/>
        </p:nvSpPr>
        <p:spPr bwMode="auto">
          <a:xfrm flipH="1">
            <a:off x="7379077" y="1873016"/>
            <a:ext cx="268704" cy="616020"/>
          </a:xfrm>
          <a:prstGeom prst="rightBrace">
            <a:avLst/>
          </a:prstGeom>
          <a:noFill/>
          <a:ln w="28575" cap="flat" cmpd="sng" algn="ctr">
            <a:solidFill>
              <a:srgbClr val="4472C4"/>
            </a:solid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5284366" y="6304862"/>
            <a:ext cx="622769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实验结果：</a:t>
            </a:r>
            <a:r>
              <a:rPr kumimoji="1" lang="zh-CN" altLang="en-US"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导纳矩阵的平均</a:t>
            </a:r>
            <a:r>
              <a:rPr kumimoji="1" lang="en-US" altLang="zh-CN"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MAPE</a:t>
            </a:r>
            <a:r>
              <a:rPr kumimoji="1" lang="zh-CN" altLang="en-US"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为</a:t>
            </a:r>
            <a:r>
              <a:rPr kumimoji="1" lang="en-US" altLang="zh-CN"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8%</a:t>
            </a:r>
            <a:endParaRPr kumimoji="1" lang="zh-CN" altLang="en-US"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19" name="矩形 18"/>
          <p:cNvSpPr/>
          <p:nvPr/>
        </p:nvSpPr>
        <p:spPr>
          <a:xfrm>
            <a:off x="4484662" y="3954954"/>
            <a:ext cx="639114" cy="193899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真实导纳矩阵</a:t>
            </a:r>
            <a:endParaRPr kumimoji="1" lang="zh-CN" altLang="en-US" sz="20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a:xfrm>
            <a:off x="8316939" y="3954954"/>
            <a:ext cx="346480" cy="193899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推断导纳矩阵</a:t>
            </a:r>
            <a:endParaRPr kumimoji="1" lang="zh-CN" altLang="en-US" sz="20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pic>
        <p:nvPicPr>
          <p:cNvPr id="21" name="图片 20"/>
          <p:cNvPicPr>
            <a:picLocks noChangeAspect="1"/>
          </p:cNvPicPr>
          <p:nvPr/>
        </p:nvPicPr>
        <p:blipFill>
          <a:blip r:embed="rId1"/>
          <a:stretch>
            <a:fillRect/>
          </a:stretch>
        </p:blipFill>
        <p:spPr>
          <a:xfrm>
            <a:off x="8666633" y="3672447"/>
            <a:ext cx="3350544" cy="2504007"/>
          </a:xfrm>
          <a:prstGeom prst="rect">
            <a:avLst/>
          </a:prstGeom>
        </p:spPr>
      </p:pic>
      <p:pic>
        <p:nvPicPr>
          <p:cNvPr id="22" name="图片 21"/>
          <p:cNvPicPr>
            <a:picLocks noChangeAspect="1"/>
          </p:cNvPicPr>
          <p:nvPr/>
        </p:nvPicPr>
        <p:blipFill>
          <a:blip r:embed="rId2"/>
          <a:stretch>
            <a:fillRect/>
          </a:stretch>
        </p:blipFill>
        <p:spPr>
          <a:xfrm>
            <a:off x="5043107" y="3672447"/>
            <a:ext cx="3350544" cy="2504007"/>
          </a:xfrm>
          <a:prstGeom prst="rect">
            <a:avLst/>
          </a:prstGeom>
        </p:spPr>
      </p:pic>
      <p:pic>
        <p:nvPicPr>
          <p:cNvPr id="23" name="图片 22"/>
          <p:cNvPicPr>
            <a:picLocks noChangeAspect="1"/>
          </p:cNvPicPr>
          <p:nvPr/>
        </p:nvPicPr>
        <p:blipFill>
          <a:blip r:embed="rId3"/>
          <a:stretch>
            <a:fillRect/>
          </a:stretch>
        </p:blipFill>
        <p:spPr>
          <a:xfrm>
            <a:off x="363989" y="4027051"/>
            <a:ext cx="3970539" cy="825249"/>
          </a:xfrm>
          <a:prstGeom prst="rect">
            <a:avLst/>
          </a:prstGeom>
        </p:spPr>
      </p:pic>
      <mc:AlternateContent xmlns:mc="http://schemas.openxmlformats.org/markup-compatibility/2006">
        <mc:Choice xmlns:a14="http://schemas.microsoft.com/office/drawing/2010/main" Requires="a14">
          <p:sp>
            <p:nvSpPr>
              <p:cNvPr id="24" name="矩形 23"/>
              <p:cNvSpPr/>
              <p:nvPr/>
            </p:nvSpPr>
            <p:spPr>
              <a:xfrm>
                <a:off x="338635" y="5038745"/>
                <a:ext cx="4101835" cy="973280"/>
              </a:xfrm>
              <a:prstGeom prst="rect">
                <a:avLst/>
              </a:prstGeom>
            </p:spPr>
            <p:txBody>
              <a:bodyPr wrap="square">
                <a:spAutoFit/>
              </a:bodyPr>
              <a:lstStyle/>
              <a:p>
                <a:pPr algn="ctr">
                  <a:lnSpc>
                    <a:spcPct val="150000"/>
                  </a:lnSpc>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MAPE</a:t>
                </a:r>
                <a:r>
                  <a:rPr lang="zh-CN" altLang="en-US" sz="20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sz="2000" b="0" i="0"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acc>
                          <m:acc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000" b="1" i="1">
                                <a:latin typeface="Cambria Math" panose="02040503050406030204" pitchFamily="18" charset="0"/>
                                <a:ea typeface="宋体" panose="02010600030101010101" pitchFamily="2" charset="-122"/>
                                <a:cs typeface="Times New Roman" panose="02020603050405020304" pitchFamily="18" charset="0"/>
                              </a:rPr>
                              <m:t>𝑿</m:t>
                            </m:r>
                          </m:e>
                        </m:acc>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𝑛𝑜𝑟𝑚</m:t>
                        </m:r>
                      </m:sub>
                    </m:sSub>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𝑛𝑜𝑟𝑚</m:t>
                        </m:r>
                      </m:sub>
                    </m:sSub>
                    <m:r>
                      <a:rPr lang="en-US" altLang="zh-CN" sz="2000" b="1" i="1">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分别是归一化的推断导纳值和真实导纳值</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p:txBody>
          </p:sp>
        </mc:Choice>
        <mc:Fallback>
          <p:sp>
            <p:nvSpPr>
              <p:cNvPr id="24" name="矩形 23"/>
              <p:cNvSpPr>
                <a:spLocks noRot="1" noChangeAspect="1" noMove="1" noResize="1" noEditPoints="1" noAdjustHandles="1" noChangeArrowheads="1" noChangeShapeType="1" noTextEdit="1"/>
              </p:cNvSpPr>
              <p:nvPr/>
            </p:nvSpPr>
            <p:spPr>
              <a:xfrm>
                <a:off x="338635" y="5038745"/>
                <a:ext cx="4101835" cy="973280"/>
              </a:xfrm>
              <a:prstGeom prst="rect">
                <a:avLst/>
              </a:prstGeom>
              <a:blipFill rotWithShape="1">
                <a:blip r:embed="rId4"/>
                <a:stretch>
                  <a:fillRect l="-4" t="-2" r="13" b="-3213"/>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554553" y="402058"/>
            <a:ext cx="8961120" cy="560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05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研究内容2：基于模型驱动的电网线路参数反向逆推</a:t>
            </a:r>
            <a:endParaRPr kumimoji="0" lang="zh-CN" altLang="en-US" sz="305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pic>
        <p:nvPicPr>
          <p:cNvPr id="3" name="图片 2"/>
          <p:cNvPicPr>
            <a:picLocks noChangeAspect="1"/>
          </p:cNvPicPr>
          <p:nvPr/>
        </p:nvPicPr>
        <p:blipFill>
          <a:blip r:embed="rId1"/>
          <a:stretch>
            <a:fillRect/>
          </a:stretch>
        </p:blipFill>
        <p:spPr>
          <a:xfrm>
            <a:off x="6553114" y="3457232"/>
            <a:ext cx="3958699" cy="3015795"/>
          </a:xfrm>
          <a:prstGeom prst="rect">
            <a:avLst/>
          </a:prstGeom>
        </p:spPr>
      </p:pic>
      <p:sp>
        <p:nvSpPr>
          <p:cNvPr id="4" name="矩形 3"/>
          <p:cNvSpPr/>
          <p:nvPr/>
        </p:nvSpPr>
        <p:spPr>
          <a:xfrm>
            <a:off x="998333" y="2783313"/>
            <a:ext cx="4677075"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2</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根据推断得到的导纳矩阵计算线路潮流，比较</a:t>
            </a:r>
            <a:r>
              <a:rPr kumimoji="1" lang="zh-CN" altLang="en-US"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与真实潮流的平均误差</a:t>
            </a:r>
            <a:endParaRPr kumimoji="1" lang="en-US" altLang="zh-CN"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矩形 4"/>
          <p:cNvSpPr/>
          <p:nvPr/>
        </p:nvSpPr>
        <p:spPr>
          <a:xfrm>
            <a:off x="6472062" y="2783313"/>
            <a:ext cx="434130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3</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进行电价出清的计算，比较</a:t>
            </a:r>
            <a:r>
              <a:rPr kumimoji="1" lang="zh-CN" altLang="en-US"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与真实电价之间的平均误差</a:t>
            </a:r>
            <a:endParaRPr kumimoji="1" lang="en-US" altLang="zh-CN"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a:picLocks noChangeAspect="1"/>
          </p:cNvPicPr>
          <p:nvPr/>
        </p:nvPicPr>
        <p:blipFill>
          <a:blip r:embed="rId2"/>
          <a:stretch>
            <a:fillRect/>
          </a:stretch>
        </p:blipFill>
        <p:spPr>
          <a:xfrm>
            <a:off x="1182804" y="3529310"/>
            <a:ext cx="3958699" cy="2926318"/>
          </a:xfrm>
          <a:prstGeom prst="rect">
            <a:avLst/>
          </a:prstGeom>
        </p:spPr>
      </p:pic>
      <p:sp>
        <p:nvSpPr>
          <p:cNvPr id="7" name="矩形: 圆角 6"/>
          <p:cNvSpPr/>
          <p:nvPr/>
        </p:nvSpPr>
        <p:spPr bwMode="auto">
          <a:xfrm>
            <a:off x="2222167" y="1764167"/>
            <a:ext cx="1685483" cy="316235"/>
          </a:xfrm>
          <a:prstGeom prst="roundRect">
            <a:avLst/>
          </a:prstGeom>
          <a:solidFill>
            <a:srgbClr val="0070C0"/>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拓扑数据</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圆角 7"/>
          <p:cNvSpPr/>
          <p:nvPr/>
        </p:nvSpPr>
        <p:spPr bwMode="auto">
          <a:xfrm>
            <a:off x="2222167" y="2301037"/>
            <a:ext cx="1685483" cy="316235"/>
          </a:xfrm>
          <a:prstGeom prst="roundRect">
            <a:avLst/>
          </a:prstGeom>
          <a:solidFill>
            <a:srgbClr val="0070C0"/>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电价数据</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箭头: 右 8"/>
          <p:cNvSpPr/>
          <p:nvPr/>
        </p:nvSpPr>
        <p:spPr bwMode="auto">
          <a:xfrm>
            <a:off x="4332167" y="2098817"/>
            <a:ext cx="1007744" cy="184995"/>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右大括号 9"/>
          <p:cNvSpPr/>
          <p:nvPr/>
        </p:nvSpPr>
        <p:spPr bwMode="auto">
          <a:xfrm>
            <a:off x="4100164" y="1883864"/>
            <a:ext cx="268704" cy="616020"/>
          </a:xfrm>
          <a:prstGeom prst="rightBrace">
            <a:avLst/>
          </a:prstGeom>
          <a:noFill/>
          <a:ln w="28575" cap="flat" cmpd="sng" algn="ctr">
            <a:solidFill>
              <a:srgbClr val="4472C4"/>
            </a:solid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矩形: 圆角 10"/>
          <p:cNvSpPr/>
          <p:nvPr/>
        </p:nvSpPr>
        <p:spPr bwMode="auto">
          <a:xfrm>
            <a:off x="5461653" y="1933185"/>
            <a:ext cx="1622851"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线路电抗</a:t>
            </a:r>
            <a:r>
              <a:rPr kumimoji="0" lang="en-US" altLang="zh-CN"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导纳矩阵</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p:nvSpPr>
        <p:spPr>
          <a:xfrm>
            <a:off x="4318215" y="1843767"/>
            <a:ext cx="1088612"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3" name="箭头: 右 36"/>
          <p:cNvSpPr/>
          <p:nvPr/>
        </p:nvSpPr>
        <p:spPr bwMode="auto">
          <a:xfrm>
            <a:off x="7521917" y="1781859"/>
            <a:ext cx="1127639" cy="224759"/>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黑体" panose="02010609060101010101" charset="-122"/>
              <a:ea typeface="微软雅黑" panose="020B0503020204020204" pitchFamily="34" charset="-122"/>
              <a:cs typeface="+mn-cs"/>
            </a:endParaRPr>
          </a:p>
        </p:txBody>
      </p:sp>
      <p:sp>
        <p:nvSpPr>
          <p:cNvPr id="14" name="箭头: 右 50"/>
          <p:cNvSpPr/>
          <p:nvPr/>
        </p:nvSpPr>
        <p:spPr bwMode="auto">
          <a:xfrm>
            <a:off x="7517595" y="2390368"/>
            <a:ext cx="1133926" cy="232869"/>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黑体" panose="02010609060101010101" charset="-122"/>
              <a:ea typeface="微软雅黑" panose="020B0503020204020204" pitchFamily="34" charset="-122"/>
              <a:cs typeface="+mn-cs"/>
            </a:endParaRPr>
          </a:p>
        </p:txBody>
      </p:sp>
      <p:sp>
        <p:nvSpPr>
          <p:cNvPr id="15" name="矩形: 圆角 30"/>
          <p:cNvSpPr/>
          <p:nvPr/>
        </p:nvSpPr>
        <p:spPr bwMode="auto">
          <a:xfrm>
            <a:off x="8811036" y="2216271"/>
            <a:ext cx="1127639"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实时电价计算</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p:nvSpPr>
        <p:spPr>
          <a:xfrm>
            <a:off x="7571739" y="2164055"/>
            <a:ext cx="104969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3</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7" name="右大括号 16"/>
          <p:cNvSpPr/>
          <p:nvPr/>
        </p:nvSpPr>
        <p:spPr bwMode="auto">
          <a:xfrm flipH="1">
            <a:off x="7256822" y="1900161"/>
            <a:ext cx="268704" cy="616020"/>
          </a:xfrm>
          <a:prstGeom prst="rightBrace">
            <a:avLst/>
          </a:prstGeom>
          <a:noFill/>
          <a:ln w="28575" cap="flat" cmpd="sng" algn="ctr">
            <a:solidFill>
              <a:srgbClr val="4472C4"/>
            </a:solid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7558238" y="1550049"/>
            <a:ext cx="104969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2</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9" name="矩形: 圆角 35"/>
          <p:cNvSpPr/>
          <p:nvPr/>
        </p:nvSpPr>
        <p:spPr bwMode="auto">
          <a:xfrm>
            <a:off x="8811036" y="1576041"/>
            <a:ext cx="1127639"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潮流计算验证</a:t>
            </a:r>
            <a:endPar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a:xfrm>
            <a:off x="1313116" y="6426479"/>
            <a:ext cx="4093711"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潮流平均</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MAPE</a:t>
            </a: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为</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13.57%</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矩形 20"/>
          <p:cNvSpPr/>
          <p:nvPr/>
        </p:nvSpPr>
        <p:spPr>
          <a:xfrm>
            <a:off x="6730231" y="6426479"/>
            <a:ext cx="3932360"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电价平均</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MAPE</a:t>
            </a: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低于</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437206" y="1081922"/>
            <a:ext cx="8274633" cy="492443"/>
          </a:xfrm>
          <a:prstGeom prst="rect">
            <a:avLst/>
          </a:prstGeom>
          <a:noFill/>
        </p:spPr>
        <p:txBody>
          <a:bodyPr wrap="square">
            <a:spAutoFit/>
          </a:bodyPr>
          <a:lstStyle/>
          <a:p>
            <a:pPr marL="457200" indent="-457200">
              <a:buFont typeface="Wingdings" panose="05000000000000000000" pitchFamily="2" charset="2"/>
              <a:buChar char="Ø"/>
            </a:pPr>
            <a:r>
              <a:rPr lang="en-US" altLang="zh-CN" sz="2600" b="1" dirty="0">
                <a:latin typeface="微软雅黑" panose="020B0503020204020204" pitchFamily="34" charset="-122"/>
                <a:ea typeface="微软雅黑" panose="020B0503020204020204" pitchFamily="34" charset="-122"/>
              </a:rPr>
              <a:t>IEEE</a:t>
            </a:r>
            <a:r>
              <a:rPr lang="zh-CN" altLang="en-US" sz="2600" b="1" dirty="0">
                <a:latin typeface="微软雅黑" panose="020B0503020204020204" pitchFamily="34" charset="-122"/>
                <a:ea typeface="微软雅黑" panose="020B0503020204020204" pitchFamily="34" charset="-122"/>
              </a:rPr>
              <a:t>算例仿真结果</a:t>
            </a:r>
            <a:endParaRPr lang="zh-CN" altLang="en-US" sz="26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7356475"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研究内容3：电网数据分类分级体系构建</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p:cNvSpPr txBox="1">
            <a:spLocks noChangeArrowheads="1"/>
          </p:cNvSpPr>
          <p:nvPr/>
        </p:nvSpPr>
        <p:spPr bwMode="auto">
          <a:xfrm>
            <a:off x="372855" y="1085801"/>
            <a:ext cx="11446290" cy="1200329"/>
          </a:xfrm>
          <a:prstGeom prst="rect">
            <a:avLst/>
          </a:prstGeom>
          <a:noFill/>
          <a:ln>
            <a:noFill/>
          </a:ln>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n"/>
              <a:defRPr/>
            </a:pPr>
            <a:r>
              <a:rPr kumimoji="0" lang="zh-CN" altLang="en-US" sz="2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构建电网数据分类分级体系：沿业务流和数据流归纳信息类型，依据影响对象、影响范围和影响程度完成分类分级；融合规则知识与数据特征生成初始等级；结合推断风险和运行环境变化动态调整等级</a:t>
            </a:r>
            <a:endParaRPr kumimoji="0" lang="zh-CN" altLang="en-US" sz="24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矩形 17"/>
          <p:cNvSpPr/>
          <p:nvPr/>
        </p:nvSpPr>
        <p:spPr>
          <a:xfrm>
            <a:off x="466725" y="5339715"/>
            <a:ext cx="11368405" cy="1415415"/>
          </a:xfrm>
          <a:prstGeom prst="rect">
            <a:avLst/>
          </a:prstGeom>
          <a:noFill/>
          <a:ln w="19050" cap="flat" cmpd="sng" algn="ctr">
            <a:solidFill>
              <a:srgbClr val="0070C0"/>
            </a:solidFill>
            <a:prstDash val="dash"/>
            <a:miter lim="800000"/>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466725" y="3837339"/>
            <a:ext cx="11368405" cy="1415415"/>
          </a:xfrm>
          <a:prstGeom prst="rect">
            <a:avLst/>
          </a:prstGeom>
          <a:noFill/>
          <a:ln w="19050" cap="flat" cmpd="sng" algn="ctr">
            <a:solidFill>
              <a:srgbClr val="0070C0"/>
            </a:solidFill>
            <a:prstDash val="dash"/>
            <a:miter lim="800000"/>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矩形 3"/>
          <p:cNvSpPr/>
          <p:nvPr/>
        </p:nvSpPr>
        <p:spPr>
          <a:xfrm>
            <a:off x="466725" y="2333549"/>
            <a:ext cx="11368405" cy="1405255"/>
          </a:xfrm>
          <a:prstGeom prst="rect">
            <a:avLst/>
          </a:prstGeom>
          <a:noFill/>
          <a:ln w="19050" cap="flat" cmpd="sng" algn="ctr">
            <a:solidFill>
              <a:srgbClr val="0070C0"/>
            </a:solidFill>
            <a:prstDash val="dash"/>
            <a:miter lim="800000"/>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662193632"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9290685" y="2390720"/>
            <a:ext cx="2274690" cy="1240790"/>
          </a:xfrm>
          <a:prstGeom prst="rect">
            <a:avLst/>
          </a:prstGeom>
          <a:noFill/>
          <a:ln>
            <a:noFill/>
          </a:ln>
        </p:spPr>
      </p:pic>
      <p:sp>
        <p:nvSpPr>
          <p:cNvPr id="5" name="文本框 4"/>
          <p:cNvSpPr txBox="1"/>
          <p:nvPr>
            <p:custDataLst>
              <p:tags r:id="rId2"/>
            </p:custDataLst>
          </p:nvPr>
        </p:nvSpPr>
        <p:spPr>
          <a:xfrm>
            <a:off x="836295" y="4288189"/>
            <a:ext cx="7121525"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研究</a:t>
            </a:r>
            <a:r>
              <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围绕初始等级生成问题，构建</a:t>
            </a:r>
            <a:r>
              <a:rPr kumimoji="0" lang="en-US" altLang="zh-CN" sz="1600" b="0"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规则抽取</a:t>
            </a:r>
            <a:r>
              <a:rPr kumimoji="0" lang="en-US" altLang="zh-CN"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特征压缩</a:t>
            </a:r>
            <a:r>
              <a:rPr kumimoji="0" lang="en-US" altLang="zh-CN"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频繁模式挖掘</a:t>
            </a:r>
            <a:r>
              <a:rPr kumimoji="0" lang="en-US" altLang="zh-CN"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结果映射</a:t>
            </a:r>
            <a:r>
              <a:rPr kumimoji="0" lang="en-US" altLang="zh-CN"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的初步分级标定方法</a:t>
            </a:r>
            <a:r>
              <a:rPr kumimoji="0" lang="zh-CN" altLang="en-US"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使初步分级结果既保留制度规则依据，又反映数据对象在实际业务中的联合敏感性</a:t>
            </a:r>
            <a:endPar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sp>
        <p:nvSpPr>
          <p:cNvPr id="6" name="文本框 5"/>
          <p:cNvSpPr txBox="1"/>
          <p:nvPr>
            <p:custDataLst>
              <p:tags r:id="rId3"/>
            </p:custDataLst>
          </p:nvPr>
        </p:nvSpPr>
        <p:spPr>
          <a:xfrm>
            <a:off x="756920" y="2772969"/>
            <a:ext cx="7046595"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研究按照</a:t>
            </a:r>
            <a:r>
              <a:rPr kumimoji="0" lang="zh-CN" altLang="en-US"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“业务流归类—数据流归纳—分级分类判定”</a:t>
            </a:r>
            <a:r>
              <a:rPr kumimoji="0" lang="zh-CN" altLang="en-US"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的顺序，梳理电力信息的产生场景、流转环节和数据形态，并从影响对象、影响范围和影响程度三个维度建立统一的分类分级依据。</a:t>
            </a:r>
            <a:endParaRPr kumimoji="0" lang="zh-CN" altLang="en-US"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18195" y="3863374"/>
            <a:ext cx="3401060" cy="1389380"/>
          </a:xfrm>
          <a:prstGeom prst="rect">
            <a:avLst/>
          </a:prstGeom>
          <a:noFill/>
          <a:ln>
            <a:noFill/>
          </a:ln>
        </p:spPr>
      </p:pic>
      <p:sp>
        <p:nvSpPr>
          <p:cNvPr id="8" name="文本框 7"/>
          <p:cNvSpPr txBox="1"/>
          <p:nvPr>
            <p:custDataLst>
              <p:tags r:id="rId5"/>
            </p:custDataLst>
          </p:nvPr>
        </p:nvSpPr>
        <p:spPr>
          <a:xfrm>
            <a:off x="626625" y="3904493"/>
            <a:ext cx="6424415" cy="67564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en-US" altLang="zh-CN" sz="2000" b="1" i="0" u="none" strike="noStrike" kern="1200" cap="none" spc="0" normalizeH="0" baseline="0" noProof="0">
                <a:ln>
                  <a:noFill/>
                </a:ln>
                <a:solidFill>
                  <a:prstClr val="black"/>
                </a:solidFill>
                <a:effectLst/>
                <a:uLnTx/>
                <a:uFillTx/>
                <a:latin typeface="Times New Roman" panose="02020603050405020304"/>
                <a:ea typeface="微软雅黑" panose="020B0503020204020204" pitchFamily="34" charset="-122"/>
                <a:cs typeface="+mn-ea"/>
                <a:sym typeface="+mn-lt"/>
              </a:rPr>
              <a:t>2 </a:t>
            </a:r>
            <a:r>
              <a:rPr kumimoji="0" lang="zh-CN" altLang="zh-CN" sz="1800" b="1" i="0" u="none" strike="noStrike" kern="2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基于</a:t>
            </a:r>
            <a:r>
              <a:rPr kumimoji="0" lang="zh-CN" altLang="zh-CN" sz="1800" b="1" i="0" u="none" strike="noStrike" kern="2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大语言模型与频繁模式挖掘的初步分级标定</a:t>
            </a:r>
            <a:endParaRPr kumimoji="0" lang="zh-CN" altLang="zh-CN" sz="1800" b="1" i="0" u="none" strike="noStrike" kern="2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kumimoji="0" lang="zh-CN" altLang="zh-CN" sz="1800" b="1" i="0" u="none" strike="noStrike" kern="2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文本框 8"/>
          <p:cNvSpPr txBox="1"/>
          <p:nvPr>
            <p:custDataLst>
              <p:tags r:id="rId6"/>
            </p:custDataLst>
          </p:nvPr>
        </p:nvSpPr>
        <p:spPr>
          <a:xfrm>
            <a:off x="626624" y="5376504"/>
            <a:ext cx="6580906" cy="64516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en-US" altLang="zh-CN" sz="1800" b="1" i="0" u="none" strike="noStrike" kern="1200" cap="none" spc="0" normalizeH="0" baseline="0" noProof="0">
                <a:ln>
                  <a:noFill/>
                </a:ln>
                <a:solidFill>
                  <a:prstClr val="black"/>
                </a:solidFill>
                <a:effectLst/>
                <a:uLnTx/>
                <a:uFillTx/>
                <a:latin typeface="Times New Roman" panose="02020603050405020304"/>
                <a:ea typeface="微软雅黑" panose="020B0503020204020204" pitchFamily="34" charset="-122"/>
                <a:cs typeface="+mn-ea"/>
                <a:sym typeface="+mn-lt"/>
              </a:rPr>
              <a:t>3 </a:t>
            </a:r>
            <a:r>
              <a:rPr kumimoji="0" lang="zh-CN" altLang="zh-CN" sz="1800" b="1" i="0" u="none" strike="noStrike" kern="2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基于</a:t>
            </a:r>
            <a:r>
              <a:rPr kumimoji="0" lang="zh-CN" altLang="zh-CN" sz="1800" b="1" i="0" u="none" strike="noStrike" kern="2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强化学习的数据安全等级动态更新模型</a:t>
            </a:r>
            <a:endParaRPr kumimoji="0" lang="zh-CN" altLang="zh-CN" sz="1800" b="1" i="0" u="none" strike="noStrike" kern="2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endParaRPr kumimoji="0" lang="zh-CN" altLang="zh-CN" sz="1800" b="1" i="0" u="none" strike="noStrike" kern="2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p:cNvSpPr txBox="1"/>
          <p:nvPr>
            <p:custDataLst>
              <p:tags r:id="rId7"/>
            </p:custDataLst>
          </p:nvPr>
        </p:nvSpPr>
        <p:spPr>
          <a:xfrm>
            <a:off x="732155" y="5757545"/>
            <a:ext cx="7451725"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研究</a:t>
            </a:r>
            <a:r>
              <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将数据安全等级更新问题建模为一个序列决策问题，引入</a:t>
            </a:r>
            <a:r>
              <a:rPr kumimoji="0" lang="zh-CN" altLang="zh-CN" sz="1600" b="1" i="0" u="none" strike="noStrike" kern="1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强化学习方法</a:t>
            </a:r>
            <a:r>
              <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，在风险控制、数据可用性与监管合规之间寻求动态平衡</a:t>
            </a:r>
            <a:r>
              <a:rPr kumimoji="0" lang="zh-CN" altLang="en-US"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采用增强型组相对策略优化算法构建动态更新模型，以提高决策过程的稳定性和鲁棒性</a:t>
            </a:r>
            <a:r>
              <a:rPr kumimoji="0" lang="zh-CN" altLang="en-US"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pic>
        <p:nvPicPr>
          <p:cNvPr id="11"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290685" y="5433857"/>
            <a:ext cx="2274690" cy="1247024"/>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p:cNvSpPr txBox="1"/>
          <p:nvPr>
            <p:custDataLst>
              <p:tags r:id="rId9"/>
            </p:custDataLst>
          </p:nvPr>
        </p:nvSpPr>
        <p:spPr>
          <a:xfrm>
            <a:off x="626625" y="2371493"/>
            <a:ext cx="6424415" cy="40011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en-US" altLang="zh-CN" sz="2000" b="1" i="0" u="none" strike="noStrike" kern="1200" cap="none" spc="0" normalizeH="0" baseline="0" noProof="0" dirty="0">
                <a:ln>
                  <a:noFill/>
                </a:ln>
                <a:solidFill>
                  <a:prstClr val="black"/>
                </a:solidFill>
                <a:effectLst/>
                <a:uLnTx/>
                <a:uFillTx/>
                <a:latin typeface="Times New Roman" panose="02020603050405020304"/>
                <a:ea typeface="微软雅黑" panose="020B0503020204020204" pitchFamily="34" charset="-122"/>
                <a:cs typeface="+mn-ea"/>
                <a:sym typeface="+mn-lt"/>
              </a:rPr>
              <a:t>1 </a:t>
            </a:r>
            <a:r>
              <a:rPr kumimoji="0" lang="zh-CN" altLang="en-US" sz="1800" b="1" i="0" u="none" strike="noStrike" kern="2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面向业务流与数据流的电力敏感信息分级分类体系构建</a:t>
            </a:r>
            <a:endParaRPr kumimoji="0" lang="zh-CN" altLang="zh-CN" sz="1800" b="1" i="0" u="none" strike="noStrike" kern="2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7356475"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研究内容3：电网数据分类分级体系构建</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607695" y="1595355"/>
            <a:ext cx="11136630" cy="1216025"/>
          </a:xfrm>
          <a:prstGeom prst="rect">
            <a:avLst/>
          </a:prstGeom>
          <a:noFill/>
        </p:spPr>
        <p:txBody>
          <a:bodyPr wrap="square" rtlCol="0">
            <a:noAutofit/>
          </a:bodyPr>
          <a:lstStyle/>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按业务流角度对电力信息进行归类，建立电力信息与业务场景、业务环节及责任主体之间的对应关系。</a:t>
            </a: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按数据流角度梳理电力信息的流转过程，并通过字段规范、模式解析和信息抽取形成统一的信息资产目录。</a:t>
            </a: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从影响对象、影响范围、影响程度三个维度判定敏感性，形成核心数据、重要数据和一般数据分级结果。</a:t>
            </a: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144780" y="1084453"/>
            <a:ext cx="11054937" cy="46037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3.1</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、电力敏感信息分级分类体系构建方法</a:t>
            </a: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pic>
        <p:nvPicPr>
          <p:cNvPr id="19" name="图片 18" descr="728renew2"/>
          <p:cNvPicPr>
            <a:picLocks noChangeAspect="1"/>
          </p:cNvPicPr>
          <p:nvPr/>
        </p:nvPicPr>
        <p:blipFill>
          <a:blip r:embed="rId1"/>
          <a:stretch>
            <a:fillRect/>
          </a:stretch>
        </p:blipFill>
        <p:spPr>
          <a:xfrm>
            <a:off x="1282700" y="2723115"/>
            <a:ext cx="9615170" cy="3267075"/>
          </a:xfrm>
          <a:prstGeom prst="rect">
            <a:avLst/>
          </a:prstGeom>
        </p:spPr>
      </p:pic>
      <p:sp>
        <p:nvSpPr>
          <p:cNvPr id="20" name="Rectangle 8"/>
          <p:cNvSpPr/>
          <p:nvPr/>
        </p:nvSpPr>
        <p:spPr>
          <a:xfrm flipH="1">
            <a:off x="1285988" y="6227632"/>
            <a:ext cx="2020015"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rPr>
              <a:t>面向业务流归类</a:t>
            </a:r>
            <a:endPar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1" name="Rectangle 8"/>
          <p:cNvSpPr/>
          <p:nvPr/>
        </p:nvSpPr>
        <p:spPr>
          <a:xfrm flipH="1">
            <a:off x="5452110" y="6100445"/>
            <a:ext cx="2052320" cy="5835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rPr>
              <a:t>面向数据流归纳并进行结构化处理</a:t>
            </a:r>
            <a:endParaRPr kumimoji="0" 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p:nvSpPr>
        <p:spPr>
          <a:xfrm>
            <a:off x="9729353" y="6227343"/>
            <a:ext cx="1881895" cy="3371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rPr>
              <a:t>分类分级体系构建</a:t>
            </a:r>
            <a:endParaRPr kumimoji="0" lang="en-US" altLang="zh-CN"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23" name="箭头: 右 40"/>
          <p:cNvSpPr/>
          <p:nvPr>
            <p:custDataLst>
              <p:tags r:id="rId2"/>
            </p:custDataLst>
          </p:nvPr>
        </p:nvSpPr>
        <p:spPr>
          <a:xfrm>
            <a:off x="3208655" y="6333490"/>
            <a:ext cx="2186940" cy="16002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4" name="箭头: 右 40"/>
          <p:cNvSpPr/>
          <p:nvPr>
            <p:custDataLst>
              <p:tags r:id="rId3"/>
            </p:custDataLst>
          </p:nvPr>
        </p:nvSpPr>
        <p:spPr>
          <a:xfrm>
            <a:off x="7591425" y="6311900"/>
            <a:ext cx="2213610" cy="18796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7356475" cy="1076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研究内容3：电网数据分类分级体系构建</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580074" y="1525884"/>
            <a:ext cx="11238865" cy="1169038"/>
          </a:xfrm>
          <a:prstGeom prst="rect">
            <a:avLst/>
          </a:prstGeom>
          <a:noFill/>
        </p:spPr>
        <p:txBody>
          <a:bodyPr wrap="square" rtlCol="0">
            <a:spAutoFit/>
          </a:bodyPr>
          <a:lstStyle/>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通过大语言模型与频繁模式挖掘解析法规标准、行业规则等，构建</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结构化分类分级规则库</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将数据名称、字段描述、元数据与规则库进行语义匹配，识别数据类别、敏感属性和影响范围。</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结合自编码器特征压缩与频繁模式挖掘，提取高频敏感字段组合，并映射为初始安全等级。</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144780" y="1084453"/>
            <a:ext cx="11054937" cy="46037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3.2</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、初步等级标定方法</a:t>
            </a: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5" name="Rectangle 8"/>
          <p:cNvSpPr/>
          <p:nvPr/>
        </p:nvSpPr>
        <p:spPr>
          <a:xfrm flipH="1">
            <a:off x="1078343" y="2953572"/>
            <a:ext cx="2020015" cy="33830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rPr>
              <a:t>文本规则提取</a:t>
            </a:r>
            <a:endParaRPr kumimoji="0" 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Rectangle 8"/>
          <p:cNvSpPr/>
          <p:nvPr/>
        </p:nvSpPr>
        <p:spPr>
          <a:xfrm flipH="1">
            <a:off x="5336564" y="2971784"/>
            <a:ext cx="1814061" cy="33842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rPr>
              <a:t>敏感字段组合识别</a:t>
            </a:r>
            <a:endParaRPr kumimoji="0" 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nvSpPr>
        <p:spPr>
          <a:xfrm>
            <a:off x="9601718" y="2948838"/>
            <a:ext cx="1881895" cy="33842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rPr>
              <a:t>初始安全等级映射</a:t>
            </a:r>
            <a:endParaRPr kumimoji="0" lang="en-US" altLang="zh-CN"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8" name="箭头: 右 40"/>
          <p:cNvSpPr/>
          <p:nvPr>
            <p:custDataLst>
              <p:tags r:id="rId1"/>
            </p:custDataLst>
          </p:nvPr>
        </p:nvSpPr>
        <p:spPr>
          <a:xfrm>
            <a:off x="2979102" y="3044818"/>
            <a:ext cx="1744194" cy="159987"/>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9" name="箭头: 右 40"/>
          <p:cNvSpPr/>
          <p:nvPr>
            <p:custDataLst>
              <p:tags r:id="rId2"/>
            </p:custDataLst>
          </p:nvPr>
        </p:nvSpPr>
        <p:spPr>
          <a:xfrm>
            <a:off x="7454900" y="3016868"/>
            <a:ext cx="2050671" cy="187937"/>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p:cNvSpPr txBox="1"/>
          <p:nvPr/>
        </p:nvSpPr>
        <p:spPr>
          <a:xfrm>
            <a:off x="4890769" y="5880548"/>
            <a:ext cx="3058160" cy="738664"/>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基于 </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FP-Growth </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算法挖掘高频敏感字段组合，识别多字段共现带来的联合敏感性</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322558" y="5886038"/>
            <a:ext cx="3442992" cy="738664"/>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利用大语言模型结合检索增强生成技术，从法规标准、工程文档和业务说明等非结构化文本中抽取结构化分级规则</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p:cNvSpPr txBox="1"/>
          <p:nvPr/>
        </p:nvSpPr>
        <p:spPr>
          <a:xfrm>
            <a:off x="9196253" y="5853875"/>
            <a:ext cx="2995747" cy="738664"/>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将规则知识、字段组合模式和对象覆盖关系映射为数据对象的初始安全等级</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p:cNvPicPr/>
          <p:nvPr/>
        </p:nvPicPr>
        <p:blipFill>
          <a:blip r:embed="rId3" cstate="print">
            <a:extLst>
              <a:ext uri="{28A0092B-C50C-407E-A947-70E740481C1C}">
                <a14:useLocalDpi xmlns:a14="http://schemas.microsoft.com/office/drawing/2010/main" val="0"/>
              </a:ext>
            </a:extLst>
          </a:blip>
          <a:srcRect/>
          <a:stretch>
            <a:fillRect/>
          </a:stretch>
        </p:blipFill>
        <p:spPr>
          <a:xfrm>
            <a:off x="414913" y="3343707"/>
            <a:ext cx="3236595" cy="2455490"/>
          </a:xfrm>
          <a:prstGeom prst="rect">
            <a:avLst/>
          </a:prstGeom>
          <a:noFill/>
          <a:ln>
            <a:solidFill>
              <a:schemeClr val="tx1"/>
            </a:solidFill>
          </a:ln>
        </p:spPr>
      </p:pic>
      <p:pic>
        <p:nvPicPr>
          <p:cNvPr id="14" name="图片 13"/>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65550" y="3477941"/>
            <a:ext cx="5308599" cy="2278977"/>
          </a:xfrm>
          <a:prstGeom prst="rect">
            <a:avLst/>
          </a:prstGeom>
          <a:noFill/>
          <a:ln>
            <a:noFill/>
          </a:ln>
        </p:spPr>
      </p:pic>
      <p:graphicFrame>
        <p:nvGraphicFramePr>
          <p:cNvPr id="15" name="表格 14"/>
          <p:cNvGraphicFramePr>
            <a:graphicFrameLocks noGrp="1"/>
          </p:cNvGraphicFramePr>
          <p:nvPr/>
        </p:nvGraphicFramePr>
        <p:xfrm>
          <a:off x="9196253" y="3548732"/>
          <a:ext cx="2924934" cy="2013142"/>
        </p:xfrm>
        <a:graphic>
          <a:graphicData uri="http://schemas.openxmlformats.org/drawingml/2006/table">
            <a:tbl>
              <a:tblPr firstRow="1" firstCol="1" bandRow="1">
                <a:tableStyleId>{5C22544A-7EE6-4342-B048-85BDC9FD1C3A}</a:tableStyleId>
              </a:tblPr>
              <a:tblGrid>
                <a:gridCol w="730983"/>
                <a:gridCol w="731317"/>
                <a:gridCol w="731317"/>
                <a:gridCol w="731317"/>
              </a:tblGrid>
              <a:tr h="492406">
                <a:tc>
                  <a:txBody>
                    <a:bodyPr/>
                    <a:lstStyle/>
                    <a:p>
                      <a:pPr indent="0" algn="ctr">
                        <a:lnSpc>
                          <a:spcPct val="120000"/>
                        </a:lnSpc>
                      </a:pPr>
                      <a:r>
                        <a:rPr lang="zh-CN" sz="1050" kern="100">
                          <a:effectLst/>
                        </a:rPr>
                        <a:t>对象</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zh-CN" sz="1050" kern="100" dirty="0">
                          <a:effectLst/>
                        </a:rPr>
                        <a:t>原始得分</a:t>
                      </a:r>
                      <a:r>
                        <a:rPr lang="en-US" sz="1200" kern="100" dirty="0">
                          <a:effectLst/>
                        </a:rPr>
                        <a:t> </a:t>
                      </a:r>
                      <a:endParaRPr lang="zh-CN" sz="12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zh-CN" sz="1050" kern="100">
                          <a:effectLst/>
                        </a:rPr>
                        <a:t>归一化得分</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zh-CN" sz="1050" kern="100">
                          <a:effectLst/>
                        </a:rPr>
                        <a:t>初始等级</a:t>
                      </a:r>
                      <a:endParaRPr lang="zh-CN" sz="1200" kern="100">
                        <a:effectLst/>
                        <a:latin typeface="Times New Roman" panose="02020603050405020304" pitchFamily="18" charset="0"/>
                        <a:ea typeface="宋体" panose="02010600030101010101" pitchFamily="2" charset="-122"/>
                      </a:endParaRPr>
                    </a:p>
                  </a:txBody>
                  <a:tcPr marL="68580" marR="68580" marT="0" marB="0"/>
                </a:tc>
              </a:tr>
              <a:tr h="253456">
                <a:tc>
                  <a:txBody>
                    <a:bodyPr/>
                    <a:lstStyle/>
                    <a:p>
                      <a:pPr indent="0" algn="ctr">
                        <a:lnSpc>
                          <a:spcPct val="120000"/>
                        </a:lnSpc>
                      </a:pPr>
                      <a:r>
                        <a:rPr lang="zh-CN" sz="1050" kern="100">
                          <a:effectLst/>
                        </a:rPr>
                        <a:t>线路</a:t>
                      </a:r>
                      <a:r>
                        <a:rPr lang="en-US" sz="1050" kern="100">
                          <a:effectLst/>
                        </a:rPr>
                        <a:t>1</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4.000</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0.649</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zh-CN" sz="1050" kern="100">
                          <a:effectLst/>
                        </a:rPr>
                        <a:t>三级</a:t>
                      </a:r>
                      <a:endParaRPr lang="zh-CN" sz="1200" kern="100">
                        <a:effectLst/>
                        <a:latin typeface="Times New Roman" panose="02020603050405020304" pitchFamily="18" charset="0"/>
                        <a:ea typeface="宋体" panose="02010600030101010101" pitchFamily="2" charset="-122"/>
                      </a:endParaRPr>
                    </a:p>
                  </a:txBody>
                  <a:tcPr marL="68580" marR="68580" marT="0" marB="0"/>
                </a:tc>
              </a:tr>
              <a:tr h="253456">
                <a:tc>
                  <a:txBody>
                    <a:bodyPr/>
                    <a:lstStyle/>
                    <a:p>
                      <a:pPr indent="0" algn="ctr">
                        <a:lnSpc>
                          <a:spcPct val="120000"/>
                        </a:lnSpc>
                      </a:pPr>
                      <a:r>
                        <a:rPr lang="zh-CN" sz="1050" kern="100">
                          <a:effectLst/>
                        </a:rPr>
                        <a:t>线路</a:t>
                      </a:r>
                      <a:r>
                        <a:rPr lang="en-US" sz="1050" kern="100">
                          <a:effectLst/>
                        </a:rPr>
                        <a:t>2</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4.167</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0.676</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zh-CN" sz="1050" kern="100">
                          <a:effectLst/>
                        </a:rPr>
                        <a:t>三级</a:t>
                      </a:r>
                      <a:endParaRPr lang="zh-CN" sz="1200" kern="100">
                        <a:effectLst/>
                        <a:latin typeface="Times New Roman" panose="02020603050405020304" pitchFamily="18" charset="0"/>
                        <a:ea typeface="宋体" panose="02010600030101010101" pitchFamily="2" charset="-122"/>
                      </a:endParaRPr>
                    </a:p>
                  </a:txBody>
                  <a:tcPr marL="68580" marR="68580" marT="0" marB="0"/>
                </a:tc>
              </a:tr>
              <a:tr h="253456">
                <a:tc>
                  <a:txBody>
                    <a:bodyPr/>
                    <a:lstStyle/>
                    <a:p>
                      <a:pPr indent="0" algn="ctr">
                        <a:lnSpc>
                          <a:spcPct val="120000"/>
                        </a:lnSpc>
                      </a:pPr>
                      <a:r>
                        <a:rPr lang="zh-CN" sz="1050" kern="100">
                          <a:effectLst/>
                        </a:rPr>
                        <a:t>线路</a:t>
                      </a:r>
                      <a:r>
                        <a:rPr lang="en-US" sz="1050" kern="100">
                          <a:effectLst/>
                        </a:rPr>
                        <a:t>3</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dirty="0">
                          <a:effectLst/>
                        </a:rPr>
                        <a:t>0.000</a:t>
                      </a:r>
                      <a:endParaRPr lang="zh-CN" sz="12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0.000</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zh-CN" sz="1050" kern="100" dirty="0">
                          <a:effectLst/>
                        </a:rPr>
                        <a:t>一级</a:t>
                      </a:r>
                      <a:endParaRPr lang="zh-CN" sz="1200" kern="100" dirty="0">
                        <a:effectLst/>
                        <a:latin typeface="Times New Roman" panose="02020603050405020304" pitchFamily="18" charset="0"/>
                        <a:ea typeface="宋体" panose="02010600030101010101" pitchFamily="2" charset="-122"/>
                      </a:endParaRPr>
                    </a:p>
                  </a:txBody>
                  <a:tcPr marL="68580" marR="68580" marT="0" marB="0"/>
                </a:tc>
              </a:tr>
              <a:tr h="253456">
                <a:tc>
                  <a:txBody>
                    <a:bodyPr/>
                    <a:lstStyle/>
                    <a:p>
                      <a:pPr indent="0" algn="ctr">
                        <a:lnSpc>
                          <a:spcPct val="120000"/>
                        </a:lnSpc>
                      </a:pPr>
                      <a:r>
                        <a:rPr lang="zh-CN" sz="1050" kern="100">
                          <a:effectLst/>
                        </a:rPr>
                        <a:t>线路</a:t>
                      </a:r>
                      <a:r>
                        <a:rPr lang="en-US" sz="1050" kern="100">
                          <a:effectLst/>
                        </a:rPr>
                        <a:t>4</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6.167</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1.000</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zh-CN" sz="1050" kern="100">
                          <a:effectLst/>
                        </a:rPr>
                        <a:t>四级</a:t>
                      </a:r>
                      <a:endParaRPr lang="zh-CN" sz="1200" kern="100">
                        <a:effectLst/>
                        <a:latin typeface="Times New Roman" panose="02020603050405020304" pitchFamily="18" charset="0"/>
                        <a:ea typeface="宋体" panose="02010600030101010101" pitchFamily="2" charset="-122"/>
                      </a:endParaRPr>
                    </a:p>
                  </a:txBody>
                  <a:tcPr marL="68580" marR="68580" marT="0" marB="0"/>
                </a:tc>
              </a:tr>
              <a:tr h="253456">
                <a:tc>
                  <a:txBody>
                    <a:bodyPr/>
                    <a:lstStyle/>
                    <a:p>
                      <a:pPr indent="0" algn="ctr">
                        <a:lnSpc>
                          <a:spcPct val="120000"/>
                        </a:lnSpc>
                      </a:pPr>
                      <a:r>
                        <a:rPr lang="zh-CN" sz="1050" kern="100">
                          <a:effectLst/>
                        </a:rPr>
                        <a:t>线路</a:t>
                      </a:r>
                      <a:r>
                        <a:rPr lang="en-US" sz="1050" kern="100">
                          <a:effectLst/>
                        </a:rPr>
                        <a:t>5</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6.167</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1.000</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zh-CN" sz="1050" kern="100">
                          <a:effectLst/>
                        </a:rPr>
                        <a:t>四级</a:t>
                      </a:r>
                      <a:endParaRPr lang="zh-CN" sz="1200" kern="100">
                        <a:effectLst/>
                        <a:latin typeface="Times New Roman" panose="02020603050405020304" pitchFamily="18" charset="0"/>
                        <a:ea typeface="宋体" panose="02010600030101010101" pitchFamily="2" charset="-122"/>
                      </a:endParaRPr>
                    </a:p>
                  </a:txBody>
                  <a:tcPr marL="68580" marR="68580" marT="0" marB="0"/>
                </a:tc>
              </a:tr>
              <a:tr h="253456">
                <a:tc>
                  <a:txBody>
                    <a:bodyPr/>
                    <a:lstStyle/>
                    <a:p>
                      <a:pPr indent="0" algn="ctr">
                        <a:lnSpc>
                          <a:spcPct val="120000"/>
                        </a:lnSpc>
                      </a:pPr>
                      <a:r>
                        <a:rPr lang="zh-CN" sz="1050" kern="100">
                          <a:effectLst/>
                        </a:rPr>
                        <a:t>线路</a:t>
                      </a:r>
                      <a:r>
                        <a:rPr lang="en-US" sz="1050" kern="100">
                          <a:effectLst/>
                        </a:rPr>
                        <a:t>6</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0.667</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en-US" sz="1050" kern="100">
                          <a:effectLst/>
                        </a:rPr>
                        <a:t>0.108</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indent="0" algn="ctr">
                        <a:lnSpc>
                          <a:spcPct val="120000"/>
                        </a:lnSpc>
                      </a:pPr>
                      <a:r>
                        <a:rPr lang="zh-CN" sz="1050" kern="100" dirty="0">
                          <a:effectLst/>
                        </a:rPr>
                        <a:t>二级</a:t>
                      </a:r>
                      <a:endParaRPr lang="zh-CN" sz="1200" kern="100" dirty="0">
                        <a:effectLst/>
                        <a:latin typeface="Times New Roman" panose="02020603050405020304" pitchFamily="18" charset="0"/>
                        <a:ea typeface="宋体" panose="02010600030101010101" pitchFamily="2" charset="-122"/>
                      </a:endParaRPr>
                    </a:p>
                  </a:txBody>
                  <a:tcPr marL="68580" marR="68580" marT="0" marB="0"/>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7356475"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研究内容3：电网数据分类分级体系构建</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580074" y="1606909"/>
            <a:ext cx="11238865" cy="1538370"/>
          </a:xfrm>
          <a:prstGeom prst="rect">
            <a:avLst/>
          </a:prstGeom>
          <a:noFill/>
        </p:spPr>
        <p:txBody>
          <a:bodyPr wrap="square" rtlCol="0">
            <a:spAutoFit/>
          </a:body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对候选变量与敏感目标计算多类相关性指标，量化数据间关联关系。</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对量化指标进行筛选，当任一指标超过关联强度的阈值时，将该变量保留为候选推断变量。</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构建有向加权关联图，对高风险路径进行推断验证；若低等级数据可稳定还原高敏感信息，则上调安全等级并记录更新依据。</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144780" y="1084453"/>
            <a:ext cx="11054937" cy="46037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3.3</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rPr>
              <a:t>、数据安全等级更新方法</a:t>
            </a:r>
            <a:endPar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5" name="Rectangle 8"/>
          <p:cNvSpPr/>
          <p:nvPr/>
        </p:nvSpPr>
        <p:spPr>
          <a:xfrm flipH="1">
            <a:off x="1443082" y="3450636"/>
            <a:ext cx="2020015" cy="33842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rPr>
              <a:t>数据关联量化</a:t>
            </a:r>
            <a:endParaRPr kumimoji="0" 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Rectangle 8"/>
          <p:cNvSpPr/>
          <p:nvPr/>
        </p:nvSpPr>
        <p:spPr>
          <a:xfrm flipH="1">
            <a:off x="4971810" y="3457751"/>
            <a:ext cx="1744194" cy="33842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rPr>
              <a:t>多度量筛选</a:t>
            </a:r>
            <a:endParaRPr kumimoji="0" 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7" name="图片 6"/>
          <p:cNvPicPr>
            <a:picLocks noChangeAspect="1"/>
          </p:cNvPicPr>
          <p:nvPr/>
        </p:nvPicPr>
        <p:blipFill>
          <a:blip r:embed="rId1"/>
          <a:stretch>
            <a:fillRect/>
          </a:stretch>
        </p:blipFill>
        <p:spPr>
          <a:xfrm>
            <a:off x="897348" y="3730506"/>
            <a:ext cx="3141253" cy="2370393"/>
          </a:xfrm>
          <a:prstGeom prst="rect">
            <a:avLst/>
          </a:prstGeom>
        </p:spPr>
      </p:pic>
      <p:sp>
        <p:nvSpPr>
          <p:cNvPr id="8" name="矩形 7"/>
          <p:cNvSpPr/>
          <p:nvPr/>
        </p:nvSpPr>
        <p:spPr>
          <a:xfrm>
            <a:off x="8728905" y="3450636"/>
            <a:ext cx="1881895" cy="33842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rPr>
              <a:t>数据安全等级更新</a:t>
            </a:r>
            <a:endParaRPr kumimoji="0" lang="en-US" altLang="zh-CN" sz="1600" b="1" i="0" u="none" strike="noStrike" kern="1200" cap="none" spc="0" normalizeH="0" baseline="0" noProof="0" dirty="0">
              <a:ln w="0"/>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箭头: 右 40"/>
          <p:cNvSpPr/>
          <p:nvPr>
            <p:custDataLst>
              <p:tags r:id="rId2"/>
            </p:custDataLst>
          </p:nvPr>
        </p:nvSpPr>
        <p:spPr>
          <a:xfrm>
            <a:off x="3284744" y="3545496"/>
            <a:ext cx="1813577" cy="135307"/>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0" name="箭头: 右 40"/>
          <p:cNvSpPr/>
          <p:nvPr>
            <p:custDataLst>
              <p:tags r:id="rId3"/>
            </p:custDataLst>
          </p:nvPr>
        </p:nvSpPr>
        <p:spPr>
          <a:xfrm>
            <a:off x="6600724" y="3498395"/>
            <a:ext cx="1947738" cy="211715"/>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1" name="表格 10"/>
          <p:cNvGraphicFramePr>
            <a:graphicFrameLocks noGrp="1"/>
          </p:cNvGraphicFramePr>
          <p:nvPr/>
        </p:nvGraphicFramePr>
        <p:xfrm>
          <a:off x="4110557" y="3892004"/>
          <a:ext cx="3508789" cy="1989631"/>
        </p:xfrm>
        <a:graphic>
          <a:graphicData uri="http://schemas.openxmlformats.org/drawingml/2006/table">
            <a:tbl>
              <a:tblPr firstRow="1" firstCol="1" bandRow="1">
                <a:tableStyleId>{5C22544A-7EE6-4342-B048-85BDC9FD1C3A}</a:tableStyleId>
              </a:tblPr>
              <a:tblGrid>
                <a:gridCol w="756056"/>
                <a:gridCol w="666014"/>
                <a:gridCol w="719558"/>
                <a:gridCol w="647603"/>
                <a:gridCol w="719558"/>
              </a:tblGrid>
              <a:tr h="542627">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已知量</a:t>
                      </a:r>
                      <a:r>
                        <a:rPr lang="en-US" sz="1200" kern="100" dirty="0">
                          <a:effectLst/>
                          <a:latin typeface="微软雅黑" panose="020B0503020204020204" pitchFamily="34" charset="-122"/>
                          <a:ea typeface="微软雅黑" panose="020B0503020204020204" pitchFamily="34" charset="-122"/>
                        </a:rPr>
                        <a:t>\</a:t>
                      </a:r>
                      <a:r>
                        <a:rPr lang="zh-CN" sz="1200" kern="100" dirty="0">
                          <a:effectLst/>
                          <a:latin typeface="微软雅黑" panose="020B0503020204020204" pitchFamily="34" charset="-122"/>
                          <a:ea typeface="微软雅黑" panose="020B0503020204020204" pitchFamily="34" charset="-122"/>
                        </a:rPr>
                        <a:t>推断量</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节点负荷</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节点电价</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线路潮流</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节点相角</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节点负荷</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1</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0.60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0.56</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0.32</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节点电价</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0.30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1</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0.35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0.25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线路潮流</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0.55</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0.70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1</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0.40</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节点相角</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0.31</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0.50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a:effectLst/>
                          <a:latin typeface="微软雅黑" panose="020B0503020204020204" pitchFamily="34" charset="-122"/>
                          <a:ea typeface="微软雅黑" panose="020B0503020204020204" pitchFamily="34" charset="-122"/>
                        </a:rPr>
                        <a:t>0.38</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en-US" sz="1200" kern="100" dirty="0">
                          <a:effectLst/>
                          <a:latin typeface="微软雅黑" panose="020B0503020204020204" pitchFamily="34" charset="-122"/>
                          <a:ea typeface="微软雅黑" panose="020B0503020204020204" pitchFamily="34" charset="-122"/>
                        </a:rPr>
                        <a:t>1</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bl>
          </a:graphicData>
        </a:graphic>
      </p:graphicFrame>
      <p:sp>
        <p:nvSpPr>
          <p:cNvPr id="12" name="文本框 11"/>
          <p:cNvSpPr txBox="1"/>
          <p:nvPr/>
        </p:nvSpPr>
        <p:spPr>
          <a:xfrm>
            <a:off x="4335871" y="6038276"/>
            <a:ext cx="3058160" cy="523220"/>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融合 </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Pearson</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Spearman </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和 </a:t>
            </a:r>
            <a:r>
              <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MIC</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，识别线性、单调及非线性数据关联</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nvSpPr>
        <p:spPr>
          <a:xfrm>
            <a:off x="1016419" y="6069113"/>
            <a:ext cx="2973495" cy="523220"/>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针对数据对象，计算相关性指标实现数据间关联的量化</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p:cNvSpPr txBox="1"/>
          <p:nvPr/>
        </p:nvSpPr>
        <p:spPr>
          <a:xfrm>
            <a:off x="8254495" y="6038276"/>
            <a:ext cx="3133393" cy="523220"/>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以关联关系为参考，将可稳定还原高敏感信息的低等级数据上调安全等级</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5" name="表格 14"/>
          <p:cNvGraphicFramePr>
            <a:graphicFrameLocks noGrp="1"/>
          </p:cNvGraphicFramePr>
          <p:nvPr/>
        </p:nvGraphicFramePr>
        <p:xfrm>
          <a:off x="7972926" y="3866085"/>
          <a:ext cx="1622258" cy="1989631"/>
        </p:xfrm>
        <a:graphic>
          <a:graphicData uri="http://schemas.openxmlformats.org/drawingml/2006/table">
            <a:tbl>
              <a:tblPr firstRow="1" firstCol="1" bandRow="1">
                <a:tableStyleId>{5C22544A-7EE6-4342-B048-85BDC9FD1C3A}</a:tableStyleId>
              </a:tblPr>
              <a:tblGrid>
                <a:gridCol w="862488"/>
                <a:gridCol w="759770"/>
              </a:tblGrid>
              <a:tr h="542627">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数据名称</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初始等级</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节点负荷</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二级</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节点电价</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solidFill>
                      <a:srgbClr val="C55A11"/>
                    </a:solidFill>
                  </a:tcP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一级</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线路潮流</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三级</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节点相角</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三级</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bl>
          </a:graphicData>
        </a:graphic>
      </p:graphicFrame>
      <p:graphicFrame>
        <p:nvGraphicFramePr>
          <p:cNvPr id="16" name="表格 15"/>
          <p:cNvGraphicFramePr>
            <a:graphicFrameLocks noGrp="1"/>
          </p:cNvGraphicFramePr>
          <p:nvPr/>
        </p:nvGraphicFramePr>
        <p:xfrm>
          <a:off x="10002252" y="3866085"/>
          <a:ext cx="1622258" cy="1989631"/>
        </p:xfrm>
        <a:graphic>
          <a:graphicData uri="http://schemas.openxmlformats.org/drawingml/2006/table">
            <a:tbl>
              <a:tblPr firstRow="1" firstCol="1" bandRow="1">
                <a:tableStyleId>{5C22544A-7EE6-4342-B048-85BDC9FD1C3A}</a:tableStyleId>
              </a:tblPr>
              <a:tblGrid>
                <a:gridCol w="862488"/>
                <a:gridCol w="759770"/>
              </a:tblGrid>
              <a:tr h="542627">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数据名称</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更新等级</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a:effectLst/>
                          <a:latin typeface="微软雅黑" panose="020B0503020204020204" pitchFamily="34" charset="-122"/>
                          <a:ea typeface="微软雅黑" panose="020B0503020204020204" pitchFamily="34" charset="-122"/>
                        </a:rPr>
                        <a:t>节点负荷</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二级</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节点电价</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solidFill>
                      <a:srgbClr val="C55A11"/>
                    </a:solidFill>
                  </a:tcPr>
                </a:tc>
                <a:tc>
                  <a:txBody>
                    <a:bodyPr/>
                    <a:lstStyle/>
                    <a:p>
                      <a:pPr algn="ctr">
                        <a:spcAft>
                          <a:spcPts val="0"/>
                        </a:spcAft>
                      </a:pPr>
                      <a:r>
                        <a:rPr lang="zh-CN" altLang="en-US" sz="1200" kern="100" dirty="0">
                          <a:solidFill>
                            <a:srgbClr val="FF0000"/>
                          </a:solidFill>
                          <a:effectLst/>
                          <a:latin typeface="微软雅黑" panose="020B0503020204020204" pitchFamily="34" charset="-122"/>
                          <a:ea typeface="微软雅黑" panose="020B0503020204020204" pitchFamily="34" charset="-122"/>
                        </a:rPr>
                        <a:t>二级</a:t>
                      </a:r>
                      <a:endParaRPr lang="zh-CN" sz="12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线路潮流</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rPr>
                        <a:t>三级</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r h="361751">
                <a:tc>
                  <a:txBody>
                    <a:bodyPr/>
                    <a:lstStyle/>
                    <a:p>
                      <a:pPr algn="ctr">
                        <a:spcAft>
                          <a:spcPts val="0"/>
                        </a:spcAft>
                      </a:pPr>
                      <a:r>
                        <a:rPr lang="zh-CN" sz="1200" kern="100" dirty="0">
                          <a:effectLst/>
                          <a:latin typeface="微软雅黑" panose="020B0503020204020204" pitchFamily="34" charset="-122"/>
                          <a:ea typeface="微软雅黑" panose="020B0503020204020204" pitchFamily="34" charset="-122"/>
                        </a:rPr>
                        <a:t>节点相角</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c>
                  <a:txBody>
                    <a:bodyPr/>
                    <a:lstStyle/>
                    <a:p>
                      <a:pPr algn="ctr">
                        <a:spcAft>
                          <a:spcPts val="0"/>
                        </a:spcAft>
                      </a:pPr>
                      <a:r>
                        <a:rPr lang="zh-CN" altLang="en-US" sz="1200" kern="100" dirty="0">
                          <a:effectLst/>
                          <a:latin typeface="微软雅黑" panose="020B0503020204020204" pitchFamily="34" charset="-122"/>
                          <a:ea typeface="微软雅黑" panose="020B0503020204020204" pitchFamily="34" charset="-122"/>
                          <a:cs typeface="Times New Roman" panose="02020603050405020304" pitchFamily="18" charset="0"/>
                        </a:rPr>
                        <a:t>三级</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30" marR="68530" marT="0" marB="0" anchor="ctr"/>
                </a:tc>
              </a:tr>
            </a:tbl>
          </a:graphicData>
        </a:graphic>
      </p:graphicFrame>
      <p:sp>
        <p:nvSpPr>
          <p:cNvPr id="17" name="箭头: 右 16"/>
          <p:cNvSpPr/>
          <p:nvPr/>
        </p:nvSpPr>
        <p:spPr>
          <a:xfrm>
            <a:off x="9643310" y="4860900"/>
            <a:ext cx="310815" cy="1960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rotWithShape="1">
          <a:blip r:embed="rId1">
            <a:extLst>
              <a:ext uri="{28A0092B-C50C-407E-A947-70E740481C1C}">
                <a14:useLocalDpi xmlns:a14="http://schemas.microsoft.com/office/drawing/2010/main" val="0"/>
              </a:ext>
            </a:extLst>
          </a:blip>
          <a:srcRect l="51" t="20074" r="-443" b="46946"/>
          <a:stretch>
            <a:fillRect/>
          </a:stretch>
        </p:blipFill>
        <p:spPr>
          <a:xfrm>
            <a:off x="0" y="0"/>
            <a:ext cx="12239625" cy="2262460"/>
          </a:xfrm>
          <a:prstGeom prst="rect">
            <a:avLst/>
          </a:prstGeom>
        </p:spPr>
      </p:pic>
      <p:sp>
        <p:nvSpPr>
          <p:cNvPr id="49" name="Oval 4"/>
          <p:cNvSpPr/>
          <p:nvPr/>
        </p:nvSpPr>
        <p:spPr>
          <a:xfrm>
            <a:off x="3904407" y="3045941"/>
            <a:ext cx="648000" cy="648000"/>
          </a:xfrm>
          <a:prstGeom prst="ellipse">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rPr>
              <a:t>1</a:t>
            </a:r>
            <a:endParaRPr kumimoji="0" lang="id-ID"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endParaRPr>
          </a:p>
        </p:txBody>
      </p:sp>
      <p:sp>
        <p:nvSpPr>
          <p:cNvPr id="50" name="Oval 4"/>
          <p:cNvSpPr/>
          <p:nvPr/>
        </p:nvSpPr>
        <p:spPr>
          <a:xfrm>
            <a:off x="3904407" y="4224521"/>
            <a:ext cx="648000" cy="648000"/>
          </a:xfrm>
          <a:prstGeom prst="ellipse">
            <a:avLst/>
          </a:prstGeom>
          <a:solidFill>
            <a:schemeClr val="bg1">
              <a:lumMod val="8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rPr>
              <a:t>2</a:t>
            </a:r>
            <a:endParaRPr kumimoji="0" lang="id-ID"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endParaRPr>
          </a:p>
        </p:txBody>
      </p:sp>
      <p:sp>
        <p:nvSpPr>
          <p:cNvPr id="51" name="Oval 4"/>
          <p:cNvSpPr/>
          <p:nvPr/>
        </p:nvSpPr>
        <p:spPr>
          <a:xfrm>
            <a:off x="3904407" y="5403101"/>
            <a:ext cx="648000" cy="648000"/>
          </a:xfrm>
          <a:prstGeom prst="ellipse">
            <a:avLst/>
          </a:prstGeom>
          <a:solidFill>
            <a:schemeClr val="accent1">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rPr>
              <a:t>3</a:t>
            </a:r>
            <a:endParaRPr kumimoji="0" lang="id-ID" sz="2800" b="1" i="1" u="none" strike="noStrike" kern="0" cap="none" spc="0" normalizeH="0" baseline="0" noProof="0" dirty="0">
              <a:ln>
                <a:noFill/>
              </a:ln>
              <a:solidFill>
                <a:schemeClr val="bg1"/>
              </a:solidFill>
              <a:effectLst/>
              <a:uLnTx/>
              <a:uFillTx/>
              <a:latin typeface="Times New Roman" panose="02020603050405020304" pitchFamily="18" charset="0"/>
              <a:ea typeface="字魂59号-创粗黑" panose="00000500000000000000" pitchFamily="2" charset="-122"/>
              <a:cs typeface="Times New Roman" panose="02020603050405020304" pitchFamily="18" charset="0"/>
              <a:sym typeface="字魂59号-创粗黑" panose="00000500000000000000" pitchFamily="2" charset="-122"/>
            </a:endParaRPr>
          </a:p>
        </p:txBody>
      </p:sp>
      <p:sp>
        <p:nvSpPr>
          <p:cNvPr id="53" name="Text Box 17"/>
          <p:cNvSpPr txBox="1">
            <a:spLocks noChangeArrowheads="1"/>
          </p:cNvSpPr>
          <p:nvPr/>
        </p:nvSpPr>
        <p:spPr bwMode="auto">
          <a:xfrm>
            <a:off x="4817559" y="3128237"/>
            <a:ext cx="746524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charset="-122"/>
                <a:ea typeface="宋体" panose="02010600030101010101" pitchFamily="2" charset="-122"/>
              </a:defRPr>
            </a:lvl1pPr>
            <a:lvl2pPr marL="742950" indent="-285750">
              <a:defRPr b="1">
                <a:solidFill>
                  <a:schemeClr val="bg1"/>
                </a:solidFill>
                <a:latin typeface="黑体" panose="02010609060101010101" charset="-122"/>
                <a:ea typeface="宋体" panose="02010600030101010101" pitchFamily="2" charset="-122"/>
              </a:defRPr>
            </a:lvl2pPr>
            <a:lvl3pPr marL="1143000" indent="-228600">
              <a:defRPr b="1">
                <a:solidFill>
                  <a:schemeClr val="bg1"/>
                </a:solidFill>
                <a:latin typeface="黑体" panose="02010609060101010101" charset="-122"/>
                <a:ea typeface="宋体" panose="02010600030101010101" pitchFamily="2" charset="-122"/>
              </a:defRPr>
            </a:lvl3pPr>
            <a:lvl4pPr marL="1600200" indent="-228600">
              <a:defRPr b="1">
                <a:solidFill>
                  <a:schemeClr val="bg1"/>
                </a:solidFill>
                <a:latin typeface="黑体" panose="02010609060101010101" charset="-122"/>
                <a:ea typeface="宋体" panose="02010600030101010101" pitchFamily="2" charset="-122"/>
              </a:defRPr>
            </a:lvl4pPr>
            <a:lvl5pPr marL="2057400" indent="-228600">
              <a:defRPr b="1">
                <a:solidFill>
                  <a:schemeClr val="bg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9pPr>
          </a:lstStyle>
          <a:p>
            <a:pPr eaLnBrk="0" fontAlgn="base" hangingPunct="0">
              <a:spcBef>
                <a:spcPct val="0"/>
              </a:spcBef>
              <a:spcAft>
                <a:spcPct val="0"/>
              </a:spcAft>
              <a:defRPr/>
            </a:pPr>
            <a:r>
              <a:rPr lang="zh-CN" altLang="en-US" sz="3200" dirty="0">
                <a:solidFill>
                  <a:schemeClr val="bg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指标完成情况</a:t>
            </a:r>
            <a:endParaRPr lang="zh-CN" altLang="en-US" sz="3200" dirty="0">
              <a:solidFill>
                <a:schemeClr val="bg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 name="Text Box 17"/>
          <p:cNvSpPr txBox="1">
            <a:spLocks noChangeArrowheads="1"/>
          </p:cNvSpPr>
          <p:nvPr/>
        </p:nvSpPr>
        <p:spPr bwMode="auto">
          <a:xfrm>
            <a:off x="4817560" y="4306817"/>
            <a:ext cx="52840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charset="-122"/>
                <a:ea typeface="宋体" panose="02010600030101010101" pitchFamily="2" charset="-122"/>
              </a:defRPr>
            </a:lvl1pPr>
            <a:lvl2pPr marL="742950" indent="-285750">
              <a:defRPr b="1">
                <a:solidFill>
                  <a:schemeClr val="bg1"/>
                </a:solidFill>
                <a:latin typeface="黑体" panose="02010609060101010101" charset="-122"/>
                <a:ea typeface="宋体" panose="02010600030101010101" pitchFamily="2" charset="-122"/>
              </a:defRPr>
            </a:lvl2pPr>
            <a:lvl3pPr marL="1143000" indent="-228600">
              <a:defRPr b="1">
                <a:solidFill>
                  <a:schemeClr val="bg1"/>
                </a:solidFill>
                <a:latin typeface="黑体" panose="02010609060101010101" charset="-122"/>
                <a:ea typeface="宋体" panose="02010600030101010101" pitchFamily="2" charset="-122"/>
              </a:defRPr>
            </a:lvl3pPr>
            <a:lvl4pPr marL="1600200" indent="-228600">
              <a:defRPr b="1">
                <a:solidFill>
                  <a:schemeClr val="bg1"/>
                </a:solidFill>
                <a:latin typeface="黑体" panose="02010609060101010101" charset="-122"/>
                <a:ea typeface="宋体" panose="02010600030101010101" pitchFamily="2" charset="-122"/>
              </a:defRPr>
            </a:lvl4pPr>
            <a:lvl5pPr marL="2057400" indent="-228600">
              <a:defRPr b="1">
                <a:solidFill>
                  <a:schemeClr val="bg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9pPr>
          </a:lstStyle>
          <a:p>
            <a:pPr eaLnBrk="0" fontAlgn="base" hangingPunct="0">
              <a:spcBef>
                <a:spcPct val="0"/>
              </a:spcBef>
              <a:spcAft>
                <a:spcPct val="0"/>
              </a:spcAft>
              <a:defRPr/>
            </a:pPr>
            <a:r>
              <a:rPr lang="zh-CN" altLang="en-US" sz="3200" noProof="0" dirty="0">
                <a:ln>
                  <a:noFill/>
                </a:ln>
                <a:solidFill>
                  <a:schemeClr val="bg1">
                    <a:lumMod val="75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近期工作进展</a:t>
            </a:r>
            <a:endParaRPr kumimoji="0" lang="zh-CN" altLang="en-US" sz="3200" b="1" i="0" u="none" strike="noStrike" kern="1200" cap="none" spc="0" normalizeH="0" baseline="0" noProof="0" dirty="0">
              <a:ln>
                <a:noFill/>
              </a:ln>
              <a:solidFill>
                <a:schemeClr val="bg1">
                  <a:lumMod val="75000"/>
                </a:schemeClr>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sp>
        <p:nvSpPr>
          <p:cNvPr id="55" name="Text Box 17"/>
          <p:cNvSpPr txBox="1">
            <a:spLocks noChangeArrowheads="1"/>
          </p:cNvSpPr>
          <p:nvPr/>
        </p:nvSpPr>
        <p:spPr bwMode="auto">
          <a:xfrm>
            <a:off x="4817562" y="5485397"/>
            <a:ext cx="5284018"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bg1"/>
                </a:solidFill>
                <a:latin typeface="黑体" panose="02010609060101010101" charset="-122"/>
                <a:ea typeface="宋体" panose="02010600030101010101" pitchFamily="2" charset="-122"/>
              </a:defRPr>
            </a:lvl1pPr>
            <a:lvl2pPr marL="742950" indent="-285750">
              <a:defRPr b="1">
                <a:solidFill>
                  <a:schemeClr val="bg1"/>
                </a:solidFill>
                <a:latin typeface="黑体" panose="02010609060101010101" charset="-122"/>
                <a:ea typeface="宋体" panose="02010600030101010101" pitchFamily="2" charset="-122"/>
              </a:defRPr>
            </a:lvl2pPr>
            <a:lvl3pPr marL="1143000" indent="-228600">
              <a:defRPr b="1">
                <a:solidFill>
                  <a:schemeClr val="bg1"/>
                </a:solidFill>
                <a:latin typeface="黑体" panose="02010609060101010101" charset="-122"/>
                <a:ea typeface="宋体" panose="02010600030101010101" pitchFamily="2" charset="-122"/>
              </a:defRPr>
            </a:lvl3pPr>
            <a:lvl4pPr marL="1600200" indent="-228600">
              <a:defRPr b="1">
                <a:solidFill>
                  <a:schemeClr val="bg1"/>
                </a:solidFill>
                <a:latin typeface="黑体" panose="02010609060101010101" charset="-122"/>
                <a:ea typeface="宋体" panose="02010600030101010101" pitchFamily="2" charset="-122"/>
              </a:defRPr>
            </a:lvl4pPr>
            <a:lvl5pPr marL="2057400" indent="-228600">
              <a:defRPr b="1">
                <a:solidFill>
                  <a:schemeClr val="bg1"/>
                </a:solidFill>
                <a:latin typeface="黑体" panose="02010609060101010101"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charset="-122"/>
                <a:ea typeface="宋体" panose="02010600030101010101" pitchFamily="2" charset="-122"/>
              </a:defRPr>
            </a:lvl9pPr>
          </a:lstStyle>
          <a:p>
            <a:pPr eaLnBrk="0" fontAlgn="base" hangingPunct="0">
              <a:spcBef>
                <a:spcPct val="0"/>
              </a:spcBef>
              <a:spcAft>
                <a:spcPct val="0"/>
              </a:spcAft>
              <a:defRPr/>
            </a:pPr>
            <a:r>
              <a:rPr lang="zh-CN" altLang="en-US" sz="320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rPr>
              <a:t>下一步工作计划</a:t>
            </a:r>
            <a:endParaRPr lang="zh-CN" altLang="en-US" sz="320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sym typeface="+mn-ea"/>
            </a:endParaRPr>
          </a:p>
        </p:txBody>
      </p:sp>
      <p:grpSp>
        <p:nvGrpSpPr>
          <p:cNvPr id="65" name="组合 64"/>
          <p:cNvGrpSpPr/>
          <p:nvPr/>
        </p:nvGrpSpPr>
        <p:grpSpPr>
          <a:xfrm>
            <a:off x="2760720" y="774153"/>
            <a:ext cx="6670560" cy="1374579"/>
            <a:chOff x="2790024" y="149517"/>
            <a:chExt cx="6670560" cy="1374579"/>
          </a:xfrm>
        </p:grpSpPr>
        <p:sp>
          <p:nvSpPr>
            <p:cNvPr id="66" name="标题 1"/>
            <p:cNvSpPr txBox="1"/>
            <p:nvPr/>
          </p:nvSpPr>
          <p:spPr>
            <a:xfrm>
              <a:off x="4722148" y="149517"/>
              <a:ext cx="2743200" cy="1217930"/>
            </a:xfrm>
            <a:prstGeom prst="rect">
              <a:avLst/>
            </a:prstGeom>
            <a:noFill/>
            <a:ln>
              <a:noFill/>
            </a:ln>
          </p:spPr>
          <p:txBody>
            <a:bodyPr vert="horz" wrap="none" lIns="0" tIns="0" rIns="0" bIns="0" rtlCol="0" anchor="t">
              <a:spAutoFit/>
            </a:bodyPr>
            <a:lstStyle/>
            <a:p>
              <a:pPr marL="0" marR="0" lvl="0" indent="0" algn="l" defTabSz="914400" eaLnBrk="1" fontAlgn="auto" latinLnBrk="0" hangingPunct="1">
                <a:lnSpc>
                  <a:spcPct val="110000"/>
                </a:lnSpc>
                <a:spcBef>
                  <a:spcPts val="0"/>
                </a:spcBef>
                <a:spcAft>
                  <a:spcPts val="0"/>
                </a:spcAft>
                <a:buClrTx/>
                <a:buSzTx/>
                <a:buFontTx/>
                <a:buNone/>
                <a:defRPr/>
              </a:pPr>
              <a:r>
                <a:rPr kumimoji="1" lang="en-US" altLang="zh-CN" sz="5400" kern="0" noProof="0" dirty="0" err="1">
                  <a:ln w="12700">
                    <a:noFill/>
                  </a:ln>
                  <a:solidFill>
                    <a:prstClr val="white"/>
                  </a:solidFill>
                  <a:effectLst/>
                  <a:uLnTx/>
                  <a:uFillTx/>
                  <a:latin typeface="+mj-ea"/>
                  <a:ea typeface="+mj-ea"/>
                  <a:cs typeface="OPPOSans H"/>
                  <a:sym typeface="+mn-ea"/>
                </a:rPr>
                <a:t>汇报</a:t>
              </a:r>
              <a:r>
                <a:rPr kumimoji="1" lang="zh-CN" altLang="en-US" sz="5400" kern="0" noProof="0" dirty="0" err="1">
                  <a:ln w="12700">
                    <a:noFill/>
                  </a:ln>
                  <a:solidFill>
                    <a:prstClr val="white"/>
                  </a:solidFill>
                  <a:effectLst/>
                  <a:uLnTx/>
                  <a:uFillTx/>
                  <a:latin typeface="+mj-ea"/>
                  <a:ea typeface="+mj-ea"/>
                  <a:cs typeface="OPPOSans H"/>
                  <a:sym typeface="+mn-ea"/>
                </a:rPr>
                <a:t>提纲</a:t>
              </a:r>
              <a:endParaRPr kumimoji="0" lang="zh-CN" altLang="en-US" b="1" i="0" u="none" strike="noStrike" kern="1200" cap="none" spc="0" normalizeH="0" baseline="0" noProof="0" dirty="0">
                <a:ln>
                  <a:noFill/>
                </a:ln>
                <a:solidFill>
                  <a:srgbClr val="2B4663"/>
                </a:solidFill>
                <a:effectLst>
                  <a:outerShdw blurRad="38100" dist="19050" dir="2700000" algn="tl" rotWithShape="0">
                    <a:srgbClr val="000000">
                      <a:alpha val="40000"/>
                    </a:srgbClr>
                  </a:outerShdw>
                </a:effectLst>
                <a:uLnTx/>
                <a:uFillTx/>
                <a:latin typeface="Arial" panose="020B0604020202020204" pitchFamily="34" charset="0"/>
                <a:ea typeface="微软雅黑" panose="020B0503020204020204" pitchFamily="34" charset="-122"/>
                <a:cs typeface="Arial" panose="020B0604020202020204" pitchFamily="34" charset="0"/>
                <a:sym typeface="+mn-ea"/>
              </a:endParaRPr>
            </a:p>
            <a:p>
              <a:pPr marL="0" marR="0" lvl="0" indent="0" defTabSz="914400" eaLnBrk="1" fontAlgn="auto" latinLnBrk="0" hangingPunct="1">
                <a:lnSpc>
                  <a:spcPct val="11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prstClr val="white"/>
                </a:solidFill>
                <a:effectLst/>
                <a:uLnTx/>
                <a:uFillTx/>
                <a:latin typeface="+mj-ea"/>
                <a:ea typeface="+mj-ea"/>
              </a:endParaRPr>
            </a:p>
          </p:txBody>
        </p:sp>
        <p:sp>
          <p:nvSpPr>
            <p:cNvPr id="67" name="标题 1"/>
            <p:cNvSpPr txBox="1"/>
            <p:nvPr/>
          </p:nvSpPr>
          <p:spPr>
            <a:xfrm>
              <a:off x="5046674" y="958946"/>
              <a:ext cx="309880" cy="565150"/>
            </a:xfrm>
            <a:prstGeom prst="rect">
              <a:avLst/>
            </a:prstGeom>
            <a:noFill/>
            <a:ln>
              <a:noFill/>
            </a:ln>
          </p:spPr>
          <p:txBody>
            <a:bodyPr vert="horz" wrap="none" lIns="91440" tIns="45720" rIns="91440" bIns="45720" rtlCol="0" anchor="t">
              <a:spAutoFit/>
            </a:bodyPr>
            <a:lstStyle/>
            <a:p>
              <a:pPr marL="0" marR="0" lvl="0" indent="0" defTabSz="914400" eaLnBrk="1" fontAlgn="auto" latinLnBrk="0" hangingPunct="1">
                <a:lnSpc>
                  <a:spcPct val="110000"/>
                </a:lnSpc>
                <a:spcBef>
                  <a:spcPts val="0"/>
                </a:spcBef>
                <a:spcAft>
                  <a:spcPts val="0"/>
                </a:spcAft>
                <a:buClrTx/>
                <a:buSzTx/>
                <a:buFontTx/>
                <a:buNone/>
                <a:defRPr/>
              </a:pPr>
              <a:endParaRPr kumimoji="1" lang="zh-CN" altLang="en-US" sz="2800" b="0" i="0" u="none" strike="noStrike" kern="0" cap="none" spc="0" normalizeH="0" baseline="0" noProof="0" dirty="0">
                <a:ln>
                  <a:noFill/>
                </a:ln>
                <a:solidFill>
                  <a:prstClr val="white"/>
                </a:solidFill>
                <a:effectLst/>
                <a:uLnTx/>
                <a:uFillTx/>
                <a:latin typeface="+mj-lt"/>
                <a:ea typeface="等线" panose="02010600030101010101" pitchFamily="2" charset="-122"/>
              </a:endParaRPr>
            </a:p>
          </p:txBody>
        </p:sp>
        <p:cxnSp>
          <p:nvCxnSpPr>
            <p:cNvPr id="68" name="标题 1"/>
            <p:cNvCxnSpPr/>
            <p:nvPr/>
          </p:nvCxnSpPr>
          <p:spPr>
            <a:xfrm>
              <a:off x="3637425" y="528615"/>
              <a:ext cx="790688" cy="0"/>
            </a:xfrm>
            <a:prstGeom prst="line">
              <a:avLst/>
            </a:prstGeom>
            <a:noFill/>
            <a:ln w="6350" cap="sq">
              <a:solidFill>
                <a:sysClr val="window" lastClr="FFFFFF"/>
              </a:solidFill>
              <a:miter/>
            </a:ln>
          </p:spPr>
        </p:cxnSp>
        <p:cxnSp>
          <p:nvCxnSpPr>
            <p:cNvPr id="69" name="标题 1"/>
            <p:cNvCxnSpPr/>
            <p:nvPr/>
          </p:nvCxnSpPr>
          <p:spPr>
            <a:xfrm>
              <a:off x="2790024" y="687946"/>
              <a:ext cx="1884026" cy="0"/>
            </a:xfrm>
            <a:prstGeom prst="line">
              <a:avLst/>
            </a:prstGeom>
            <a:noFill/>
            <a:ln w="6350" cap="sq">
              <a:solidFill>
                <a:sysClr val="window" lastClr="FFFFFF"/>
              </a:solidFill>
              <a:miter/>
            </a:ln>
          </p:spPr>
        </p:cxnSp>
        <p:cxnSp>
          <p:nvCxnSpPr>
            <p:cNvPr id="70" name="标题 1"/>
            <p:cNvCxnSpPr/>
            <p:nvPr/>
          </p:nvCxnSpPr>
          <p:spPr>
            <a:xfrm flipH="1">
              <a:off x="7712005" y="528615"/>
              <a:ext cx="790688" cy="0"/>
            </a:xfrm>
            <a:prstGeom prst="line">
              <a:avLst/>
            </a:prstGeom>
            <a:noFill/>
            <a:ln w="6350" cap="sq">
              <a:solidFill>
                <a:sysClr val="window" lastClr="FFFFFF"/>
              </a:solidFill>
              <a:miter/>
            </a:ln>
          </p:spPr>
        </p:cxnSp>
        <p:cxnSp>
          <p:nvCxnSpPr>
            <p:cNvPr id="71" name="标题 1"/>
            <p:cNvCxnSpPr/>
            <p:nvPr/>
          </p:nvCxnSpPr>
          <p:spPr>
            <a:xfrm flipH="1">
              <a:off x="7576558" y="687946"/>
              <a:ext cx="1884026" cy="0"/>
            </a:xfrm>
            <a:prstGeom prst="line">
              <a:avLst/>
            </a:prstGeom>
            <a:noFill/>
            <a:ln w="6350" cap="sq">
              <a:solidFill>
                <a:sysClr val="window" lastClr="FFFFFF"/>
              </a:solidFill>
              <a:miter/>
            </a:ln>
          </p:spPr>
        </p:cxn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5043" y="328398"/>
            <a:ext cx="3032125"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005699"/>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下一步工作计划</a:t>
            </a:r>
            <a:endParaRPr kumimoji="0" lang="zh-CN" altLang="en-US" sz="3200" b="1" i="0" u="none" strike="noStrike" kern="1200" cap="none" spc="0" normalizeH="0" baseline="0" noProof="0" dirty="0">
              <a:ln>
                <a:noFill/>
              </a:ln>
              <a:solidFill>
                <a:srgbClr val="005699"/>
              </a:solidFill>
              <a:effectLst/>
              <a:uLnTx/>
              <a:uFillTx/>
              <a:latin typeface="微软雅黑" panose="020B0503020204020204" pitchFamily="34" charset="-122"/>
              <a:ea typeface="微软雅黑" panose="020B0503020204020204" pitchFamily="34" charset="-122"/>
              <a:cs typeface="+mn-cs"/>
            </a:endParaRPr>
          </a:p>
        </p:txBody>
      </p:sp>
      <p:sp>
        <p:nvSpPr>
          <p:cNvPr id="6" name="object 11"/>
          <p:cNvSpPr txBox="1"/>
          <p:nvPr>
            <p:custDataLst>
              <p:tags r:id="rId1"/>
            </p:custDataLst>
          </p:nvPr>
        </p:nvSpPr>
        <p:spPr>
          <a:xfrm>
            <a:off x="314071" y="1038207"/>
            <a:ext cx="11678637" cy="5795946"/>
          </a:xfrm>
          <a:prstGeom prst="rect">
            <a:avLst/>
          </a:prstGeom>
          <a:solidFill>
            <a:schemeClr val="bg1"/>
          </a:solidFill>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、推进中期考核前交付指标落实</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1" fontAlgn="auto" latinLnBrk="0" hangingPunct="1">
              <a:lnSpc>
                <a:spcPct val="150000"/>
              </a:lnSpc>
              <a:spcBef>
                <a:spcPts val="0"/>
              </a:spcBef>
              <a:spcAft>
                <a:spcPts val="120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按要求完成论文、专利等</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11</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月中期考核指标任务</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、持续推进任务</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中数据分类分级、任务</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中数据泄露风险评估等研究工作</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1" fontAlgn="auto" latinLnBrk="0" hangingPunct="1">
              <a:lnSpc>
                <a:spcPct val="150000"/>
              </a:lnSpc>
              <a:spcBef>
                <a:spcPts val="0"/>
              </a:spcBef>
              <a:spcAft>
                <a:spcPts val="120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在分类分级方面，基于项目研究成果，分析</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南方电网公司数据开放目录（第二批）</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中可能公开但存在推断威胁的数据项。在风险评估方面，识别哪些数据泄露后可能被用于推断敏感信息，并评估其对电网安全运行和精准攻击支撑等方面的潜在影响</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solidFill>
                  <a:srgbClr val="000000"/>
                </a:solidFill>
                <a:cs typeface="Times New Roman" panose="02020603050405020304" pitchFamily="18" charset="0"/>
              </a:rPr>
              <a:t>验证数据协调获取</a:t>
            </a:r>
            <a:endParaRPr lang="en-US" altLang="zh-CN" sz="2400" b="1" dirty="0">
              <a:solidFill>
                <a:srgbClr val="000000"/>
              </a:solidFill>
              <a:cs typeface="Times New Roman" panose="02020603050405020304" pitchFamily="18" charset="0"/>
            </a:endParaRPr>
          </a:p>
          <a:p>
            <a:pPr indent="457200">
              <a:lnSpc>
                <a:spcPct val="150000"/>
              </a:lnSpc>
              <a:spcAft>
                <a:spcPts val="1200"/>
              </a:spcAft>
              <a:defRPr/>
            </a:pPr>
            <a:r>
              <a:rPr lang="zh-CN" altLang="en-US" sz="2400" dirty="0">
                <a:solidFill>
                  <a:srgbClr val="000000"/>
                </a:solidFill>
                <a:latin typeface="Times New Roman" panose="02020603050405020304" pitchFamily="18" charset="0"/>
                <a:cs typeface="Times New Roman" panose="02020603050405020304" pitchFamily="18" charset="0"/>
              </a:rPr>
              <a:t>梳理项目所需数据清单及用途，主动与相关单位对接，提出数据申请需求，推动电网拓扑、线路参数、节点电价、线路阻塞及运行量测等数据的协调提供，为研究验证工作提供支撑</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1454963" y="1927803"/>
            <a:ext cx="9396184" cy="186118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11500" b="1" dirty="0">
                <a:gradFill flip="none" rotWithShape="1">
                  <a:gsLst>
                    <a:gs pos="0">
                      <a:srgbClr val="FFC000">
                        <a:lumMod val="60000"/>
                        <a:lumOff val="40000"/>
                      </a:srgbClr>
                    </a:gs>
                    <a:gs pos="100000">
                      <a:prstClr val="white"/>
                    </a:gs>
                  </a:gsLst>
                  <a:lin ang="5400000" scaled="1"/>
                  <a:tileRect/>
                </a:gradFill>
                <a:latin typeface="华文新魏" panose="02010800040101010101" pitchFamily="2" charset="-122"/>
                <a:ea typeface="华文新魏" panose="02010800040101010101" pitchFamily="2" charset="-122"/>
                <a:cs typeface="Times New Roman" panose="02020603050405020304" pitchFamily="18" charset="0"/>
              </a:rPr>
              <a:t>谢谢大家</a:t>
            </a:r>
            <a:endParaRPr kumimoji="1" lang="zh-CN" altLang="zh-CN" sz="7200" b="1" i="0" u="none" strike="noStrike" kern="1200" cap="none" spc="0" normalizeH="0" baseline="0" noProof="0" dirty="0">
              <a:ln>
                <a:noFill/>
              </a:ln>
              <a:gradFill flip="none" rotWithShape="1">
                <a:gsLst>
                  <a:gs pos="0">
                    <a:srgbClr val="FFC000">
                      <a:lumMod val="60000"/>
                      <a:lumOff val="40000"/>
                    </a:srgbClr>
                  </a:gs>
                  <a:gs pos="100000">
                    <a:prstClr val="white"/>
                  </a:gs>
                </a:gsLst>
                <a:lin ang="5400000" scaled="1"/>
                <a:tileRect/>
              </a:gra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 name="Picture 2" descr="http://vi.xjtu.edu.cn/images/a4-5xbwhit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65576" y="855825"/>
            <a:ext cx="2060848" cy="5519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DIAGRAM_VIRTUALLY_FRAME" val="{&quot;height&quot;:313.6377952755905,&quot;left&quot;:49.34047244094488,&quot;top&quot;:165.18771653543305,&quot;width&quot;:518.1815748031496}"/>
</p:tagLst>
</file>

<file path=ppt/tags/tag16.xml><?xml version="1.0" encoding="utf-8"?>
<p:tagLst xmlns:p="http://schemas.openxmlformats.org/presentationml/2006/main">
  <p:tag name="KSO_WM_DIAGRAM_VIRTUALLY_FRAME" val="{&quot;height&quot;:313.6377952755905,&quot;left&quot;:49.34047244094488,&quot;top&quot;:165.18771653543305,&quot;width&quot;:518.1815748031496}"/>
</p:tagLst>
</file>

<file path=ppt/tags/tag17.xml><?xml version="1.0" encoding="utf-8"?>
<p:tagLst xmlns:p="http://schemas.openxmlformats.org/presentationml/2006/main">
  <p:tag name="KSO_WM_DIAGRAM_VIRTUALLY_FRAME" val="{&quot;height&quot;:313.6377952755905,&quot;left&quot;:49.34047244094488,&quot;top&quot;:165.18771653543305,&quot;width&quot;:518.1815748031496}"/>
</p:tagLst>
</file>

<file path=ppt/tags/tag18.xml><?xml version="1.0" encoding="utf-8"?>
<p:tagLst xmlns:p="http://schemas.openxmlformats.org/presentationml/2006/main">
  <p:tag name="KSO_WM_DIAGRAM_VIRTUALLY_FRAME" val="{&quot;height&quot;:313.6377952755905,&quot;left&quot;:49.34047244094488,&quot;top&quot;:165.18771653543305,&quot;width&quot;:518.1815748031496}"/>
</p:tagLst>
</file>

<file path=ppt/tags/tag19.xml><?xml version="1.0" encoding="utf-8"?>
<p:tagLst xmlns:p="http://schemas.openxmlformats.org/presentationml/2006/main">
  <p:tag name="KSO_WM_DIAGRAM_VIRTUALLY_FRAME" val="{&quot;height&quot;:313.6377952755905,&quot;left&quot;:49.34047244094488,&quot;top&quot;:165.18771653543305,&quot;width&quot;:518.1815748031496}"/>
</p:tagLst>
</file>

<file path=ppt/tags/tag20.xml><?xml version="1.0" encoding="utf-8"?>
<p:tagLst xmlns:p="http://schemas.openxmlformats.org/presentationml/2006/main">
  <p:tag name="KSO_WM_DIAGRAM_VIRTUALLY_FRAME" val="{&quot;height&quot;:313.6377952755905,&quot;left&quot;:49.34047244094488,&quot;top&quot;:165.18771653543305,&quot;width&quot;:518.1815748031496}"/>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微软雅黑"/>
        <a:cs typeface=""/>
      </a:majorFont>
      <a:minorFont>
        <a:latin typeface="Arial Black"/>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8787</Words>
  <Application>WPS 演示</Application>
  <PresentationFormat>宽屏</PresentationFormat>
  <Paragraphs>1153</Paragraphs>
  <Slides>40</Slides>
  <Notes>0</Notes>
  <HiddenSlides>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67" baseType="lpstr">
      <vt:lpstr>Arial</vt:lpstr>
      <vt:lpstr>宋体</vt:lpstr>
      <vt:lpstr>Wingdings</vt:lpstr>
      <vt:lpstr>Times New Roman</vt:lpstr>
      <vt:lpstr>微软雅黑</vt:lpstr>
      <vt:lpstr>方正公文小标宋</vt:lpstr>
      <vt:lpstr>字魂59号-创粗黑</vt:lpstr>
      <vt:lpstr>黑体</vt:lpstr>
      <vt:lpstr>OPPOSans H</vt:lpstr>
      <vt:lpstr>等线</vt:lpstr>
      <vt:lpstr>Calibri</vt:lpstr>
      <vt:lpstr>Arial</vt:lpstr>
      <vt:lpstr>Wingdings</vt:lpstr>
      <vt:lpstr>Calibri</vt:lpstr>
      <vt:lpstr>Cambria Math</vt:lpstr>
      <vt:lpstr>KSOF81EDA403</vt:lpstr>
      <vt:lpstr>Liberation Mono</vt:lpstr>
      <vt:lpstr>Arial Unicode MS</vt:lpstr>
      <vt:lpstr>Times New Roman</vt:lpstr>
      <vt:lpstr>华文新魏</vt:lpstr>
      <vt:lpstr>Arial Black</vt:lpstr>
      <vt:lpstr>OPPOSans H</vt:lpstr>
      <vt:lpstr>字魂59号-创粗黑</vt:lpstr>
      <vt:lpstr>方正公文小标宋</vt:lpstr>
      <vt:lpstr>字魂创粗黑</vt:lpstr>
      <vt:lpstr>Office 主题​​</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Taniaq</dc:creator>
  <cp:lastModifiedBy>19838166939</cp:lastModifiedBy>
  <cp:revision>24</cp:revision>
  <dcterms:created xsi:type="dcterms:W3CDTF">2026-07-29T13:00:00Z</dcterms:created>
  <dcterms:modified xsi:type="dcterms:W3CDTF">2026-10-07T14:37:12Z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EE2854C3C820488F92C8721B51CDB94C_13</vt:lpwstr>
  </property>
</Properties>
</file>