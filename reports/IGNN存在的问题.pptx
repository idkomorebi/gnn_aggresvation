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43" r:id="rId3"/>
    <p:sldId id="344" r:id="rId4"/>
    <p:sldId id="345" r:id="rId5"/>
    <p:sldId id="346" r:id="rId6"/>
    <p:sldId id="347" r:id="rId7"/>
    <p:sldId id="348" r:id="rId8"/>
    <p:sldId id="34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32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696000" y="1014463"/>
            <a:ext cx="10800000" cy="0"/>
          </a:xfrm>
          <a:prstGeom prst="line">
            <a:avLst/>
          </a:prstGeom>
          <a:ln w="12700">
            <a:solidFill>
              <a:srgbClr val="3B46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3797" y="367263"/>
            <a:ext cx="2112253" cy="565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510" y="209550"/>
            <a:ext cx="8759825" cy="6718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IGNN</a:t>
            </a: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407285" y="1414145"/>
            <a:ext cx="6409055" cy="3622675"/>
            <a:chOff x="2309" y="1927"/>
            <a:chExt cx="11788" cy="64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09" y="1927"/>
              <a:ext cx="11788" cy="6458"/>
            </a:xfrm>
            <a:prstGeom prst="rect">
              <a:avLst/>
            </a:prstGeom>
          </p:spPr>
        </p:pic>
        <p:sp>
          <p:nvSpPr>
            <p:cNvPr id="20" name="矩形 19"/>
            <p:cNvSpPr/>
            <p:nvPr/>
          </p:nvSpPr>
          <p:spPr>
            <a:xfrm>
              <a:off x="2618" y="2113"/>
              <a:ext cx="5067" cy="2644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7774" y="2113"/>
              <a:ext cx="5712" cy="2645"/>
            </a:xfrm>
            <a:prstGeom prst="rect">
              <a:avLst/>
            </a:prstGeom>
            <a:ln w="317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405" y="5170"/>
              <a:ext cx="8080" cy="2288"/>
            </a:xfrm>
            <a:prstGeom prst="rect">
              <a:avLst/>
            </a:prstGeom>
            <a:ln w="31750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Text 5"/>
          <p:cNvSpPr/>
          <p:nvPr/>
        </p:nvSpPr>
        <p:spPr>
          <a:xfrm>
            <a:off x="387985" y="1692910"/>
            <a:ext cx="2353310" cy="5899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Stage I：</a:t>
            </a:r>
            <a:r>
              <a:rPr lang="zh-CN" altLang="en-US" sz="1600" b="1" dirty="0">
                <a:solidFill>
                  <a:srgbClr val="FF0000"/>
                </a:solidFill>
              </a:rPr>
              <a:t>敏感度标定</a:t>
            </a:r>
            <a:endParaRPr lang="zh-CN" altLang="en-US" sz="1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FF0000"/>
                </a:solidFill>
              </a:rPr>
              <a:t>敏感</a:t>
            </a:r>
            <a:r>
              <a:rPr lang="en-US" altLang="zh-CN" sz="1600" b="1" dirty="0">
                <a:solidFill>
                  <a:srgbClr val="FF0000"/>
                </a:solidFill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</a:rPr>
              <a:t>一般（</a:t>
            </a:r>
            <a:r>
              <a:rPr lang="en-US" altLang="zh-CN" sz="1600" b="1" dirty="0">
                <a:solidFill>
                  <a:srgbClr val="FF0000"/>
                </a:solidFill>
              </a:rPr>
              <a:t>1/AHP</a:t>
            </a:r>
            <a:r>
              <a:rPr lang="zh-CN" altLang="en-US" sz="1600" b="1" dirty="0">
                <a:solidFill>
                  <a:srgbClr val="FF0000"/>
                </a:solidFill>
              </a:rPr>
              <a:t>标定）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Text 5"/>
          <p:cNvSpPr/>
          <p:nvPr/>
        </p:nvSpPr>
        <p:spPr>
          <a:xfrm>
            <a:off x="8707120" y="1414145"/>
            <a:ext cx="3484880" cy="111633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Stage II：</a:t>
            </a:r>
            <a:r>
              <a:rPr lang="zh-CN" altLang="en-US" sz="1600" b="1" dirty="0">
                <a:solidFill>
                  <a:schemeClr val="accent2"/>
                </a:solidFill>
              </a:rPr>
              <a:t>显式</a:t>
            </a:r>
            <a:r>
              <a:rPr lang="en-US" altLang="zh-CN" sz="1600" b="1" dirty="0">
                <a:solidFill>
                  <a:schemeClr val="accent2"/>
                </a:solidFill>
              </a:rPr>
              <a:t>/</a:t>
            </a:r>
            <a:r>
              <a:rPr lang="zh-CN" altLang="en-US" sz="1600" b="1" dirty="0">
                <a:solidFill>
                  <a:schemeClr val="accent2"/>
                </a:solidFill>
              </a:rPr>
              <a:t>隐式关系</a:t>
            </a:r>
            <a:endParaRPr lang="zh-CN" altLang="en-US" sz="16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zh-CN" sz="1400" b="1" dirty="0">
                <a:solidFill>
                  <a:schemeClr val="accent2"/>
                </a:solidFill>
              </a:rPr>
              <a:t>(</a:t>
            </a:r>
            <a:r>
              <a:rPr lang="zh-CN" altLang="en-US" sz="1400" b="1" dirty="0">
                <a:solidFill>
                  <a:schemeClr val="accent2"/>
                </a:solidFill>
              </a:rPr>
              <a:t>单向边</a:t>
            </a:r>
            <a:r>
              <a:rPr lang="en-US" altLang="zh-CN" sz="1400" b="1" dirty="0">
                <a:solidFill>
                  <a:schemeClr val="accent2"/>
                </a:solidFill>
              </a:rPr>
              <a:t>-</a:t>
            </a:r>
            <a:r>
              <a:rPr lang="zh-CN" altLang="en-US" sz="1400" b="1" dirty="0">
                <a:solidFill>
                  <a:schemeClr val="accent2"/>
                </a:solidFill>
              </a:rPr>
              <a:t>边权</a:t>
            </a:r>
            <a:r>
              <a:rPr lang="en-US" altLang="zh-CN" sz="1400" b="1" dirty="0">
                <a:solidFill>
                  <a:schemeClr val="accent2"/>
                </a:solidFill>
              </a:rPr>
              <a:t>1/</a:t>
            </a:r>
            <a:r>
              <a:rPr lang="zh-CN" altLang="en-US" sz="1400" b="1" dirty="0">
                <a:solidFill>
                  <a:schemeClr val="accent2"/>
                </a:solidFill>
              </a:rPr>
              <a:t>双向边</a:t>
            </a:r>
            <a:r>
              <a:rPr lang="en-US" altLang="zh-CN" sz="1400" b="1" dirty="0">
                <a:solidFill>
                  <a:schemeClr val="accent2"/>
                </a:solidFill>
              </a:rPr>
              <a:t>-</a:t>
            </a:r>
            <a:r>
              <a:rPr lang="zh-CN" altLang="en-US" sz="1400" b="1" dirty="0">
                <a:solidFill>
                  <a:schemeClr val="accent2"/>
                </a:solidFill>
              </a:rPr>
              <a:t>边权由相关系数决定</a:t>
            </a:r>
            <a:r>
              <a:rPr lang="en-US" altLang="zh-CN" sz="1400" b="1" dirty="0">
                <a:solidFill>
                  <a:schemeClr val="accent2"/>
                </a:solidFill>
              </a:rPr>
              <a:t>)</a:t>
            </a:r>
            <a:endParaRPr lang="en-US" altLang="zh-CN" sz="1400" b="1" dirty="0">
              <a:solidFill>
                <a:schemeClr val="accent2"/>
              </a:solidFill>
            </a:endParaRPr>
          </a:p>
        </p:txBody>
      </p:sp>
      <p:sp>
        <p:nvSpPr>
          <p:cNvPr id="19" name="Text 9"/>
          <p:cNvSpPr/>
          <p:nvPr/>
        </p:nvSpPr>
        <p:spPr>
          <a:xfrm>
            <a:off x="2407285" y="5470525"/>
            <a:ext cx="6877685" cy="7797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</a:rPr>
              <a:t>Stage III：</a:t>
            </a:r>
            <a:r>
              <a:rPr lang="zh-CN" altLang="en-US" sz="1600" b="1" dirty="0">
                <a:solidFill>
                  <a:schemeClr val="accent4">
                    <a:lumMod val="50000"/>
                  </a:schemeClr>
                </a:solidFill>
              </a:rPr>
              <a:t>初始敏感度为节点特征，图聚合之后用敏感节点的敏感度保持</a:t>
            </a:r>
            <a:r>
              <a:rPr lang="en-US" altLang="zh-CN" sz="1600" b="1" dirty="0">
                <a:solidFill>
                  <a:schemeClr val="accent4">
                    <a:lumMod val="50000"/>
                  </a:schemeClr>
                </a:solidFill>
              </a:rPr>
              <a:t>=1</a:t>
            </a:r>
            <a:r>
              <a:rPr lang="zh-CN" altLang="en-US" sz="1600" b="1" dirty="0">
                <a:solidFill>
                  <a:schemeClr val="accent4">
                    <a:lumMod val="50000"/>
                  </a:schemeClr>
                </a:solidFill>
              </a:rPr>
              <a:t>进行监督训练</a:t>
            </a:r>
            <a:endParaRPr lang="zh-CN" altLang="en-US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510" y="209550"/>
            <a:ext cx="8759825" cy="6718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IGNN</a:t>
            </a: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结构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Shape 4"/>
          <p:cNvSpPr/>
          <p:nvPr/>
        </p:nvSpPr>
        <p:spPr>
          <a:xfrm>
            <a:off x="868680" y="1737360"/>
            <a:ext cx="4528185" cy="3576955"/>
          </a:xfrm>
          <a:prstGeom prst="roundRect">
            <a:avLst>
              <a:gd name="adj" fmla="val 6400"/>
            </a:avLst>
          </a:prstGeom>
          <a:solidFill>
            <a:srgbClr val="F8FAFF"/>
          </a:solidFill>
          <a:ln w="12700">
            <a:solidFill>
              <a:srgbClr val="D8E4F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4" name="Text 5"/>
          <p:cNvSpPr/>
          <p:nvPr/>
        </p:nvSpPr>
        <p:spPr>
          <a:xfrm>
            <a:off x="1069848" y="1901952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800" b="1" dirty="0">
                <a:solidFill>
                  <a:srgbClr val="111111"/>
                </a:solidFill>
              </a:rPr>
              <a:t>普通GAT</a:t>
            </a:r>
            <a:endParaRPr lang="en-US" sz="1800" b="1" dirty="0">
              <a:solidFill>
                <a:srgbClr val="111111"/>
              </a:solidFill>
            </a:endParaRPr>
          </a:p>
        </p:txBody>
      </p:sp>
      <p:sp>
        <p:nvSpPr>
          <p:cNvPr id="16" name="Text 6"/>
          <p:cNvSpPr/>
          <p:nvPr/>
        </p:nvSpPr>
        <p:spPr>
          <a:xfrm>
            <a:off x="1069848" y="2286000"/>
            <a:ext cx="3026664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5901690" y="1737360"/>
            <a:ext cx="5619750" cy="4439920"/>
          </a:xfrm>
          <a:prstGeom prst="roundRect">
            <a:avLst>
              <a:gd name="adj" fmla="val 6400"/>
            </a:avLst>
          </a:prstGeom>
          <a:solidFill>
            <a:srgbClr val="F8FAFF"/>
          </a:solidFill>
          <a:ln w="12700">
            <a:solidFill>
              <a:srgbClr val="D8E4FF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8293608" y="1901952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IGNN</a:t>
            </a:r>
            <a:endParaRPr lang="en-US" sz="18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9340"/>
            <a:ext cx="4476115" cy="24511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690" y="2286000"/>
            <a:ext cx="5619750" cy="263842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6213475" y="5118735"/>
            <a:ext cx="51066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rgbClr val="4B5563"/>
                </a:solidFill>
              </a:rPr>
              <a:t>IGNN 强制特征聚合必须遵循 LMM 模型推导出的物理推理因果关系。这确保风险传播由数据的实际可推断性所决定，而非偶然的统计相似性</a:t>
            </a:r>
            <a:endParaRPr lang="en-US" dirty="0">
              <a:solidFill>
                <a:srgbClr val="4B5563"/>
              </a:solidFill>
            </a:endParaRPr>
          </a:p>
        </p:txBody>
      </p:sp>
      <p:sp>
        <p:nvSpPr>
          <p:cNvPr id="35" name="Text 9"/>
          <p:cNvSpPr/>
          <p:nvPr/>
        </p:nvSpPr>
        <p:spPr>
          <a:xfrm>
            <a:off x="934085" y="1078865"/>
            <a:ext cx="6877685" cy="62547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α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</a:rPr>
              <a:t>为（节点</a:t>
            </a:r>
            <a:r>
              <a:rPr lang="en-US" altLang="zh-CN" b="1" dirty="0">
                <a:solidFill>
                  <a:schemeClr val="accent4">
                    <a:lumMod val="50000"/>
                  </a:schemeClr>
                </a:solidFill>
              </a:rPr>
              <a:t>i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</a:rPr>
              <a:t>和周围节点的）注意力分数</a:t>
            </a:r>
            <a:endParaRPr lang="zh-CN" alt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46555" y="4324985"/>
            <a:ext cx="2152015" cy="339090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6823710" y="4404360"/>
            <a:ext cx="3295015" cy="472440"/>
          </a:xfrm>
          <a:prstGeom prst="rect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8879205" y="4432935"/>
            <a:ext cx="335280" cy="443230"/>
          </a:xfrm>
          <a:prstGeom prst="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510" y="209550"/>
            <a:ext cx="8759825" cy="6718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IGNN</a:t>
            </a: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178560"/>
            <a:ext cx="4281805" cy="2250440"/>
          </a:xfrm>
          <a:prstGeom prst="rect">
            <a:avLst/>
          </a:prstGeom>
        </p:spPr>
      </p:pic>
      <p:sp>
        <p:nvSpPr>
          <p:cNvPr id="12" name="Shape 10"/>
          <p:cNvSpPr/>
          <p:nvPr/>
        </p:nvSpPr>
        <p:spPr>
          <a:xfrm>
            <a:off x="5619750" y="1311275"/>
            <a:ext cx="4716780" cy="1873250"/>
          </a:xfrm>
          <a:prstGeom prst="roundRect">
            <a:avLst>
              <a:gd name="adj" fmla="val 6400"/>
            </a:avLst>
          </a:prstGeom>
          <a:solidFill>
            <a:srgbClr val="F8FAFF"/>
          </a:solidFill>
          <a:ln w="12700">
            <a:solidFill>
              <a:srgbClr val="D8E4F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804408" y="1524762"/>
            <a:ext cx="3026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损失函数</a:t>
            </a:r>
            <a:endParaRPr lang="en-US" sz="1800" b="1" dirty="0">
              <a:solidFill>
                <a:srgbClr val="111111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365" y="1337945"/>
            <a:ext cx="2133600" cy="6762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749925" y="2131060"/>
                <a:ext cx="5120005" cy="10534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b="1" dirty="0">
                    <a:solidFill>
                      <a:srgbClr val="C00000"/>
                    </a:solidFill>
                  </a:rPr>
                  <a:t>只对部分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dirty="0">
                            <a:solidFill>
                              <a:srgbClr val="C00000"/>
                            </a:solidFill>
                          </a:rPr>
                        </m:ctrlPr>
                      </m:sSubPr>
                      <m:e>
                        <m:r>
                          <a:rPr lang="en-US" b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b="1" dirty="0">
                            <a:solidFill>
                              <a:srgbClr val="C00000"/>
                            </a:solidFill>
                            <a:latin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进行监督训练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dirty="0">
                    <a:solidFill>
                      <a:srgbClr val="4B5563"/>
                    </a:solidFill>
                    <a:sym typeface="+mn-ea"/>
                  </a:rPr>
                  <a:t>如 </a:t>
                </a:r>
                <a:r>
                  <a:rPr lang="en-US" b="1" dirty="0">
                    <a:sym typeface="+mn-ea"/>
                  </a:rPr>
                  <a:t>confidential </a:t>
                </a:r>
                <a:r>
                  <a:rPr lang="en-US" dirty="0">
                    <a:solidFill>
                      <a:srgbClr val="4B5563"/>
                    </a:solidFill>
                    <a:sym typeface="+mn-ea"/>
                  </a:rPr>
                  <a:t>等确定敏感度字段进行监督</a:t>
                </a:r>
                <a:endParaRPr lang="en-US" dirty="0">
                  <a:solidFill>
                    <a:srgbClr val="4B5563"/>
                  </a:solidFill>
                  <a:sym typeface="+mn-ea"/>
                </a:endParaRPr>
              </a:p>
              <a:p>
                <a:endParaRPr lang="en-US" dirty="0">
                  <a:solidFill>
                    <a:srgbClr val="4B5563"/>
                  </a:solidFill>
                  <a:sym typeface="+mn-ea"/>
                </a:endParaRPr>
              </a:p>
              <a:p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925" y="2131060"/>
                <a:ext cx="5120005" cy="1053465"/>
              </a:xfrm>
              <a:prstGeom prst="rect">
                <a:avLst/>
              </a:prstGeom>
              <a:blipFill rotWithShape="1">
                <a:blip r:embed="rId3"/>
                <a:stretch>
                  <a:fillRect b="-375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3321050" y="4147820"/>
            <a:ext cx="52533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论文声称</a:t>
            </a:r>
            <a:r>
              <a:rPr lang="en-US" altLang="zh-CN" sz="2000"/>
              <a:t>general</a:t>
            </a:r>
            <a:r>
              <a:rPr lang="zh-CN" altLang="en-US" sz="2000"/>
              <a:t>节点的值为</a:t>
            </a:r>
            <a:endParaRPr lang="zh-CN" altLang="en-US" sz="2000"/>
          </a:p>
          <a:p>
            <a:r>
              <a:rPr lang="zh-CN" altLang="en-US" sz="2000">
                <a:solidFill>
                  <a:srgbClr val="C00000"/>
                </a:solidFill>
              </a:rPr>
              <a:t>初始敏感度</a:t>
            </a:r>
            <a:r>
              <a:rPr lang="zh-CN" altLang="en-US" sz="2000">
                <a:solidFill>
                  <a:schemeClr val="tx1"/>
                </a:solidFill>
              </a:rPr>
              <a:t>和</a:t>
            </a:r>
            <a:r>
              <a:rPr lang="zh-CN" altLang="en-US" sz="2000">
                <a:solidFill>
                  <a:srgbClr val="C00000"/>
                </a:solidFill>
              </a:rPr>
              <a:t>推断风险</a:t>
            </a:r>
            <a:r>
              <a:rPr lang="zh-CN" altLang="en-US" sz="2000">
                <a:solidFill>
                  <a:schemeClr val="tx1"/>
                </a:solidFill>
              </a:rPr>
              <a:t>融合后的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</a:rPr>
              <a:t>“</a:t>
            </a: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</a:rPr>
              <a:t>最终敏感度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</a:rPr>
              <a:t>”</a:t>
            </a:r>
            <a:endParaRPr lang="en-US" altLang="zh-CN" sz="2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11370" y="209550"/>
            <a:ext cx="5596255" cy="672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7030A0"/>
                </a:solidFill>
                <a:sym typeface="+mn-ea"/>
              </a:rPr>
              <a:t>监督目标退化了，只监督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confidential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节点，而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confidential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节点本来就是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1</a:t>
            </a:r>
            <a:endParaRPr lang="en-US" altLang="zh-CN" sz="2000" b="1">
              <a:solidFill>
                <a:srgbClr val="7030A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510" y="209550"/>
            <a:ext cx="8759825" cy="6718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评判标准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53125" y="615569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17</a:t>
            </a:r>
            <a:endParaRPr lang="en-US" sz="1000" dirty="0"/>
          </a:p>
        </p:txBody>
      </p:sp>
      <p:sp>
        <p:nvSpPr>
          <p:cNvPr id="22" name="文本框 21"/>
          <p:cNvSpPr txBox="1"/>
          <p:nvPr/>
        </p:nvSpPr>
        <p:spPr>
          <a:xfrm>
            <a:off x="614045" y="1552575"/>
            <a:ext cx="5517515" cy="1809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endParaRPr lang="en-US" dirty="0">
              <a:solidFill>
                <a:srgbClr val="4B5563"/>
              </a:solidFill>
              <a:sym typeface="+mn-ea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B5563"/>
                </a:solidFill>
                <a:sym typeface="+mn-ea"/>
              </a:rPr>
              <a:t>按敏感度把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sym typeface="+mn-ea"/>
              </a:rPr>
              <a:t>一般数据</a:t>
            </a:r>
            <a:r>
              <a:rPr lang="en-US" dirty="0">
                <a:solidFill>
                  <a:srgbClr val="4B5563"/>
                </a:solidFill>
                <a:sym typeface="+mn-ea"/>
              </a:rPr>
              <a:t>分为低、中、高风险三组</a:t>
            </a:r>
            <a:endParaRPr lang="en-US" dirty="0">
              <a:solidFill>
                <a:srgbClr val="4B5563"/>
              </a:solidFill>
              <a:sym typeface="+mn-ea"/>
            </a:endParaRPr>
          </a:p>
          <a:p>
            <a:pPr marL="0" indent="0">
              <a:buNone/>
            </a:pPr>
            <a:endParaRPr lang="en-US" dirty="0">
              <a:solidFill>
                <a:srgbClr val="4B5563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4B5563"/>
                </a:solidFill>
                <a:sym typeface="+mn-ea"/>
              </a:rPr>
              <a:t>再用三组作为输入去推断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敏感数据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，比较三组准确率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6990" y="1419225"/>
            <a:ext cx="5178425" cy="2710815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10440670" y="2194560"/>
            <a:ext cx="1066800" cy="1711325"/>
          </a:xfrm>
          <a:prstGeom prst="rect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77850" y="4692650"/>
            <a:ext cx="5518150" cy="1131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endParaRPr lang="en-US" dirty="0">
              <a:solidFill>
                <a:srgbClr val="4B5563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4B5563"/>
                </a:solidFill>
                <a:sym typeface="+mn-ea"/>
              </a:rPr>
              <a:t>对比实验：比较不同方法找出的高风险组推断准确率</a:t>
            </a:r>
            <a:endParaRPr lang="en-US" dirty="0">
              <a:solidFill>
                <a:srgbClr val="4B5563"/>
              </a:solidFill>
              <a:sym typeface="+mn-ea"/>
            </a:endParaRPr>
          </a:p>
          <a:p>
            <a:pPr marL="0" indent="0">
              <a:buNone/>
            </a:pPr>
            <a:endParaRPr lang="en-US" dirty="0">
              <a:solidFill>
                <a:srgbClr val="4B5563"/>
              </a:solidFill>
              <a:sym typeface="+mn-ea"/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470" y="4256405"/>
            <a:ext cx="5709920" cy="212788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526530" y="5535930"/>
            <a:ext cx="5416550" cy="229870"/>
          </a:xfrm>
          <a:prstGeom prst="rect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510" y="209550"/>
            <a:ext cx="8759825" cy="6718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消融实验和鲁棒性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1475" y="1183005"/>
            <a:ext cx="5517515" cy="118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1.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消融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AHP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模块：设定敏感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=1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，一般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=0.5</a:t>
            </a:r>
            <a:endParaRPr lang="en-US" altLang="zh-CN" dirty="0">
              <a:solidFill>
                <a:srgbClr val="C00000"/>
              </a:solidFill>
              <a:sym typeface="+mn-ea"/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  <a:sym typeface="+mn-ea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去掉AHP：</a:t>
            </a:r>
            <a:r>
              <a:rPr lang="en-US" b="1" dirty="0">
                <a:solidFill>
                  <a:schemeClr val="tx1"/>
                </a:solidFill>
                <a:effectLst/>
                <a:highlight>
                  <a:srgbClr val="FFFF00"/>
                </a:highlight>
                <a:sym typeface="+mn-ea"/>
              </a:rPr>
              <a:t>模型难以收敛至可区分的状态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；</a:t>
            </a:r>
            <a:endParaRPr lang="en-US" b="1" dirty="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marL="0" indent="0">
              <a:buNone/>
            </a:pPr>
            <a:endParaRPr lang="en-US" altLang="en-US" b="1" dirty="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2351"/>
          <a:stretch>
            <a:fillRect/>
          </a:stretch>
        </p:blipFill>
        <p:spPr>
          <a:xfrm>
            <a:off x="6004560" y="852805"/>
            <a:ext cx="5918200" cy="20967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1475" y="2912745"/>
            <a:ext cx="5517515" cy="1489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2.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消融边权模块：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IGNN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退化为普通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GAT</a:t>
            </a:r>
            <a:endParaRPr lang="en-US" altLang="zh-CN" dirty="0">
              <a:solidFill>
                <a:srgbClr val="C00000"/>
              </a:solidFill>
              <a:sym typeface="+mn-ea"/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  <a:sym typeface="+mn-ea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去掉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边权模块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：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该方法仍能获得相似结果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，</a:t>
            </a:r>
            <a:endParaRPr lang="zh-CN" altLang="en-US" dirty="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但评估结果显示出极小的方差（箱线图狭窄），</a:t>
            </a:r>
            <a:endParaRPr lang="en-US" dirty="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说明模型对系统运行状态的变化变得不敏感</a:t>
            </a:r>
            <a:r>
              <a:rPr lang="zh-CN" altLang="en-US" b="1" dirty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。</a:t>
            </a:r>
            <a:endParaRPr lang="en-US" b="1" dirty="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marL="0" indent="0">
              <a:buNone/>
            </a:pPr>
            <a:endParaRPr lang="en-US" altLang="en-US" b="1" dirty="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 l="1111"/>
          <a:stretch>
            <a:fillRect/>
          </a:stretch>
        </p:blipFill>
        <p:spPr>
          <a:xfrm>
            <a:off x="5888990" y="2874645"/>
            <a:ext cx="6110605" cy="21539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1475" y="5028565"/>
            <a:ext cx="5517515" cy="118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3.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初始敏感度标定波动时：将一般全部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=0.9</a:t>
            </a:r>
            <a:endParaRPr lang="en-US" altLang="zh-CN" dirty="0">
              <a:solidFill>
                <a:srgbClr val="C00000"/>
              </a:solidFill>
              <a:sym typeface="+mn-ea"/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  <a:sym typeface="+mn-ea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00"/>
                </a:highlight>
                <a:sym typeface="+mn-ea"/>
              </a:rPr>
              <a:t>即使将一般数据初始敏感度设为0.9，</a:t>
            </a:r>
            <a:endParaRPr lang="en-US" dirty="0">
              <a:solidFill>
                <a:schemeClr val="tx1"/>
              </a:solidFill>
              <a:highlight>
                <a:srgbClr val="00FF00"/>
              </a:highlight>
              <a:sym typeface="+mn-ea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00"/>
                </a:highlight>
                <a:sym typeface="+mn-ea"/>
              </a:rPr>
              <a:t>模型仍能</a:t>
            </a:r>
            <a:r>
              <a:rPr lang="en-US" b="1" dirty="0">
                <a:solidFill>
                  <a:schemeClr val="tx1"/>
                </a:solidFill>
                <a:highlight>
                  <a:srgbClr val="00FF00"/>
                </a:highlight>
                <a:sym typeface="+mn-ea"/>
              </a:rPr>
              <a:t>重新拉开不同字段的敏感度差异</a:t>
            </a:r>
            <a:endParaRPr lang="en-US" b="1" dirty="0">
              <a:solidFill>
                <a:schemeClr val="tx1"/>
              </a:solidFill>
              <a:highlight>
                <a:srgbClr val="00FF00"/>
              </a:highlight>
              <a:sym typeface="+mn-ea"/>
            </a:endParaRPr>
          </a:p>
          <a:p>
            <a:pPr marL="0" indent="0">
              <a:buNone/>
            </a:pPr>
            <a:endParaRPr lang="en-US" altLang="en-US" b="1" dirty="0">
              <a:solidFill>
                <a:schemeClr val="tx1"/>
              </a:solidFill>
              <a:highlight>
                <a:srgbClr val="00FF00"/>
              </a:highlight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955" y="4735195"/>
            <a:ext cx="6009640" cy="21228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650740" y="51435"/>
            <a:ext cx="5596255" cy="1074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rgbClr val="7030A0"/>
                </a:solidFill>
                <a:sym typeface="+mn-ea"/>
              </a:rPr>
              <a:t>消融实验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说明只有初始敏感度标定在起作用</a:t>
            </a:r>
            <a:endParaRPr lang="zh-CN" altLang="en-US" sz="2000" b="1">
              <a:solidFill>
                <a:srgbClr val="7030A0"/>
              </a:solidFill>
              <a:sym typeface="+mn-ea"/>
            </a:endParaRPr>
          </a:p>
          <a:p>
            <a:endParaRPr lang="zh-CN" altLang="en-US" sz="2000" b="1">
              <a:solidFill>
                <a:srgbClr val="7030A0"/>
              </a:solidFill>
            </a:endParaRPr>
          </a:p>
          <a:p>
            <a:r>
              <a:rPr lang="zh-CN" altLang="en-US" sz="2000" b="1">
                <a:solidFill>
                  <a:srgbClr val="7030A0"/>
                </a:solidFill>
                <a:sym typeface="+mn-ea"/>
              </a:rPr>
              <a:t>消融实验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和鲁棒性实验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冲突</a:t>
            </a:r>
            <a:endParaRPr lang="zh-CN" altLang="en-US" sz="2000" b="1">
              <a:solidFill>
                <a:srgbClr val="7030A0"/>
              </a:solidFill>
            </a:endParaRPr>
          </a:p>
          <a:p>
            <a:endParaRPr lang="zh-CN" altLang="en-US" sz="2000" b="1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510" y="209550"/>
            <a:ext cx="8759825" cy="6718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论文存在的问题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4510" y="1126490"/>
            <a:ext cx="11475720" cy="5394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（1）监督目标只有confidential：</a:t>
            </a:r>
            <a:endParaRPr lang="zh-CN" altLang="en-US" sz="2000" b="1">
              <a:solidFill>
                <a:srgbClr val="7030A0"/>
              </a:solidFill>
            </a:endParaRPr>
          </a:p>
          <a:p>
            <a:pPr indent="457200"/>
            <a:r>
              <a:rPr lang="zh-CN" altLang="en-US">
                <a:sym typeface="+mn-ea"/>
              </a:rPr>
              <a:t>它没有任何监督信号告诉模型“某个 </a:t>
            </a:r>
            <a:r>
              <a:rPr lang="en-US" altLang="zh-CN">
                <a:sym typeface="+mn-ea"/>
              </a:rPr>
              <a:t>general </a:t>
            </a:r>
            <a:r>
              <a:rPr lang="zh-CN" altLang="en-US">
                <a:sym typeface="+mn-ea"/>
              </a:rPr>
              <a:t>应该是 0.3，另一个应该是 0.8”。因此 </a:t>
            </a:r>
            <a:r>
              <a:rPr lang="en-US" altLang="zh-CN">
                <a:sym typeface="+mn-ea"/>
              </a:rPr>
              <a:t>general </a:t>
            </a:r>
            <a:r>
              <a:rPr lang="zh-CN" altLang="en-US">
                <a:sym typeface="+mn-ea"/>
              </a:rPr>
              <a:t>的最终分数并不是被“学出来的真实敏感度”，而只是网络结构、初始特征、图传播和优化过程共同诱导出的自由变量。理论上存在大量不同的 </a:t>
            </a:r>
            <a:r>
              <a:rPr lang="en-US" altLang="zh-CN">
                <a:sym typeface="+mn-ea"/>
              </a:rPr>
              <a:t>general </a:t>
            </a:r>
            <a:r>
              <a:rPr lang="zh-CN" altLang="en-US">
                <a:sym typeface="+mn-ea"/>
              </a:rPr>
              <a:t>输出，都可以得到几乎一样的训练损失。</a:t>
            </a:r>
            <a:endParaRPr lang="zh-CN" altLang="en-US">
              <a:sym typeface="+mn-ea"/>
            </a:endParaRPr>
          </a:p>
          <a:p>
            <a:pPr indent="457200"/>
            <a:endParaRPr lang="zh-CN" altLang="en-US" sz="2000" b="1">
              <a:solidFill>
                <a:srgbClr val="7030A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）消融实验1说明只有初始敏感度标定在起作用</a:t>
            </a:r>
            <a:endParaRPr lang="zh-CN" altLang="en-US" sz="2000" b="1">
              <a:solidFill>
                <a:srgbClr val="7030A0"/>
              </a:solidFill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模型本身缺乏独立于初始敏感度的辨识信号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）消融实验2和鲁棒性实验3冲突</a:t>
            </a:r>
            <a:endParaRPr lang="zh-CN" altLang="en-US" sz="2000" b="1">
              <a:solidFill>
                <a:srgbClr val="7030A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7030A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4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）相关性对称，不等于推断能力双向对称</a:t>
            </a:r>
            <a:endParaRPr lang="zh-CN" altLang="en-US" sz="2000" b="1">
              <a:solidFill>
                <a:srgbClr val="7030A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7030A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5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）整个图模型仍然把 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DIL 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简化成“字段两两之间的边”，无法正确描述联合推断。</a:t>
            </a:r>
            <a:endParaRPr lang="zh-CN" altLang="en-US" sz="2000" b="1">
              <a:solidFill>
                <a:srgbClr val="7030A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2000" b="1">
              <a:solidFill>
                <a:srgbClr val="7030A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6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）方法评判标准其实是对推断能力的评判，而不是所谓的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“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融合风险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”</a:t>
            </a:r>
            <a:endParaRPr lang="en-US" altLang="zh-CN" sz="2000" b="1">
              <a:solidFill>
                <a:srgbClr val="7030A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2000" b="1">
              <a:solidFill>
                <a:srgbClr val="7030A0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7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）论文声称敏感度是动态随运行状态变化的，但 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IGNN 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的节点输入主要是 </a:t>
            </a:r>
            <a:r>
              <a:rPr lang="en-US" altLang="zh-CN" sz="2000" b="1">
                <a:solidFill>
                  <a:srgbClr val="7030A0"/>
                </a:solidFill>
                <a:sym typeface="+mn-ea"/>
              </a:rPr>
              <a:t>AHP 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初始敏感度、数据类型、节点度和平均边权，而不是当前时刻真实字段值；边权又是基于</a:t>
            </a:r>
            <a:r>
              <a:rPr lang="zh-CN" altLang="en-US" sz="2000" b="1">
                <a:solidFill>
                  <a:srgbClr val="7030A0"/>
                </a:solidFill>
                <a:highlight>
                  <a:srgbClr val="00FF00"/>
                </a:highlight>
                <a:sym typeface="+mn-ea"/>
              </a:rPr>
              <a:t>一批</a:t>
            </a:r>
            <a:r>
              <a:rPr lang="zh-CN" altLang="en-US" sz="2000" b="1">
                <a:solidFill>
                  <a:srgbClr val="7030A0"/>
                </a:solidFill>
                <a:sym typeface="+mn-ea"/>
              </a:rPr>
              <a:t>样本的相关性算出来的。</a:t>
            </a:r>
            <a:endParaRPr lang="zh-CN" altLang="en-US" sz="2000" b="1">
              <a:solidFill>
                <a:srgbClr val="7030A0"/>
              </a:solidFill>
              <a:sym typeface="+mn-ea"/>
            </a:endParaRPr>
          </a:p>
          <a:p>
            <a:pPr indent="457200"/>
            <a:endParaRPr lang="zh-CN" altLang="en-US" sz="2000" b="1">
              <a:solidFill>
                <a:srgbClr val="7030A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510" y="209550"/>
            <a:ext cx="8759825" cy="6718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0569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本质原因</a:t>
            </a:r>
            <a:endParaRPr lang="zh-CN" altLang="en-US" sz="3200" b="1" noProof="0" dirty="0">
              <a:ln>
                <a:noFill/>
              </a:ln>
              <a:solidFill>
                <a:srgbClr val="00569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2730" y="1910080"/>
            <a:ext cx="87598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论文提出了一个 0～1 的‘敏感度’，但从头到尾没有真正定义这个数的真值是什么；训练目标又没有约束，后面的攻击实验也只能事后验证排序，不能反过来证明这个连续分数就是敏感度。”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678305" y="3736340"/>
            <a:ext cx="8084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“在不存在最终敏感度真值或明确融合准则的情况下，黑盒网络无法学习‘正确的融合’，只能产生一种未校准的融合结果。”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WPS 演示</Application>
  <PresentationFormat>宽屏</PresentationFormat>
  <Paragraphs>97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Cambria Math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杜浩存</cp:lastModifiedBy>
  <cp:revision>195</cp:revision>
  <dcterms:created xsi:type="dcterms:W3CDTF">2026-05-11T08:49:00Z</dcterms:created>
  <dcterms:modified xsi:type="dcterms:W3CDTF">2026-09-23T09:28:25Z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69208D1C23FC4ACCA40F77C278CFED41_13</vt:lpwstr>
  </property>
</Properties>
</file>